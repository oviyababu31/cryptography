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77" r:id="rId14"/>
    <p:sldId id="267" r:id="rId15"/>
    <p:sldId id="268" r:id="rId16"/>
    <p:sldId id="269" r:id="rId17"/>
    <p:sldId id="278" r:id="rId18"/>
    <p:sldId id="279" r:id="rId19"/>
    <p:sldId id="280" r:id="rId20"/>
    <p:sldId id="270" r:id="rId21"/>
    <p:sldId id="281" r:id="rId22"/>
    <p:sldId id="271" r:id="rId23"/>
    <p:sldId id="272" r:id="rId24"/>
    <p:sldId id="273" r:id="rId25"/>
    <p:sldId id="274" r:id="rId26"/>
    <p:sldId id="275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72" y="7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9579" y="1191234"/>
            <a:ext cx="5311775" cy="474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1920" y="1373505"/>
            <a:ext cx="4808855" cy="4705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C9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8041" y="1104138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1981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62964" y="111272"/>
            <a:ext cx="669015" cy="675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263728"/>
            <a:ext cx="9293860" cy="763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6030" y="1104747"/>
            <a:ext cx="9879939" cy="470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34380" y="6583400"/>
            <a:ext cx="152527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76324" y="6583400"/>
            <a:ext cx="55753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2545" y="6575247"/>
            <a:ext cx="2006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manaskhatua@iitg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25184"/>
              <a:ext cx="12189460" cy="433070"/>
            </a:xfrm>
            <a:custGeom>
              <a:avLst/>
              <a:gdLst/>
              <a:ahLst/>
              <a:cxnLst/>
              <a:rect l="l" t="t" r="r" b="b"/>
              <a:pathLst>
                <a:path w="12189460" h="433070">
                  <a:moveTo>
                    <a:pt x="12188952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12188952" y="43281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A1AE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3009392"/>
            <a:ext cx="9575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Computer</a:t>
            </a:r>
            <a:r>
              <a:rPr sz="4800" spc="-175" dirty="0"/>
              <a:t> </a:t>
            </a:r>
            <a:r>
              <a:rPr sz="4800" dirty="0"/>
              <a:t>&amp;</a:t>
            </a:r>
            <a:r>
              <a:rPr sz="4800" spc="-180" dirty="0"/>
              <a:t> </a:t>
            </a:r>
            <a:r>
              <a:rPr sz="4800" spc="-45" dirty="0"/>
              <a:t>Network</a:t>
            </a:r>
            <a:r>
              <a:rPr sz="4800" spc="-204" dirty="0"/>
              <a:t> </a:t>
            </a:r>
            <a:r>
              <a:rPr sz="4800" spc="-40" dirty="0"/>
              <a:t>Security</a:t>
            </a:r>
            <a:r>
              <a:rPr sz="4800" spc="-175" dirty="0"/>
              <a:t> </a:t>
            </a:r>
            <a:r>
              <a:rPr sz="4800" spc="-10" dirty="0"/>
              <a:t>Concepts</a:t>
            </a:r>
            <a:endParaRPr sz="4800"/>
          </a:p>
        </p:txBody>
      </p:sp>
      <p:sp>
        <p:nvSpPr>
          <p:cNvPr id="7" name="object 7"/>
          <p:cNvSpPr txBox="1"/>
          <p:nvPr/>
        </p:nvSpPr>
        <p:spPr>
          <a:xfrm>
            <a:off x="2631185" y="4549267"/>
            <a:ext cx="244475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5005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Calibri"/>
                <a:cs typeface="Calibri"/>
              </a:rPr>
              <a:t>Dr. </a:t>
            </a:r>
            <a:r>
              <a:rPr sz="1800" dirty="0">
                <a:latin typeface="Calibri"/>
                <a:cs typeface="Calibri"/>
              </a:rPr>
              <a:t>Mana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Khatua Assistant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Professor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Dept.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Guwahati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latin typeface="Calibri"/>
                <a:cs typeface="Calibri"/>
              </a:rPr>
              <a:t>Email: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manaskhatua@iitg.ac.in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6964" y="4746441"/>
            <a:ext cx="718640" cy="720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/>
              <a:t>Computer</a:t>
            </a:r>
            <a:r>
              <a:rPr sz="4800" spc="-145" dirty="0"/>
              <a:t> </a:t>
            </a:r>
            <a:r>
              <a:rPr sz="4800" spc="-85" dirty="0"/>
              <a:t>and</a:t>
            </a:r>
            <a:r>
              <a:rPr sz="4800" spc="-165" dirty="0"/>
              <a:t> </a:t>
            </a:r>
            <a:r>
              <a:rPr sz="4800" spc="-100" dirty="0"/>
              <a:t>Network</a:t>
            </a:r>
            <a:r>
              <a:rPr sz="4800" spc="-160" dirty="0"/>
              <a:t> </a:t>
            </a:r>
            <a:r>
              <a:rPr sz="4800" spc="-35" dirty="0"/>
              <a:t>Security</a:t>
            </a:r>
            <a:endParaRPr sz="480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006465" y="1360677"/>
            <a:ext cx="4182745" cy="343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NIST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Computer</a:t>
            </a:r>
            <a:r>
              <a:rPr sz="20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Security</a:t>
            </a:r>
            <a:r>
              <a:rPr sz="20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Handbook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defines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computer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security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as:</a:t>
            </a:r>
            <a:endParaRPr sz="2000">
              <a:latin typeface="Calibri"/>
              <a:cs typeface="Calibri"/>
            </a:endParaRPr>
          </a:p>
          <a:p>
            <a:pPr marL="103505" marR="5080" indent="822960">
              <a:lnSpc>
                <a:spcPct val="90000"/>
              </a:lnSpc>
              <a:spcBef>
                <a:spcPts val="1405"/>
              </a:spcBef>
            </a:pPr>
            <a:r>
              <a:rPr sz="2000" dirty="0">
                <a:latin typeface="Calibri"/>
                <a:cs typeface="Calibri"/>
              </a:rPr>
              <a:t>“the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protection</a:t>
            </a:r>
            <a:r>
              <a:rPr sz="2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afforded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automated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order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objectives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preserving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libri"/>
                <a:cs typeface="Calibri"/>
              </a:rPr>
              <a:t>integrity</a:t>
            </a:r>
            <a:r>
              <a:rPr sz="2000" spc="-2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availability</a:t>
            </a:r>
            <a:r>
              <a:rPr sz="2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confidentiality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 resources”</a:t>
            </a:r>
            <a:endParaRPr sz="2000">
              <a:latin typeface="Calibri"/>
              <a:cs typeface="Calibri"/>
            </a:endParaRPr>
          </a:p>
          <a:p>
            <a:pPr marL="103505" marR="37465" indent="-91440">
              <a:lnSpc>
                <a:spcPts val="2160"/>
              </a:lnSpc>
              <a:spcBef>
                <a:spcPts val="1425"/>
              </a:spcBef>
            </a:pPr>
            <a:r>
              <a:rPr sz="2000" dirty="0">
                <a:latin typeface="Calibri"/>
                <a:cs typeface="Calibri"/>
              </a:rPr>
              <a:t>(resources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hardware,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software, firmware,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information/data,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telecommunications)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8108" y="1392682"/>
            <a:ext cx="41014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Computer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consists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of:</a:t>
            </a:r>
            <a:endParaRPr sz="1800">
              <a:latin typeface="Calibri"/>
              <a:cs typeface="Calibri"/>
            </a:endParaRPr>
          </a:p>
          <a:p>
            <a:pPr marL="12700" marR="149225" indent="9144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“measures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deter,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prevent, </a:t>
            </a:r>
            <a:r>
              <a:rPr sz="1800" dirty="0">
                <a:latin typeface="Calibri"/>
                <a:cs typeface="Calibri"/>
              </a:rPr>
              <a:t>detect,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  <a:r>
              <a:rPr sz="18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violations</a:t>
            </a:r>
            <a:r>
              <a:rPr sz="18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involve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transmission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0161" y="6111646"/>
            <a:ext cx="28797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NIST: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National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Institute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Standards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Technology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20" dirty="0"/>
              <a:t>Fundamental</a:t>
            </a:r>
            <a:r>
              <a:rPr sz="4800" spc="-185" dirty="0"/>
              <a:t> </a:t>
            </a:r>
            <a:r>
              <a:rPr sz="4800" spc="-85" dirty="0"/>
              <a:t>Security</a:t>
            </a:r>
            <a:r>
              <a:rPr sz="4800" spc="-200" dirty="0"/>
              <a:t> </a:t>
            </a:r>
            <a:r>
              <a:rPr sz="4800" spc="-50" dirty="0"/>
              <a:t>Objectives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1097280" y="1434083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0" y="1927860"/>
                </a:moveTo>
                <a:lnTo>
                  <a:pt x="10058400" y="1927860"/>
                </a:lnTo>
                <a:lnTo>
                  <a:pt x="10058400" y="0"/>
                </a:lnTo>
                <a:lnTo>
                  <a:pt x="0" y="0"/>
                </a:lnTo>
                <a:lnTo>
                  <a:pt x="0" y="1927860"/>
                </a:lnTo>
                <a:close/>
              </a:path>
            </a:pathLst>
          </a:custGeom>
          <a:ln w="12192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5122" y="1617738"/>
            <a:ext cx="8500745" cy="144462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34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confidentiality</a:t>
            </a:r>
            <a:endParaRPr sz="1600">
              <a:latin typeface="Calibri"/>
              <a:cs typeface="Calibri"/>
            </a:endParaRPr>
          </a:p>
          <a:p>
            <a:pPr marL="469265" lvl="1" indent="-28448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469265" algn="l"/>
              </a:tabLst>
            </a:pPr>
            <a:r>
              <a:rPr sz="1400" dirty="0">
                <a:latin typeface="Calibri"/>
                <a:cs typeface="Calibri"/>
              </a:rPr>
              <a:t>Assures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private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confidential information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available</a:t>
            </a:r>
            <a:r>
              <a:rPr sz="1400" dirty="0">
                <a:latin typeface="Calibri"/>
                <a:cs typeface="Calibri"/>
              </a:rPr>
              <a:t> 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disclosed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unauthorized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individuals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Wingdings"/>
              <a:buChar char=""/>
            </a:pPr>
            <a:endParaRPr sz="14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600" spc="-10" dirty="0">
                <a:latin typeface="Calibri"/>
                <a:cs typeface="Calibri"/>
              </a:rPr>
              <a:t>Privacy</a:t>
            </a:r>
            <a:endParaRPr sz="1600">
              <a:latin typeface="Calibri"/>
              <a:cs typeface="Calibri"/>
            </a:endParaRPr>
          </a:p>
          <a:p>
            <a:pPr marL="469900" marR="5080" lvl="1" indent="-285115">
              <a:lnSpc>
                <a:spcPts val="1510"/>
              </a:lnSpc>
              <a:spcBef>
                <a:spcPts val="320"/>
              </a:spcBef>
              <a:buFont typeface="Wingdings"/>
              <a:buChar char=""/>
              <a:tabLst>
                <a:tab pos="469900" algn="l"/>
              </a:tabLst>
            </a:pPr>
            <a:r>
              <a:rPr sz="1400" dirty="0">
                <a:latin typeface="Calibri"/>
                <a:cs typeface="Calibri"/>
              </a:rPr>
              <a:t>Assures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control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influence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collected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0" dirty="0">
                <a:latin typeface="Calibri"/>
                <a:cs typeface="Calibri"/>
              </a:rPr>
              <a:t> information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disclosed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78863" y="1114031"/>
            <a:ext cx="7115809" cy="751840"/>
            <a:chOff x="1578863" y="1114031"/>
            <a:chExt cx="7115809" cy="7518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863" y="1236002"/>
              <a:ext cx="7115556" cy="4282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3351" y="1114031"/>
              <a:ext cx="2290572" cy="7513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199" y="1257300"/>
              <a:ext cx="7040880" cy="3535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3163" y="1133856"/>
              <a:ext cx="2216658" cy="67741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70964" y="1201039"/>
            <a:ext cx="1837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Confidentiality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97280" y="3604259"/>
            <a:ext cx="10058400" cy="1701164"/>
          </a:xfrm>
          <a:custGeom>
            <a:avLst/>
            <a:gdLst/>
            <a:ahLst/>
            <a:cxnLst/>
            <a:rect l="l" t="t" r="r" b="b"/>
            <a:pathLst>
              <a:path w="10058400" h="1701164">
                <a:moveTo>
                  <a:pt x="0" y="1700783"/>
                </a:moveTo>
                <a:lnTo>
                  <a:pt x="10058400" y="1700783"/>
                </a:lnTo>
                <a:lnTo>
                  <a:pt x="10058400" y="0"/>
                </a:lnTo>
                <a:lnTo>
                  <a:pt x="0" y="0"/>
                </a:lnTo>
                <a:lnTo>
                  <a:pt x="0" y="1700783"/>
                </a:lnTo>
                <a:close/>
              </a:path>
            </a:pathLst>
          </a:custGeom>
          <a:ln w="12192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65122" y="3787914"/>
            <a:ext cx="7879080" cy="144462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34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integrity</a:t>
            </a:r>
            <a:endParaRPr sz="1600">
              <a:latin typeface="Calibri"/>
              <a:cs typeface="Calibri"/>
            </a:endParaRPr>
          </a:p>
          <a:p>
            <a:pPr marL="469265" lvl="1" indent="-28448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469265" algn="l"/>
              </a:tabLst>
            </a:pPr>
            <a:r>
              <a:rPr sz="1400" dirty="0">
                <a:latin typeface="Calibri"/>
                <a:cs typeface="Calibri"/>
              </a:rPr>
              <a:t>Assures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2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changed only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specified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authorized manner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Wingdings"/>
              <a:buChar char=""/>
            </a:pPr>
            <a:endParaRPr sz="14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integrity</a:t>
            </a:r>
            <a:endParaRPr sz="1600">
              <a:latin typeface="Calibri"/>
              <a:cs typeface="Calibri"/>
            </a:endParaRPr>
          </a:p>
          <a:p>
            <a:pPr marL="469900" marR="5080" lvl="1" indent="-285115">
              <a:lnSpc>
                <a:spcPts val="1510"/>
              </a:lnSpc>
              <a:spcBef>
                <a:spcPts val="320"/>
              </a:spcBef>
              <a:buFont typeface="Wingdings"/>
              <a:buChar char=""/>
              <a:tabLst>
                <a:tab pos="469900" algn="l"/>
              </a:tabLst>
            </a:pPr>
            <a:r>
              <a:rPr sz="1400" dirty="0">
                <a:latin typeface="Calibri"/>
                <a:cs typeface="Calibri"/>
              </a:rPr>
              <a:t>Assures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intended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unimpaired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manner,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free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deliberate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or </a:t>
            </a:r>
            <a:r>
              <a:rPr sz="1400" spc="-10" dirty="0">
                <a:latin typeface="Calibri"/>
                <a:cs typeface="Calibri"/>
              </a:rPr>
              <a:t>inadvertent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unauthorized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manipulation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78863" y="3284207"/>
            <a:ext cx="7115809" cy="751840"/>
            <a:chOff x="1578863" y="3284207"/>
            <a:chExt cx="7115809" cy="7518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863" y="3406178"/>
              <a:ext cx="7115556" cy="4282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3351" y="3284207"/>
              <a:ext cx="1522476" cy="7513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199" y="3427475"/>
              <a:ext cx="7040880" cy="3535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3163" y="3304031"/>
              <a:ext cx="1448562" cy="67741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870964" y="3371215"/>
            <a:ext cx="1069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Integrity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97280" y="5547359"/>
            <a:ext cx="10058400" cy="641985"/>
          </a:xfrm>
          <a:custGeom>
            <a:avLst/>
            <a:gdLst/>
            <a:ahLst/>
            <a:cxnLst/>
            <a:rect l="l" t="t" r="r" b="b"/>
            <a:pathLst>
              <a:path w="10058400" h="641985">
                <a:moveTo>
                  <a:pt x="0" y="641603"/>
                </a:moveTo>
                <a:lnTo>
                  <a:pt x="10058400" y="641603"/>
                </a:lnTo>
                <a:lnTo>
                  <a:pt x="10058400" y="0"/>
                </a:lnTo>
                <a:lnTo>
                  <a:pt x="0" y="0"/>
                </a:lnTo>
                <a:lnTo>
                  <a:pt x="0" y="641603"/>
                </a:lnTo>
                <a:close/>
              </a:path>
            </a:pathLst>
          </a:custGeom>
          <a:ln w="12191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65122" y="5748934"/>
            <a:ext cx="69030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Calibri"/>
                <a:cs typeface="Calibri"/>
              </a:rPr>
              <a:t>Assures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promptly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denied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authorized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78863" y="5227320"/>
            <a:ext cx="7115809" cy="751840"/>
            <a:chOff x="1578863" y="5227320"/>
            <a:chExt cx="7115809" cy="75184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863" y="5349240"/>
              <a:ext cx="7115556" cy="4282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3351" y="5227320"/>
              <a:ext cx="1824227" cy="7513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199" y="5370576"/>
              <a:ext cx="7040880" cy="35356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3163" y="5247132"/>
              <a:ext cx="1750314" cy="67741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0964" y="5314594"/>
            <a:ext cx="137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Availability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0" dirty="0"/>
              <a:t>Essential</a:t>
            </a:r>
            <a:r>
              <a:rPr sz="4800" spc="-185" dirty="0"/>
              <a:t> </a:t>
            </a:r>
            <a:r>
              <a:rPr sz="4800" spc="-85" dirty="0"/>
              <a:t>Security</a:t>
            </a:r>
            <a:r>
              <a:rPr sz="4800" spc="-200" dirty="0"/>
              <a:t> </a:t>
            </a:r>
            <a:r>
              <a:rPr sz="4800" spc="-85" dirty="0"/>
              <a:t>Requirements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5602223" y="1344167"/>
            <a:ext cx="5610225" cy="502920"/>
          </a:xfrm>
          <a:custGeom>
            <a:avLst/>
            <a:gdLst/>
            <a:ahLst/>
            <a:cxnLst/>
            <a:rect l="l" t="t" r="r" b="b"/>
            <a:pathLst>
              <a:path w="5610225" h="502919">
                <a:moveTo>
                  <a:pt x="5526024" y="0"/>
                </a:moveTo>
                <a:lnTo>
                  <a:pt x="83820" y="0"/>
                </a:lnTo>
                <a:lnTo>
                  <a:pt x="51167" y="6596"/>
                </a:lnTo>
                <a:lnTo>
                  <a:pt x="24526" y="24574"/>
                </a:lnTo>
                <a:lnTo>
                  <a:pt x="6578" y="51220"/>
                </a:lnTo>
                <a:lnTo>
                  <a:pt x="0" y="83820"/>
                </a:lnTo>
                <a:lnTo>
                  <a:pt x="0" y="419100"/>
                </a:lnTo>
                <a:lnTo>
                  <a:pt x="6578" y="451699"/>
                </a:lnTo>
                <a:lnTo>
                  <a:pt x="24526" y="478345"/>
                </a:lnTo>
                <a:lnTo>
                  <a:pt x="51167" y="496323"/>
                </a:lnTo>
                <a:lnTo>
                  <a:pt x="83820" y="502920"/>
                </a:lnTo>
                <a:lnTo>
                  <a:pt x="5526024" y="502920"/>
                </a:lnTo>
                <a:lnTo>
                  <a:pt x="5558623" y="496323"/>
                </a:lnTo>
                <a:lnTo>
                  <a:pt x="5585269" y="478345"/>
                </a:lnTo>
                <a:lnTo>
                  <a:pt x="5603247" y="451699"/>
                </a:lnTo>
                <a:lnTo>
                  <a:pt x="5609844" y="419100"/>
                </a:lnTo>
                <a:lnTo>
                  <a:pt x="5609844" y="83820"/>
                </a:lnTo>
                <a:lnTo>
                  <a:pt x="5603247" y="51220"/>
                </a:lnTo>
                <a:lnTo>
                  <a:pt x="5585269" y="24574"/>
                </a:lnTo>
                <a:lnTo>
                  <a:pt x="5558623" y="6596"/>
                </a:lnTo>
                <a:lnTo>
                  <a:pt x="5526024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94934" y="1390903"/>
            <a:ext cx="13544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Authenticity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8466" y="2101087"/>
            <a:ext cx="5265420" cy="148399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3515" marR="172085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property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being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genuine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verified 	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trusted.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Calibri"/>
              <a:buChar char="•"/>
            </a:pPr>
            <a:endParaRPr sz="1600">
              <a:latin typeface="Calibri"/>
              <a:cs typeface="Calibri"/>
            </a:endParaRPr>
          </a:p>
          <a:p>
            <a:pPr marL="183515" marR="5080" indent="-171450">
              <a:lnSpc>
                <a:spcPct val="91600"/>
              </a:lnSpc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verifying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	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input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arriving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came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trusted 	source.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02223" y="3890771"/>
            <a:ext cx="5610225" cy="502920"/>
          </a:xfrm>
          <a:custGeom>
            <a:avLst/>
            <a:gdLst/>
            <a:ahLst/>
            <a:cxnLst/>
            <a:rect l="l" t="t" r="r" b="b"/>
            <a:pathLst>
              <a:path w="5610225" h="502920">
                <a:moveTo>
                  <a:pt x="5526024" y="0"/>
                </a:moveTo>
                <a:lnTo>
                  <a:pt x="83820" y="0"/>
                </a:lnTo>
                <a:lnTo>
                  <a:pt x="51167" y="6578"/>
                </a:lnTo>
                <a:lnTo>
                  <a:pt x="24526" y="24526"/>
                </a:lnTo>
                <a:lnTo>
                  <a:pt x="6578" y="51167"/>
                </a:lnTo>
                <a:lnTo>
                  <a:pt x="0" y="83819"/>
                </a:lnTo>
                <a:lnTo>
                  <a:pt x="0" y="419100"/>
                </a:lnTo>
                <a:lnTo>
                  <a:pt x="6578" y="451699"/>
                </a:lnTo>
                <a:lnTo>
                  <a:pt x="24526" y="478345"/>
                </a:lnTo>
                <a:lnTo>
                  <a:pt x="51167" y="496323"/>
                </a:lnTo>
                <a:lnTo>
                  <a:pt x="83820" y="502919"/>
                </a:lnTo>
                <a:lnTo>
                  <a:pt x="5526024" y="502919"/>
                </a:lnTo>
                <a:lnTo>
                  <a:pt x="5558623" y="496323"/>
                </a:lnTo>
                <a:lnTo>
                  <a:pt x="5585269" y="478345"/>
                </a:lnTo>
                <a:lnTo>
                  <a:pt x="5603247" y="451699"/>
                </a:lnTo>
                <a:lnTo>
                  <a:pt x="5609844" y="419100"/>
                </a:lnTo>
                <a:lnTo>
                  <a:pt x="5609844" y="83819"/>
                </a:lnTo>
                <a:lnTo>
                  <a:pt x="5603247" y="51167"/>
                </a:lnTo>
                <a:lnTo>
                  <a:pt x="5585269" y="24526"/>
                </a:lnTo>
                <a:lnTo>
                  <a:pt x="5558623" y="6578"/>
                </a:lnTo>
                <a:lnTo>
                  <a:pt x="5526024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94934" y="3938142"/>
            <a:ext cx="15703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Accountability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8466" y="4648327"/>
            <a:ext cx="5153025" cy="148399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3515" marR="5080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requirement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actions 	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be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libri"/>
                <a:cs typeface="Calibri"/>
              </a:rPr>
              <a:t>traced</a:t>
            </a:r>
            <a:r>
              <a:rPr sz="16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uniquely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6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sz="16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libri"/>
                <a:cs typeface="Calibri"/>
              </a:rPr>
              <a:t>entity.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Calibri"/>
              <a:buChar char="•"/>
            </a:pPr>
            <a:endParaRPr sz="1600">
              <a:latin typeface="Calibri"/>
              <a:cs typeface="Calibri"/>
            </a:endParaRPr>
          </a:p>
          <a:p>
            <a:pPr marL="184785" marR="52069" indent="-172720">
              <a:lnSpc>
                <a:spcPct val="91600"/>
              </a:lnSpc>
              <a:buChar char="•"/>
              <a:tabLst>
                <a:tab pos="184785" algn="l"/>
              </a:tabLst>
            </a:pP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records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activities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permit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later forensic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breaches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transaction disputes.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546860"/>
            <a:ext cx="3922776" cy="379780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/>
              <a:t>Computer </a:t>
            </a:r>
            <a:r>
              <a:rPr sz="4800" spc="-95" dirty="0"/>
              <a:t>Security</a:t>
            </a:r>
            <a:r>
              <a:rPr sz="4800" spc="-114" dirty="0"/>
              <a:t> </a:t>
            </a:r>
            <a:r>
              <a:rPr sz="4800" spc="-60" dirty="0"/>
              <a:t>Challenges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79805" y="1145097"/>
            <a:ext cx="11221085" cy="459041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51460" indent="-243204">
              <a:lnSpc>
                <a:spcPct val="100000"/>
              </a:lnSpc>
              <a:spcBef>
                <a:spcPts val="1210"/>
              </a:spcBef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10" dirty="0">
                <a:latin typeface="Calibri"/>
                <a:cs typeface="Calibri"/>
              </a:rPr>
              <a:t>Potential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attacks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considered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5"/>
              </a:spcBef>
              <a:buClr>
                <a:srgbClr val="E38312"/>
              </a:buClr>
              <a:buFont typeface="Wingdings"/>
              <a:buChar char=""/>
            </a:pP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mechanisms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typically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involve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particular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algorithm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protocol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  <a:buClr>
                <a:srgbClr val="E38312"/>
              </a:buClr>
              <a:buFont typeface="Wingdings"/>
              <a:buChar char=""/>
            </a:pP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essentially</a:t>
            </a:r>
            <a:r>
              <a:rPr sz="24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battle</a:t>
            </a:r>
            <a:r>
              <a:rPr sz="2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perpetrator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designer</a:t>
            </a: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where</a:t>
            </a:r>
            <a:r>
              <a:rPr sz="2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use</a:t>
            </a:r>
            <a:r>
              <a:rPr sz="2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mechanisms</a:t>
            </a: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constant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monitoring</a:t>
            </a:r>
            <a:endParaRPr sz="2400">
              <a:latin typeface="Calibri"/>
              <a:cs typeface="Calibri"/>
            </a:endParaRPr>
          </a:p>
          <a:p>
            <a:pPr marL="251460" indent="-243204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dirty="0">
                <a:latin typeface="Calibri"/>
                <a:cs typeface="Calibri"/>
              </a:rPr>
              <a:t>Strong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viewed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4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an</a:t>
            </a:r>
            <a:r>
              <a:rPr sz="24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impediment</a:t>
            </a:r>
            <a:r>
              <a:rPr sz="24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friendly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57188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0" dirty="0"/>
              <a:t>Network</a:t>
            </a:r>
            <a:r>
              <a:rPr sz="4800" spc="-140" dirty="0"/>
              <a:t> </a:t>
            </a:r>
            <a:r>
              <a:rPr sz="4800" spc="-95" dirty="0"/>
              <a:t>Security</a:t>
            </a:r>
            <a:r>
              <a:rPr sz="4800" spc="-150" dirty="0"/>
              <a:t> </a:t>
            </a:r>
            <a:r>
              <a:rPr sz="4800" spc="-35" dirty="0"/>
              <a:t>Model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842" y="1626151"/>
            <a:ext cx="6152064" cy="31750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6324" y="2183383"/>
            <a:ext cx="1013396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69225" marR="8445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techniques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providing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two </a:t>
            </a:r>
            <a:r>
              <a:rPr sz="1600" spc="-10" dirty="0">
                <a:latin typeface="Calibri"/>
                <a:cs typeface="Calibri"/>
              </a:rPr>
              <a:t>components:</a:t>
            </a:r>
            <a:endParaRPr sz="1600">
              <a:latin typeface="Calibri"/>
              <a:cs typeface="Calibri"/>
            </a:endParaRPr>
          </a:p>
          <a:p>
            <a:pPr marL="8055609" marR="452120" indent="-287020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8055609" algn="l"/>
              </a:tabLst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security-related transformation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the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sent</a:t>
            </a:r>
            <a:endParaRPr sz="1400">
              <a:latin typeface="Calibri"/>
              <a:cs typeface="Calibri"/>
            </a:endParaRPr>
          </a:p>
          <a:p>
            <a:pPr marL="8055609" marR="508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8055609" algn="l"/>
              </a:tabLst>
            </a:pP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Some</a:t>
            </a:r>
            <a:r>
              <a:rPr sz="1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secret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information </a:t>
            </a:r>
            <a:r>
              <a:rPr sz="1400" dirty="0">
                <a:latin typeface="Calibri"/>
                <a:cs typeface="Calibri"/>
              </a:rPr>
              <a:t>shared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principals </a:t>
            </a:r>
            <a:r>
              <a:rPr sz="1400" dirty="0">
                <a:latin typeface="Calibri"/>
                <a:cs typeface="Calibri"/>
              </a:rPr>
              <a:t>and,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hoped,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unknown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opponent.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message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transferred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another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across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sort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Internet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74129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0" dirty="0"/>
              <a:t>Network</a:t>
            </a:r>
            <a:r>
              <a:rPr sz="4800" spc="-175" dirty="0"/>
              <a:t> </a:t>
            </a:r>
            <a:r>
              <a:rPr sz="4800" spc="-90" dirty="0"/>
              <a:t>Access</a:t>
            </a:r>
            <a:r>
              <a:rPr sz="4800" spc="-175" dirty="0"/>
              <a:t> </a:t>
            </a:r>
            <a:r>
              <a:rPr sz="4800" spc="-85" dirty="0"/>
              <a:t>Security</a:t>
            </a:r>
            <a:r>
              <a:rPr sz="4800" spc="-185" dirty="0"/>
              <a:t> </a:t>
            </a:r>
            <a:r>
              <a:rPr sz="4800" spc="-20" dirty="0"/>
              <a:t>Model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656" y="1787784"/>
            <a:ext cx="6388423" cy="21579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6667" y="1869770"/>
            <a:ext cx="10080625" cy="292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44155" marR="1524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mechanisms </a:t>
            </a:r>
            <a:r>
              <a:rPr sz="1600" dirty="0">
                <a:latin typeface="Calibri"/>
                <a:cs typeface="Calibri"/>
              </a:rPr>
              <a:t>needed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cope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with </a:t>
            </a:r>
            <a:r>
              <a:rPr sz="1600" spc="-10" dirty="0">
                <a:latin typeface="Calibri"/>
                <a:cs typeface="Calibri"/>
              </a:rPr>
              <a:t>unwanted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into </a:t>
            </a:r>
            <a:r>
              <a:rPr sz="1600" dirty="0">
                <a:latin typeface="Calibri"/>
                <a:cs typeface="Calibri"/>
              </a:rPr>
              <a:t>two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broad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categories:</a:t>
            </a:r>
            <a:endParaRPr sz="1600">
              <a:latin typeface="Calibri"/>
              <a:cs typeface="Calibri"/>
            </a:endParaRPr>
          </a:p>
          <a:p>
            <a:pPr marL="7952740" indent="-286385" algn="ctr">
              <a:lnSpc>
                <a:spcPct val="100000"/>
              </a:lnSpc>
              <a:spcBef>
                <a:spcPts val="1689"/>
              </a:spcBef>
              <a:buFont typeface="Arial MT"/>
              <a:buChar char="•"/>
              <a:tabLst>
                <a:tab pos="7952740" algn="l"/>
              </a:tabLst>
            </a:pP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Like</a:t>
            </a:r>
            <a:r>
              <a:rPr sz="1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gatekeeper</a:t>
            </a:r>
            <a:r>
              <a:rPr sz="1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function</a:t>
            </a:r>
            <a:endParaRPr sz="1400">
              <a:latin typeface="Calibri"/>
              <a:cs typeface="Calibri"/>
            </a:endParaRPr>
          </a:p>
          <a:p>
            <a:pPr marL="772985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(e.g.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procedure)</a:t>
            </a:r>
            <a:endParaRPr sz="1400">
              <a:latin typeface="Calibri"/>
              <a:cs typeface="Calibri"/>
            </a:endParaRPr>
          </a:p>
          <a:p>
            <a:pPr marL="8130540" marR="5080" indent="-28702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8130540" algn="l"/>
              </a:tabLst>
            </a:pPr>
            <a:r>
              <a:rPr sz="1400" spc="-10" dirty="0">
                <a:latin typeface="Calibri"/>
                <a:cs typeface="Calibri"/>
              </a:rPr>
              <a:t>Variety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internal</a:t>
            </a:r>
            <a:r>
              <a:rPr sz="1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controls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monitor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activity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analyze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reflects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concern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protecting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unwanted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5" dirty="0"/>
              <a:t>OSI</a:t>
            </a:r>
            <a:r>
              <a:rPr sz="4800" spc="-180" dirty="0"/>
              <a:t> </a:t>
            </a:r>
            <a:r>
              <a:rPr sz="4800" spc="-85" dirty="0"/>
              <a:t>Security</a:t>
            </a:r>
            <a:r>
              <a:rPr sz="4800" spc="-204" dirty="0"/>
              <a:t> </a:t>
            </a:r>
            <a:r>
              <a:rPr sz="4800" spc="-85" dirty="0"/>
              <a:t>Architecture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5713" y="1174723"/>
            <a:ext cx="11132185" cy="46901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54635" indent="-244475">
              <a:lnSpc>
                <a:spcPct val="100000"/>
              </a:lnSpc>
              <a:spcBef>
                <a:spcPts val="320"/>
              </a:spcBef>
              <a:buClr>
                <a:srgbClr val="E38312"/>
              </a:buClr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attack</a:t>
            </a:r>
            <a:endParaRPr sz="2400">
              <a:latin typeface="Calibri"/>
              <a:cs typeface="Calibri"/>
            </a:endParaRPr>
          </a:p>
          <a:p>
            <a:pPr marL="395605" lvl="1" indent="-181610">
              <a:lnSpc>
                <a:spcPct val="10000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5605" algn="l"/>
              </a:tabLst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compromises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owned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organization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Calibri"/>
              <a:buChar char="◦"/>
            </a:pPr>
            <a:endParaRPr sz="20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buClr>
                <a:srgbClr val="E38312"/>
              </a:buClr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mechanism</a:t>
            </a:r>
            <a:endParaRPr sz="2400">
              <a:latin typeface="Calibri"/>
              <a:cs typeface="Calibri"/>
            </a:endParaRPr>
          </a:p>
          <a:p>
            <a:pPr marL="396240" lvl="1" indent="-182245">
              <a:lnSpc>
                <a:spcPts val="228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624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incorporating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prevent,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recover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from</a:t>
            </a:r>
            <a:endParaRPr sz="2000">
              <a:latin typeface="Calibri"/>
              <a:cs typeface="Calibri"/>
            </a:endParaRPr>
          </a:p>
          <a:p>
            <a:pPr marL="39687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attack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00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buClr>
                <a:srgbClr val="E38312"/>
              </a:buClr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service</a:t>
            </a:r>
            <a:endParaRPr sz="2400">
              <a:latin typeface="Calibri"/>
              <a:cs typeface="Calibri"/>
            </a:endParaRPr>
          </a:p>
          <a:p>
            <a:pPr marL="396240" lvl="1" indent="-182245">
              <a:lnSpc>
                <a:spcPts val="228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624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communication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service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9687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transfers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000">
              <a:latin typeface="Calibri"/>
              <a:cs typeface="Calibri"/>
            </a:endParaRPr>
          </a:p>
          <a:p>
            <a:pPr marL="395605" marR="5080" lvl="1" indent="-181610">
              <a:lnSpc>
                <a:spcPts val="2160"/>
              </a:lnSpc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000" dirty="0">
                <a:latin typeface="Calibri"/>
                <a:cs typeface="Calibri"/>
              </a:rPr>
              <a:t>Intended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attacks,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mechanisms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provide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/>
              <a:t>Threats</a:t>
            </a:r>
            <a:r>
              <a:rPr sz="4800" spc="-175" dirty="0"/>
              <a:t> </a:t>
            </a:r>
            <a:r>
              <a:rPr sz="4800" spc="-80" dirty="0"/>
              <a:t>and</a:t>
            </a:r>
            <a:r>
              <a:rPr sz="4800" spc="-170" dirty="0"/>
              <a:t> </a:t>
            </a:r>
            <a:r>
              <a:rPr sz="4800" spc="-90" dirty="0"/>
              <a:t>Attacks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2173223"/>
            <a:ext cx="10058400" cy="29611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9153" y="1388109"/>
            <a:ext cx="8879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threat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attack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commonly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thing.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911588" y="4782769"/>
            <a:ext cx="1082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--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RFC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4949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D04B6-2898-3A5D-284A-6B5208899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01357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6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5" dirty="0"/>
              <a:t>Security</a:t>
            </a:r>
            <a:r>
              <a:rPr sz="4800" spc="-200" dirty="0"/>
              <a:t> </a:t>
            </a:r>
            <a:r>
              <a:rPr sz="4800" spc="-100" dirty="0"/>
              <a:t>Attacks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58139" y="1283588"/>
            <a:ext cx="5963285" cy="348980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04139" marR="139700" indent="-93345">
              <a:lnSpc>
                <a:spcPct val="70000"/>
              </a:lnSpc>
              <a:spcBef>
                <a:spcPts val="885"/>
              </a:spcBef>
              <a:buClr>
                <a:srgbClr val="E38312"/>
              </a:buClr>
              <a:buSzPct val="95454"/>
              <a:buFont typeface="Wingdings"/>
              <a:buChar char=""/>
              <a:tabLst>
                <a:tab pos="104139" algn="l"/>
                <a:tab pos="234315" algn="l"/>
              </a:tabLst>
            </a:pPr>
            <a:r>
              <a:rPr sz="2800" dirty="0">
                <a:latin typeface="Calibri"/>
                <a:cs typeface="Calibri"/>
              </a:rPr>
              <a:t>	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passive</a:t>
            </a:r>
            <a:r>
              <a:rPr sz="2800" spc="-7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800" dirty="0">
                <a:highlight>
                  <a:srgbClr val="FFFF00"/>
                </a:highlight>
                <a:latin typeface="Calibri"/>
                <a:cs typeface="Calibri"/>
              </a:rPr>
              <a:t>attack</a:t>
            </a:r>
            <a:r>
              <a:rPr sz="2800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attempts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affect system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resources</a:t>
            </a:r>
            <a:endParaRPr sz="2800" dirty="0">
              <a:latin typeface="Calibri"/>
              <a:cs typeface="Calibri"/>
            </a:endParaRPr>
          </a:p>
          <a:p>
            <a:pPr marL="394970" lvl="1" indent="-181610">
              <a:lnSpc>
                <a:spcPts val="2039"/>
              </a:lnSpc>
              <a:spcBef>
                <a:spcPts val="1955"/>
              </a:spcBef>
              <a:buClr>
                <a:srgbClr val="E38312"/>
              </a:buClr>
              <a:buFont typeface="Arial MT"/>
              <a:buChar char="•"/>
              <a:tabLst>
                <a:tab pos="394970" algn="l"/>
              </a:tabLst>
            </a:pPr>
            <a:r>
              <a:rPr sz="2800" dirty="0">
                <a:latin typeface="Calibri"/>
                <a:cs typeface="Calibri"/>
              </a:rPr>
              <a:t>Are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eavesdropping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monitoring</a:t>
            </a:r>
            <a:endParaRPr sz="2800" dirty="0">
              <a:latin typeface="Calibri"/>
              <a:cs typeface="Calibri"/>
            </a:endParaRPr>
          </a:p>
          <a:p>
            <a:pPr marL="396240">
              <a:lnSpc>
                <a:spcPts val="2039"/>
              </a:lnSpc>
            </a:pPr>
            <a:r>
              <a:rPr sz="2800" spc="-30" dirty="0">
                <a:latin typeface="Calibri"/>
                <a:cs typeface="Calibri"/>
              </a:rPr>
              <a:t>of,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transmissions</a:t>
            </a:r>
            <a:endParaRPr sz="2800" dirty="0">
              <a:latin typeface="Calibri"/>
              <a:cs typeface="Calibri"/>
            </a:endParaRPr>
          </a:p>
          <a:p>
            <a:pPr marL="394970" lvl="1" indent="-181610">
              <a:lnSpc>
                <a:spcPct val="100000"/>
              </a:lnSpc>
              <a:spcBef>
                <a:spcPts val="2160"/>
              </a:spcBef>
              <a:buClr>
                <a:srgbClr val="E38312"/>
              </a:buClr>
              <a:buFont typeface="Arial MT"/>
              <a:buChar char="•"/>
              <a:tabLst>
                <a:tab pos="394970" algn="l"/>
              </a:tabLst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Goal</a:t>
            </a:r>
            <a:r>
              <a:rPr sz="28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obtain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transmitted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1" y="4773389"/>
            <a:ext cx="6934200" cy="141711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04139" marR="5080" indent="-93345">
              <a:lnSpc>
                <a:spcPct val="70000"/>
              </a:lnSpc>
              <a:spcBef>
                <a:spcPts val="885"/>
              </a:spcBef>
              <a:buClr>
                <a:srgbClr val="E38312"/>
              </a:buClr>
              <a:buSzPct val="95454"/>
              <a:buFont typeface="Wingdings"/>
              <a:buChar char=""/>
              <a:tabLst>
                <a:tab pos="104139" algn="l"/>
                <a:tab pos="234315" algn="l"/>
              </a:tabLst>
            </a:pPr>
            <a:r>
              <a:rPr sz="2400" dirty="0">
                <a:latin typeface="Calibri"/>
                <a:cs typeface="Calibri"/>
              </a:rPr>
              <a:t>	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active</a:t>
            </a:r>
            <a:r>
              <a:rPr sz="2400" spc="-75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dirty="0">
                <a:highlight>
                  <a:srgbClr val="FFFF00"/>
                </a:highlight>
                <a:latin typeface="Calibri"/>
                <a:cs typeface="Calibri"/>
              </a:rPr>
              <a:t>attack</a:t>
            </a:r>
            <a:r>
              <a:rPr sz="24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attempts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affect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 dirty="0">
              <a:latin typeface="Calibri"/>
              <a:cs typeface="Calibri"/>
            </a:endParaRPr>
          </a:p>
          <a:p>
            <a:pPr marL="394970" lvl="1" indent="-181610">
              <a:lnSpc>
                <a:spcPts val="2039"/>
              </a:lnSpc>
              <a:spcBef>
                <a:spcPts val="1964"/>
              </a:spcBef>
              <a:buClr>
                <a:srgbClr val="E38312"/>
              </a:buClr>
              <a:buFont typeface="Arial MT"/>
              <a:buChar char="•"/>
              <a:tabLst>
                <a:tab pos="394970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Goal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modification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stream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5576" y="1051560"/>
            <a:ext cx="3971544" cy="5143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37833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0" dirty="0"/>
              <a:t>Types</a:t>
            </a:r>
            <a:r>
              <a:rPr sz="4800" spc="-185" dirty="0"/>
              <a:t> </a:t>
            </a:r>
            <a:r>
              <a:rPr sz="4800" dirty="0"/>
              <a:t>of</a:t>
            </a:r>
            <a:r>
              <a:rPr sz="4800" spc="-215" dirty="0"/>
              <a:t> </a:t>
            </a:r>
            <a:r>
              <a:rPr sz="4800" spc="-95" dirty="0"/>
              <a:t>Attacks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58139" y="1307973"/>
            <a:ext cx="4300855" cy="42396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315" indent="-22352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95454"/>
              <a:buFont typeface="Wingdings"/>
              <a:buChar char=""/>
              <a:tabLst>
                <a:tab pos="234315" algn="l"/>
              </a:tabLst>
            </a:pPr>
            <a:r>
              <a:rPr sz="2800" spc="-10" dirty="0">
                <a:latin typeface="Calibri"/>
                <a:cs typeface="Calibri"/>
              </a:rPr>
              <a:t>Types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passive</a:t>
            </a:r>
            <a:r>
              <a:rPr sz="2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attacks</a:t>
            </a:r>
            <a:endParaRPr sz="2800" dirty="0">
              <a:latin typeface="Calibri"/>
              <a:cs typeface="Calibri"/>
            </a:endParaRPr>
          </a:p>
          <a:p>
            <a:pPr marL="412115" lvl="1" indent="-201295">
              <a:lnSpc>
                <a:spcPct val="100000"/>
              </a:lnSpc>
              <a:spcBef>
                <a:spcPts val="244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41211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release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message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contents</a:t>
            </a:r>
            <a:endParaRPr sz="2800" dirty="0">
              <a:latin typeface="Calibri"/>
              <a:cs typeface="Calibri"/>
            </a:endParaRPr>
          </a:p>
          <a:p>
            <a:pPr marL="579120" lvl="2" indent="-182880">
              <a:lnSpc>
                <a:spcPts val="1839"/>
              </a:lnSpc>
              <a:spcBef>
                <a:spcPts val="200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dirty="0">
                <a:latin typeface="Calibri"/>
                <a:cs typeface="Calibri"/>
              </a:rPr>
              <a:t>Release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sensitive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confidential</a:t>
            </a:r>
            <a:endParaRPr sz="2000" dirty="0">
              <a:latin typeface="Calibri"/>
              <a:cs typeface="Calibri"/>
            </a:endParaRPr>
          </a:p>
          <a:p>
            <a:pPr marL="579120">
              <a:lnSpc>
                <a:spcPts val="1839"/>
              </a:lnSpc>
            </a:pPr>
            <a:r>
              <a:rPr sz="2000" spc="-10" dirty="0">
                <a:latin typeface="Calibri"/>
                <a:cs typeface="Calibri"/>
              </a:rPr>
              <a:t>information.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 dirty="0">
              <a:latin typeface="Calibri"/>
              <a:cs typeface="Calibri"/>
            </a:endParaRPr>
          </a:p>
          <a:p>
            <a:pPr marL="412115" lvl="1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412115" algn="l"/>
              </a:tabLst>
            </a:pPr>
            <a:r>
              <a:rPr sz="2800" b="1" spc="-25" dirty="0">
                <a:latin typeface="Calibri"/>
                <a:cs typeface="Calibri"/>
              </a:rPr>
              <a:t>Traffic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analysis</a:t>
            </a:r>
            <a:endParaRPr sz="2800" dirty="0">
              <a:latin typeface="Calibri"/>
              <a:cs typeface="Calibri"/>
            </a:endParaRPr>
          </a:p>
          <a:p>
            <a:pPr marL="579120" lvl="2" indent="-182880">
              <a:lnSpc>
                <a:spcPct val="100000"/>
              </a:lnSpc>
              <a:spcBef>
                <a:spcPts val="204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dirty="0">
                <a:latin typeface="Calibri"/>
                <a:cs typeface="Calibri"/>
              </a:rPr>
              <a:t>observe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pattern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messages</a:t>
            </a:r>
            <a:endParaRPr sz="2000" dirty="0">
              <a:latin typeface="Calibri"/>
              <a:cs typeface="Calibri"/>
            </a:endParaRPr>
          </a:p>
          <a:p>
            <a:pPr marL="579120" lvl="2" indent="-182880">
              <a:lnSpc>
                <a:spcPts val="1835"/>
              </a:lnSpc>
              <a:spcBef>
                <a:spcPts val="195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observe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frequency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579120">
              <a:lnSpc>
                <a:spcPts val="1835"/>
              </a:lnSpc>
            </a:pP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exchanged</a:t>
            </a:r>
            <a:r>
              <a:rPr lang="en-US" sz="2000" spc="-10" dirty="0">
                <a:latin typeface="Calibri"/>
                <a:cs typeface="Calibri"/>
              </a:rPr>
              <a:t>}}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8994" y="1294892"/>
            <a:ext cx="6904406" cy="436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315" indent="-22352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95454"/>
              <a:buFont typeface="Wingdings"/>
              <a:buChar char=""/>
              <a:tabLst>
                <a:tab pos="234315" algn="l"/>
              </a:tabLst>
            </a:pPr>
            <a:r>
              <a:rPr sz="2800" spc="-10" dirty="0">
                <a:latin typeface="Calibri"/>
                <a:cs typeface="Calibri"/>
              </a:rPr>
              <a:t>Type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active</a:t>
            </a:r>
            <a:r>
              <a:rPr sz="2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attacks</a:t>
            </a:r>
            <a:endParaRPr sz="2800" dirty="0">
              <a:latin typeface="Calibri"/>
              <a:cs typeface="Calibri"/>
            </a:endParaRPr>
          </a:p>
          <a:p>
            <a:pPr marL="412750" lvl="1" indent="-201930">
              <a:lnSpc>
                <a:spcPct val="100000"/>
              </a:lnSpc>
              <a:spcBef>
                <a:spcPts val="244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412750" algn="l"/>
              </a:tabLst>
            </a:pPr>
            <a:r>
              <a:rPr sz="2800" b="1" spc="-10" dirty="0">
                <a:latin typeface="Calibri"/>
                <a:cs typeface="Calibri"/>
              </a:rPr>
              <a:t>Masquerade</a:t>
            </a:r>
            <a:endParaRPr sz="2800" dirty="0">
              <a:latin typeface="Calibri"/>
              <a:cs typeface="Calibri"/>
            </a:endParaRPr>
          </a:p>
          <a:p>
            <a:pPr marL="579120" lvl="2" indent="-182880">
              <a:lnSpc>
                <a:spcPct val="100000"/>
              </a:lnSpc>
              <a:spcBef>
                <a:spcPts val="204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spc="-35" dirty="0">
                <a:latin typeface="Calibri"/>
                <a:cs typeface="Calibri"/>
              </a:rPr>
              <a:t>Takes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pretends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entity</a:t>
            </a:r>
            <a:endParaRPr sz="2000" dirty="0">
              <a:latin typeface="Calibri"/>
              <a:cs typeface="Calibri"/>
            </a:endParaRPr>
          </a:p>
          <a:p>
            <a:pPr marL="412115" lvl="1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412115" algn="l"/>
              </a:tabLst>
            </a:pPr>
            <a:r>
              <a:rPr sz="2800" b="1" spc="-10" dirty="0">
                <a:latin typeface="Calibri"/>
                <a:cs typeface="Calibri"/>
              </a:rPr>
              <a:t>Replay</a:t>
            </a:r>
            <a:endParaRPr sz="2800" dirty="0">
              <a:latin typeface="Calibri"/>
              <a:cs typeface="Calibri"/>
            </a:endParaRPr>
          </a:p>
          <a:p>
            <a:pPr marL="579120" marR="5080" lvl="2" indent="-182880">
              <a:lnSpc>
                <a:spcPts val="1630"/>
              </a:lnSpc>
              <a:spcBef>
                <a:spcPts val="600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spc="-10" dirty="0">
                <a:latin typeface="Calibri"/>
                <a:cs typeface="Calibri"/>
              </a:rPr>
              <a:t>Involves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capture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subsequent retransmission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unauthorized effect</a:t>
            </a:r>
            <a:endParaRPr sz="2000" dirty="0">
              <a:latin typeface="Calibri"/>
              <a:cs typeface="Calibri"/>
            </a:endParaRPr>
          </a:p>
          <a:p>
            <a:pPr marL="412115" lvl="1" indent="-20129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412115" algn="l"/>
              </a:tabLst>
            </a:pPr>
            <a:r>
              <a:rPr sz="2800" b="1" dirty="0">
                <a:latin typeface="Calibri"/>
                <a:cs typeface="Calibri"/>
              </a:rPr>
              <a:t>Modification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messages</a:t>
            </a:r>
            <a:endParaRPr sz="2800" dirty="0">
              <a:latin typeface="Calibri"/>
              <a:cs typeface="Calibri"/>
            </a:endParaRPr>
          </a:p>
          <a:p>
            <a:pPr marL="579120" marR="19050" lvl="2" indent="-182880">
              <a:lnSpc>
                <a:spcPct val="80000"/>
              </a:lnSpc>
              <a:spcBef>
                <a:spcPts val="610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legitimate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altered,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messages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delayed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reordered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unauthorized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</a:t>
            </a:r>
            <a:endParaRPr sz="2000" dirty="0">
              <a:latin typeface="Calibri"/>
              <a:cs typeface="Calibri"/>
            </a:endParaRPr>
          </a:p>
          <a:p>
            <a:pPr marL="412750" lvl="1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412750" algn="l"/>
              </a:tabLst>
            </a:pPr>
            <a:r>
              <a:rPr sz="2800" dirty="0">
                <a:latin typeface="Calibri"/>
                <a:cs typeface="Calibri"/>
              </a:rPr>
              <a:t>Denial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</a:t>
            </a:r>
            <a:r>
              <a:rPr sz="2800" b="1" spc="-20" dirty="0">
                <a:latin typeface="Calibri"/>
                <a:cs typeface="Calibri"/>
              </a:rPr>
              <a:t>DoS</a:t>
            </a:r>
            <a:r>
              <a:rPr sz="2800" spc="-2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579120" marR="635000" lvl="2" indent="-182880">
              <a:lnSpc>
                <a:spcPts val="1630"/>
              </a:lnSpc>
              <a:spcBef>
                <a:spcPts val="600"/>
              </a:spcBef>
              <a:buClr>
                <a:srgbClr val="E38312"/>
              </a:buClr>
              <a:buFont typeface="Arial MT"/>
              <a:buChar char="•"/>
              <a:tabLst>
                <a:tab pos="579120" algn="l"/>
              </a:tabLst>
            </a:pPr>
            <a:r>
              <a:rPr sz="2000" spc="-10" dirty="0">
                <a:latin typeface="Calibri"/>
                <a:cs typeface="Calibri"/>
              </a:rPr>
              <a:t>Prevents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inhibits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 management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communications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facilities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637E2E-EA54-3E79-D056-C13CCA5F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25" y="1295400"/>
            <a:ext cx="10757223" cy="4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4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39560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0" dirty="0"/>
              <a:t>Security</a:t>
            </a:r>
            <a:r>
              <a:rPr sz="4800" spc="-150" dirty="0"/>
              <a:t> </a:t>
            </a:r>
            <a:r>
              <a:rPr sz="4800" spc="-50" dirty="0"/>
              <a:t>Services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304800" y="1180948"/>
            <a:ext cx="6400800" cy="4578689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800" spc="-10" dirty="0"/>
              <a:t>AUTHENTICATION</a:t>
            </a:r>
          </a:p>
          <a:p>
            <a:pPr marL="12700" marR="5080">
              <a:lnSpc>
                <a:spcPts val="2160"/>
              </a:lnSpc>
              <a:spcBef>
                <a:spcPts val="1440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assurance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communicating</a:t>
            </a:r>
            <a:r>
              <a:rPr sz="28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entity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claims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be.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000000"/>
                </a:solidFill>
              </a:rPr>
              <a:t>Peer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Entity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Authentication</a:t>
            </a:r>
          </a:p>
          <a:p>
            <a:pPr marL="12700" marR="308610">
              <a:lnSpc>
                <a:spcPts val="2160"/>
              </a:lnSpc>
              <a:spcBef>
                <a:spcPts val="1435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sz="2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association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logical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connection</a:t>
            </a:r>
            <a:r>
              <a:rPr sz="28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provide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confidence</a:t>
            </a:r>
            <a:r>
              <a:rPr sz="2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identity</a:t>
            </a:r>
            <a:r>
              <a:rPr sz="2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entities connected.</a:t>
            </a:r>
          </a:p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000000"/>
                </a:solidFill>
              </a:rPr>
              <a:t>Data-</a:t>
            </a:r>
            <a:r>
              <a:rPr sz="2800" dirty="0">
                <a:solidFill>
                  <a:srgbClr val="000000"/>
                </a:solidFill>
              </a:rPr>
              <a:t>Origin</a:t>
            </a:r>
            <a:r>
              <a:rPr sz="2800" spc="1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Authentication</a:t>
            </a: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connectionless</a:t>
            </a:r>
            <a:r>
              <a:rPr sz="2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transfer,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provides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assurance</a:t>
            </a:r>
          </a:p>
          <a:p>
            <a:pPr marL="12700">
              <a:lnSpc>
                <a:spcPts val="2280"/>
              </a:lnSpc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source</a:t>
            </a:r>
            <a:r>
              <a:rPr sz="28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received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28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/>
                <a:cs typeface="Calibri"/>
              </a:rPr>
              <a:t>claimed.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7000" y="1247622"/>
            <a:ext cx="5257800" cy="43844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ACCESS</a:t>
            </a:r>
            <a:r>
              <a:rPr sz="2800" b="1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CONTROL</a:t>
            </a:r>
            <a:endParaRPr sz="2800" dirty="0">
              <a:latin typeface="Calibri"/>
              <a:cs typeface="Calibri"/>
            </a:endParaRPr>
          </a:p>
          <a:p>
            <a:pPr marL="104139" marR="177800">
              <a:lnSpc>
                <a:spcPts val="2160"/>
              </a:lnSpc>
              <a:spcBef>
                <a:spcPts val="123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prevention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unauthorized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use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endParaRPr sz="2800" dirty="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1135"/>
              </a:spcBef>
            </a:pP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controls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150"/>
              </a:spcBef>
              <a:buClr>
                <a:srgbClr val="E38312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resource,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ts val="2280"/>
              </a:lnSpc>
              <a:spcBef>
                <a:spcPts val="1165"/>
              </a:spcBef>
              <a:buClr>
                <a:srgbClr val="E38312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under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</a:t>
            </a:r>
            <a:endParaRPr sz="2800" dirty="0">
              <a:latin typeface="Calibri"/>
              <a:cs typeface="Calibri"/>
            </a:endParaRPr>
          </a:p>
          <a:p>
            <a:pPr marL="355600">
              <a:lnSpc>
                <a:spcPts val="2280"/>
              </a:lnSpc>
            </a:pPr>
            <a:r>
              <a:rPr sz="2800" spc="-25" dirty="0">
                <a:latin typeface="Calibri"/>
                <a:cs typeface="Calibri"/>
              </a:rPr>
              <a:t>occur,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</a:t>
            </a:r>
            <a:endParaRPr sz="2800" dirty="0">
              <a:latin typeface="Calibri"/>
              <a:cs typeface="Calibri"/>
            </a:endParaRPr>
          </a:p>
          <a:p>
            <a:pPr marL="355600" marR="62865" indent="-343535">
              <a:lnSpc>
                <a:spcPts val="2160"/>
              </a:lnSpc>
              <a:spcBef>
                <a:spcPts val="1440"/>
              </a:spcBef>
              <a:buClr>
                <a:srgbClr val="E38312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do).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39560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0" dirty="0"/>
              <a:t>Security</a:t>
            </a:r>
            <a:r>
              <a:rPr sz="4800" spc="-150" dirty="0"/>
              <a:t> </a:t>
            </a:r>
            <a:r>
              <a:rPr sz="4800" spc="-50" dirty="0"/>
              <a:t>Services</a:t>
            </a:r>
            <a:endParaRPr sz="480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7818" y="1056843"/>
            <a:ext cx="11838942" cy="495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7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3200" b="1" spc="-2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disclosure.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sz="32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indent="-180340">
              <a:lnSpc>
                <a:spcPct val="100000"/>
              </a:lnSpc>
              <a:spcBef>
                <a:spcPts val="250"/>
              </a:spcBef>
              <a:buClr>
                <a:srgbClr val="E38312"/>
              </a:buClr>
              <a:buChar char="◦"/>
              <a:tabLst>
                <a:tab pos="30226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Connectionless</a:t>
            </a:r>
            <a:r>
              <a:rPr sz="3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indent="-180340">
              <a:lnSpc>
                <a:spcPct val="100000"/>
              </a:lnSpc>
              <a:spcBef>
                <a:spcPts val="240"/>
              </a:spcBef>
              <a:buClr>
                <a:srgbClr val="E38312"/>
              </a:buClr>
              <a:buChar char="◦"/>
              <a:tabLst>
                <a:tab pos="30226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Selective-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sz="32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marR="5080" indent="-180340">
              <a:lnSpc>
                <a:spcPts val="1510"/>
              </a:lnSpc>
              <a:spcBef>
                <a:spcPts val="440"/>
              </a:spcBef>
              <a:buClr>
                <a:srgbClr val="E38312"/>
              </a:buClr>
              <a:buChar char="◦"/>
              <a:tabLst>
                <a:tab pos="3048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Traffic-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32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marR="34925" indent="-180340">
              <a:lnSpc>
                <a:spcPts val="1510"/>
              </a:lnSpc>
              <a:spcBef>
                <a:spcPts val="445"/>
              </a:spcBef>
              <a:buClr>
                <a:srgbClr val="E38312"/>
              </a:buClr>
              <a:buChar char="◦"/>
              <a:tabLst>
                <a:tab pos="3048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might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spc="-10" dirty="0">
                <a:latin typeface="Calibri"/>
                <a:cs typeface="Calibri"/>
              </a:rPr>
              <a:t>observation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traffic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39560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0" dirty="0"/>
              <a:t>Security</a:t>
            </a:r>
            <a:r>
              <a:rPr sz="4800" spc="-150" dirty="0"/>
              <a:t> </a:t>
            </a:r>
            <a:r>
              <a:rPr sz="4800" spc="-50" dirty="0"/>
              <a:t>Services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255112"/>
            <a:ext cx="11658600" cy="419845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b="1" spc="-1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8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INTEGRITY</a:t>
            </a:r>
            <a:endParaRPr sz="2800" dirty="0">
              <a:latin typeface="Calibri"/>
              <a:cs typeface="Calibri"/>
            </a:endParaRPr>
          </a:p>
          <a:p>
            <a:pPr marL="12700" marR="84455">
              <a:lnSpc>
                <a:spcPct val="70000"/>
              </a:lnSpc>
              <a:spcBef>
                <a:spcPts val="139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assurance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exactly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authorized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  <a:spcBef>
                <a:spcPts val="720"/>
              </a:spcBef>
            </a:pP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modification,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insertion,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</a:pPr>
            <a:r>
              <a:rPr sz="2800" dirty="0">
                <a:latin typeface="Calibri"/>
                <a:cs typeface="Calibri"/>
              </a:rPr>
              <a:t>deletion,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replay).</a:t>
            </a:r>
            <a:endParaRPr lang="en-US" sz="2800" spc="-10" dirty="0">
              <a:latin typeface="Calibri"/>
              <a:cs typeface="Calibri"/>
            </a:endParaRPr>
          </a:p>
          <a:p>
            <a:pPr marL="12700">
              <a:lnSpc>
                <a:spcPts val="1939"/>
              </a:lnSpc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2175"/>
              </a:lnSpc>
              <a:spcBef>
                <a:spcPts val="5"/>
              </a:spcBef>
            </a:pPr>
            <a:r>
              <a:rPr sz="2800" b="1" spc="-10" dirty="0">
                <a:latin typeface="Calibri"/>
                <a:cs typeface="Calibri"/>
              </a:rPr>
              <a:t>Connection Integrity with Recovery</a:t>
            </a:r>
          </a:p>
          <a:p>
            <a:pPr marL="12700" marR="5080" indent="-182880">
              <a:lnSpc>
                <a:spcPct val="70000"/>
              </a:lnSpc>
              <a:spcBef>
                <a:spcPts val="505"/>
              </a:spcBef>
              <a:buClr>
                <a:srgbClr val="E38312"/>
              </a:buClr>
              <a:buFont typeface="Courier New"/>
              <a:buChar char="o"/>
              <a:tabLst>
                <a:tab pos="304800" algn="l"/>
              </a:tabLst>
            </a:pPr>
            <a:r>
              <a:rPr sz="2800" spc="-10" dirty="0">
                <a:latin typeface="Calibri"/>
                <a:cs typeface="Calibri"/>
              </a:rPr>
              <a:t>Provides for the integrity of all user data on a connection and detects any modification, insertion, deletion, or replay of any data within an entire data sequence, with recovery attempted.</a:t>
            </a:r>
            <a:endParaRPr lang="en-US" sz="2800" spc="-10" dirty="0">
              <a:latin typeface="Calibri"/>
              <a:cs typeface="Calibri"/>
            </a:endParaRPr>
          </a:p>
          <a:p>
            <a:pPr marL="12700" marR="5080" indent="-182880">
              <a:lnSpc>
                <a:spcPct val="70000"/>
              </a:lnSpc>
              <a:spcBef>
                <a:spcPts val="505"/>
              </a:spcBef>
              <a:buClr>
                <a:srgbClr val="E38312"/>
              </a:buClr>
              <a:buFont typeface="Courier New"/>
              <a:buChar char="o"/>
              <a:tabLst>
                <a:tab pos="304800" algn="l"/>
              </a:tabLst>
            </a:pPr>
            <a:endParaRPr sz="2800" spc="-10" dirty="0">
              <a:latin typeface="Calibri"/>
              <a:cs typeface="Calibri"/>
            </a:endParaRPr>
          </a:p>
          <a:p>
            <a:pPr marL="12700">
              <a:lnSpc>
                <a:spcPts val="2175"/>
              </a:lnSpc>
            </a:pPr>
            <a:r>
              <a:rPr sz="2800" spc="-10" dirty="0">
                <a:latin typeface="Calibri"/>
                <a:cs typeface="Calibri"/>
              </a:rPr>
              <a:t>Connection Integrity without Recovery</a:t>
            </a:r>
          </a:p>
          <a:p>
            <a:pPr marL="12700" indent="-182880">
              <a:lnSpc>
                <a:spcPts val="1630"/>
              </a:lnSpc>
              <a:buClr>
                <a:srgbClr val="E38312"/>
              </a:buClr>
              <a:buFont typeface="Courier New"/>
              <a:buChar char="o"/>
              <a:tabLst>
                <a:tab pos="304800" algn="l"/>
              </a:tabLst>
            </a:pPr>
            <a:r>
              <a:rPr sz="2800" spc="-10" dirty="0">
                <a:latin typeface="Calibri"/>
                <a:cs typeface="Calibri"/>
              </a:rPr>
              <a:t>As above, but provides only detection without</a:t>
            </a:r>
          </a:p>
          <a:p>
            <a:pPr marL="12700">
              <a:lnSpc>
                <a:spcPts val="1735"/>
              </a:lnSpc>
            </a:pPr>
            <a:r>
              <a:rPr sz="2800" spc="-10" dirty="0">
                <a:latin typeface="Calibri"/>
                <a:cs typeface="Calibri"/>
              </a:rPr>
              <a:t>recovery.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ECFD-F438-A9AF-031F-33A73C03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object 4"/>
          <p:cNvSpPr txBox="1"/>
          <p:nvPr/>
        </p:nvSpPr>
        <p:spPr>
          <a:xfrm>
            <a:off x="685800" y="1370457"/>
            <a:ext cx="10561319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Selective-</a:t>
            </a:r>
            <a:r>
              <a:rPr sz="2400" b="1" dirty="0">
                <a:latin typeface="Calibri"/>
                <a:cs typeface="Calibri"/>
              </a:rPr>
              <a:t>Field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Connection</a:t>
            </a:r>
            <a:r>
              <a:rPr sz="2400" b="1" spc="-10" dirty="0">
                <a:latin typeface="Calibri"/>
                <a:cs typeface="Calibri"/>
              </a:rPr>
              <a:t> Integrity</a:t>
            </a:r>
            <a:endParaRPr sz="24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integrity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selected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fields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user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transferred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fields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modified,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inserted,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deleted,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replayed.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Connectionless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Integrity</a:t>
            </a:r>
            <a:endParaRPr sz="2400" dirty="0">
              <a:latin typeface="Calibri"/>
              <a:cs typeface="Calibri"/>
            </a:endParaRPr>
          </a:p>
          <a:p>
            <a:pPr marL="299085" marR="19050" indent="-28702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integrity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single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connectionless</a:t>
            </a:r>
            <a:r>
              <a:rPr sz="20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modification. Additionally,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replay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provided.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Selective-</a:t>
            </a:r>
            <a:r>
              <a:rPr sz="2400" b="1" dirty="0">
                <a:latin typeface="Calibri"/>
                <a:cs typeface="Calibri"/>
              </a:rPr>
              <a:t>Field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Connectionless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Integrity</a:t>
            </a:r>
            <a:endParaRPr sz="2400" dirty="0">
              <a:latin typeface="Calibri"/>
              <a:cs typeface="Calibri"/>
            </a:endParaRPr>
          </a:p>
          <a:p>
            <a:pPr marL="299085" marR="38100" indent="-28702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integrity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selected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fields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within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single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connectionless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2000" dirty="0">
                <a:latin typeface="Calibri"/>
                <a:cs typeface="Calibri"/>
              </a:rPr>
              <a:t>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determination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fields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modified.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4050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09600" y="1780794"/>
            <a:ext cx="11381741" cy="27218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spc="-10" dirty="0">
                <a:latin typeface="Calibri"/>
                <a:cs typeface="Calibri"/>
              </a:rPr>
              <a:t>Provides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protection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against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denial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entities </a:t>
            </a:r>
            <a:r>
              <a:rPr sz="2800" spc="-10" dirty="0">
                <a:latin typeface="Calibri"/>
                <a:cs typeface="Calibri"/>
              </a:rPr>
              <a:t>involved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participated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communication.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latin typeface="Calibri"/>
                <a:cs typeface="Calibri"/>
              </a:rPr>
              <a:t>Nonrepudiation,</a:t>
            </a:r>
            <a:r>
              <a:rPr sz="3200" b="1" spc="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Origin</a:t>
            </a:r>
            <a:endParaRPr sz="32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Proof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party.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latin typeface="Calibri"/>
                <a:cs typeface="Calibri"/>
              </a:rPr>
              <a:t>Nonrepudiation,</a:t>
            </a:r>
            <a:r>
              <a:rPr sz="3200" b="1" spc="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Destination</a:t>
            </a:r>
            <a:endParaRPr sz="32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Proof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received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party.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4"/>
          <p:cNvSpPr txBox="1">
            <a:spLocks noGrp="1"/>
          </p:cNvSpPr>
          <p:nvPr>
            <p:ph type="title"/>
          </p:nvPr>
        </p:nvSpPr>
        <p:spPr>
          <a:xfrm>
            <a:off x="1143000" y="609600"/>
            <a:ext cx="92932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006FC0"/>
                </a:solidFill>
                <a:latin typeface="Calibri"/>
                <a:cs typeface="Calibri"/>
              </a:rPr>
              <a:t>NONREPUDIATION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778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F479F-0676-87E3-B359-8137DAEC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784E7-9348-911B-3750-7563F253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21" y="1600200"/>
            <a:ext cx="115461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28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5" dirty="0"/>
              <a:t>Security</a:t>
            </a:r>
            <a:r>
              <a:rPr sz="4800" spc="-200" dirty="0"/>
              <a:t> </a:t>
            </a:r>
            <a:r>
              <a:rPr sz="4800" spc="-80" dirty="0"/>
              <a:t>Mechanisms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6700" y="1120797"/>
            <a:ext cx="11658599" cy="49443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SPECIFIC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SECURITY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MECHANISMS</a:t>
            </a:r>
            <a:endParaRPr sz="2400" dirty="0">
              <a:latin typeface="Calibri"/>
              <a:cs typeface="Calibri"/>
            </a:endParaRPr>
          </a:p>
          <a:p>
            <a:pPr marL="12700" marR="491490">
              <a:lnSpc>
                <a:spcPct val="100000"/>
              </a:lnSpc>
              <a:spcBef>
                <a:spcPts val="1330"/>
              </a:spcBef>
            </a:pPr>
            <a:r>
              <a:rPr sz="2400" dirty="0">
                <a:latin typeface="Calibri"/>
                <a:cs typeface="Calibri"/>
              </a:rPr>
              <a:t>May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incorporated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into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appropriate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protocol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layer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 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services.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Encipherment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335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mathematical algorithms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transform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form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readily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intelligible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subsequent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recovery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encryption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keys.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Digital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Signature</a:t>
            </a:r>
            <a:endParaRPr sz="2400" dirty="0">
              <a:latin typeface="Calibri"/>
              <a:cs typeface="Calibri"/>
            </a:endParaRPr>
          </a:p>
          <a:p>
            <a:pPr marL="12700" marR="74930">
              <a:lnSpc>
                <a:spcPct val="100000"/>
              </a:lnSpc>
              <a:spcBef>
                <a:spcPts val="1335"/>
              </a:spcBef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appended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cryptographic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allows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recipient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unit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prove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source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integrity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10" dirty="0">
                <a:latin typeface="Calibri"/>
                <a:cs typeface="Calibri"/>
              </a:rPr>
              <a:t> forgery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recipient).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Access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Control</a:t>
            </a:r>
            <a:r>
              <a:rPr lang="en-US" sz="2400" b="1" spc="-10" dirty="0">
                <a:latin typeface="Calibri"/>
                <a:cs typeface="Calibri"/>
              </a:rPr>
              <a:t> -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variety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mechanisms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enforce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access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rights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resources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 txBox="1">
            <a:spLocks/>
          </p:cNvSpPr>
          <p:nvPr/>
        </p:nvSpPr>
        <p:spPr>
          <a:xfrm>
            <a:off x="447040" y="228600"/>
            <a:ext cx="11734800" cy="60458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0">
              <a:defRPr sz="1400" b="1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z="2800" dirty="0"/>
              <a:t>Data</a:t>
            </a:r>
            <a:r>
              <a:rPr lang="en-US" sz="2800" spc="-65" dirty="0"/>
              <a:t> </a:t>
            </a:r>
            <a:r>
              <a:rPr lang="en-US" sz="2800" spc="-10" dirty="0"/>
              <a:t>Integrity</a:t>
            </a:r>
          </a:p>
          <a:p>
            <a:pPr marL="12700" marR="5080"/>
            <a:r>
              <a:rPr lang="en-US" sz="2800" b="0" dirty="0"/>
              <a:t>A</a:t>
            </a:r>
            <a:r>
              <a:rPr lang="en-US" sz="2800" b="0" spc="-35" dirty="0"/>
              <a:t> </a:t>
            </a:r>
            <a:r>
              <a:rPr lang="en-US" sz="2800" b="0" dirty="0"/>
              <a:t>variety</a:t>
            </a:r>
            <a:r>
              <a:rPr lang="en-US" sz="2800" b="0" spc="-15" dirty="0"/>
              <a:t> </a:t>
            </a:r>
            <a:r>
              <a:rPr lang="en-US" sz="2800" b="0" dirty="0"/>
              <a:t>of</a:t>
            </a:r>
            <a:r>
              <a:rPr lang="en-US" sz="2800" b="0" spc="-50" dirty="0"/>
              <a:t> </a:t>
            </a:r>
            <a:r>
              <a:rPr lang="en-US" sz="2800" b="0" dirty="0"/>
              <a:t>mechanisms</a:t>
            </a:r>
            <a:r>
              <a:rPr lang="en-US" sz="2800" b="0" spc="-25" dirty="0"/>
              <a:t> </a:t>
            </a:r>
            <a:r>
              <a:rPr lang="en-US" sz="2800" b="0" dirty="0"/>
              <a:t>used</a:t>
            </a:r>
            <a:r>
              <a:rPr lang="en-US" sz="2800" b="0" spc="-55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to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assure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the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integrity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data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unit</a:t>
            </a:r>
            <a:r>
              <a:rPr lang="en-US" sz="2800" b="0" spc="-20" dirty="0"/>
              <a:t> </a:t>
            </a:r>
            <a:r>
              <a:rPr lang="en-US" sz="2800" b="0" dirty="0"/>
              <a:t>or</a:t>
            </a:r>
            <a:r>
              <a:rPr lang="en-US" sz="2800" b="0" spc="-40" dirty="0"/>
              <a:t> </a:t>
            </a:r>
            <a:r>
              <a:rPr lang="en-US" sz="2800" b="0" dirty="0"/>
              <a:t>stream</a:t>
            </a:r>
            <a:r>
              <a:rPr lang="en-US" sz="2800" b="0" spc="-25" dirty="0"/>
              <a:t> </a:t>
            </a:r>
            <a:r>
              <a:rPr lang="en-US" sz="2800" b="0" dirty="0"/>
              <a:t>of</a:t>
            </a:r>
            <a:r>
              <a:rPr lang="en-US" sz="2800" b="0" spc="-40" dirty="0"/>
              <a:t> </a:t>
            </a:r>
            <a:r>
              <a:rPr lang="en-US" sz="2800" b="0" dirty="0"/>
              <a:t>data</a:t>
            </a:r>
            <a:r>
              <a:rPr lang="en-US" sz="2800" b="0" spc="-20" dirty="0"/>
              <a:t> </a:t>
            </a:r>
            <a:r>
              <a:rPr lang="en-US" sz="2800" b="0" spc="-10" dirty="0"/>
              <a:t>units.</a:t>
            </a:r>
          </a:p>
          <a:p>
            <a:pPr marL="12700"/>
            <a:r>
              <a:rPr lang="en-US" sz="2800" spc="-10" dirty="0"/>
              <a:t>Authentication</a:t>
            </a:r>
            <a:r>
              <a:rPr lang="en-US" sz="2800" spc="15" dirty="0"/>
              <a:t> </a:t>
            </a:r>
            <a:r>
              <a:rPr lang="en-US" sz="2800" spc="-10" dirty="0"/>
              <a:t>Exchange</a:t>
            </a:r>
          </a:p>
          <a:p>
            <a:pPr marL="12700" marR="434340"/>
            <a:r>
              <a:rPr lang="en-US" sz="2800" b="0" dirty="0"/>
              <a:t>A</a:t>
            </a:r>
            <a:r>
              <a:rPr lang="en-US" sz="2800" b="0" spc="-35" dirty="0"/>
              <a:t> </a:t>
            </a:r>
            <a:r>
              <a:rPr lang="en-US" sz="2800" b="0" dirty="0"/>
              <a:t>mechanism</a:t>
            </a:r>
            <a:r>
              <a:rPr lang="en-US" sz="2800" b="0" spc="-30" dirty="0"/>
              <a:t> </a:t>
            </a:r>
            <a:r>
              <a:rPr lang="en-US" sz="2800" b="0" spc="-10" dirty="0"/>
              <a:t>intended</a:t>
            </a:r>
            <a:r>
              <a:rPr lang="en-US" sz="2800" b="0" spc="-45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to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ensure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the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identity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an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entity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by</a:t>
            </a:r>
            <a:r>
              <a:rPr lang="en-US" sz="2800" b="0" spc="-25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means of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information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exchange.</a:t>
            </a:r>
          </a:p>
          <a:p>
            <a:pPr marL="12700">
              <a:spcBef>
                <a:spcPts val="5"/>
              </a:spcBef>
            </a:pPr>
            <a:r>
              <a:rPr lang="en-US" sz="2800" spc="-20" dirty="0"/>
              <a:t>Traffic</a:t>
            </a:r>
            <a:r>
              <a:rPr lang="en-US" sz="2800" spc="-15" dirty="0"/>
              <a:t> </a:t>
            </a:r>
            <a:r>
              <a:rPr lang="en-US" sz="2800" spc="-10" dirty="0"/>
              <a:t>Padding</a:t>
            </a:r>
          </a:p>
          <a:p>
            <a:pPr marL="12700" marR="115570"/>
            <a:r>
              <a:rPr lang="en-US" sz="2800" b="0" dirty="0"/>
              <a:t>The</a:t>
            </a:r>
            <a:r>
              <a:rPr lang="en-US" sz="2800" b="0" spc="-40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insertion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800" b="0" u="sng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bits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into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gaps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in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data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stream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dirty="0"/>
              <a:t>to</a:t>
            </a:r>
            <a:r>
              <a:rPr lang="en-US" sz="2800" b="0" spc="-35" dirty="0"/>
              <a:t> </a:t>
            </a:r>
            <a:r>
              <a:rPr lang="en-US" sz="2800" b="0" spc="-10" dirty="0"/>
              <a:t>frustrate</a:t>
            </a:r>
            <a:r>
              <a:rPr lang="en-US" sz="2800" b="0" spc="-40" dirty="0"/>
              <a:t> </a:t>
            </a:r>
            <a:r>
              <a:rPr lang="en-US" sz="2800" b="0" spc="-10" dirty="0"/>
              <a:t>traffic </a:t>
            </a:r>
            <a:r>
              <a:rPr lang="en-US" sz="2800" b="0" dirty="0"/>
              <a:t>analysis</a:t>
            </a:r>
            <a:r>
              <a:rPr lang="en-US" sz="2800" b="0" spc="-55" dirty="0"/>
              <a:t> </a:t>
            </a:r>
            <a:r>
              <a:rPr lang="en-US" sz="2800" b="0" spc="-10" dirty="0"/>
              <a:t>attempts.</a:t>
            </a:r>
          </a:p>
          <a:p>
            <a:pPr marL="12700"/>
            <a:r>
              <a:rPr lang="en-US" sz="2800" dirty="0"/>
              <a:t>Routing</a:t>
            </a:r>
            <a:r>
              <a:rPr lang="en-US" sz="2800" spc="-65" dirty="0"/>
              <a:t> </a:t>
            </a:r>
            <a:r>
              <a:rPr lang="en-US" sz="2800" spc="-10" dirty="0"/>
              <a:t>Control</a:t>
            </a:r>
          </a:p>
          <a:p>
            <a:pPr marL="12700" marR="64135"/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Enables</a:t>
            </a:r>
            <a:r>
              <a:rPr lang="en-US" sz="2800" b="0" u="sng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selection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particular</a:t>
            </a:r>
            <a:r>
              <a:rPr lang="en-US" sz="2800" b="0" u="sng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physically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secure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routes</a:t>
            </a:r>
            <a:r>
              <a:rPr lang="en-US" sz="2800" b="0" spc="-20" dirty="0"/>
              <a:t> </a:t>
            </a:r>
            <a:r>
              <a:rPr lang="en-US" sz="2800" b="0" dirty="0"/>
              <a:t>for</a:t>
            </a:r>
            <a:r>
              <a:rPr lang="en-US" sz="2800" b="0" spc="-40" dirty="0"/>
              <a:t> </a:t>
            </a:r>
            <a:r>
              <a:rPr lang="en-US" sz="2800" b="0" spc="-10" dirty="0"/>
              <a:t>certain </a:t>
            </a:r>
            <a:r>
              <a:rPr lang="en-US" sz="2800" b="0" dirty="0"/>
              <a:t>data</a:t>
            </a:r>
            <a:r>
              <a:rPr lang="en-US" sz="2800" b="0" spc="-35" dirty="0"/>
              <a:t> </a:t>
            </a:r>
            <a:r>
              <a:rPr lang="en-US" sz="2800" b="0" dirty="0"/>
              <a:t>and</a:t>
            </a:r>
            <a:r>
              <a:rPr lang="en-US" sz="2800" b="0" spc="-45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allows</a:t>
            </a:r>
            <a:r>
              <a:rPr lang="en-US" sz="2800" b="0" u="sng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routing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changes</a:t>
            </a:r>
            <a:r>
              <a:rPr lang="en-US" sz="2800" b="0" dirty="0"/>
              <a:t>,</a:t>
            </a:r>
            <a:r>
              <a:rPr lang="en-US" sz="2800" b="0" spc="-25" dirty="0"/>
              <a:t> </a:t>
            </a:r>
            <a:r>
              <a:rPr lang="en-US" sz="2800" b="0" dirty="0"/>
              <a:t>especially</a:t>
            </a:r>
            <a:r>
              <a:rPr lang="en-US" sz="2800" b="0" spc="-35" dirty="0"/>
              <a:t> </a:t>
            </a:r>
            <a:r>
              <a:rPr lang="en-US" sz="2800" b="0" dirty="0"/>
              <a:t>when</a:t>
            </a:r>
            <a:r>
              <a:rPr lang="en-US" sz="2800" b="0" spc="-45" dirty="0"/>
              <a:t> </a:t>
            </a:r>
            <a:r>
              <a:rPr lang="en-US" sz="2800" b="0" dirty="0"/>
              <a:t>a</a:t>
            </a:r>
            <a:r>
              <a:rPr lang="en-US" sz="2800" b="0" spc="-40" dirty="0"/>
              <a:t> </a:t>
            </a:r>
            <a:r>
              <a:rPr lang="en-US" sz="2800" b="0" dirty="0"/>
              <a:t>breach</a:t>
            </a:r>
            <a:r>
              <a:rPr lang="en-US" sz="2800" b="0" spc="-30" dirty="0"/>
              <a:t> </a:t>
            </a:r>
            <a:r>
              <a:rPr lang="en-US" sz="2800" b="0" spc="-25" dirty="0"/>
              <a:t>of </a:t>
            </a:r>
            <a:r>
              <a:rPr lang="en-US" sz="2800" b="0" dirty="0"/>
              <a:t>security</a:t>
            </a:r>
            <a:r>
              <a:rPr lang="en-US" sz="2800" b="0" spc="-25" dirty="0"/>
              <a:t> </a:t>
            </a:r>
            <a:r>
              <a:rPr lang="en-US" sz="2800" b="0" dirty="0"/>
              <a:t>is</a:t>
            </a:r>
            <a:r>
              <a:rPr lang="en-US" sz="2800" b="0" spc="-30" dirty="0"/>
              <a:t> </a:t>
            </a:r>
            <a:r>
              <a:rPr lang="en-US" sz="2800" b="0" spc="-10" dirty="0"/>
              <a:t>suspected.</a:t>
            </a:r>
          </a:p>
          <a:p>
            <a:pPr marL="12700"/>
            <a:r>
              <a:rPr lang="en-US" sz="2800" spc="-10" dirty="0"/>
              <a:t>Notarization</a:t>
            </a:r>
          </a:p>
          <a:p>
            <a:pPr marL="12700" marR="190500">
              <a:spcBef>
                <a:spcPts val="5"/>
              </a:spcBef>
            </a:pPr>
            <a:r>
              <a:rPr lang="en-US" sz="2800" b="0" dirty="0"/>
              <a:t>The</a:t>
            </a:r>
            <a:r>
              <a:rPr lang="en-US" sz="2800" b="0" spc="-35" dirty="0"/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use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of</a:t>
            </a:r>
            <a:r>
              <a:rPr lang="en-US" sz="2800" b="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trusted</a:t>
            </a:r>
            <a:r>
              <a:rPr lang="en-US" sz="2800" b="0" u="sng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third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party</a:t>
            </a:r>
            <a:r>
              <a:rPr lang="en-US" sz="2800" b="0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to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assure</a:t>
            </a:r>
            <a:r>
              <a:rPr lang="en-US" sz="2800" b="0" u="sng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dirty="0">
                <a:uFill>
                  <a:solidFill>
                    <a:srgbClr val="000000"/>
                  </a:solidFill>
                </a:uFill>
              </a:rPr>
              <a:t>certain</a:t>
            </a:r>
            <a:r>
              <a:rPr lang="en-US" sz="2800" b="0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b="0" u="sng" spc="-10" dirty="0">
                <a:uFill>
                  <a:solidFill>
                    <a:srgbClr val="000000"/>
                  </a:solidFill>
                </a:uFill>
              </a:rPr>
              <a:t>properties</a:t>
            </a:r>
            <a:r>
              <a:rPr lang="en-US" sz="2800" b="0" spc="-15" dirty="0"/>
              <a:t> </a:t>
            </a:r>
            <a:r>
              <a:rPr lang="en-US" sz="2800" b="0" dirty="0"/>
              <a:t>of</a:t>
            </a:r>
            <a:r>
              <a:rPr lang="en-US" sz="2800" b="0" spc="-40" dirty="0"/>
              <a:t> </a:t>
            </a:r>
            <a:r>
              <a:rPr lang="en-US" sz="2800" b="0" spc="-50" dirty="0"/>
              <a:t>a </a:t>
            </a:r>
            <a:r>
              <a:rPr lang="en-US" sz="2800" b="0" dirty="0"/>
              <a:t>data</a:t>
            </a:r>
            <a:r>
              <a:rPr lang="en-US" sz="2800" b="0" spc="-55" dirty="0"/>
              <a:t> </a:t>
            </a:r>
            <a:r>
              <a:rPr lang="en-US" sz="2800" b="0" spc="-10" dirty="0"/>
              <a:t>exchange.</a:t>
            </a:r>
          </a:p>
        </p:txBody>
      </p:sp>
    </p:spTree>
    <p:extLst>
      <p:ext uri="{BB962C8B-B14F-4D97-AF65-F5344CB8AC3E}">
        <p14:creationId xmlns:p14="http://schemas.microsoft.com/office/powerpoint/2010/main" val="2331787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5" dirty="0"/>
              <a:t>Security</a:t>
            </a:r>
            <a:r>
              <a:rPr sz="4800" spc="-200" dirty="0"/>
              <a:t> </a:t>
            </a:r>
            <a:r>
              <a:rPr sz="4800" spc="-80" dirty="0"/>
              <a:t>Mechanisms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207998"/>
            <a:ext cx="5791200" cy="483222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PERVASIVE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SECURITY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MECHANISMS</a:t>
            </a:r>
            <a:endParaRPr sz="2400" dirty="0">
              <a:latin typeface="Calibri"/>
              <a:cs typeface="Calibri"/>
            </a:endParaRPr>
          </a:p>
          <a:p>
            <a:pPr marL="12700" marR="271145">
              <a:lnSpc>
                <a:spcPct val="70000"/>
              </a:lnSpc>
              <a:spcBef>
                <a:spcPts val="1395"/>
              </a:spcBef>
            </a:pPr>
            <a:r>
              <a:rPr sz="2400" dirty="0">
                <a:latin typeface="Calibri"/>
                <a:cs typeface="Calibri"/>
              </a:rPr>
              <a:t>Mechanisms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specific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particular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OSI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security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protocol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layer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Calibri"/>
                <a:cs typeface="Calibri"/>
              </a:rPr>
              <a:t>Trusted</a:t>
            </a:r>
            <a:r>
              <a:rPr sz="2400" b="1" spc="-10" dirty="0">
                <a:latin typeface="Calibri"/>
                <a:cs typeface="Calibri"/>
              </a:rPr>
              <a:t> Functionality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395"/>
              </a:spcBef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perceived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correct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respect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criteria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established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policy).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Security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Label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  <a:spcBef>
                <a:spcPts val="89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marking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bound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resource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(which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designates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dirty="0">
                <a:latin typeface="Calibri"/>
                <a:cs typeface="Calibri"/>
              </a:rPr>
              <a:t> 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Event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Detection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security-relevant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7001" y="1217116"/>
            <a:ext cx="5430520" cy="4563429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800" b="1" dirty="0">
                <a:latin typeface="Calibri"/>
                <a:cs typeface="Calibri"/>
              </a:rPr>
              <a:t>Security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Audit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Trail</a:t>
            </a:r>
            <a:endParaRPr lang="en-US" sz="2800" b="1" spc="-2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collected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potentially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facilitate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security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audit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independent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review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examination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records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activities.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Security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 err="1">
                <a:latin typeface="Calibri"/>
                <a:cs typeface="Calibri"/>
              </a:rPr>
              <a:t>Recovery</a:t>
            </a:r>
            <a:r>
              <a:rPr sz="2800" dirty="0" err="1">
                <a:latin typeface="Calibri"/>
                <a:cs typeface="Calibri"/>
              </a:rPr>
              <a:t>Deals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requests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mechanisms,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handling</a:t>
            </a:r>
            <a:r>
              <a:rPr sz="2800" spc="-2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takes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recovery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actions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>
                <a:solidFill>
                  <a:srgbClr val="001F5F"/>
                </a:solidFill>
              </a:rPr>
              <a:t>Relationship:</a:t>
            </a:r>
            <a:r>
              <a:rPr spc="-135" dirty="0">
                <a:solidFill>
                  <a:srgbClr val="001F5F"/>
                </a:solidFill>
              </a:rPr>
              <a:t> </a:t>
            </a:r>
            <a:r>
              <a:rPr spc="-75" dirty="0"/>
              <a:t>Security</a:t>
            </a:r>
            <a:r>
              <a:rPr spc="-150" dirty="0"/>
              <a:t> </a:t>
            </a:r>
            <a:r>
              <a:rPr spc="-75" dirty="0"/>
              <a:t>Services</a:t>
            </a:r>
            <a:r>
              <a:rPr spc="-145" dirty="0"/>
              <a:t> </a:t>
            </a:r>
            <a:r>
              <a:rPr spc="-65" dirty="0"/>
              <a:t>and</a:t>
            </a:r>
            <a:r>
              <a:rPr spc="-160" dirty="0"/>
              <a:t> </a:t>
            </a:r>
            <a:r>
              <a:rPr spc="-50" dirty="0"/>
              <a:t>Mechanisms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6511" y="1312306"/>
            <a:ext cx="6990468" cy="48233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62782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0" dirty="0"/>
              <a:t>Few</a:t>
            </a:r>
            <a:r>
              <a:rPr sz="4800" spc="-195" dirty="0"/>
              <a:t> </a:t>
            </a:r>
            <a:r>
              <a:rPr sz="4800" spc="-85" dirty="0"/>
              <a:t>Security</a:t>
            </a:r>
            <a:r>
              <a:rPr sz="4800" spc="-175" dirty="0"/>
              <a:t> </a:t>
            </a:r>
            <a:r>
              <a:rPr sz="4800" spc="-120" dirty="0"/>
              <a:t>related</a:t>
            </a:r>
            <a:r>
              <a:rPr sz="4800" spc="-180" dirty="0"/>
              <a:t> </a:t>
            </a:r>
            <a:r>
              <a:rPr sz="4800" spc="-20" dirty="0"/>
              <a:t>terms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9579" y="1189736"/>
            <a:ext cx="10361930" cy="5077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Malware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400" dirty="0">
                <a:latin typeface="Calibri"/>
                <a:cs typeface="Calibri"/>
              </a:rPr>
              <a:t>Viruses,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worms,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Trojans,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called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malware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malicious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(malcode).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  <a:spcBef>
                <a:spcPts val="1235"/>
              </a:spcBef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specifically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designed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damage,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disrupt,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steal,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inflict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“bad”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illegitimate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data,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latin typeface="Calibri"/>
                <a:cs typeface="Calibri"/>
              </a:rPr>
              <a:t>hosts,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00" b="1" spc="-20" dirty="0">
                <a:solidFill>
                  <a:srgbClr val="006FC0"/>
                </a:solidFill>
                <a:latin typeface="Calibri"/>
                <a:cs typeface="Calibri"/>
              </a:rPr>
              <a:t>Virus</a:t>
            </a:r>
            <a:endParaRPr sz="1400">
              <a:latin typeface="Calibri"/>
              <a:cs typeface="Calibri"/>
            </a:endParaRPr>
          </a:p>
          <a:p>
            <a:pPr marL="12700" marR="408305" indent="39370">
              <a:lnSpc>
                <a:spcPts val="1510"/>
              </a:lnSpc>
              <a:spcBef>
                <a:spcPts val="143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malware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propagates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inserting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copy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itself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becoming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another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spreads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computer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another,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leaving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infections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travels.</a:t>
            </a:r>
            <a:endParaRPr sz="1400">
              <a:latin typeface="Calibri"/>
              <a:cs typeface="Calibri"/>
            </a:endParaRPr>
          </a:p>
          <a:p>
            <a:pPr marL="12700" marR="249554">
              <a:lnSpc>
                <a:spcPts val="1510"/>
              </a:lnSpc>
              <a:spcBef>
                <a:spcPts val="1405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virus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exist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active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spread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until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operating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system(OS)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opens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malicious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host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Worms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400" dirty="0">
                <a:latin typeface="Calibri"/>
                <a:cs typeface="Calibri"/>
              </a:rPr>
              <a:t>they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replicate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functional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copies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themselves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cause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damage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400" spc="-65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spread,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worms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either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exploit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vulnerability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target system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kind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engineering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trick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executing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400" b="1" dirty="0">
                <a:solidFill>
                  <a:srgbClr val="006FC0"/>
                </a:solidFill>
                <a:latin typeface="Calibri"/>
                <a:cs typeface="Calibri"/>
              </a:rPr>
              <a:t>Social</a:t>
            </a:r>
            <a:r>
              <a:rPr sz="1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Engineering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510"/>
              </a:lnSpc>
              <a:spcBef>
                <a:spcPts val="1430"/>
              </a:spcBef>
            </a:pPr>
            <a:r>
              <a:rPr sz="1400" dirty="0">
                <a:latin typeface="Calibri"/>
                <a:cs typeface="Calibri"/>
              </a:rPr>
              <a:t>"any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0" dirty="0">
                <a:latin typeface="Calibri"/>
                <a:cs typeface="Calibri"/>
              </a:rPr>
              <a:t> influences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person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take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interests.“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psychological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manipulation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people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performing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actions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400" dirty="0">
                <a:latin typeface="Calibri"/>
                <a:cs typeface="Calibri"/>
              </a:rPr>
              <a:t>e.g.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Phishing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SMS/Email: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“your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account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suspended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unless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clicked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update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card/account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information”.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63728"/>
            <a:ext cx="62782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0" dirty="0"/>
              <a:t>Few</a:t>
            </a:r>
            <a:r>
              <a:rPr sz="4800" spc="-195" dirty="0"/>
              <a:t> </a:t>
            </a:r>
            <a:r>
              <a:rPr sz="4800" spc="-85" dirty="0"/>
              <a:t>Security</a:t>
            </a:r>
            <a:r>
              <a:rPr sz="4800" spc="-175" dirty="0"/>
              <a:t> </a:t>
            </a:r>
            <a:r>
              <a:rPr sz="4800" spc="-120" dirty="0"/>
              <a:t>related</a:t>
            </a:r>
            <a:r>
              <a:rPr sz="4800" spc="-180" dirty="0"/>
              <a:t> </a:t>
            </a:r>
            <a:r>
              <a:rPr sz="4800" spc="-20" dirty="0"/>
              <a:t>terms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890"/>
              </a:spcBef>
            </a:pPr>
            <a:r>
              <a:rPr spc="-10" dirty="0"/>
              <a:t>Trojan</a:t>
            </a:r>
          </a:p>
          <a:p>
            <a:pPr marL="32384">
              <a:lnSpc>
                <a:spcPts val="1735"/>
              </a:lnSpc>
              <a:spcBef>
                <a:spcPts val="790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harmful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piece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software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looks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legitimate.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Users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typically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tricked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loading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executing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</a:p>
          <a:p>
            <a:pPr marL="32384">
              <a:lnSpc>
                <a:spcPts val="1735"/>
              </a:lnSpc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their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systems.</a:t>
            </a:r>
          </a:p>
          <a:p>
            <a:pPr marL="32384" marR="121285">
              <a:lnSpc>
                <a:spcPct val="70000"/>
              </a:lnSpc>
              <a:spcBef>
                <a:spcPts val="1410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Unlike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viruses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worms,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Trojans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reproduce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infecting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other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files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nor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they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self-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replicate.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It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creates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doors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give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malicious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users</a:t>
            </a:r>
            <a:r>
              <a:rPr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access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b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b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404040"/>
                </a:solidFill>
                <a:latin typeface="Calibri"/>
                <a:cs typeface="Calibri"/>
              </a:rPr>
              <a:t>system.</a:t>
            </a:r>
          </a:p>
          <a:p>
            <a:pPr marL="32384">
              <a:lnSpc>
                <a:spcPct val="100000"/>
              </a:lnSpc>
              <a:spcBef>
                <a:spcPts val="780"/>
              </a:spcBef>
            </a:pPr>
            <a:r>
              <a:rPr spc="-10" dirty="0"/>
              <a:t>Backdoors</a:t>
            </a:r>
          </a:p>
          <a:p>
            <a:pPr marL="32384">
              <a:lnSpc>
                <a:spcPct val="100000"/>
              </a:lnSpc>
              <a:spcBef>
                <a:spcPts val="790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door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undocumented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way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accessing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system,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bypassing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normal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authentication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mechanisms.</a:t>
            </a:r>
          </a:p>
          <a:p>
            <a:pPr marL="32384">
              <a:lnSpc>
                <a:spcPct val="100000"/>
              </a:lnSpc>
              <a:spcBef>
                <a:spcPts val="790"/>
              </a:spcBef>
            </a:pPr>
            <a:r>
              <a:rPr spc="-10" dirty="0"/>
              <a:t>Exploit</a:t>
            </a:r>
          </a:p>
          <a:p>
            <a:pPr marL="32384" marR="5080">
              <a:lnSpc>
                <a:spcPct val="70000"/>
              </a:lnSpc>
              <a:spcBef>
                <a:spcPts val="1395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Exploits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piece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software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which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always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malicious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intent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—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they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sometimes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way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demonstrating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vulnerability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exists.</a:t>
            </a:r>
          </a:p>
          <a:p>
            <a:pPr marL="32384">
              <a:lnSpc>
                <a:spcPct val="100000"/>
              </a:lnSpc>
              <a:spcBef>
                <a:spcPts val="795"/>
              </a:spcBef>
            </a:pPr>
            <a:r>
              <a:rPr spc="-20" dirty="0"/>
              <a:t>Bots</a:t>
            </a:r>
          </a:p>
          <a:p>
            <a:pPr marL="32384" marR="131445">
              <a:lnSpc>
                <a:spcPct val="70000"/>
              </a:lnSpc>
              <a:spcBef>
                <a:spcPts val="1400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Bots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often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automate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tasks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provide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services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would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otherwise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conducted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human being.</a:t>
            </a:r>
          </a:p>
          <a:p>
            <a:pPr marL="32384" marR="364490">
              <a:lnSpc>
                <a:spcPct val="70000"/>
              </a:lnSpc>
              <a:spcBef>
                <a:spcPts val="1395"/>
              </a:spcBef>
            </a:pP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malicious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bot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self-propagating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malware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designed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infect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host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connect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back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central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server</a:t>
            </a:r>
            <a:r>
              <a:rPr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or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servers</a:t>
            </a:r>
            <a:r>
              <a:rPr b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act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command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control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(C&amp;C)</a:t>
            </a:r>
            <a:r>
              <a:rPr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center</a:t>
            </a:r>
            <a:r>
              <a:rPr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an</a:t>
            </a:r>
            <a:r>
              <a:rPr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entire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network</a:t>
            </a:r>
            <a:r>
              <a:rPr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compromised</a:t>
            </a:r>
            <a:r>
              <a:rPr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devices,</a:t>
            </a:r>
            <a:r>
              <a:rPr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/>
                <a:cs typeface="Calibri"/>
              </a:rPr>
              <a:t>or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"botnet."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3420" y="1611820"/>
            <a:ext cx="5704274" cy="42202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09-01-</a:t>
            </a:r>
            <a:r>
              <a:rPr spc="-20" dirty="0"/>
              <a:t>2023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MANAS</a:t>
            </a:r>
            <a:r>
              <a:rPr spc="-15" dirty="0"/>
              <a:t> </a:t>
            </a:r>
            <a:r>
              <a:rPr dirty="0"/>
              <a:t>KHATUA,</a:t>
            </a:r>
            <a:r>
              <a:rPr spc="-25" dirty="0"/>
              <a:t> </a:t>
            </a:r>
            <a:r>
              <a:rPr dirty="0"/>
              <a:t>IIT</a:t>
            </a:r>
            <a:r>
              <a:rPr spc="-45" dirty="0"/>
              <a:t> </a:t>
            </a:r>
            <a:r>
              <a:rPr spc="-10" dirty="0"/>
              <a:t>GUWAHATI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2135</Words>
  <Application>Microsoft Office PowerPoint</Application>
  <PresentationFormat>Widescreen</PresentationFormat>
  <Paragraphs>264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 MT</vt:lpstr>
      <vt:lpstr>Calibri</vt:lpstr>
      <vt:lpstr>Calibri Light</vt:lpstr>
      <vt:lpstr>Courier New</vt:lpstr>
      <vt:lpstr>Times New Roman</vt:lpstr>
      <vt:lpstr>Wingdings</vt:lpstr>
      <vt:lpstr>Office Theme</vt:lpstr>
      <vt:lpstr>Computer &amp; Network Security Concepts</vt:lpstr>
      <vt:lpstr>Computer and Network Security</vt:lpstr>
      <vt:lpstr>Fundamental Security Objectives</vt:lpstr>
      <vt:lpstr>Essential Security Requirements</vt:lpstr>
      <vt:lpstr>Computer Security Challenges</vt:lpstr>
      <vt:lpstr>Network Security Model</vt:lpstr>
      <vt:lpstr>Network Access Security Model</vt:lpstr>
      <vt:lpstr>OSI Security Architecture</vt:lpstr>
      <vt:lpstr>Threats and Attacks</vt:lpstr>
      <vt:lpstr>PowerPoint Presentation</vt:lpstr>
      <vt:lpstr>Security Attacks</vt:lpstr>
      <vt:lpstr>Types of Attacks</vt:lpstr>
      <vt:lpstr>PowerPoint Presentation</vt:lpstr>
      <vt:lpstr>Security Services</vt:lpstr>
      <vt:lpstr>Security Services</vt:lpstr>
      <vt:lpstr>Security Services</vt:lpstr>
      <vt:lpstr>PowerPoint Presentation</vt:lpstr>
      <vt:lpstr>NONREPUDIATION</vt:lpstr>
      <vt:lpstr>PowerPoint Presentation</vt:lpstr>
      <vt:lpstr>Security Mechanisms</vt:lpstr>
      <vt:lpstr>PowerPoint Presentation</vt:lpstr>
      <vt:lpstr>Security Mechanisms</vt:lpstr>
      <vt:lpstr>Relationship: Security Services and Mechanisms</vt:lpstr>
      <vt:lpstr>Few Security related terms</vt:lpstr>
      <vt:lpstr>Few Security related terms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Manonmani T</cp:lastModifiedBy>
  <cp:revision>1</cp:revision>
  <dcterms:created xsi:type="dcterms:W3CDTF">2026-01-05T05:36:08Z</dcterms:created>
  <dcterms:modified xsi:type="dcterms:W3CDTF">2026-01-08T08:02:13Z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2016</vt:lpwstr>
  </property>
</Properties>
</file>