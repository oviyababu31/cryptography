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1" r:id="rId3"/>
    <p:sldId id="264" r:id="rId4"/>
    <p:sldId id="260" r:id="rId5"/>
    <p:sldId id="262" r:id="rId6"/>
    <p:sldId id="266" r:id="rId7"/>
    <p:sldId id="267" r:id="rId8"/>
    <p:sldId id="26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-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6ED2E-DB9C-4E74-0098-6AC4C1DCD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DA63C3-B445-CB27-90F8-F8FD94027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9FEE8-6CF5-8589-5736-96DD1D92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A9D02-0C91-1A6E-5717-FC6F899B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C102B-E07A-C6D2-B5DE-DE311469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003F4-8220-BD97-6AF2-9D95E6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2EE58-490F-85EC-48E7-DCAF56672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39866-E354-19BB-2EC9-5D7D5722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30DE4-6A8B-9C27-4C35-C8A77317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A390C-CECE-FA19-3B84-4895BFEC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6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22817-575A-55E4-5285-AC451CDC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8DEDC-192D-FAE9-A585-400115840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EA4BF-CE8F-7029-8CCF-42BD68A2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F65F2-D8B9-18A7-805A-628E37D1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F0C3-45C6-B2E1-4365-C39F77364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39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90E5A-A3B0-10AC-1AC6-FC58CF903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6CF36-22D9-AC8E-6B74-706A52214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33494-8515-DC0B-C14C-7578A8DE4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91A1A-2D13-4ABE-8004-B9186846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66490-6FA7-3CE8-02D2-A17C1015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19D22-C6B1-CB1E-B1CC-BD02E41A5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2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91C0-967C-DEF1-BE5F-1BEA26050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176EF-DB4D-29A2-B9A9-192738DE4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034BA-B7EC-5275-299A-D47175B45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F42B6-0900-59FB-2554-1673E370C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665D4D-471E-B602-A336-2D5C434697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9ACF2C-9C85-6A7F-9F11-FDE8424BB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21900-0924-EB6C-05FA-F6706892D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77F13-3E83-ED7B-DBB2-D211DCA2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0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F09CF-623C-B257-05D5-2B020FF51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24CAA-C978-0A61-9714-12A4F61F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F78B6-29DA-0AA0-FECF-95EF7187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66159-C3C2-CE44-3462-B63DBF96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6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29263-5F66-E1C3-A8FE-2EF74BEB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591F6A-4AE1-5BA0-0F6C-F66FE5010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A8041-6D30-8578-CC4C-393D5395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5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74B4-7293-E33C-DD50-B6B444A71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35E92-2B28-836A-88A6-239DE24E9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1A98-AB1A-E567-0A1B-BF2F44592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7FF66-10E5-5B19-64D7-2A00E0A6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A304B-7556-C61A-CA86-67DC1286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B74B4-E726-F0A9-8D68-0053E54C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568E-9D97-B690-FF2C-35754CD2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B4FFA3-F37F-1296-D493-6A1136E09E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64563-2100-2E7D-C48D-81840F405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1DA01-D397-0003-E7B6-9C037600A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6A8B5-877D-8DD9-7537-B87BF755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74362-AB6D-21B7-A3CE-B8ED8639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3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D173-BEEB-65B9-1037-83AB7C94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2E5D1-E9C1-DE4E-7085-3DD822868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2C37E-B55B-DA0C-9C00-0820BE62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0AABA-EF45-F20C-2FD7-C44DCF533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5D51C-83A3-E8DB-FDCE-49CD717F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7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046E03-3556-D317-B432-BA7C1F182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D903E-3EA7-BFDE-1044-FF53E178C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B310F-38AD-AAD5-5E41-E4062D27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D58AB-10C1-F332-91D3-30A3DEA3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06B52-DC01-55D8-79FC-E055E2AD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41AED0-D642-FBAE-8824-D56D66192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2DA49-B05F-C0CC-C8FC-A57142D07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3B551-AFFB-60F8-A1F2-B6CE8CC2C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07E0B-4C41-4143-A6A9-1874C12AE60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64C4C-D1B2-9DC7-88C6-16C301C9C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139DF-D12F-6309-5A3C-71EEEBE1E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37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A0DB-5953-50D6-B851-229972E2F8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Legendre Jacobi Symbol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BD465-FE8E-4F4C-FF5D-0627186C41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645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8F23-61B1-CD7A-9340-849D70AE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627"/>
            <a:ext cx="7886700" cy="688974"/>
          </a:xfrm>
        </p:spPr>
        <p:txBody>
          <a:bodyPr/>
          <a:lstStyle/>
          <a:p>
            <a:r>
              <a:rPr lang="en-US" dirty="0"/>
              <a:t>Legendre Jacobi Symbol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C4440E-9EC3-8534-1615-285B76C5B9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863601"/>
                <a:ext cx="8260517" cy="581977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1" dirty="0"/>
                  <a:t>Quadratic Residue (QR)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200" dirty="0"/>
                  <a:t>p is an odd prime, then x is QR mod p </a:t>
                </a:r>
                <a:r>
                  <a:rPr lang="en-US" sz="2200" dirty="0" err="1"/>
                  <a:t>iff</a:t>
                </a:r>
                <a:r>
                  <a:rPr lang="en-US" sz="2200" dirty="0"/>
                  <a:t> x</a:t>
                </a:r>
                <a:r>
                  <a:rPr lang="en-US" sz="2200" baseline="30000" dirty="0"/>
                  <a:t>(p-1)/2</a:t>
                </a:r>
                <a:r>
                  <a:rPr lang="en-US" sz="2200" b="1" baseline="30000" dirty="0"/>
                  <a:t> </a:t>
                </a:r>
                <a:r>
                  <a:rPr lang="en-US" sz="2400" dirty="0"/>
                  <a:t>≡ 1 mod p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500" b="1" dirty="0"/>
                  <a:t>Legendre Symbol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200" b="1" dirty="0"/>
                  <a:t>P </a:t>
                </a:r>
                <a:r>
                  <a:rPr lang="en-US" sz="2200" dirty="0"/>
                  <a:t>is an odd prime number, for any integer a </a:t>
                </a:r>
                <a:r>
                  <a:rPr lang="en-US" sz="2200" dirty="0">
                    <a:sym typeface="Symbol" panose="05050102010706020507" pitchFamily="18" charset="2"/>
                  </a:rPr>
                  <a:t> 0, Legendre Symbols</a:t>
                </a:r>
              </a:p>
              <a:p>
                <a:pPr marL="3429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200" b="1" i="0" smtClean="0">
                          <a:latin typeface="Cambria Math" panose="02040503050406030204" pitchFamily="18" charset="0"/>
                        </a:rPr>
                        <m:t>L</m:t>
                      </m:r>
                      <m:d>
                        <m:dPr>
                          <m:ctrlPr>
                            <a:rPr lang="en-IN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den>
                          </m:f>
                        </m:e>
                      </m:d>
                      <m:r>
                        <m:rPr>
                          <m:nor/>
                        </m:rPr>
                        <a:rPr lang="en-IN" sz="2200" b="1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sz="2200" dirty="0"/>
                                <m:t>≡</m:t>
                              </m:r>
                              <m:r>
                                <m:rPr>
                                  <m:nor/>
                                </m:rPr>
                                <a:rPr lang="en-IN" sz="2200" b="1" i="0" dirty="0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dirty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en-IN" sz="2200" b="1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dirty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QR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QNR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200" b="1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b="1" dirty="0"/>
              </a:p>
              <a:p>
                <a:pPr marL="0" indent="0">
                  <a:buNone/>
                </a:pPr>
                <a:r>
                  <a:rPr lang="en-US" sz="2500" b="1" dirty="0"/>
                  <a:t>Jacobi Symbol</a:t>
                </a:r>
              </a:p>
              <a:p>
                <a:pPr lvl="1"/>
                <a:r>
                  <a:rPr lang="en-US" sz="2200" b="1" dirty="0"/>
                  <a:t>n </a:t>
                </a:r>
                <a:r>
                  <a:rPr lang="en-US" sz="2200" dirty="0"/>
                  <a:t>is an odd positive integer with prime factorization</a:t>
                </a:r>
              </a:p>
              <a:p>
                <a:pPr marL="342900" lvl="1" indent="0">
                  <a:buNone/>
                </a:pPr>
                <a:r>
                  <a:rPr lang="en-US" sz="2200" b="1" dirty="0"/>
                  <a:t>				n =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IN" sz="22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IN" sz="22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  <m:e>
                        <m:sSup>
                          <m:sSupPr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IN" sz="2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2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IN" sz="22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  <m:sup>
                            <m:sSub>
                              <m:sSubPr>
                                <m:ctrlP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200" b="1" i="1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b>
                                <m:r>
                                  <a:rPr lang="en-IN" sz="22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sz="2200" b="1" dirty="0"/>
              </a:p>
              <a:p>
                <a:pPr lvl="1"/>
                <a:r>
                  <a:rPr lang="en-US" sz="2200" b="1" dirty="0"/>
                  <a:t>Jacobi Symbol,</a:t>
                </a:r>
                <a:r>
                  <a:rPr lang="en-US" sz="1900" b="1" dirty="0"/>
                  <a:t> 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num>
                            <m:den>
                              <m: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r>
                        <a:rPr lang="en-IN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  <m:d>
                                <m:dPr>
                                  <m:ctrlPr>
                                    <a:rPr lang="en-IN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000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IN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1" i="1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IN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C4440E-9EC3-8534-1615-285B76C5B9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863601"/>
                <a:ext cx="8260517" cy="5819772"/>
              </a:xfrm>
              <a:blipFill>
                <a:blip r:embed="rId2"/>
                <a:stretch>
                  <a:fillRect l="-1181" r="-2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87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AA54E-C684-61CC-6117-C2C494B6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Legendre Symbol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2742A-DD81-DF18-1411-BA46825229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1920" y="1825625"/>
                <a:ext cx="9022080" cy="4351338"/>
              </a:xfrm>
            </p:spPr>
            <p:txBody>
              <a:bodyPr>
                <a:normAutofit/>
              </a:bodyPr>
              <a:lstStyle/>
              <a:p>
                <a:r>
                  <a:rPr lang="en-IN" sz="3200" dirty="0"/>
                  <a:t>For an integer </a:t>
                </a:r>
                <a14:m>
                  <m:oMath xmlns:m="http://schemas.openxmlformats.org/officeDocument/2006/math">
                    <m:r>
                      <a:rPr lang="en-IN" sz="3200" i="1"/>
                      <m:t>𝑎</m:t>
                    </m:r>
                  </m:oMath>
                </a14:m>
                <a:r>
                  <a:rPr lang="en-IN" sz="3200" dirty="0"/>
                  <a:t>and an </a:t>
                </a:r>
                <a:r>
                  <a:rPr lang="en-IN" sz="3200" b="1" dirty="0"/>
                  <a:t>odd prime</a:t>
                </a:r>
                <a:r>
                  <a:rPr lang="en-IN" sz="3200" dirty="0"/>
                  <a:t> </a:t>
                </a:r>
                <a14:m>
                  <m:oMath xmlns:m="http://schemas.openxmlformats.org/officeDocument/2006/math">
                    <m:r>
                      <a:rPr lang="en-IN" sz="3200" i="1"/>
                      <m:t>𝑝</m:t>
                    </m:r>
                  </m:oMath>
                </a14:m>
                <a:r>
                  <a:rPr lang="en-IN" sz="3200" dirty="0"/>
                  <a:t>:</a:t>
                </a:r>
              </a:p>
              <a:p>
                <a:pPr marL="0" indent="0">
                  <a:buNone/>
                </a:pPr>
                <a:endParaRPr lang="en-IN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sz="3200"/>
                          </m:ctrlPr>
                        </m:dPr>
                        <m:e>
                          <m:f>
                            <m:fPr>
                              <m:ctrlPr>
                                <a:rPr lang="ar-AE" sz="3200"/>
                              </m:ctrlPr>
                            </m:fPr>
                            <m:num>
                              <m:r>
                                <a:rPr lang="ar-AE" sz="3200" i="1"/>
                                <m:t>𝑎</m:t>
                              </m:r>
                            </m:num>
                            <m:den>
                              <m:r>
                                <a:rPr lang="ar-AE" sz="3200" i="1"/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3200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3200" i="1"/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ar-AE" sz="3200" i="1"/>
                                  <m:t>    </m:t>
                                </m:r>
                                <m:r>
                                  <a:rPr lang="ar-AE" sz="3200"/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a:rPr lang="en-IN" sz="3200" i="1"/>
                                  <m:t>𝑎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quadratic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residue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mod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a:rPr lang="en-IN" sz="3200" i="1"/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3200"/>
                                  <m:t>−</m:t>
                                </m:r>
                                <m:r>
                                  <a:rPr lang="ar-AE" sz="3200"/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a:rPr lang="en-IN" sz="3200" i="1"/>
                                  <m:t>𝑎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NOT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quadratic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residue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mod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a:rPr lang="en-IN" sz="3200" i="1"/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ar-AE" sz="3200" i="1"/>
                                  <m:t>    </m:t>
                                </m:r>
                                <m:r>
                                  <a:rPr lang="ar-AE" sz="3200"/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IN" sz="3200" i="1"/>
                                  <m:t> </m:t>
                                </m:r>
                                <m:r>
                                  <a:rPr lang="en-IN" sz="3200" i="1"/>
                                  <m:t>𝑝</m:t>
                                </m:r>
                                <m:r>
                                  <a:rPr lang="en-IN" sz="3200"/>
                                  <m:t>∣</m:t>
                                </m:r>
                                <m:r>
                                  <a:rPr lang="en-IN" sz="3200" i="1"/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3200" b="0" dirty="0"/>
              </a:p>
              <a:p>
                <a:endParaRPr lang="en-IN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2742A-DD81-DF18-1411-BA46825229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920" y="1825625"/>
                <a:ext cx="9022080" cy="4351338"/>
              </a:xfrm>
              <a:blipFill>
                <a:blip r:embed="rId2"/>
                <a:stretch>
                  <a:fillRect l="-1554" t="-28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466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8F23-61B1-CD7A-9340-849D70AE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627"/>
            <a:ext cx="7886700" cy="688974"/>
          </a:xfrm>
        </p:spPr>
        <p:txBody>
          <a:bodyPr/>
          <a:lstStyle/>
          <a:p>
            <a:r>
              <a:rPr lang="en-US" dirty="0"/>
              <a:t>Legendre Jacobi Symbol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440E-9EC3-8534-1615-285B76C5B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863601"/>
            <a:ext cx="8260517" cy="58197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Quadratic Residue (QR)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Given an odd prime </a:t>
            </a:r>
            <a:r>
              <a:rPr lang="en-US" sz="2200" i="1" dirty="0"/>
              <a:t>p </a:t>
            </a:r>
            <a:r>
              <a:rPr lang="en-US" sz="2200" dirty="0"/>
              <a:t>and an integer a such that 0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y ≤ </a:t>
            </a:r>
            <a:r>
              <a:rPr lang="en-US" sz="2200" dirty="0">
                <a:cs typeface="Times New Roman" panose="02020603050405020304" pitchFamily="18" charset="0"/>
              </a:rPr>
              <a:t>p-1</a:t>
            </a:r>
            <a:r>
              <a:rPr lang="en-US" sz="2200" b="1" dirty="0"/>
              <a:t>. </a:t>
            </a:r>
          </a:p>
          <a:p>
            <a:pPr lvl="2">
              <a:lnSpc>
                <a:spcPct val="150000"/>
              </a:lnSpc>
            </a:pPr>
            <a:r>
              <a:rPr lang="en-US" sz="1900" b="1" dirty="0"/>
              <a:t>x</a:t>
            </a:r>
            <a:r>
              <a:rPr lang="en-US" sz="1900" b="1" baseline="30000" dirty="0"/>
              <a:t>2</a:t>
            </a:r>
            <a:r>
              <a:rPr lang="en-US" sz="1900" b="1" dirty="0"/>
              <a:t> </a:t>
            </a:r>
            <a:r>
              <a:rPr lang="en-US" sz="2000" dirty="0"/>
              <a:t>≡</a:t>
            </a:r>
            <a:r>
              <a:rPr lang="en-US" sz="2000" b="1" dirty="0"/>
              <a:t> a (mod p) </a:t>
            </a:r>
            <a:r>
              <a:rPr lang="en-US" sz="2000" dirty="0"/>
              <a:t>has a solution y </a:t>
            </a:r>
            <a:r>
              <a:rPr lang="en-US" sz="2000" dirty="0">
                <a:sym typeface="Symbol" panose="05050102010706020507" pitchFamily="18" charset="2"/>
              </a:rPr>
              <a:t> </a:t>
            </a:r>
            <a:r>
              <a:rPr lang="en-US" sz="2000" dirty="0" err="1">
                <a:sym typeface="Symbol" panose="05050102010706020507" pitchFamily="18" charset="2"/>
              </a:rPr>
              <a:t>Z</a:t>
            </a:r>
            <a:r>
              <a:rPr lang="en-US" sz="2000" baseline="-25000" dirty="0" err="1">
                <a:sym typeface="Symbol" panose="05050102010706020507" pitchFamily="18" charset="2"/>
              </a:rPr>
              <a:t>p</a:t>
            </a:r>
            <a:r>
              <a:rPr lang="en-US" sz="2000" baseline="-25000" dirty="0">
                <a:sym typeface="Symbol" panose="05050102010706020507" pitchFamily="18" charset="2"/>
              </a:rPr>
              <a:t> </a:t>
            </a:r>
          </a:p>
          <a:p>
            <a:pPr lvl="3">
              <a:lnSpc>
                <a:spcPct val="150000"/>
              </a:lnSpc>
            </a:pPr>
            <a:r>
              <a:rPr lang="en-US" sz="1750" dirty="0">
                <a:sym typeface="Symbol" panose="05050102010706020507" pitchFamily="18" charset="2"/>
              </a:rPr>
              <a:t>If yes, a is QR mod p otherwise a is QNR mod p. If a </a:t>
            </a:r>
            <a:r>
              <a:rPr lang="en-US" sz="1800" dirty="0"/>
              <a:t>≡ 0 mod p, a is not QR mod p</a:t>
            </a:r>
          </a:p>
          <a:p>
            <a:pPr lvl="2">
              <a:lnSpc>
                <a:spcPct val="150000"/>
              </a:lnSpc>
            </a:pPr>
            <a:r>
              <a:rPr lang="en-US" sz="1900" dirty="0"/>
              <a:t>E.g., p=11</a:t>
            </a:r>
          </a:p>
          <a:p>
            <a:pPr lvl="2">
              <a:lnSpc>
                <a:spcPct val="150000"/>
              </a:lnSpc>
            </a:pPr>
            <a:endParaRPr lang="en-US" sz="1900" dirty="0"/>
          </a:p>
          <a:p>
            <a:pPr lvl="2">
              <a:lnSpc>
                <a:spcPct val="150000"/>
              </a:lnSpc>
            </a:pPr>
            <a:endParaRPr lang="en-US" sz="1900" dirty="0"/>
          </a:p>
          <a:p>
            <a:pPr lvl="2">
              <a:lnSpc>
                <a:spcPct val="150000"/>
              </a:lnSpc>
            </a:pPr>
            <a:endParaRPr lang="en-US" sz="1900" dirty="0"/>
          </a:p>
          <a:p>
            <a:pPr lvl="2">
              <a:lnSpc>
                <a:spcPct val="150000"/>
              </a:lnSpc>
            </a:pPr>
            <a:endParaRPr lang="en-US" sz="1900" dirty="0"/>
          </a:p>
          <a:p>
            <a:pPr lvl="2">
              <a:lnSpc>
                <a:spcPct val="150000"/>
              </a:lnSpc>
            </a:pPr>
            <a:r>
              <a:rPr lang="en-US" sz="1900" dirty="0"/>
              <a:t>x </a:t>
            </a:r>
            <a:r>
              <a:rPr lang="en-US" sz="1800" dirty="0">
                <a:sym typeface="Symbol" panose="05050102010706020507" pitchFamily="18" charset="2"/>
              </a:rPr>
              <a:t> {1,3,4,5,9}, x is QR mod p</a:t>
            </a:r>
            <a:endParaRPr lang="en-US" sz="1900" dirty="0"/>
          </a:p>
          <a:p>
            <a:pPr marL="1028700" lvl="3" indent="0">
              <a:lnSpc>
                <a:spcPct val="150000"/>
              </a:lnSpc>
              <a:buNone/>
            </a:pPr>
            <a:endParaRPr lang="en-US" sz="175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78BD9-A8FD-D8F1-8218-31CA51FCC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057" y="3957668"/>
            <a:ext cx="222885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57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C1D5D-F3AD-C461-FAA9-73F7EA2BCE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655320"/>
                <a:ext cx="7886700" cy="5521643"/>
              </a:xfrm>
            </p:spPr>
            <p:txBody>
              <a:bodyPr>
                <a:normAutofit/>
              </a:bodyPr>
              <a:lstStyle/>
              <a:p>
                <a:r>
                  <a:rPr lang="en-IN" sz="2800" b="1" dirty="0"/>
                  <a:t>Example 1</a:t>
                </a:r>
              </a:p>
              <a:p>
                <a:r>
                  <a:rPr lang="en-IN" sz="2800" dirty="0"/>
                  <a:t>Find: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800"/>
                        </m:ctrlPr>
                      </m:dPr>
                      <m:e>
                        <m:f>
                          <m:fPr>
                            <m:ctrlPr>
                              <a:rPr lang="ar-AE" sz="2800"/>
                            </m:ctrlPr>
                          </m:fPr>
                          <m:num>
                            <m:r>
                              <a:rPr lang="ar-AE" sz="2800"/>
                              <m:t>4</m:t>
                            </m:r>
                          </m:num>
                          <m:den>
                            <m:r>
                              <a:rPr lang="ar-AE" sz="2800"/>
                              <m:t>7</m:t>
                            </m:r>
                          </m:den>
                        </m:f>
                      </m:e>
                    </m:d>
                  </m:oMath>
                </a14:m>
                <a:endParaRPr lang="ar-AE" sz="2800" dirty="0"/>
              </a:p>
              <a:p>
                <a:r>
                  <a:rPr lang="en-IN" sz="2800" dirty="0"/>
                  <a:t>Squares mod 7: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800"/>
                          </m:ctrlPr>
                        </m:sSupPr>
                        <m:e>
                          <m:r>
                            <a:rPr lang="ar-AE" sz="2800"/>
                            <m:t>1</m:t>
                          </m:r>
                        </m:e>
                        <m:sup>
                          <m:r>
                            <a:rPr lang="ar-AE" sz="2800"/>
                            <m:t>2</m:t>
                          </m:r>
                        </m:sup>
                      </m:sSup>
                      <m:r>
                        <a:rPr lang="ar-AE" sz="2800"/>
                        <m:t>=</m:t>
                      </m:r>
                      <m:r>
                        <a:rPr lang="ar-AE" sz="2800"/>
                        <m:t>1</m:t>
                      </m:r>
                      <m:r>
                        <a:rPr lang="ar-AE" sz="2800"/>
                        <m:t>,</m:t>
                      </m:r>
                      <m:r>
                        <m:rPr>
                          <m:nor/>
                        </m:rPr>
                        <a:rPr lang="ar-AE" sz="2800" i="1"/>
                        <m:t>  </m:t>
                      </m:r>
                      <m:sSup>
                        <m:sSupPr>
                          <m:ctrlPr>
                            <a:rPr lang="ar-AE" sz="2800" i="1"/>
                          </m:ctrlPr>
                        </m:sSupPr>
                        <m:e>
                          <m:r>
                            <a:rPr lang="ar-AE" sz="2800"/>
                            <m:t>2</m:t>
                          </m:r>
                        </m:e>
                        <m:sup>
                          <m:r>
                            <a:rPr lang="ar-AE" sz="2800"/>
                            <m:t>2</m:t>
                          </m:r>
                        </m:sup>
                      </m:sSup>
                      <m:r>
                        <a:rPr lang="ar-AE" sz="2800"/>
                        <m:t>=</m:t>
                      </m:r>
                      <m:r>
                        <a:rPr lang="ar-AE" sz="2800"/>
                        <m:t>4</m:t>
                      </m:r>
                      <m:r>
                        <a:rPr lang="ar-AE" sz="2800"/>
                        <m:t>,</m:t>
                      </m:r>
                      <m:r>
                        <m:rPr>
                          <m:nor/>
                        </m:rPr>
                        <a:rPr lang="ar-AE" sz="2800" i="1"/>
                        <m:t>  </m:t>
                      </m:r>
                      <m:sSup>
                        <m:sSupPr>
                          <m:ctrlPr>
                            <a:rPr lang="ar-AE" sz="2800" i="1"/>
                          </m:ctrlPr>
                        </m:sSupPr>
                        <m:e>
                          <m:r>
                            <a:rPr lang="ar-AE" sz="2800"/>
                            <m:t>3</m:t>
                          </m:r>
                        </m:e>
                        <m:sup>
                          <m:r>
                            <a:rPr lang="ar-AE" sz="2800"/>
                            <m:t>2</m:t>
                          </m:r>
                        </m:sup>
                      </m:sSup>
                      <m:r>
                        <a:rPr lang="ar-AE" sz="2800"/>
                        <m:t>=</m:t>
                      </m:r>
                      <m:r>
                        <a:rPr lang="ar-AE" sz="2800"/>
                        <m:t>2</m:t>
                      </m:r>
                      <m:r>
                        <a:rPr lang="ar-AE" sz="2800"/>
                        <m:t>,</m:t>
                      </m:r>
                      <m:r>
                        <m:rPr>
                          <m:nor/>
                        </m:rPr>
                        <a:rPr lang="ar-AE" sz="2800" i="1"/>
                        <m:t>  </m:t>
                      </m:r>
                      <m:sSup>
                        <m:sSupPr>
                          <m:ctrlPr>
                            <a:rPr lang="ar-AE" sz="2800" i="1"/>
                          </m:ctrlPr>
                        </m:sSupPr>
                        <m:e>
                          <m:r>
                            <a:rPr lang="ar-AE" sz="2800"/>
                            <m:t>4</m:t>
                          </m:r>
                        </m:e>
                        <m:sup>
                          <m:r>
                            <a:rPr lang="ar-AE" sz="2800"/>
                            <m:t>2</m:t>
                          </m:r>
                        </m:sup>
                      </m:sSup>
                      <m:r>
                        <a:rPr lang="ar-AE" sz="2800"/>
                        <m:t>=</m:t>
                      </m:r>
                      <m:r>
                        <a:rPr lang="ar-AE" sz="2800"/>
                        <m:t>2</m:t>
                      </m:r>
                      <m:r>
                        <a:rPr lang="ar-AE" sz="2800"/>
                        <m:t>,</m:t>
                      </m:r>
                      <m:r>
                        <m:rPr>
                          <m:nor/>
                        </m:rPr>
                        <a:rPr lang="ar-AE" sz="2800" i="1"/>
                        <m:t>  </m:t>
                      </m:r>
                      <m:sSup>
                        <m:sSupPr>
                          <m:ctrlPr>
                            <a:rPr lang="ar-AE" sz="2800" i="1"/>
                          </m:ctrlPr>
                        </m:sSupPr>
                        <m:e>
                          <m:r>
                            <a:rPr lang="ar-AE" sz="2800"/>
                            <m:t>5</m:t>
                          </m:r>
                        </m:e>
                        <m:sup>
                          <m:r>
                            <a:rPr lang="ar-AE" sz="2800"/>
                            <m:t>2</m:t>
                          </m:r>
                        </m:sup>
                      </m:sSup>
                      <m:r>
                        <a:rPr lang="ar-AE" sz="2800"/>
                        <m:t>=</m:t>
                      </m:r>
                      <m:r>
                        <a:rPr lang="ar-AE" sz="2800"/>
                        <m:t>4</m:t>
                      </m:r>
                      <m:r>
                        <a:rPr lang="ar-AE" sz="2800"/>
                        <m:t>,</m:t>
                      </m:r>
                      <m:r>
                        <m:rPr>
                          <m:nor/>
                        </m:rPr>
                        <a:rPr lang="ar-AE" sz="2800" i="1"/>
                        <m:t>  </m:t>
                      </m:r>
                      <m:sSup>
                        <m:sSupPr>
                          <m:ctrlPr>
                            <a:rPr lang="ar-AE" sz="2800" i="1"/>
                          </m:ctrlPr>
                        </m:sSupPr>
                        <m:e>
                          <m:r>
                            <a:rPr lang="ar-AE" sz="2800"/>
                            <m:t>6</m:t>
                          </m:r>
                        </m:e>
                        <m:sup>
                          <m:r>
                            <a:rPr lang="ar-AE" sz="2800"/>
                            <m:t>2</m:t>
                          </m:r>
                        </m:sup>
                      </m:sSup>
                      <m:r>
                        <a:rPr lang="ar-AE" sz="2800"/>
                        <m:t>=</m:t>
                      </m:r>
                      <m:r>
                        <a:rPr lang="ar-AE" sz="2800"/>
                        <m:t>1</m:t>
                      </m:r>
                    </m:oMath>
                  </m:oMathPara>
                </a14:m>
                <a:endParaRPr lang="ar-AE" sz="2800" b="0" dirty="0"/>
              </a:p>
              <a:p>
                <a:r>
                  <a:rPr lang="en-IN" sz="2800" dirty="0"/>
                  <a:t>We see </a:t>
                </a:r>
                <a:r>
                  <a:rPr lang="en-IN" sz="2800" b="1" dirty="0"/>
                  <a:t>4 appears</a:t>
                </a:r>
                <a:r>
                  <a:rPr lang="en-IN" sz="2800" dirty="0"/>
                  <a:t>. 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sz="2800"/>
                          </m:ctrlPr>
                        </m:dPr>
                        <m:e>
                          <m:f>
                            <m:fPr>
                              <m:ctrlPr>
                                <a:rPr lang="ar-AE" sz="2800"/>
                              </m:ctrlPr>
                            </m:fPr>
                            <m:num>
                              <m:r>
                                <a:rPr lang="ar-AE" sz="2800"/>
                                <m:t>4</m:t>
                              </m:r>
                            </m:num>
                            <m:den>
                              <m:r>
                                <a:rPr lang="ar-AE" sz="2800"/>
                                <m:t>7</m:t>
                              </m:r>
                            </m:den>
                          </m:f>
                        </m:e>
                      </m:d>
                      <m:r>
                        <a:rPr lang="ar-AE" sz="2800"/>
                        <m:t>=</m:t>
                      </m:r>
                      <m:r>
                        <a:rPr lang="ar-AE" sz="2800"/>
                        <m:t>1</m:t>
                      </m:r>
                    </m:oMath>
                  </m:oMathPara>
                </a14:m>
                <a:endParaRPr lang="ar-AE" sz="2800" dirty="0"/>
              </a:p>
              <a:p>
                <a:r>
                  <a:rPr lang="en-IN" sz="2800" dirty="0"/>
                  <a:t> 4 is a quadratic residue.</a:t>
                </a:r>
              </a:p>
              <a:p>
                <a:endParaRPr lang="en-IN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C1D5D-F3AD-C461-FAA9-73F7EA2BCE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655320"/>
                <a:ext cx="7886700" cy="5521643"/>
              </a:xfrm>
              <a:blipFill>
                <a:blip r:embed="rId2"/>
                <a:stretch>
                  <a:fillRect l="-1391" t="-1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019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5505B-9496-9383-52AF-5A06AA213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7957"/>
            <a:ext cx="7886700" cy="1325563"/>
          </a:xfrm>
        </p:spPr>
        <p:txBody>
          <a:bodyPr/>
          <a:lstStyle/>
          <a:p>
            <a:r>
              <a:rPr lang="en-IN" dirty="0"/>
              <a:t>Jacobi Symbol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D686CD-FE28-00CC-833A-A85913F75E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93520"/>
                <a:ext cx="7886700" cy="468344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Extension of Legendre symbol.</a:t>
                </a:r>
              </a:p>
              <a:p>
                <a:r>
                  <a:rPr lang="en-US" dirty="0"/>
                  <a:t>Works when denominator is composite:</a:t>
                </a:r>
              </a:p>
              <a:p>
                <a:pPr marL="0" indent="0">
                  <a:buNone/>
                </a:pPr>
                <a:r>
                  <a:rPr lang="en-IN" dirty="0"/>
                  <a:t>n=p1​p2​...pk​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/>
                          </m:ctrlPr>
                        </m:dPr>
                        <m:e>
                          <m:f>
                            <m:fPr>
                              <m:ctrlPr>
                                <a:rPr lang="ar-AE"/>
                              </m:ctrlPr>
                            </m:fPr>
                            <m:num>
                              <m:r>
                                <a:rPr lang="ar-AE" i="1"/>
                                <m:t>𝑎</m:t>
                              </m:r>
                            </m:num>
                            <m:den>
                              <m:r>
                                <a:rPr lang="ar-AE" i="1"/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ar-AE"/>
                        <m:t>=</m:t>
                      </m:r>
                      <m:nary>
                        <m:naryPr>
                          <m:chr m:val="∏"/>
                          <m:grow m:val="on"/>
                          <m:subHide m:val="on"/>
                          <m:supHide m:val="on"/>
                          <m:ctrlPr>
                            <a:rPr lang="ar-AE" i="1"/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i="1"/>
                                  </m:ctrlPr>
                                </m:fPr>
                                <m:num>
                                  <m:r>
                                    <a:rPr lang="ar-AE" i="1"/>
                                    <m:t>𝑎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ar-AE" i="1"/>
                                      </m:ctrlPr>
                                    </m:sSubPr>
                                    <m:e>
                                      <m:r>
                                        <a:rPr lang="ar-AE" i="1"/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ar-AE" i="1"/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(21/5​)=(3/5​)(7/5​) </a:t>
                </a:r>
              </a:p>
              <a:p>
                <a:r>
                  <a:rPr lang="en-IN" b="1" dirty="0"/>
                  <a:t>Evaluate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3</m:t>
                        </m:r>
                        <m:r>
                          <a:rPr lang="ar-AE"/>
                          <m:t>/</m:t>
                        </m:r>
                        <m:r>
                          <a:rPr lang="ar-AE"/>
                          <m:t>5</m:t>
                        </m:r>
                      </m:e>
                    </m:d>
                  </m:oMath>
                </a14:m>
                <a:r>
                  <a:rPr lang="en-US" b="1" dirty="0"/>
                  <a:t> : </a:t>
                </a:r>
                <a:r>
                  <a:rPr lang="en-IN" dirty="0"/>
                  <a:t>We check squares mod 5: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/>
                          <m:t>1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1</m:t>
                    </m:r>
                    <m:r>
                      <a:rPr lang="ar-AE"/>
                      <m:t>, 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  <m:r>
                      <a:rPr lang="ar-AE"/>
                      <m:t>, 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3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  <m:r>
                      <a:rPr lang="ar-AE"/>
                      <m:t>, 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4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1</m:t>
                    </m:r>
                  </m:oMath>
                </a14:m>
                <a:endParaRPr lang="ar-AE" dirty="0"/>
              </a:p>
              <a:p>
                <a:r>
                  <a:rPr lang="en-IN" dirty="0"/>
                  <a:t>Quadratic residues mod 5: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1</m:t>
                        </m:r>
                      </m:e>
                      <m:e>
                        <m:r>
                          <a:rPr lang="ar-AE"/>
                          <m:t>4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ar-AE" dirty="0"/>
                  <a:t>3</a:t>
                </a:r>
                <a:r>
                  <a:rPr lang="en-US" dirty="0"/>
                  <a:t> </a:t>
                </a:r>
                <a:r>
                  <a:rPr lang="ar-AE" dirty="0"/>
                  <a:t> </a:t>
                </a:r>
                <a:r>
                  <a:rPr lang="en-IN" dirty="0"/>
                  <a:t>is </a:t>
                </a:r>
                <a:r>
                  <a:rPr lang="en-IN" b="1" dirty="0"/>
                  <a:t>not</a:t>
                </a:r>
                <a:r>
                  <a:rPr lang="en-IN" dirty="0"/>
                  <a:t> in this list. So 3/5=-1</a:t>
                </a:r>
              </a:p>
              <a:p>
                <a:endParaRPr lang="en-US" dirty="0"/>
              </a:p>
              <a:p>
                <a:r>
                  <a:rPr lang="en-US" dirty="0"/>
                  <a:t>= (−1)(−1) = 1</a:t>
                </a:r>
              </a:p>
              <a:p>
                <a:r>
                  <a:rPr lang="en-US" dirty="0"/>
                  <a:t>Does NOT guarantee residue!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D686CD-FE28-00CC-833A-A85913F75E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93520"/>
                <a:ext cx="7886700" cy="4683443"/>
              </a:xfrm>
              <a:blipFill>
                <a:blip r:embed="rId2"/>
                <a:stretch>
                  <a:fillRect l="-696" t="-16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0040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1DCD-3DB1-A6FA-ED96-7E779F267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9C88F-33A0-5719-8D66-FC79576EF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7957"/>
            <a:ext cx="7886700" cy="1325563"/>
          </a:xfrm>
        </p:spPr>
        <p:txBody>
          <a:bodyPr/>
          <a:lstStyle/>
          <a:p>
            <a:r>
              <a:rPr lang="en-IN" dirty="0"/>
              <a:t>Jacobi Symbol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FED29E-8925-8766-60ED-8FA0AE21FD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93520"/>
                <a:ext cx="7886700" cy="468344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Extension of Legendre symbol.</a:t>
                </a:r>
              </a:p>
              <a:p>
                <a:r>
                  <a:rPr lang="en-US" dirty="0"/>
                  <a:t>Works when denominator is composite:</a:t>
                </a:r>
              </a:p>
              <a:p>
                <a:pPr marL="0" indent="0">
                  <a:buNone/>
                </a:pPr>
                <a:r>
                  <a:rPr lang="en-IN" dirty="0"/>
                  <a:t>n=p1​p2​...pk​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/>
                          </m:ctrlPr>
                        </m:dPr>
                        <m:e>
                          <m:f>
                            <m:fPr>
                              <m:ctrlPr>
                                <a:rPr lang="ar-AE"/>
                              </m:ctrlPr>
                            </m:fPr>
                            <m:num>
                              <m:r>
                                <a:rPr lang="ar-AE" i="1"/>
                                <m:t>𝑎</m:t>
                              </m:r>
                            </m:num>
                            <m:den>
                              <m:r>
                                <a:rPr lang="ar-AE" i="1"/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ar-AE"/>
                        <m:t>=</m:t>
                      </m:r>
                      <m:nary>
                        <m:naryPr>
                          <m:chr m:val="∏"/>
                          <m:grow m:val="on"/>
                          <m:subHide m:val="on"/>
                          <m:supHide m:val="on"/>
                          <m:ctrlPr>
                            <a:rPr lang="ar-AE" i="1"/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i="1"/>
                                  </m:ctrlPr>
                                </m:fPr>
                                <m:num>
                                  <m:r>
                                    <a:rPr lang="ar-AE" i="1"/>
                                    <m:t>𝑎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ar-AE" i="1"/>
                                      </m:ctrlPr>
                                    </m:sSubPr>
                                    <m:e>
                                      <m:r>
                                        <a:rPr lang="ar-AE" i="1"/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ar-AE" i="1"/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(21/5​)=(3/5​)(7/5​) </a:t>
                </a:r>
              </a:p>
              <a:p>
                <a:r>
                  <a:rPr lang="en-IN" b="1" dirty="0"/>
                  <a:t>Evaluate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3</m:t>
                        </m:r>
                        <m:r>
                          <a:rPr lang="ar-AE"/>
                          <m:t>/</m:t>
                        </m:r>
                        <m:r>
                          <a:rPr lang="ar-AE"/>
                          <m:t>5</m:t>
                        </m:r>
                      </m:e>
                    </m:d>
                  </m:oMath>
                </a14:m>
                <a:r>
                  <a:rPr lang="en-US" b="1" dirty="0"/>
                  <a:t> : </a:t>
                </a:r>
                <a:r>
                  <a:rPr lang="en-IN" dirty="0"/>
                  <a:t>We check squares mod 5: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/>
                          <m:t>1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1</m:t>
                    </m:r>
                    <m:r>
                      <a:rPr lang="ar-AE"/>
                      <m:t>, 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  <m:r>
                      <a:rPr lang="ar-AE"/>
                      <m:t>, 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3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  <m:r>
                      <a:rPr lang="ar-AE"/>
                      <m:t>, 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4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1</m:t>
                    </m:r>
                  </m:oMath>
                </a14:m>
                <a:endParaRPr lang="ar-AE" dirty="0"/>
              </a:p>
              <a:p>
                <a:r>
                  <a:rPr lang="en-IN" dirty="0"/>
                  <a:t>Quadratic residues mod 5: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1</m:t>
                        </m:r>
                      </m:e>
                      <m:e>
                        <m:r>
                          <a:rPr lang="ar-AE"/>
                          <m:t>4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ar-AE" dirty="0"/>
                  <a:t>3</a:t>
                </a:r>
                <a:r>
                  <a:rPr lang="en-US" dirty="0"/>
                  <a:t> </a:t>
                </a:r>
                <a:r>
                  <a:rPr lang="ar-AE" dirty="0"/>
                  <a:t> </a:t>
                </a:r>
                <a:r>
                  <a:rPr lang="en-IN" dirty="0"/>
                  <a:t>is </a:t>
                </a:r>
                <a:r>
                  <a:rPr lang="en-IN" b="1" dirty="0"/>
                  <a:t>not</a:t>
                </a:r>
                <a:r>
                  <a:rPr lang="en-IN" dirty="0"/>
                  <a:t> in this list. So 3/5=-1</a:t>
                </a:r>
              </a:p>
              <a:p>
                <a:endParaRPr lang="en-US" dirty="0"/>
              </a:p>
              <a:p>
                <a:r>
                  <a:rPr lang="en-US" dirty="0"/>
                  <a:t>= (−1)(−1) = 1</a:t>
                </a:r>
              </a:p>
              <a:p>
                <a:r>
                  <a:rPr lang="en-US" dirty="0"/>
                  <a:t>Does NOT guarantee residue!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FED29E-8925-8766-60ED-8FA0AE21FD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93520"/>
                <a:ext cx="7886700" cy="4683443"/>
              </a:xfrm>
              <a:blipFill>
                <a:blip r:embed="rId2"/>
                <a:stretch>
                  <a:fillRect l="-696" t="-16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76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47B97-D5EA-32CF-E32D-54E3E488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FA3C7-A120-45E9-1CAA-E0E707FFE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7957"/>
            <a:ext cx="7886700" cy="1325563"/>
          </a:xfrm>
        </p:spPr>
        <p:txBody>
          <a:bodyPr/>
          <a:lstStyle/>
          <a:p>
            <a:r>
              <a:rPr lang="en-IN" dirty="0"/>
              <a:t>Jacobi Symbol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0E230D-E7A0-789F-9552-74D620FC9C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93520"/>
                <a:ext cx="7886700" cy="468344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Extension of Legendre symbol.</a:t>
                </a:r>
              </a:p>
              <a:p>
                <a:r>
                  <a:rPr lang="en-US" dirty="0"/>
                  <a:t>Works when denominator is composite: </a:t>
                </a:r>
                <a:r>
                  <a:rPr lang="en-IN" dirty="0"/>
                  <a:t>n=p1​p2​...pk​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/>
                          </m:ctrlPr>
                        </m:dPr>
                        <m:e>
                          <m:f>
                            <m:fPr>
                              <m:ctrlPr>
                                <a:rPr lang="ar-AE"/>
                              </m:ctrlPr>
                            </m:fPr>
                            <m:num>
                              <m:r>
                                <a:rPr lang="ar-AE" i="1"/>
                                <m:t>𝑎</m:t>
                              </m:r>
                            </m:num>
                            <m:den>
                              <m:r>
                                <a:rPr lang="ar-AE" i="1"/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ar-AE"/>
                        <m:t>=</m:t>
                      </m:r>
                      <m:nary>
                        <m:naryPr>
                          <m:chr m:val="∏"/>
                          <m:grow m:val="on"/>
                          <m:subHide m:val="on"/>
                          <m:supHide m:val="on"/>
                          <m:ctrlPr>
                            <a:rPr lang="ar-AE" i="1"/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i="1"/>
                                  </m:ctrlPr>
                                </m:fPr>
                                <m:num>
                                  <m:r>
                                    <a:rPr lang="ar-AE" i="1"/>
                                    <m:t>𝑎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ar-AE" i="1"/>
                                      </m:ctrlPr>
                                    </m:sSubPr>
                                    <m:e>
                                      <m:r>
                                        <a:rPr lang="ar-AE" i="1"/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ar-AE" i="1"/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(21/5​)=(3/5​)(7/5​) </a:t>
                </a:r>
              </a:p>
              <a:p>
                <a:r>
                  <a:rPr lang="en-IN" b="1" dirty="0"/>
                  <a:t>Evaluate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3</m:t>
                        </m:r>
                        <m:r>
                          <a:rPr lang="ar-AE"/>
                          <m:t>/</m:t>
                        </m:r>
                        <m:r>
                          <a:rPr lang="ar-AE"/>
                          <m:t>5</m:t>
                        </m:r>
                      </m:e>
                    </m:d>
                  </m:oMath>
                </a14:m>
                <a:r>
                  <a:rPr lang="en-US" b="1" dirty="0"/>
                  <a:t> : </a:t>
                </a:r>
                <a:r>
                  <a:rPr lang="en-IN" dirty="0"/>
                  <a:t>We check squares mod 5: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/>
                          <m:t>1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1</m:t>
                    </m:r>
                    <m:r>
                      <a:rPr lang="ar-AE"/>
                      <m:t>, 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  <m:r>
                      <a:rPr lang="ar-AE"/>
                      <m:t>, 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3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  <m:r>
                      <a:rPr lang="ar-AE"/>
                      <m:t>, 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4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1</m:t>
                    </m:r>
                  </m:oMath>
                </a14:m>
                <a:endParaRPr lang="ar-AE" dirty="0"/>
              </a:p>
              <a:p>
                <a:r>
                  <a:rPr lang="en-IN" dirty="0"/>
                  <a:t>Quadratic residues mod 5: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1</m:t>
                        </m:r>
                      </m:e>
                      <m:e>
                        <m:r>
                          <a:rPr lang="ar-AE"/>
                          <m:t>4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ar-AE" dirty="0"/>
                  <a:t>3</a:t>
                </a:r>
                <a:r>
                  <a:rPr lang="en-US" dirty="0"/>
                  <a:t> </a:t>
                </a:r>
                <a:r>
                  <a:rPr lang="ar-AE" dirty="0"/>
                  <a:t> </a:t>
                </a:r>
                <a:r>
                  <a:rPr lang="en-IN" dirty="0"/>
                  <a:t>is </a:t>
                </a:r>
                <a:r>
                  <a:rPr lang="en-IN" b="1" dirty="0"/>
                  <a:t>not</a:t>
                </a:r>
                <a:r>
                  <a:rPr lang="en-IN" dirty="0"/>
                  <a:t> in this list. So 3/5=-1</a:t>
                </a:r>
              </a:p>
              <a:p>
                <a:r>
                  <a:rPr lang="en-IN" b="1" dirty="0"/>
                  <a:t>Evaluate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7</m:t>
                        </m:r>
                        <m:r>
                          <a:rPr lang="ar-AE"/>
                          <m:t>/</m:t>
                        </m:r>
                        <m:r>
                          <a:rPr lang="ar-AE"/>
                          <m:t>5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IN" dirty="0"/>
                  <a:t>First reduce modulo 5: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7</m:t>
                    </m:r>
                    <m:r>
                      <a:rPr lang="en-IN"/>
                      <m:t>≡</m:t>
                    </m:r>
                    <m:r>
                      <a:rPr lang="en-IN"/>
                      <m:t>2</m:t>
                    </m:r>
                    <m:r>
                      <a:rPr lang="en-IN"/>
                      <m:t>  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/>
                          <m:t>mod</m:t>
                        </m:r>
                        <m:r>
                          <a:rPr lang="en-IN"/>
                          <m:t> </m:t>
                        </m:r>
                        <m:r>
                          <a:rPr lang="en-IN"/>
                          <m:t>5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IN" dirty="0"/>
                  <a:t>So: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/>
                        </m:ctrlPr>
                      </m:dPr>
                      <m:e>
                        <m:f>
                          <m:fPr>
                            <m:ctrlPr>
                              <a:rPr lang="ar-AE"/>
                            </m:ctrlPr>
                          </m:fPr>
                          <m:num>
                            <m:r>
                              <a:rPr lang="ar-AE"/>
                              <m:t>7</m:t>
                            </m:r>
                          </m:num>
                          <m:den>
                            <m:r>
                              <a:rPr lang="ar-AE"/>
                              <m:t>5</m:t>
                            </m:r>
                          </m:den>
                        </m:f>
                      </m:e>
                    </m:d>
                    <m:r>
                      <a:rPr lang="ar-AE"/>
                      <m:t>=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f>
                          <m:fPr>
                            <m:ctrlPr>
                              <a:rPr lang="ar-AE" i="1"/>
                            </m:ctrlPr>
                          </m:fPr>
                          <m:num>
                            <m:r>
                              <a:rPr lang="ar-AE"/>
                              <m:t>2</m:t>
                            </m:r>
                          </m:num>
                          <m:den>
                            <m:r>
                              <a:rPr lang="ar-AE"/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Check squares mod 5 again: Residues = {1,4}</a:t>
                </a:r>
              </a:p>
              <a:p>
                <a:r>
                  <a:rPr lang="en-IN" dirty="0"/>
                  <a:t>2 is not there. Thus: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/>
                        </m:ctrlPr>
                      </m:dPr>
                      <m:e>
                        <m:f>
                          <m:fPr>
                            <m:ctrlPr>
                              <a:rPr lang="ar-AE"/>
                            </m:ctrlPr>
                          </m:fPr>
                          <m:num>
                            <m:r>
                              <a:rPr lang="ar-AE"/>
                              <m:t>2</m:t>
                            </m:r>
                          </m:num>
                          <m:den>
                            <m:r>
                              <a:rPr lang="ar-AE"/>
                              <m:t>5</m:t>
                            </m:r>
                          </m:den>
                        </m:f>
                      </m:e>
                    </m:d>
                    <m:r>
                      <a:rPr lang="ar-AE"/>
                      <m:t>=−</m:t>
                    </m:r>
                    <m:r>
                      <a:rPr lang="ar-AE"/>
                      <m:t>1</m:t>
                    </m:r>
                  </m:oMath>
                </a14:m>
                <a:endParaRPr lang="ar-AE" dirty="0"/>
              </a:p>
              <a:p>
                <a:r>
                  <a:rPr lang="en-US" dirty="0"/>
                  <a:t>= (−1)(−1) = 1</a:t>
                </a:r>
              </a:p>
              <a:p>
                <a:r>
                  <a:rPr lang="en-US" dirty="0"/>
                  <a:t>Does NOT guarantee residue!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0E230D-E7A0-789F-9552-74D620FC9C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93520"/>
                <a:ext cx="7886700" cy="4683443"/>
              </a:xfrm>
              <a:blipFill>
                <a:blip r:embed="rId2"/>
                <a:stretch>
                  <a:fillRect l="-232" t="-14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649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537</Words>
  <Application>Microsoft Office PowerPoint</Application>
  <PresentationFormat>On-screen Show (4:3)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Symbol</vt:lpstr>
      <vt:lpstr>Times New Roman</vt:lpstr>
      <vt:lpstr>Office Theme</vt:lpstr>
      <vt:lpstr>Legendre Jacobi Symbol</vt:lpstr>
      <vt:lpstr>Legendre Jacobi Symbol</vt:lpstr>
      <vt:lpstr>Legendre Symbol</vt:lpstr>
      <vt:lpstr>Legendre Jacobi Symbol</vt:lpstr>
      <vt:lpstr>PowerPoint Presentation</vt:lpstr>
      <vt:lpstr>Jacobi Symbol</vt:lpstr>
      <vt:lpstr>Jacobi Symbol</vt:lpstr>
      <vt:lpstr>Jacobi Symbol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Theory</dc:title>
  <dc:creator>Selvakumar B</dc:creator>
  <cp:lastModifiedBy>Manonmani T</cp:lastModifiedBy>
  <cp:revision>119</cp:revision>
  <dcterms:created xsi:type="dcterms:W3CDTF">2022-07-11T07:02:39Z</dcterms:created>
  <dcterms:modified xsi:type="dcterms:W3CDTF">2026-02-05T08:03:45Z</dcterms:modified>
</cp:coreProperties>
</file>