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5" r:id="rId1"/>
    <p:sldMasterId id="2147483697" r:id="rId2"/>
  </p:sldMasterIdLst>
  <p:notesMasterIdLst>
    <p:notesMasterId r:id="rId73"/>
  </p:notesMasterIdLst>
  <p:sldIdLst>
    <p:sldId id="256" r:id="rId3"/>
    <p:sldId id="258" r:id="rId4"/>
    <p:sldId id="259" r:id="rId5"/>
    <p:sldId id="260" r:id="rId6"/>
    <p:sldId id="261" r:id="rId7"/>
    <p:sldId id="262" r:id="rId8"/>
    <p:sldId id="263" r:id="rId9"/>
    <p:sldId id="264" r:id="rId10"/>
    <p:sldId id="265" r:id="rId11"/>
    <p:sldId id="270" r:id="rId12"/>
    <p:sldId id="271" r:id="rId13"/>
    <p:sldId id="272" r:id="rId14"/>
    <p:sldId id="273" r:id="rId15"/>
    <p:sldId id="274" r:id="rId16"/>
    <p:sldId id="321" r:id="rId17"/>
    <p:sldId id="277" r:id="rId18"/>
    <p:sldId id="278" r:id="rId19"/>
    <p:sldId id="279" r:id="rId20"/>
    <p:sldId id="280" r:id="rId21"/>
    <p:sldId id="281" r:id="rId22"/>
    <p:sldId id="282" r:id="rId23"/>
    <p:sldId id="283" r:id="rId24"/>
    <p:sldId id="284" r:id="rId25"/>
    <p:sldId id="285" r:id="rId26"/>
    <p:sldId id="286" r:id="rId27"/>
    <p:sldId id="287" r:id="rId28"/>
    <p:sldId id="275" r:id="rId29"/>
    <p:sldId id="329" r:id="rId30"/>
    <p:sldId id="330" r:id="rId31"/>
    <p:sldId id="276" r:id="rId32"/>
    <p:sldId id="288" r:id="rId33"/>
    <p:sldId id="289" r:id="rId34"/>
    <p:sldId id="290" r:id="rId35"/>
    <p:sldId id="291" r:id="rId36"/>
    <p:sldId id="331" r:id="rId37"/>
    <p:sldId id="292" r:id="rId38"/>
    <p:sldId id="338" r:id="rId39"/>
    <p:sldId id="332" r:id="rId40"/>
    <p:sldId id="333" r:id="rId41"/>
    <p:sldId id="335" r:id="rId42"/>
    <p:sldId id="336" r:id="rId43"/>
    <p:sldId id="293" r:id="rId44"/>
    <p:sldId id="294" r:id="rId45"/>
    <p:sldId id="295" r:id="rId46"/>
    <p:sldId id="340" r:id="rId47"/>
    <p:sldId id="341" r:id="rId48"/>
    <p:sldId id="342" r:id="rId49"/>
    <p:sldId id="297" r:id="rId50"/>
    <p:sldId id="298" r:id="rId51"/>
    <p:sldId id="299" r:id="rId52"/>
    <p:sldId id="300" r:id="rId53"/>
    <p:sldId id="303" r:id="rId54"/>
    <p:sldId id="304" r:id="rId55"/>
    <p:sldId id="305" r:id="rId56"/>
    <p:sldId id="306" r:id="rId57"/>
    <p:sldId id="307" r:id="rId58"/>
    <p:sldId id="308" r:id="rId59"/>
    <p:sldId id="343"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9144000" cy="6858000" type="screen4x3"/>
  <p:notesSz cx="6858000" cy="9144000"/>
  <p:defaultTextStyle>
    <a:defPPr>
      <a:defRPr lang="en-GB"/>
    </a:defPPr>
    <a:lvl1pPr algn="l" defTabSz="457200" rtl="0" fontAlgn="base">
      <a:spcBef>
        <a:spcPct val="0"/>
      </a:spcBef>
      <a:spcAft>
        <a:spcPct val="0"/>
      </a:spcAft>
      <a:buClr>
        <a:srgbClr val="000000"/>
      </a:buClr>
      <a:buSzPct val="100000"/>
      <a:buFont typeface="Times New Roman" panose="02020603050405020304" pitchFamily="18" charset="0"/>
      <a:defRPr sz="2400" kern="1200">
        <a:solidFill>
          <a:schemeClr val="bg1"/>
        </a:solidFill>
        <a:latin typeface="Arial" panose="020B0604020202020204" pitchFamily="34" charset="0"/>
        <a:ea typeface="ＭＳ Ｐゴシック" panose="020B0600070205080204" pitchFamily="34" charset="-128"/>
        <a:cs typeface="+mn-cs"/>
      </a:defRPr>
    </a:lvl1pPr>
    <a:lvl2pPr marL="742950" indent="-285750" algn="l" defTabSz="457200" rtl="0" fontAlgn="base">
      <a:spcBef>
        <a:spcPct val="0"/>
      </a:spcBef>
      <a:spcAft>
        <a:spcPct val="0"/>
      </a:spcAft>
      <a:buClr>
        <a:srgbClr val="000000"/>
      </a:buClr>
      <a:buSzPct val="100000"/>
      <a:buFont typeface="Times New Roman" panose="02020603050405020304" pitchFamily="18" charset="0"/>
      <a:defRPr sz="2400" kern="1200">
        <a:solidFill>
          <a:schemeClr val="bg1"/>
        </a:solidFill>
        <a:latin typeface="Arial" panose="020B0604020202020204" pitchFamily="34" charset="0"/>
        <a:ea typeface="ＭＳ Ｐゴシック" panose="020B0600070205080204" pitchFamily="34" charset="-128"/>
        <a:cs typeface="+mn-cs"/>
      </a:defRPr>
    </a:lvl2pPr>
    <a:lvl3pPr marL="1143000" indent="-228600" algn="l" defTabSz="457200" rtl="0" fontAlgn="base">
      <a:spcBef>
        <a:spcPct val="0"/>
      </a:spcBef>
      <a:spcAft>
        <a:spcPct val="0"/>
      </a:spcAft>
      <a:buClr>
        <a:srgbClr val="000000"/>
      </a:buClr>
      <a:buSzPct val="100000"/>
      <a:buFont typeface="Times New Roman" panose="02020603050405020304" pitchFamily="18" charset="0"/>
      <a:defRPr sz="2400" kern="1200">
        <a:solidFill>
          <a:schemeClr val="bg1"/>
        </a:solidFill>
        <a:latin typeface="Arial" panose="020B0604020202020204" pitchFamily="34" charset="0"/>
        <a:ea typeface="ＭＳ Ｐゴシック" panose="020B0600070205080204" pitchFamily="34" charset="-128"/>
        <a:cs typeface="+mn-cs"/>
      </a:defRPr>
    </a:lvl3pPr>
    <a:lvl4pPr marL="1600200" indent="-228600" algn="l" defTabSz="457200" rtl="0" fontAlgn="base">
      <a:spcBef>
        <a:spcPct val="0"/>
      </a:spcBef>
      <a:spcAft>
        <a:spcPct val="0"/>
      </a:spcAft>
      <a:buClr>
        <a:srgbClr val="000000"/>
      </a:buClr>
      <a:buSzPct val="100000"/>
      <a:buFont typeface="Times New Roman" panose="02020603050405020304" pitchFamily="18" charset="0"/>
      <a:defRPr sz="2400" kern="1200">
        <a:solidFill>
          <a:schemeClr val="bg1"/>
        </a:solidFill>
        <a:latin typeface="Arial" panose="020B0604020202020204" pitchFamily="34" charset="0"/>
        <a:ea typeface="ＭＳ Ｐゴシック" panose="020B0600070205080204" pitchFamily="34" charset="-128"/>
        <a:cs typeface="+mn-cs"/>
      </a:defRPr>
    </a:lvl4pPr>
    <a:lvl5pPr marL="2057400" indent="-228600" algn="l" defTabSz="457200" rtl="0" fontAlgn="base">
      <a:spcBef>
        <a:spcPct val="0"/>
      </a:spcBef>
      <a:spcAft>
        <a:spcPct val="0"/>
      </a:spcAft>
      <a:buClr>
        <a:srgbClr val="000000"/>
      </a:buClr>
      <a:buSzPct val="100000"/>
      <a:buFont typeface="Times New Roman" panose="02020603050405020304" pitchFamily="18" charset="0"/>
      <a:defRPr sz="2400"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bg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61" autoAdjust="0"/>
    <p:restoredTop sz="86420"/>
  </p:normalViewPr>
  <p:slideViewPr>
    <p:cSldViewPr>
      <p:cViewPr varScale="1">
        <p:scale>
          <a:sx n="67" d="100"/>
          <a:sy n="67" d="100"/>
        </p:scale>
        <p:origin x="2016" y="102"/>
      </p:cViewPr>
      <p:guideLst>
        <p:guide orient="horz" pos="2160"/>
        <p:guide pos="2880"/>
      </p:guideLst>
    </p:cSldViewPr>
  </p:slideViewPr>
  <p:outlineViewPr>
    <p:cViewPr varScale="1">
      <p:scale>
        <a:sx n="100" d="100"/>
        <a:sy n="100" d="100"/>
      </p:scale>
      <p:origin x="0" y="-58416"/>
    </p:cViewPr>
    <p:sldLst>
      <p:sld r:id="rId1" collapse="1"/>
    </p:sldLst>
  </p:outlineViewPr>
  <p:notesTextViewPr>
    <p:cViewPr>
      <p:scale>
        <a:sx n="1" d="1"/>
        <a:sy n="1" d="1"/>
      </p:scale>
      <p:origin x="0" y="0"/>
    </p:cViewPr>
  </p:notesTextViewPr>
  <p:sorterViewPr>
    <p:cViewPr>
      <p:scale>
        <a:sx n="80" d="100"/>
        <a:sy n="80" d="100"/>
      </p:scale>
      <p:origin x="0" y="0"/>
    </p:cViewPr>
  </p:sorter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_rels/viewProps.xml.rels><?xml version="1.0" encoding="UTF-8" standalone="yes"?>
<Relationships xmlns="http://schemas.openxmlformats.org/package/2006/relationships"><Relationship Id="rId1"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AutoShape 1">
            <a:extLst>
              <a:ext uri="{FF2B5EF4-FFF2-40B4-BE49-F238E27FC236}">
                <a16:creationId xmlns:a16="http://schemas.microsoft.com/office/drawing/2014/main" id="{E6205E7C-CEB6-811E-2A48-9D460C6AB461}"/>
              </a:ext>
            </a:extLst>
          </p:cNvPr>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36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4" name="AutoShape 2">
            <a:extLst>
              <a:ext uri="{FF2B5EF4-FFF2-40B4-BE49-F238E27FC236}">
                <a16:creationId xmlns:a16="http://schemas.microsoft.com/office/drawing/2014/main" id="{6C6B9401-29EC-8FEF-2E5C-F6796203EDBC}"/>
              </a:ext>
            </a:extLst>
          </p:cNvPr>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5" name="AutoShape 3">
            <a:extLst>
              <a:ext uri="{FF2B5EF4-FFF2-40B4-BE49-F238E27FC236}">
                <a16:creationId xmlns:a16="http://schemas.microsoft.com/office/drawing/2014/main" id="{DD221DAC-0D96-5860-9D13-ADE5E82AEEBE}"/>
              </a:ext>
            </a:extLst>
          </p:cNvPr>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6" name="Text Box 4">
            <a:extLst>
              <a:ext uri="{FF2B5EF4-FFF2-40B4-BE49-F238E27FC236}">
                <a16:creationId xmlns:a16="http://schemas.microsoft.com/office/drawing/2014/main" id="{10EB826A-F6E3-DB32-BFE2-45683E86DD4D}"/>
              </a:ext>
            </a:extLst>
          </p:cNvPr>
          <p:cNvSpPr txBox="1">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7" name="Text Box 5">
            <a:extLst>
              <a:ext uri="{FF2B5EF4-FFF2-40B4-BE49-F238E27FC236}">
                <a16:creationId xmlns:a16="http://schemas.microsoft.com/office/drawing/2014/main" id="{CEFC0EEE-815E-A4D5-BD6D-3C657D554CC1}"/>
              </a:ext>
            </a:extLst>
          </p:cNvPr>
          <p:cNvSpPr txBox="1">
            <a:spLocks noChangeArrowheads="1"/>
          </p:cNvSpPr>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8" name="Rectangle 6">
            <a:extLst>
              <a:ext uri="{FF2B5EF4-FFF2-40B4-BE49-F238E27FC236}">
                <a16:creationId xmlns:a16="http://schemas.microsoft.com/office/drawing/2014/main" id="{22DB7A0F-9E54-0869-42C5-5DD4B06CD1A7}"/>
              </a:ext>
            </a:extLst>
          </p:cNvPr>
          <p:cNvSpPr>
            <a:spLocks noGrp="1" noRot="1" noChangeAspect="1" noChangeArrowheads="1"/>
          </p:cNvSpPr>
          <p:nvPr>
            <p:ph type="sldImg"/>
          </p:nvPr>
        </p:nvSpPr>
        <p:spPr bwMode="auto">
          <a:xfrm>
            <a:off x="1143000" y="685800"/>
            <a:ext cx="4567238" cy="3424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9" name="Rectangle 7">
            <a:extLst>
              <a:ext uri="{FF2B5EF4-FFF2-40B4-BE49-F238E27FC236}">
                <a16:creationId xmlns:a16="http://schemas.microsoft.com/office/drawing/2014/main" id="{381EC3C7-4F35-0F35-E3B2-B755ADD28EDF}"/>
              </a:ext>
            </a:extLst>
          </p:cNvPr>
          <p:cNvSpPr>
            <a:spLocks noGrp="1" noChangeArrowheads="1"/>
          </p:cNvSpPr>
          <p:nvPr>
            <p:ph type="body"/>
          </p:nvPr>
        </p:nvSpPr>
        <p:spPr bwMode="auto">
          <a:xfrm>
            <a:off x="685800" y="4343400"/>
            <a:ext cx="5481638" cy="4110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ltLang="en-US"/>
          </a:p>
        </p:txBody>
      </p:sp>
      <p:sp>
        <p:nvSpPr>
          <p:cNvPr id="3080" name="Text Box 8">
            <a:extLst>
              <a:ext uri="{FF2B5EF4-FFF2-40B4-BE49-F238E27FC236}">
                <a16:creationId xmlns:a16="http://schemas.microsoft.com/office/drawing/2014/main" id="{899DF0A8-2FE6-18C0-C00D-EECA7FD57FE8}"/>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81" name="Rectangle 9">
            <a:extLst>
              <a:ext uri="{FF2B5EF4-FFF2-40B4-BE49-F238E27FC236}">
                <a16:creationId xmlns:a16="http://schemas.microsoft.com/office/drawing/2014/main" id="{4F73383D-96BB-B0EF-1BC8-F37A3E5016E6}"/>
              </a:ext>
            </a:extLst>
          </p:cNvPr>
          <p:cNvSpPr>
            <a:spLocks noGrp="1" noChangeArrowheads="1"/>
          </p:cNvSpPr>
          <p:nvPr>
            <p:ph type="sldNum"/>
          </p:nvPr>
        </p:nvSpPr>
        <p:spPr bwMode="auto">
          <a:xfrm>
            <a:off x="3884613" y="8685213"/>
            <a:ext cx="2967037"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r">
              <a:buClrTx/>
              <a:buFontTx/>
              <a:buNone/>
              <a:tabLst>
                <a:tab pos="723900" algn="l"/>
                <a:tab pos="1447800" algn="l"/>
                <a:tab pos="2171700" algn="l"/>
                <a:tab pos="2895600" algn="l"/>
              </a:tabLst>
              <a:defRPr sz="1200">
                <a:solidFill>
                  <a:srgbClr val="000000"/>
                </a:solidFill>
                <a:latin typeface="Times New Roman" panose="02020603050405020304" pitchFamily="18" charset="0"/>
              </a:defRPr>
            </a:lvl1pPr>
          </a:lstStyle>
          <a:p>
            <a:fld id="{54AC46DC-AE11-8F4F-A2BD-44CD9CDFB361}" type="slidenum">
              <a:rPr lang="en-AU" altLang="en-US"/>
              <a:pPr/>
              <a:t>‹#›</a:t>
            </a:fld>
            <a:endParaRPr lang="en-AU"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40164B73-70F2-DE21-EC07-94D6B8521478}"/>
              </a:ext>
            </a:extLst>
          </p:cNvPr>
          <p:cNvSpPr>
            <a:spLocks noGrp="1" noChangeArrowheads="1"/>
          </p:cNvSpPr>
          <p:nvPr>
            <p:ph type="sldNum"/>
          </p:nvPr>
        </p:nvSpPr>
        <p:spPr>
          <a:ln/>
        </p:spPr>
        <p:txBody>
          <a:bodyPr/>
          <a:lstStyle/>
          <a:p>
            <a:fld id="{277D38C0-8917-DC40-9AA2-217E5C996171}" type="slidenum">
              <a:rPr lang="en-AU" altLang="en-US"/>
              <a:pPr/>
              <a:t>1</a:t>
            </a:fld>
            <a:endParaRPr lang="en-AU" altLang="en-US"/>
          </a:p>
        </p:txBody>
      </p:sp>
      <p:sp>
        <p:nvSpPr>
          <p:cNvPr id="70657" name="Text Box 1">
            <a:extLst>
              <a:ext uri="{FF2B5EF4-FFF2-40B4-BE49-F238E27FC236}">
                <a16:creationId xmlns:a16="http://schemas.microsoft.com/office/drawing/2014/main" id="{1E6589B0-614D-0425-0671-62FD4F9AC079}"/>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4033B57B-020A-4843-A5F0-5B796979856D}" type="slidenum">
              <a:rPr lang="en-US" altLang="en-US" sz="1200"/>
              <a:pPr algn="r">
                <a:buClrTx/>
                <a:buFontTx/>
                <a:buNone/>
              </a:pPr>
              <a:t>1</a:t>
            </a:fld>
            <a:endParaRPr lang="en-US" altLang="en-US" sz="1200"/>
          </a:p>
        </p:txBody>
      </p:sp>
      <p:sp>
        <p:nvSpPr>
          <p:cNvPr id="70658" name="Text Box 2">
            <a:extLst>
              <a:ext uri="{FF2B5EF4-FFF2-40B4-BE49-F238E27FC236}">
                <a16:creationId xmlns:a16="http://schemas.microsoft.com/office/drawing/2014/main" id="{4A0C3EE4-AE3F-1E08-1CBE-30E7D994EDDD}"/>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0659" name="Text Box 3">
            <a:extLst>
              <a:ext uri="{FF2B5EF4-FFF2-40B4-BE49-F238E27FC236}">
                <a16:creationId xmlns:a16="http://schemas.microsoft.com/office/drawing/2014/main" id="{5C4375FF-B605-A1B7-CCF9-3AE5D953145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Lecture slides by Lawrie Brown for “Cryptography and Network Security”, 5/e, by William Stallings, Chapter 2 – “</a:t>
            </a:r>
            <a:r>
              <a:rPr lang="en-AU" altLang="en-US">
                <a:latin typeface="Arial" panose="020B0604020202020204" pitchFamily="34" charset="0"/>
                <a:ea typeface="ＭＳ Ｐゴシック" panose="020B0600070205080204" pitchFamily="34" charset="-128"/>
              </a:rPr>
              <a:t>Classical Encryption Techniques</a:t>
            </a:r>
            <a:r>
              <a:rPr lang="en-US" altLang="en-US">
                <a:latin typeface="Arial" panose="020B0604020202020204" pitchFamily="34" charset="0"/>
                <a:ea typeface="ＭＳ Ｐゴシック" panose="020B0600070205080204" pitchFamily="34" charset="-128"/>
              </a:rPr>
              <a:t>”.</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2FF0F3C2-A95F-AD85-A1B7-665C0337697C}"/>
              </a:ext>
            </a:extLst>
          </p:cNvPr>
          <p:cNvSpPr>
            <a:spLocks noGrp="1" noChangeArrowheads="1"/>
          </p:cNvSpPr>
          <p:nvPr>
            <p:ph type="sldNum"/>
          </p:nvPr>
        </p:nvSpPr>
        <p:spPr>
          <a:ln/>
        </p:spPr>
        <p:txBody>
          <a:bodyPr/>
          <a:lstStyle/>
          <a:p>
            <a:fld id="{81321B63-A58E-9740-AE49-0A792E055455}" type="slidenum">
              <a:rPr lang="en-AU" altLang="en-US"/>
              <a:pPr/>
              <a:t>2</a:t>
            </a:fld>
            <a:endParaRPr lang="en-AU" altLang="en-US"/>
          </a:p>
        </p:txBody>
      </p:sp>
      <p:sp>
        <p:nvSpPr>
          <p:cNvPr id="72705" name="Text Box 1">
            <a:extLst>
              <a:ext uri="{FF2B5EF4-FFF2-40B4-BE49-F238E27FC236}">
                <a16:creationId xmlns:a16="http://schemas.microsoft.com/office/drawing/2014/main" id="{D67B057C-B2F9-7725-89F7-0A1EF3039795}"/>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199136FC-AC56-F448-87D0-21A765C826FD}" type="slidenum">
              <a:rPr lang="en-US" altLang="en-US" sz="1200"/>
              <a:pPr algn="r">
                <a:buClrTx/>
                <a:buFontTx/>
                <a:buNone/>
              </a:pPr>
              <a:t>2</a:t>
            </a:fld>
            <a:endParaRPr lang="en-US" altLang="en-US" sz="1200"/>
          </a:p>
        </p:txBody>
      </p:sp>
      <p:sp>
        <p:nvSpPr>
          <p:cNvPr id="72706" name="Text Box 2">
            <a:extLst>
              <a:ext uri="{FF2B5EF4-FFF2-40B4-BE49-F238E27FC236}">
                <a16:creationId xmlns:a16="http://schemas.microsoft.com/office/drawing/2014/main" id="{023E9AB3-2885-1DD2-ABF2-C1E6769B74B6}"/>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2707" name="Text Box 3">
            <a:extLst>
              <a:ext uri="{FF2B5EF4-FFF2-40B4-BE49-F238E27FC236}">
                <a16:creationId xmlns:a16="http://schemas.microsoft.com/office/drawing/2014/main" id="{EA28A2BC-933B-991F-0049-B8998C90741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Symmetric encryption, also referred to as conventional encryption or single-key encryption, was the only type of encryption in use prior to the development of public-key encryption in the 1970s. It remains by far the most widely used of the two types of encryption. </a:t>
            </a:r>
            <a:r>
              <a:rPr lang="en-AU" altLang="en-US">
                <a:latin typeface="Arial" panose="020B0604020202020204" pitchFamily="34" charset="0"/>
                <a:cs typeface="Arial" panose="020B0604020202020204" pitchFamily="34" charset="0"/>
              </a:rPr>
              <a:t>All traditional schemes are </a:t>
            </a:r>
            <a:r>
              <a:rPr lang="en-AU" altLang="en-US" b="1">
                <a:latin typeface="Arial" panose="020B0604020202020204" pitchFamily="34" charset="0"/>
                <a:cs typeface="Arial" panose="020B0604020202020204" pitchFamily="34" charset="0"/>
              </a:rPr>
              <a:t>symmetric</a:t>
            </a:r>
            <a:r>
              <a:rPr lang="en-AU" altLang="en-US">
                <a:latin typeface="Arial" panose="020B0604020202020204" pitchFamily="34" charset="0"/>
                <a:cs typeface="Arial" panose="020B0604020202020204" pitchFamily="34" charset="0"/>
              </a:rPr>
              <a:t> / </a:t>
            </a:r>
            <a:r>
              <a:rPr lang="en-AU" altLang="en-US" b="1">
                <a:latin typeface="Arial" panose="020B0604020202020204" pitchFamily="34" charset="0"/>
                <a:cs typeface="Arial" panose="020B0604020202020204" pitchFamily="34" charset="0"/>
              </a:rPr>
              <a:t>single key</a:t>
            </a:r>
            <a:r>
              <a:rPr lang="en-AU" altLang="en-US">
                <a:latin typeface="Arial" panose="020B0604020202020204" pitchFamily="34" charset="0"/>
                <a:cs typeface="Arial" panose="020B0604020202020204" pitchFamily="34" charset="0"/>
              </a:rPr>
              <a:t> / </a:t>
            </a:r>
            <a:r>
              <a:rPr lang="en-AU" altLang="en-US" b="1">
                <a:latin typeface="Arial" panose="020B0604020202020204" pitchFamily="34" charset="0"/>
                <a:cs typeface="Arial" panose="020B0604020202020204" pitchFamily="34" charset="0"/>
              </a:rPr>
              <a:t>private-key</a:t>
            </a:r>
            <a:r>
              <a:rPr lang="en-AU" altLang="en-US">
                <a:latin typeface="Arial" panose="020B0604020202020204" pitchFamily="34" charset="0"/>
                <a:cs typeface="Arial" panose="020B0604020202020204" pitchFamily="34" charset="0"/>
              </a:rPr>
              <a:t> encryption algorithms, with a </a:t>
            </a:r>
            <a:r>
              <a:rPr lang="en-AU" altLang="en-US" b="1">
                <a:latin typeface="Arial" panose="020B0604020202020204" pitchFamily="34" charset="0"/>
                <a:cs typeface="Arial" panose="020B0604020202020204" pitchFamily="34" charset="0"/>
              </a:rPr>
              <a:t>single key</a:t>
            </a:r>
            <a:r>
              <a:rPr lang="en-AU" altLang="en-US">
                <a:latin typeface="Arial" panose="020B0604020202020204" pitchFamily="34" charset="0"/>
                <a:cs typeface="Arial" panose="020B0604020202020204" pitchFamily="34" charset="0"/>
              </a:rPr>
              <a:t>, used for both encryption and decryption. Since both sender and receiver are equivalent, either can encrypt or decrypt messages using that common key.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7F5B4FFD-C41B-83DE-E43B-0D1925685043}"/>
              </a:ext>
            </a:extLst>
          </p:cNvPr>
          <p:cNvSpPr>
            <a:spLocks noGrp="1" noChangeArrowheads="1"/>
          </p:cNvSpPr>
          <p:nvPr>
            <p:ph type="sldNum"/>
          </p:nvPr>
        </p:nvSpPr>
        <p:spPr>
          <a:ln/>
        </p:spPr>
        <p:txBody>
          <a:bodyPr/>
          <a:lstStyle/>
          <a:p>
            <a:fld id="{6665D4DD-780D-7E42-88E2-6B2FBF499046}" type="slidenum">
              <a:rPr lang="en-AU" altLang="en-US"/>
              <a:pPr/>
              <a:t>3</a:t>
            </a:fld>
            <a:endParaRPr lang="en-AU" altLang="en-US"/>
          </a:p>
        </p:txBody>
      </p:sp>
      <p:sp>
        <p:nvSpPr>
          <p:cNvPr id="73729" name="Text Box 1">
            <a:extLst>
              <a:ext uri="{FF2B5EF4-FFF2-40B4-BE49-F238E27FC236}">
                <a16:creationId xmlns:a16="http://schemas.microsoft.com/office/drawing/2014/main" id="{4499229A-06F9-2BF6-5BC2-092793250926}"/>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83EE8489-3482-0648-B431-5BEE3350C6ED}" type="slidenum">
              <a:rPr lang="en-US" altLang="en-US" sz="1200"/>
              <a:pPr algn="r">
                <a:buClrTx/>
                <a:buFontTx/>
                <a:buNone/>
              </a:pPr>
              <a:t>3</a:t>
            </a:fld>
            <a:endParaRPr lang="en-US" altLang="en-US" sz="1200"/>
          </a:p>
        </p:txBody>
      </p:sp>
      <p:sp>
        <p:nvSpPr>
          <p:cNvPr id="73730" name="Text Box 2">
            <a:extLst>
              <a:ext uri="{FF2B5EF4-FFF2-40B4-BE49-F238E27FC236}">
                <a16:creationId xmlns:a16="http://schemas.microsoft.com/office/drawing/2014/main" id="{703E7EBF-D0BC-6AE1-C083-1A9EBF650A66}"/>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3731" name="Text Box 3">
            <a:extLst>
              <a:ext uri="{FF2B5EF4-FFF2-40B4-BE49-F238E27FC236}">
                <a16:creationId xmlns:a16="http://schemas.microsoft.com/office/drawing/2014/main" id="{489F45B0-2A8F-3769-A050-60EDFA8A1B3A}"/>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Briefly review some terminology used throughout the course.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B3D45D3D-8AB6-3D3D-A9CE-3E7994477B95}"/>
              </a:ext>
            </a:extLst>
          </p:cNvPr>
          <p:cNvSpPr>
            <a:spLocks noGrp="1" noChangeArrowheads="1"/>
          </p:cNvSpPr>
          <p:nvPr>
            <p:ph type="sldNum"/>
          </p:nvPr>
        </p:nvSpPr>
        <p:spPr>
          <a:ln/>
        </p:spPr>
        <p:txBody>
          <a:bodyPr/>
          <a:lstStyle/>
          <a:p>
            <a:fld id="{C2225F37-10D7-0A44-AEBB-7833456FC457}" type="slidenum">
              <a:rPr lang="en-AU" altLang="en-US"/>
              <a:pPr/>
              <a:t>4</a:t>
            </a:fld>
            <a:endParaRPr lang="en-AU" altLang="en-US"/>
          </a:p>
        </p:txBody>
      </p:sp>
      <p:sp>
        <p:nvSpPr>
          <p:cNvPr id="74753" name="Text Box 1">
            <a:extLst>
              <a:ext uri="{FF2B5EF4-FFF2-40B4-BE49-F238E27FC236}">
                <a16:creationId xmlns:a16="http://schemas.microsoft.com/office/drawing/2014/main" id="{3F442467-403D-DE40-55D8-184E2A1227AB}"/>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CDDD8984-2299-5C40-9776-EF76C03B9F24}" type="slidenum">
              <a:rPr lang="en-US" altLang="en-US" sz="1200"/>
              <a:pPr algn="r">
                <a:buClrTx/>
                <a:buFontTx/>
                <a:buNone/>
              </a:pPr>
              <a:t>4</a:t>
            </a:fld>
            <a:endParaRPr lang="en-US" altLang="en-US" sz="1200"/>
          </a:p>
        </p:txBody>
      </p:sp>
      <p:sp>
        <p:nvSpPr>
          <p:cNvPr id="74754" name="Text Box 2">
            <a:extLst>
              <a:ext uri="{FF2B5EF4-FFF2-40B4-BE49-F238E27FC236}">
                <a16:creationId xmlns:a16="http://schemas.microsoft.com/office/drawing/2014/main" id="{E8E85F1D-E39B-6A05-21AF-CF54D6A76C27}"/>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5" name="Text Box 3">
            <a:extLst>
              <a:ext uri="{FF2B5EF4-FFF2-40B4-BE49-F238E27FC236}">
                <a16:creationId xmlns:a16="http://schemas.microsoft.com/office/drawing/2014/main" id="{7B66C9CE-9B98-2DAB-DB9B-35F1C7048E6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Detail the five ingredients of the symmetric cipher model, shown in Stallings Figure 2.1:</a:t>
            </a:r>
          </a:p>
          <a:p>
            <a:pPr eaLnBrk="1" hangingPunct="1">
              <a:spcBef>
                <a:spcPts val="45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 plaintext - original message</a:t>
            </a:r>
          </a:p>
          <a:p>
            <a:pPr eaLnBrk="1" hangingPunct="1">
              <a:spcBef>
                <a:spcPts val="45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 encryption algorithm – performs substitutions/transformations on plaintext</a:t>
            </a:r>
          </a:p>
          <a:p>
            <a:pPr eaLnBrk="1" hangingPunct="1">
              <a:spcBef>
                <a:spcPts val="45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 secret key – control exact substitutions/transformations used in encryption algorithm</a:t>
            </a:r>
          </a:p>
          <a:p>
            <a:pPr eaLnBrk="1" hangingPunct="1">
              <a:spcBef>
                <a:spcPts val="45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 ciphertext - scrambled message</a:t>
            </a:r>
          </a:p>
          <a:p>
            <a:pPr eaLnBrk="1" hangingPunct="1">
              <a:spcBef>
                <a:spcPts val="45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 decryption algorithm – inverse of encryption algorithm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1A4361B1-2BDB-B084-C86C-968D91934FCC}"/>
              </a:ext>
            </a:extLst>
          </p:cNvPr>
          <p:cNvSpPr>
            <a:spLocks noGrp="1" noChangeArrowheads="1"/>
          </p:cNvSpPr>
          <p:nvPr>
            <p:ph type="sldNum"/>
          </p:nvPr>
        </p:nvSpPr>
        <p:spPr>
          <a:ln/>
        </p:spPr>
        <p:txBody>
          <a:bodyPr/>
          <a:lstStyle/>
          <a:p>
            <a:fld id="{05C002BF-C857-1D49-AF13-72FAB514FDEF}" type="slidenum">
              <a:rPr lang="en-AU" altLang="en-US"/>
              <a:pPr/>
              <a:t>5</a:t>
            </a:fld>
            <a:endParaRPr lang="en-AU" altLang="en-US"/>
          </a:p>
        </p:txBody>
      </p:sp>
      <p:sp>
        <p:nvSpPr>
          <p:cNvPr id="75777" name="Text Box 1">
            <a:extLst>
              <a:ext uri="{FF2B5EF4-FFF2-40B4-BE49-F238E27FC236}">
                <a16:creationId xmlns:a16="http://schemas.microsoft.com/office/drawing/2014/main" id="{75E008FE-179F-2646-F4D4-86320FF1B83C}"/>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25FBE7A4-C893-AD49-9534-DEFEB35DAE51}" type="slidenum">
              <a:rPr lang="en-US" altLang="en-US" sz="1200"/>
              <a:pPr algn="r">
                <a:buClrTx/>
                <a:buFontTx/>
                <a:buNone/>
              </a:pPr>
              <a:t>5</a:t>
            </a:fld>
            <a:endParaRPr lang="en-US" altLang="en-US" sz="1200"/>
          </a:p>
        </p:txBody>
      </p:sp>
      <p:sp>
        <p:nvSpPr>
          <p:cNvPr id="75778" name="Text Box 2">
            <a:extLst>
              <a:ext uri="{FF2B5EF4-FFF2-40B4-BE49-F238E27FC236}">
                <a16:creationId xmlns:a16="http://schemas.microsoft.com/office/drawing/2014/main" id="{DF4D2954-811A-8376-3F44-5ED9E74D0B5B}"/>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79" name="Text Box 3">
            <a:extLst>
              <a:ext uri="{FF2B5EF4-FFF2-40B4-BE49-F238E27FC236}">
                <a16:creationId xmlns:a16="http://schemas.microsoft.com/office/drawing/2014/main" id="{A6C1A47C-8390-A78C-5337-D4E518C26E9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There are two requirements for secure use of conventional encryption that mean we assume that it is impractical to decrypt a message on the basis of the cipher- text plus knowledge of the encryption/decryption algorithm, and hence do not need to keep the algorithm secret; rather we only need to keep the key secret. This feature of symmetric encryption is what makes it feasible for widespread use. It allows easy distribution of s/w and h/w implementations.</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Can take a closer look at the essential elements of a symmetric encryption scheme: mathematically it can be considered a pair of functions with: plaintext X, ciphertext Y, key K, encryption algorithm E, decryption algorithm D. The intended receiver, in possession of the key, is able to invert the transformation. An opponent, observing Y but not having access to K or X, may attempt to recover X or K.</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328CA9F9-6606-9F64-8932-403383868D2C}"/>
              </a:ext>
            </a:extLst>
          </p:cNvPr>
          <p:cNvSpPr>
            <a:spLocks noGrp="1" noChangeArrowheads="1"/>
          </p:cNvSpPr>
          <p:nvPr>
            <p:ph type="sldNum"/>
          </p:nvPr>
        </p:nvSpPr>
        <p:spPr>
          <a:ln/>
        </p:spPr>
        <p:txBody>
          <a:bodyPr/>
          <a:lstStyle/>
          <a:p>
            <a:fld id="{7E8A4E0F-F514-AF43-87AF-DDF8065BCF54}" type="slidenum">
              <a:rPr lang="en-AU" altLang="en-US"/>
              <a:pPr/>
              <a:t>6</a:t>
            </a:fld>
            <a:endParaRPr lang="en-AU" altLang="en-US"/>
          </a:p>
        </p:txBody>
      </p:sp>
      <p:sp>
        <p:nvSpPr>
          <p:cNvPr id="76801" name="Text Box 1">
            <a:extLst>
              <a:ext uri="{FF2B5EF4-FFF2-40B4-BE49-F238E27FC236}">
                <a16:creationId xmlns:a16="http://schemas.microsoft.com/office/drawing/2014/main" id="{A93F1931-A2D1-8442-2F24-FAAB3E55781D}"/>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2BB118E6-AD1F-F54D-826B-8475B5C54F84}" type="slidenum">
              <a:rPr lang="en-US" altLang="en-US" sz="1200"/>
              <a:pPr algn="r">
                <a:buClrTx/>
                <a:buFontTx/>
                <a:buNone/>
              </a:pPr>
              <a:t>6</a:t>
            </a:fld>
            <a:endParaRPr lang="en-US" altLang="en-US" sz="1200"/>
          </a:p>
        </p:txBody>
      </p:sp>
      <p:sp>
        <p:nvSpPr>
          <p:cNvPr id="76802" name="Text Box 2">
            <a:extLst>
              <a:ext uri="{FF2B5EF4-FFF2-40B4-BE49-F238E27FC236}">
                <a16:creationId xmlns:a16="http://schemas.microsoft.com/office/drawing/2014/main" id="{044C9A39-DEE3-90F7-346C-FBDB1CA5FD5F}"/>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6803" name="Text Box 3">
            <a:extLst>
              <a:ext uri="{FF2B5EF4-FFF2-40B4-BE49-F238E27FC236}">
                <a16:creationId xmlns:a16="http://schemas.microsoft.com/office/drawing/2014/main" id="{0A6D9662-0A56-14D8-D2B9-3B55B7935EA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ea typeface="ＭＳ Ｐゴシック" panose="020B0600070205080204" pitchFamily="34" charset="-128"/>
              </a:rPr>
              <a:t>Cryptographic systems can be characterized along these three independent dimensions.</a:t>
            </a:r>
          </a:p>
          <a:p>
            <a:pPr eaLnBrk="1" hangingPunct="1">
              <a:spcBef>
                <a:spcPts val="450"/>
              </a:spcBef>
              <a:buFont typeface="Times New Roman" panose="02020603050405020304" pitchFamily="18" charset="0"/>
              <a:buAutoNum type="arabicPeriod"/>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b="1">
                <a:latin typeface="Arial" panose="020B0604020202020204" pitchFamily="34" charset="0"/>
                <a:ea typeface="ＭＳ Ｐゴシック" panose="020B0600070205080204" pitchFamily="34" charset="-128"/>
              </a:rPr>
              <a:t>The type of operations used for transforming plaintext to ciphertext</a:t>
            </a:r>
            <a:r>
              <a:rPr lang="en-US" altLang="en-US">
                <a:latin typeface="Arial" panose="020B0604020202020204" pitchFamily="34" charset="0"/>
                <a:ea typeface="ＭＳ Ｐゴシック" panose="020B0600070205080204" pitchFamily="34" charset="-128"/>
              </a:rPr>
              <a:t>. All encryption algorithms are based on two general principles: substitution, in which each element in the plaintext (bit, letter, group of bits or letters) is mapped into another element, and transposition, in which elements in the plaintext are rearranged. The fundamental requirement is that no information be lost (that is, that all operations are reversible). Most systems, referred to as product systems, involve multiple stages of substitutions and transpositions.  </a:t>
            </a:r>
          </a:p>
          <a:p>
            <a:pPr eaLnBrk="1" hangingPunct="1">
              <a:spcBef>
                <a:spcPts val="450"/>
              </a:spcBef>
              <a:buFont typeface="Times New Roman" panose="02020603050405020304" pitchFamily="18" charset="0"/>
              <a:buAutoNum type="arabicPeriod"/>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b="1">
                <a:latin typeface="Arial" panose="020B0604020202020204" pitchFamily="34" charset="0"/>
                <a:ea typeface="ＭＳ Ｐゴシック" panose="020B0600070205080204" pitchFamily="34" charset="-128"/>
              </a:rPr>
              <a:t>The number of keys used</a:t>
            </a:r>
            <a:r>
              <a:rPr lang="en-US" altLang="en-US">
                <a:latin typeface="Arial" panose="020B0604020202020204" pitchFamily="34" charset="0"/>
                <a:ea typeface="ＭＳ Ｐゴシック" panose="020B0600070205080204" pitchFamily="34" charset="-128"/>
              </a:rPr>
              <a:t>. If both sender and receiver use the same key, the system is referred to as symmetric, single-key, secret-key, or conventional encryption. If the sender and receiver use different keys, the system is referred to as asymmetric, two-key, or public-key encryption.  </a:t>
            </a:r>
          </a:p>
          <a:p>
            <a:pPr eaLnBrk="1" hangingPunct="1">
              <a:spcBef>
                <a:spcPts val="450"/>
              </a:spcBef>
              <a:buFont typeface="Times New Roman" panose="02020603050405020304" pitchFamily="18" charset="0"/>
              <a:buAutoNum type="arabicPeriod"/>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b="1">
                <a:latin typeface="Arial" panose="020B0604020202020204" pitchFamily="34" charset="0"/>
                <a:ea typeface="ＭＳ Ｐゴシック" panose="020B0600070205080204" pitchFamily="34" charset="-128"/>
              </a:rPr>
              <a:t>The way in which the plaintext is processed</a:t>
            </a:r>
            <a:r>
              <a:rPr lang="en-US" altLang="en-US">
                <a:latin typeface="Arial" panose="020B0604020202020204" pitchFamily="34" charset="0"/>
                <a:ea typeface="ＭＳ Ｐゴシック" panose="020B0600070205080204" pitchFamily="34" charset="-128"/>
              </a:rPr>
              <a:t>. A block cipher processes the input one block of elements at a time, producing an output block for each input block. A stream cipher processes the input elements continuously, producing output one element at a time, as it goes along.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8CDD2993-9F5F-4F9D-8A16-817F353CBB0B}"/>
              </a:ext>
            </a:extLst>
          </p:cNvPr>
          <p:cNvSpPr>
            <a:spLocks noGrp="1" noChangeArrowheads="1"/>
          </p:cNvSpPr>
          <p:nvPr>
            <p:ph type="sldNum"/>
          </p:nvPr>
        </p:nvSpPr>
        <p:spPr>
          <a:ln/>
        </p:spPr>
        <p:txBody>
          <a:bodyPr/>
          <a:lstStyle/>
          <a:p>
            <a:fld id="{41ECB22B-B1BF-814F-9B30-94EFB5FEFBD7}" type="slidenum">
              <a:rPr lang="en-AU" altLang="en-US"/>
              <a:pPr/>
              <a:t>7</a:t>
            </a:fld>
            <a:endParaRPr lang="en-AU" altLang="en-US"/>
          </a:p>
        </p:txBody>
      </p:sp>
      <p:sp>
        <p:nvSpPr>
          <p:cNvPr id="77825" name="Text Box 1">
            <a:extLst>
              <a:ext uri="{FF2B5EF4-FFF2-40B4-BE49-F238E27FC236}">
                <a16:creationId xmlns:a16="http://schemas.microsoft.com/office/drawing/2014/main" id="{77325403-24CE-7950-6873-B318228B5469}"/>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4A81BBEA-1150-4947-816D-63CC7C83778A}" type="slidenum">
              <a:rPr lang="en-US" altLang="en-US" sz="1200"/>
              <a:pPr algn="r">
                <a:buClrTx/>
                <a:buFontTx/>
                <a:buNone/>
              </a:pPr>
              <a:t>7</a:t>
            </a:fld>
            <a:endParaRPr lang="en-US" altLang="en-US" sz="1200"/>
          </a:p>
        </p:txBody>
      </p:sp>
      <p:sp>
        <p:nvSpPr>
          <p:cNvPr id="77826" name="Text Box 2">
            <a:extLst>
              <a:ext uri="{FF2B5EF4-FFF2-40B4-BE49-F238E27FC236}">
                <a16:creationId xmlns:a16="http://schemas.microsoft.com/office/drawing/2014/main" id="{C6674510-3A90-2E5C-DBD6-FAEAB1B16293}"/>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7827" name="Text Box 3">
            <a:extLst>
              <a:ext uri="{FF2B5EF4-FFF2-40B4-BE49-F238E27FC236}">
                <a16:creationId xmlns:a16="http://schemas.microsoft.com/office/drawing/2014/main" id="{7959ECFB-B31A-6900-E553-718DDAD4465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Typically objective is to recover the key in use rather then simply to recover the plaintext of a single ciphertext. There are two general approaches:</a:t>
            </a:r>
          </a:p>
          <a:p>
            <a:pPr eaLnBrk="1" hangingPunct="1">
              <a:spcBef>
                <a:spcPts val="45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 </a:t>
            </a:r>
            <a:r>
              <a:rPr lang="en-US" altLang="en-US" b="1">
                <a:latin typeface="Arial" panose="020B0604020202020204" pitchFamily="34" charset="0"/>
                <a:cs typeface="Arial" panose="020B0604020202020204" pitchFamily="34" charset="0"/>
              </a:rPr>
              <a:t>Cryptanalysis: </a:t>
            </a:r>
            <a:r>
              <a:rPr lang="en-US" altLang="en-US">
                <a:latin typeface="Arial" panose="020B0604020202020204" pitchFamily="34" charset="0"/>
                <a:cs typeface="Arial" panose="020B0604020202020204" pitchFamily="34" charset="0"/>
              </a:rPr>
              <a:t>relies on the nature of the algorithm plus perhaps some knowledge of the general characteristics of the plaintext or even some sample plaintext- ciphertext pairs. This type of attack exploits the characteristics of the algorithm to attempt to deduce a specific plaintext or to deduce the key being used.</a:t>
            </a:r>
          </a:p>
          <a:p>
            <a:pPr eaLnBrk="1" hangingPunct="1">
              <a:spcBef>
                <a:spcPts val="45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 </a:t>
            </a:r>
            <a:r>
              <a:rPr lang="en-US" altLang="en-US" b="1">
                <a:latin typeface="Arial" panose="020B0604020202020204" pitchFamily="34" charset="0"/>
                <a:cs typeface="Arial" panose="020B0604020202020204" pitchFamily="34" charset="0"/>
              </a:rPr>
              <a:t>Brute-force attacks </a:t>
            </a:r>
            <a:r>
              <a:rPr lang="en-US" altLang="en-US">
                <a:latin typeface="Arial" panose="020B0604020202020204" pitchFamily="34" charset="0"/>
                <a:cs typeface="Arial" panose="020B0604020202020204" pitchFamily="34" charset="0"/>
              </a:rPr>
              <a:t>try every possible key on a piece of ciphertext until an intelligible translation into plaintext is obtained. On average,half of all possible keys must be tried to achieve success.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If either type of attack succeeds in deducing the key, the effect is catastrophic: All future and past messages encrypted with that key are compromised.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20FBAD37-F8EC-BE76-C94D-590C9120EAD7}"/>
              </a:ext>
            </a:extLst>
          </p:cNvPr>
          <p:cNvSpPr>
            <a:spLocks noGrp="1" noChangeArrowheads="1"/>
          </p:cNvSpPr>
          <p:nvPr>
            <p:ph type="sldNum"/>
          </p:nvPr>
        </p:nvSpPr>
        <p:spPr>
          <a:ln/>
        </p:spPr>
        <p:txBody>
          <a:bodyPr/>
          <a:lstStyle/>
          <a:p>
            <a:fld id="{E75B6AC8-985D-0A4A-B5AF-A2E642BD33F0}" type="slidenum">
              <a:rPr lang="en-AU" altLang="en-US"/>
              <a:pPr/>
              <a:t>8</a:t>
            </a:fld>
            <a:endParaRPr lang="en-AU" altLang="en-US"/>
          </a:p>
        </p:txBody>
      </p:sp>
      <p:sp>
        <p:nvSpPr>
          <p:cNvPr id="78849" name="Text Box 1">
            <a:extLst>
              <a:ext uri="{FF2B5EF4-FFF2-40B4-BE49-F238E27FC236}">
                <a16:creationId xmlns:a16="http://schemas.microsoft.com/office/drawing/2014/main" id="{0027F109-2AD3-0955-76DF-5237BEB65F93}"/>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71C8DCFE-042C-514C-A0FE-0EFF81AE24F3}" type="slidenum">
              <a:rPr lang="en-US" altLang="en-US" sz="1200"/>
              <a:pPr algn="r">
                <a:buClrTx/>
                <a:buFontTx/>
                <a:buNone/>
              </a:pPr>
              <a:t>8</a:t>
            </a:fld>
            <a:endParaRPr lang="en-US" altLang="en-US" sz="1200"/>
          </a:p>
        </p:txBody>
      </p:sp>
      <p:sp>
        <p:nvSpPr>
          <p:cNvPr id="78850" name="Text Box 2">
            <a:extLst>
              <a:ext uri="{FF2B5EF4-FFF2-40B4-BE49-F238E27FC236}">
                <a16:creationId xmlns:a16="http://schemas.microsoft.com/office/drawing/2014/main" id="{63150CDC-3892-0451-834C-D03240DFDE6A}"/>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8851" name="Text Box 3">
            <a:extLst>
              <a:ext uri="{FF2B5EF4-FFF2-40B4-BE49-F238E27FC236}">
                <a16:creationId xmlns:a16="http://schemas.microsoft.com/office/drawing/2014/main" id="{F3E823EA-3DFE-52FA-A89F-32FB8FCB299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Stallings Table 2.1 summarizes the various types of cryptanalytic attacks, based on the amount of information known to the cryptanalyst, from least to most. The most difficult problem is presented when all that is available is the ciphertext only. In some cases, not even the encryption algorithm is known, but in general we can assume that the opponent does know the algorithm used for encryption. Then with increasing information have the other attacks. Generally, an encryption algorithm is designed to withstand a known-plaintext attack.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1FCE2315-7EB6-1BB5-DEBD-76F643D43BED}"/>
              </a:ext>
            </a:extLst>
          </p:cNvPr>
          <p:cNvSpPr>
            <a:spLocks noGrp="1" noChangeArrowheads="1"/>
          </p:cNvSpPr>
          <p:nvPr>
            <p:ph type="sldNum"/>
          </p:nvPr>
        </p:nvSpPr>
        <p:spPr>
          <a:ln/>
        </p:spPr>
        <p:txBody>
          <a:bodyPr/>
          <a:lstStyle/>
          <a:p>
            <a:fld id="{F6F9F039-9B3D-3246-8CC4-F12D69CCACC1}" type="slidenum">
              <a:rPr lang="en-AU" altLang="en-US"/>
              <a:pPr/>
              <a:t>9</a:t>
            </a:fld>
            <a:endParaRPr lang="en-AU" altLang="en-US"/>
          </a:p>
        </p:txBody>
      </p:sp>
      <p:sp>
        <p:nvSpPr>
          <p:cNvPr id="79873" name="Text Box 1">
            <a:extLst>
              <a:ext uri="{FF2B5EF4-FFF2-40B4-BE49-F238E27FC236}">
                <a16:creationId xmlns:a16="http://schemas.microsoft.com/office/drawing/2014/main" id="{035306A1-7EC6-8E6D-23FA-D009C488667F}"/>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A97E1EA7-760B-A447-8DD1-F002E7971DB0}" type="slidenum">
              <a:rPr lang="en-US" altLang="en-US" sz="1200"/>
              <a:pPr algn="r">
                <a:buClrTx/>
                <a:buFontTx/>
                <a:buNone/>
              </a:pPr>
              <a:t>9</a:t>
            </a:fld>
            <a:endParaRPr lang="en-US" altLang="en-US" sz="1200"/>
          </a:p>
        </p:txBody>
      </p:sp>
      <p:sp>
        <p:nvSpPr>
          <p:cNvPr id="79874" name="Text Box 2">
            <a:extLst>
              <a:ext uri="{FF2B5EF4-FFF2-40B4-BE49-F238E27FC236}">
                <a16:creationId xmlns:a16="http://schemas.microsoft.com/office/drawing/2014/main" id="{27C07953-CD4B-D46F-3157-5E228BD8C93D}"/>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9875" name="Text Box 3">
            <a:extLst>
              <a:ext uri="{FF2B5EF4-FFF2-40B4-BE49-F238E27FC236}">
                <a16:creationId xmlns:a16="http://schemas.microsoft.com/office/drawing/2014/main" id="{D56241E4-0F3B-DF49-D557-B38AFE087DF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Two more definitions are worthy of note. An encryption scheme is unconditionally secure if the ciphertext generated by the scheme does not contain enough information to determine uniquely the corresponding plaintext, no matter how much ciphertext is available. An encryption scheme is said to be computationally secure if either the cost of breaking the cipher exceeds the value of the encrypted information, or the time required to break the cipher exceeds the useful lifetime of the information.</a:t>
            </a:r>
            <a:r>
              <a:rPr lang="en-AU" altLang="en-US">
                <a:latin typeface="Arial" panose="020B0604020202020204" pitchFamily="34" charset="0"/>
                <a:cs typeface="Arial" panose="020B0604020202020204" pitchFamily="34" charset="0"/>
              </a:rPr>
              <a:t> Unconditional security would be nice, but the only known such cipher is the </a:t>
            </a:r>
            <a:r>
              <a:rPr lang="en-AU" altLang="en-US" b="1">
                <a:latin typeface="Arial" panose="020B0604020202020204" pitchFamily="34" charset="0"/>
                <a:cs typeface="Arial" panose="020B0604020202020204" pitchFamily="34" charset="0"/>
              </a:rPr>
              <a:t>one-time pad</a:t>
            </a:r>
            <a:r>
              <a:rPr lang="en-AU" altLang="en-US">
                <a:latin typeface="Arial" panose="020B0604020202020204" pitchFamily="34" charset="0"/>
                <a:cs typeface="Arial" panose="020B0604020202020204" pitchFamily="34" charset="0"/>
              </a:rPr>
              <a:t> (later).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cs typeface="Arial" panose="020B0604020202020204" pitchFamily="34" charset="0"/>
              </a:rPr>
              <a:t>For all reasonable encryption algorithms, we have to assume computational security where it either takes too long, or is too expensive, to bother breaking the cipher.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13F7DCC7-3EA5-EA43-44E1-B99DC00BDC22}"/>
              </a:ext>
            </a:extLst>
          </p:cNvPr>
          <p:cNvSpPr>
            <a:spLocks noGrp="1" noChangeArrowheads="1"/>
          </p:cNvSpPr>
          <p:nvPr>
            <p:ph type="sldNum"/>
          </p:nvPr>
        </p:nvSpPr>
        <p:spPr>
          <a:ln/>
        </p:spPr>
        <p:txBody>
          <a:bodyPr/>
          <a:lstStyle/>
          <a:p>
            <a:fld id="{E449BBB6-A7A1-7A48-86E8-FCEC5D3442C9}" type="slidenum">
              <a:rPr lang="en-AU" altLang="en-US"/>
              <a:pPr/>
              <a:t>10</a:t>
            </a:fld>
            <a:endParaRPr lang="en-AU" altLang="en-US"/>
          </a:p>
        </p:txBody>
      </p:sp>
      <p:sp>
        <p:nvSpPr>
          <p:cNvPr id="84993" name="Text Box 1">
            <a:extLst>
              <a:ext uri="{FF2B5EF4-FFF2-40B4-BE49-F238E27FC236}">
                <a16:creationId xmlns:a16="http://schemas.microsoft.com/office/drawing/2014/main" id="{97E5A7AB-8DB2-84DE-4A8C-42967D8CBFA5}"/>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39090D72-BAA9-DB41-A812-CA8DA59C5AAC}" type="slidenum">
              <a:rPr lang="en-US" altLang="en-US" sz="1200"/>
              <a:pPr algn="r">
                <a:buClrTx/>
                <a:buFontTx/>
                <a:buNone/>
              </a:pPr>
              <a:t>10</a:t>
            </a:fld>
            <a:endParaRPr lang="en-US" altLang="en-US" sz="1200"/>
          </a:p>
        </p:txBody>
      </p:sp>
      <p:sp>
        <p:nvSpPr>
          <p:cNvPr id="84994" name="Text Box 2">
            <a:extLst>
              <a:ext uri="{FF2B5EF4-FFF2-40B4-BE49-F238E27FC236}">
                <a16:creationId xmlns:a16="http://schemas.microsoft.com/office/drawing/2014/main" id="{5253B4D1-95D1-29E3-FC65-ECB2AB8C964C}"/>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4995" name="Text Box 3">
            <a:extLst>
              <a:ext uri="{FF2B5EF4-FFF2-40B4-BE49-F238E27FC236}">
                <a16:creationId xmlns:a16="http://schemas.microsoft.com/office/drawing/2014/main" id="{E931AB75-A8A5-C793-B9C3-276DA89383CC}"/>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A brute-force attack involves trying every possible key until an intelligible translation of the ciphertext into plaintext is obtained. On average, half of all possible keys must be tried to achieve success. Stallings Table 2.2 shows how much time is required to conduct a brute-force attack, for various common key sizes (DES is 56, AES is 128, Triple-DES is 168, plus general mono-alphabetic cipher), where either a single system or a million parallel systems, are used.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40F8FA59-7A58-C38D-0414-85F8421BDAAB}"/>
              </a:ext>
            </a:extLst>
          </p:cNvPr>
          <p:cNvSpPr>
            <a:spLocks noGrp="1" noChangeArrowheads="1"/>
          </p:cNvSpPr>
          <p:nvPr>
            <p:ph type="sldNum"/>
          </p:nvPr>
        </p:nvSpPr>
        <p:spPr>
          <a:ln/>
        </p:spPr>
        <p:txBody>
          <a:bodyPr/>
          <a:lstStyle/>
          <a:p>
            <a:fld id="{DF8DDB1A-4BBB-2249-8D8F-155B0020C9D2}" type="slidenum">
              <a:rPr lang="en-AU" altLang="en-US"/>
              <a:pPr/>
              <a:t>11</a:t>
            </a:fld>
            <a:endParaRPr lang="en-AU" altLang="en-US"/>
          </a:p>
        </p:txBody>
      </p:sp>
      <p:sp>
        <p:nvSpPr>
          <p:cNvPr id="86017" name="Text Box 1">
            <a:extLst>
              <a:ext uri="{FF2B5EF4-FFF2-40B4-BE49-F238E27FC236}">
                <a16:creationId xmlns:a16="http://schemas.microsoft.com/office/drawing/2014/main" id="{BA4B9713-ABDB-51CC-1AA7-A5D2B764DB24}"/>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A2615AF3-7552-8F4C-BDD7-21E86A70F78F}" type="slidenum">
              <a:rPr lang="en-US" altLang="en-US" sz="1200"/>
              <a:pPr algn="r">
                <a:buClrTx/>
                <a:buFontTx/>
                <a:buNone/>
              </a:pPr>
              <a:t>11</a:t>
            </a:fld>
            <a:endParaRPr lang="en-US" altLang="en-US" sz="1200"/>
          </a:p>
        </p:txBody>
      </p:sp>
      <p:sp>
        <p:nvSpPr>
          <p:cNvPr id="86018" name="Text Box 2">
            <a:extLst>
              <a:ext uri="{FF2B5EF4-FFF2-40B4-BE49-F238E27FC236}">
                <a16:creationId xmlns:a16="http://schemas.microsoft.com/office/drawing/2014/main" id="{1F122D58-601B-09E2-46BE-36564BD9C3D1}"/>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6019" name="Text Box 3">
            <a:extLst>
              <a:ext uri="{FF2B5EF4-FFF2-40B4-BE49-F238E27FC236}">
                <a16:creationId xmlns:a16="http://schemas.microsoft.com/office/drawing/2014/main" id="{1D99881F-002B-BA45-9F72-3E268FB64F7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In this section and the next, we examine a sampling of what might be called classical encryption techniques. A study of these techniques enables us to illustrate the basic approaches to symmetric encryption used today and the types of cryptanalytic attacks that must be anticipated. The two basic building blocks of all encryption technique are substitution and transposition. We examine these in the next two sections. Finally, we discuss a system that combine both substitution and transposition.</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A substitution technique is one in which the letters of plaintext are replaced by other letters or by numbers or symbols. If the plaintext is viewed as a sequence of bits, then substitution involves replacing plaintext bit patterns with ciphertext bit patterns.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478277A7-97AC-AD30-71A2-3514CA4AA643}"/>
              </a:ext>
            </a:extLst>
          </p:cNvPr>
          <p:cNvSpPr>
            <a:spLocks noGrp="1" noChangeArrowheads="1"/>
          </p:cNvSpPr>
          <p:nvPr>
            <p:ph type="sldNum"/>
          </p:nvPr>
        </p:nvSpPr>
        <p:spPr>
          <a:ln/>
        </p:spPr>
        <p:txBody>
          <a:bodyPr/>
          <a:lstStyle/>
          <a:p>
            <a:fld id="{812480F5-A7B7-3044-AC05-F8CD585C6F00}" type="slidenum">
              <a:rPr lang="en-AU" altLang="en-US"/>
              <a:pPr/>
              <a:t>12</a:t>
            </a:fld>
            <a:endParaRPr lang="en-AU" altLang="en-US"/>
          </a:p>
        </p:txBody>
      </p:sp>
      <p:sp>
        <p:nvSpPr>
          <p:cNvPr id="87041" name="Text Box 1">
            <a:extLst>
              <a:ext uri="{FF2B5EF4-FFF2-40B4-BE49-F238E27FC236}">
                <a16:creationId xmlns:a16="http://schemas.microsoft.com/office/drawing/2014/main" id="{99BBB0CC-0FB2-3200-9268-26256BD62F2E}"/>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DBB2C71A-A213-1948-96C9-8B5F23B253F8}" type="slidenum">
              <a:rPr lang="en-US" altLang="en-US" sz="1200"/>
              <a:pPr algn="r">
                <a:buClrTx/>
                <a:buFontTx/>
                <a:buNone/>
              </a:pPr>
              <a:t>12</a:t>
            </a:fld>
            <a:endParaRPr lang="en-US" altLang="en-US" sz="1200"/>
          </a:p>
        </p:txBody>
      </p:sp>
      <p:sp>
        <p:nvSpPr>
          <p:cNvPr id="87042" name="Text Box 2">
            <a:extLst>
              <a:ext uri="{FF2B5EF4-FFF2-40B4-BE49-F238E27FC236}">
                <a16:creationId xmlns:a16="http://schemas.microsoft.com/office/drawing/2014/main" id="{ECAF7AEB-FB3C-8B59-9A3C-82CDDE89ECC6}"/>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7043" name="Text Box 3">
            <a:extLst>
              <a:ext uri="{FF2B5EF4-FFF2-40B4-BE49-F238E27FC236}">
                <a16:creationId xmlns:a16="http://schemas.microsoft.com/office/drawing/2014/main" id="{141602F0-B2AF-FA28-C744-A8CD075E579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Substitution ciphers form the first of the fundamental building blocks. The core idea is to replace one basic unit (letter/byte) with another. Whilst the early Greeks described several substitution ciphers, the first attested use in military affairs of one was by Julius Caesar, described by him in </a:t>
            </a:r>
            <a:r>
              <a:rPr lang="en-AU" altLang="en-US" i="1">
                <a:latin typeface="Arial" panose="020B0604020202020204" pitchFamily="34" charset="0"/>
                <a:ea typeface="ＭＳ Ｐゴシック" panose="020B0600070205080204" pitchFamily="34" charset="-128"/>
              </a:rPr>
              <a:t>Gallic Wars</a:t>
            </a:r>
            <a:r>
              <a:rPr lang="en-AU" altLang="en-US">
                <a:latin typeface="Arial" panose="020B0604020202020204" pitchFamily="34" charset="0"/>
                <a:ea typeface="ＭＳ Ｐゴシック" panose="020B0600070205080204" pitchFamily="34" charset="-128"/>
              </a:rPr>
              <a:t> (cf. Kahn pp83-84). Still call any cipher using a simple letter shift a </a:t>
            </a:r>
            <a:r>
              <a:rPr lang="en-AU" altLang="en-US" b="1">
                <a:latin typeface="Arial" panose="020B0604020202020204" pitchFamily="34" charset="0"/>
                <a:ea typeface="ＭＳ Ｐゴシック" panose="020B0600070205080204" pitchFamily="34" charset="-128"/>
              </a:rPr>
              <a:t>caesar cipher</a:t>
            </a:r>
            <a:r>
              <a:rPr lang="en-AU" altLang="en-US">
                <a:latin typeface="Arial" panose="020B0604020202020204" pitchFamily="34" charset="0"/>
                <a:ea typeface="ＭＳ Ｐゴシック" panose="020B0600070205080204" pitchFamily="34" charset="-128"/>
              </a:rPr>
              <a:t>, not just those with shift 3.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AU"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C84BF70E-904C-ACB0-D1DF-3E7DA497FFA3}"/>
              </a:ext>
            </a:extLst>
          </p:cNvPr>
          <p:cNvSpPr>
            <a:spLocks noGrp="1" noChangeArrowheads="1"/>
          </p:cNvSpPr>
          <p:nvPr>
            <p:ph type="sldNum"/>
          </p:nvPr>
        </p:nvSpPr>
        <p:spPr>
          <a:ln/>
        </p:spPr>
        <p:txBody>
          <a:bodyPr/>
          <a:lstStyle/>
          <a:p>
            <a:fld id="{205C50F7-3EB7-884E-AC0F-563ED0A38BAD}" type="slidenum">
              <a:rPr lang="en-AU" altLang="en-US"/>
              <a:pPr/>
              <a:t>13</a:t>
            </a:fld>
            <a:endParaRPr lang="en-AU" altLang="en-US"/>
          </a:p>
        </p:txBody>
      </p:sp>
      <p:sp>
        <p:nvSpPr>
          <p:cNvPr id="88065" name="Text Box 1">
            <a:extLst>
              <a:ext uri="{FF2B5EF4-FFF2-40B4-BE49-F238E27FC236}">
                <a16:creationId xmlns:a16="http://schemas.microsoft.com/office/drawing/2014/main" id="{80BF744A-0F0C-6016-A77B-AE3CDE665A18}"/>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0C454CBC-AB2D-2246-A808-EF4E08523815}" type="slidenum">
              <a:rPr lang="en-US" altLang="en-US" sz="1200"/>
              <a:pPr algn="r">
                <a:buClrTx/>
                <a:buFontTx/>
                <a:buNone/>
              </a:pPr>
              <a:t>13</a:t>
            </a:fld>
            <a:endParaRPr lang="en-US" altLang="en-US" sz="1200"/>
          </a:p>
        </p:txBody>
      </p:sp>
      <p:sp>
        <p:nvSpPr>
          <p:cNvPr id="88066" name="Text Box 2">
            <a:extLst>
              <a:ext uri="{FF2B5EF4-FFF2-40B4-BE49-F238E27FC236}">
                <a16:creationId xmlns:a16="http://schemas.microsoft.com/office/drawing/2014/main" id="{2BFB3C6C-4E29-0776-19E1-6EECDCE840A1}"/>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8067" name="Text Box 3">
            <a:extLst>
              <a:ext uri="{FF2B5EF4-FFF2-40B4-BE49-F238E27FC236}">
                <a16:creationId xmlns:a16="http://schemas.microsoft.com/office/drawing/2014/main" id="{3D222198-DA02-E00D-82F0-50345CC0AAC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This mathematical description uses </a:t>
            </a:r>
            <a:r>
              <a:rPr lang="en-AU" altLang="en-US" b="1">
                <a:latin typeface="Arial" panose="020B0604020202020204" pitchFamily="34" charset="0"/>
                <a:ea typeface="ＭＳ Ｐゴシック" panose="020B0600070205080204" pitchFamily="34" charset="-128"/>
              </a:rPr>
              <a:t>modulo (clock) arithmetic</a:t>
            </a:r>
            <a:r>
              <a:rPr lang="en-AU" altLang="en-US">
                <a:latin typeface="Arial" panose="020B0604020202020204" pitchFamily="34" charset="0"/>
                <a:ea typeface="ＭＳ Ｐゴシック" panose="020B0600070205080204" pitchFamily="34" charset="-128"/>
              </a:rPr>
              <a:t>. Here, when you reach Z you go back to A and start again. Mod 26 implies that when you reach 26, you use 0 instead (ie the letter after Z, or 25 + 1 goes to A or 0).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Example: howdy (7,14,22,3,24) encrypted using key </a:t>
            </a:r>
            <a:r>
              <a:rPr lang="en-AU" altLang="en-US" i="1">
                <a:latin typeface="Arial" panose="020B0604020202020204" pitchFamily="34" charset="0"/>
                <a:ea typeface="ＭＳ Ｐゴシック" panose="020B0600070205080204" pitchFamily="34" charset="-128"/>
              </a:rPr>
              <a:t>f </a:t>
            </a:r>
            <a:r>
              <a:rPr lang="en-AU" altLang="en-US">
                <a:latin typeface="Arial" panose="020B0604020202020204" pitchFamily="34" charset="0"/>
                <a:ea typeface="ＭＳ Ｐゴシック" panose="020B0600070205080204" pitchFamily="34" charset="-128"/>
              </a:rPr>
              <a:t>(ie a shift of 5) is MTBID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BE65A257-833D-0692-4E99-FF947D548382}"/>
              </a:ext>
            </a:extLst>
          </p:cNvPr>
          <p:cNvSpPr>
            <a:spLocks noGrp="1" noChangeArrowheads="1"/>
          </p:cNvSpPr>
          <p:nvPr>
            <p:ph type="sldNum"/>
          </p:nvPr>
        </p:nvSpPr>
        <p:spPr>
          <a:ln/>
        </p:spPr>
        <p:txBody>
          <a:bodyPr/>
          <a:lstStyle/>
          <a:p>
            <a:fld id="{476B1C97-0EC9-5E4B-BB61-305713D0773B}" type="slidenum">
              <a:rPr lang="en-AU" altLang="en-US"/>
              <a:pPr/>
              <a:t>14</a:t>
            </a:fld>
            <a:endParaRPr lang="en-AU" altLang="en-US"/>
          </a:p>
        </p:txBody>
      </p:sp>
      <p:sp>
        <p:nvSpPr>
          <p:cNvPr id="89089" name="Text Box 1">
            <a:extLst>
              <a:ext uri="{FF2B5EF4-FFF2-40B4-BE49-F238E27FC236}">
                <a16:creationId xmlns:a16="http://schemas.microsoft.com/office/drawing/2014/main" id="{A388D938-65E3-6E56-B27F-D98B3AACB4DA}"/>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53A11830-3B4D-6441-9072-134305217228}" type="slidenum">
              <a:rPr lang="en-US" altLang="en-US" sz="1200"/>
              <a:pPr algn="r">
                <a:buClrTx/>
                <a:buFontTx/>
                <a:buNone/>
              </a:pPr>
              <a:t>14</a:t>
            </a:fld>
            <a:endParaRPr lang="en-US" altLang="en-US" sz="1200"/>
          </a:p>
        </p:txBody>
      </p:sp>
      <p:sp>
        <p:nvSpPr>
          <p:cNvPr id="89090" name="Text Box 2">
            <a:extLst>
              <a:ext uri="{FF2B5EF4-FFF2-40B4-BE49-F238E27FC236}">
                <a16:creationId xmlns:a16="http://schemas.microsoft.com/office/drawing/2014/main" id="{56DF3B48-6DA8-BD74-4099-540FD1186309}"/>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9091" name="Text Box 3">
            <a:extLst>
              <a:ext uri="{FF2B5EF4-FFF2-40B4-BE49-F238E27FC236}">
                <a16:creationId xmlns:a16="http://schemas.microsoft.com/office/drawing/2014/main" id="{72BE1DF1-98BD-90A2-2C61-F44B541C2B7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With a caesar cipher, there are only 26 possible keys, of which only 25 are of any use, since mapping A to A etc doesn't really obscure the message! Note this basic rule of cryptanalysis "check to ensure the cipher operator hasn't goofed and sent a plaintext message by mistake"!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Can try each of the keys (shifts) in turn, until can recognise the original message. </a:t>
            </a:r>
            <a:r>
              <a:rPr lang="en-US" altLang="en-US">
                <a:latin typeface="Arial" panose="020B0604020202020204" pitchFamily="34" charset="0"/>
                <a:ea typeface="ＭＳ Ｐゴシック" panose="020B0600070205080204" pitchFamily="34" charset="-128"/>
              </a:rPr>
              <a:t>See Stallings Fig 2.3 for example of search.</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Note: as mentioned before, do need to be able to </a:t>
            </a:r>
            <a:r>
              <a:rPr lang="en-AU" altLang="en-US" b="1">
                <a:latin typeface="Arial" panose="020B0604020202020204" pitchFamily="34" charset="0"/>
                <a:ea typeface="ＭＳ Ｐゴシック" panose="020B0600070205080204" pitchFamily="34" charset="-128"/>
              </a:rPr>
              <a:t>recognise</a:t>
            </a:r>
            <a:r>
              <a:rPr lang="en-AU" altLang="en-US">
                <a:latin typeface="Arial" panose="020B0604020202020204" pitchFamily="34" charset="0"/>
                <a:ea typeface="ＭＳ Ｐゴシック" panose="020B0600070205080204" pitchFamily="34" charset="-128"/>
              </a:rPr>
              <a:t> when have an original message (ie is it English or whatever). Usually easy for humans, hard for computers. Though if using say compressed data could be much harder.</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Example "GCUA VQ DTGCM" when broken gives "easy to break", with a shift of 2 (key C).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p:nvPr>
        </p:nvSpPr>
        <p:spPr/>
        <p:txBody>
          <a:bodyPr/>
          <a:lstStyle/>
          <a:p>
            <a:fld id="{54AC46DC-AE11-8F4F-A2BD-44CD9CDFB361}" type="slidenum">
              <a:rPr lang="en-AU" altLang="en-US" smtClean="0"/>
              <a:pPr/>
              <a:t>15</a:t>
            </a:fld>
            <a:endParaRPr lang="en-AU" altLang="en-US"/>
          </a:p>
        </p:txBody>
      </p:sp>
    </p:spTree>
    <p:extLst>
      <p:ext uri="{BB962C8B-B14F-4D97-AF65-F5344CB8AC3E}">
        <p14:creationId xmlns:p14="http://schemas.microsoft.com/office/powerpoint/2010/main" val="3997555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59B2F799-2437-FE11-FED4-D52CA564E1C2}"/>
              </a:ext>
            </a:extLst>
          </p:cNvPr>
          <p:cNvSpPr>
            <a:spLocks noGrp="1" noChangeArrowheads="1"/>
          </p:cNvSpPr>
          <p:nvPr>
            <p:ph type="sldNum"/>
          </p:nvPr>
        </p:nvSpPr>
        <p:spPr>
          <a:ln/>
        </p:spPr>
        <p:txBody>
          <a:bodyPr/>
          <a:lstStyle/>
          <a:p>
            <a:fld id="{0E15C465-26F7-4741-AB31-7249AD69E594}" type="slidenum">
              <a:rPr lang="en-AU" altLang="en-US"/>
              <a:pPr/>
              <a:t>16</a:t>
            </a:fld>
            <a:endParaRPr lang="en-AU" altLang="en-US"/>
          </a:p>
        </p:txBody>
      </p:sp>
      <p:sp>
        <p:nvSpPr>
          <p:cNvPr id="92161" name="Text Box 1">
            <a:extLst>
              <a:ext uri="{FF2B5EF4-FFF2-40B4-BE49-F238E27FC236}">
                <a16:creationId xmlns:a16="http://schemas.microsoft.com/office/drawing/2014/main" id="{140388B0-EC83-2D11-D0A1-E619F606683D}"/>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FC9C2ED7-B187-BB4A-AE95-9F94584E93D7}" type="slidenum">
              <a:rPr lang="en-US" altLang="en-US" sz="1200"/>
              <a:pPr algn="r">
                <a:buClrTx/>
                <a:buFontTx/>
                <a:buNone/>
              </a:pPr>
              <a:t>16</a:t>
            </a:fld>
            <a:endParaRPr lang="en-US" altLang="en-US" sz="1200"/>
          </a:p>
        </p:txBody>
      </p:sp>
      <p:sp>
        <p:nvSpPr>
          <p:cNvPr id="92162" name="Text Box 2">
            <a:extLst>
              <a:ext uri="{FF2B5EF4-FFF2-40B4-BE49-F238E27FC236}">
                <a16:creationId xmlns:a16="http://schemas.microsoft.com/office/drawing/2014/main" id="{A0BC167D-6822-1BDA-40A4-D40AE0E58853}"/>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3" name="Text Box 3">
            <a:extLst>
              <a:ext uri="{FF2B5EF4-FFF2-40B4-BE49-F238E27FC236}">
                <a16:creationId xmlns:a16="http://schemas.microsoft.com/office/drawing/2014/main" id="{57478C84-6EB6-207F-895C-8E68D2024AD6}"/>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With only 25 possible keys, the Caesar cipher is far from secure. A dramatic increase in the key space can be achieved by allowing an arbitrary substitution, where the translation alphabet can be any permutation of the 26 alphabetic characters. A permutation of a finite set of elements S is an ordered sequence of all the elements of S, with each element appearing exactly once. In general, there are </a:t>
            </a:r>
            <a:r>
              <a:rPr lang="en-US" altLang="en-US" i="1">
                <a:latin typeface="Arial" panose="020B0604020202020204" pitchFamily="34" charset="0"/>
                <a:cs typeface="Arial" panose="020B0604020202020204" pitchFamily="34" charset="0"/>
              </a:rPr>
              <a:t>n</a:t>
            </a:r>
            <a:r>
              <a:rPr lang="en-US" altLang="en-US">
                <a:latin typeface="Arial" panose="020B0604020202020204" pitchFamily="34" charset="0"/>
                <a:cs typeface="Arial" panose="020B0604020202020204" pitchFamily="34" charset="0"/>
              </a:rPr>
              <a:t>! permutations of a set of </a:t>
            </a:r>
            <a:r>
              <a:rPr lang="en-US" altLang="en-US" i="1">
                <a:latin typeface="Arial" panose="020B0604020202020204" pitchFamily="34" charset="0"/>
                <a:cs typeface="Arial" panose="020B0604020202020204" pitchFamily="34" charset="0"/>
              </a:rPr>
              <a:t>n</a:t>
            </a:r>
            <a:r>
              <a:rPr lang="en-US" altLang="en-US">
                <a:latin typeface="Arial" panose="020B0604020202020204" pitchFamily="34" charset="0"/>
                <a:cs typeface="Arial" panose="020B0604020202020204" pitchFamily="34" charset="0"/>
              </a:rPr>
              <a:t> elements.</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See text example of a translation alphabet, and an encrypted message using it.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09E59B87-0DAB-BBAD-74AC-EEF2B7CE5C25}"/>
              </a:ext>
            </a:extLst>
          </p:cNvPr>
          <p:cNvSpPr>
            <a:spLocks noGrp="1" noChangeArrowheads="1"/>
          </p:cNvSpPr>
          <p:nvPr>
            <p:ph type="sldNum"/>
          </p:nvPr>
        </p:nvSpPr>
        <p:spPr>
          <a:ln/>
        </p:spPr>
        <p:txBody>
          <a:bodyPr/>
          <a:lstStyle/>
          <a:p>
            <a:fld id="{4CAD6694-5693-9945-BDC4-73DBED921E9C}" type="slidenum">
              <a:rPr lang="en-AU" altLang="en-US"/>
              <a:pPr/>
              <a:t>17</a:t>
            </a:fld>
            <a:endParaRPr lang="en-AU" altLang="en-US"/>
          </a:p>
        </p:txBody>
      </p:sp>
      <p:sp>
        <p:nvSpPr>
          <p:cNvPr id="93185" name="Text Box 1">
            <a:extLst>
              <a:ext uri="{FF2B5EF4-FFF2-40B4-BE49-F238E27FC236}">
                <a16:creationId xmlns:a16="http://schemas.microsoft.com/office/drawing/2014/main" id="{1A4F5DC9-1EBD-0213-F8E1-84A286D5A82B}"/>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66F4EA63-D3D1-1C45-B4C1-96D5DC0BA1D3}" type="slidenum">
              <a:rPr lang="en-US" altLang="en-US" sz="1200"/>
              <a:pPr algn="r">
                <a:buClrTx/>
                <a:buFontTx/>
                <a:buNone/>
              </a:pPr>
              <a:t>17</a:t>
            </a:fld>
            <a:endParaRPr lang="en-US" altLang="en-US" sz="1200"/>
          </a:p>
        </p:txBody>
      </p:sp>
      <p:sp>
        <p:nvSpPr>
          <p:cNvPr id="93186" name="Text Box 2">
            <a:extLst>
              <a:ext uri="{FF2B5EF4-FFF2-40B4-BE49-F238E27FC236}">
                <a16:creationId xmlns:a16="http://schemas.microsoft.com/office/drawing/2014/main" id="{39B6CF42-4F9A-5B43-743F-A00AF6023714}"/>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3187" name="Text Box 3">
            <a:extLst>
              <a:ext uri="{FF2B5EF4-FFF2-40B4-BE49-F238E27FC236}">
                <a16:creationId xmlns:a16="http://schemas.microsoft.com/office/drawing/2014/main" id="{3417F114-5CE1-F86A-0F2E-2FC47564C91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Note that even given the very large number of keys, being </a:t>
            </a:r>
            <a:r>
              <a:rPr lang="en-US" altLang="en-US">
                <a:ea typeface="ＭＳ Ｐゴシック" panose="020B0600070205080204" pitchFamily="34" charset="-128"/>
              </a:rPr>
              <a:t>10 orders of magnitude greater than the key space for DES,</a:t>
            </a:r>
            <a:r>
              <a:rPr lang="en-US" altLang="en-US">
                <a:latin typeface="Arial" panose="020B0604020202020204" pitchFamily="34" charset="0"/>
                <a:ea typeface="ＭＳ Ｐゴシック" panose="020B0600070205080204" pitchFamily="34" charset="-128"/>
              </a:rPr>
              <a:t> the </a:t>
            </a:r>
            <a:r>
              <a:rPr lang="en-AU" altLang="en-US">
                <a:latin typeface="Arial" panose="020B0604020202020204" pitchFamily="34" charset="0"/>
                <a:ea typeface="ＭＳ Ｐゴシック" panose="020B0600070205080204" pitchFamily="34" charset="-128"/>
              </a:rPr>
              <a:t>monoalphabetic substitution cipher is not secure, because it does not sufficiently obscure the underlying language characteristics.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AF1D2B0B-03B8-5CEF-B166-EF0A65AE3698}"/>
              </a:ext>
            </a:extLst>
          </p:cNvPr>
          <p:cNvSpPr>
            <a:spLocks noGrp="1" noChangeArrowheads="1"/>
          </p:cNvSpPr>
          <p:nvPr>
            <p:ph type="sldNum"/>
          </p:nvPr>
        </p:nvSpPr>
        <p:spPr>
          <a:ln/>
        </p:spPr>
        <p:txBody>
          <a:bodyPr/>
          <a:lstStyle/>
          <a:p>
            <a:fld id="{ED9E2224-F802-4042-BFD8-0F6950B39975}" type="slidenum">
              <a:rPr lang="en-AU" altLang="en-US"/>
              <a:pPr/>
              <a:t>18</a:t>
            </a:fld>
            <a:endParaRPr lang="en-AU" altLang="en-US"/>
          </a:p>
        </p:txBody>
      </p:sp>
      <p:sp>
        <p:nvSpPr>
          <p:cNvPr id="94209" name="Text Box 1">
            <a:extLst>
              <a:ext uri="{FF2B5EF4-FFF2-40B4-BE49-F238E27FC236}">
                <a16:creationId xmlns:a16="http://schemas.microsoft.com/office/drawing/2014/main" id="{4EE01C71-C9C6-A1E9-DAD2-D49733EEF3DA}"/>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DAE8E6F3-97C5-614D-8349-71188AF57BCE}" type="slidenum">
              <a:rPr lang="en-US" altLang="en-US" sz="1200"/>
              <a:pPr algn="r">
                <a:buClrTx/>
                <a:buFontTx/>
                <a:buNone/>
              </a:pPr>
              <a:t>18</a:t>
            </a:fld>
            <a:endParaRPr lang="en-US" altLang="en-US" sz="1200"/>
          </a:p>
        </p:txBody>
      </p:sp>
      <p:sp>
        <p:nvSpPr>
          <p:cNvPr id="94210" name="Text Box 2">
            <a:extLst>
              <a:ext uri="{FF2B5EF4-FFF2-40B4-BE49-F238E27FC236}">
                <a16:creationId xmlns:a16="http://schemas.microsoft.com/office/drawing/2014/main" id="{CA291B96-8B15-D15C-E097-AF3819174AB5}"/>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1" name="Text Box 3">
            <a:extLst>
              <a:ext uri="{FF2B5EF4-FFF2-40B4-BE49-F238E27FC236}">
                <a16:creationId xmlns:a16="http://schemas.microsoft.com/office/drawing/2014/main" id="{E548A0A0-5F72-FAD5-113F-C20945F0C6E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As the example shows, we don't actually need all the letters in order to understand written English text. Here vowels were removed, but they're not the only redundancy. cf written Hebrew has no vowels for same reason. Are usually familiar with "party conversations", can hear one person speaking out of hubbub of many, again because of redundancy in aural language also. This redundancy is also the reason we can compress text files, the computer can derive a more compact encoding without losing any information. Basic idea is to count the relative frequencies of letters, and note the resulting pattern.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68E0E62B-C8D3-1A1C-F966-2CD11E903F31}"/>
              </a:ext>
            </a:extLst>
          </p:cNvPr>
          <p:cNvSpPr>
            <a:spLocks noGrp="1" noChangeArrowheads="1"/>
          </p:cNvSpPr>
          <p:nvPr>
            <p:ph type="sldNum"/>
          </p:nvPr>
        </p:nvSpPr>
        <p:spPr>
          <a:ln/>
        </p:spPr>
        <p:txBody>
          <a:bodyPr/>
          <a:lstStyle/>
          <a:p>
            <a:fld id="{3EAADE77-164D-DD4C-B940-0151BA60282E}" type="slidenum">
              <a:rPr lang="en-AU" altLang="en-US"/>
              <a:pPr/>
              <a:t>19</a:t>
            </a:fld>
            <a:endParaRPr lang="en-AU" altLang="en-US"/>
          </a:p>
        </p:txBody>
      </p:sp>
      <p:sp>
        <p:nvSpPr>
          <p:cNvPr id="95233" name="Text Box 1">
            <a:extLst>
              <a:ext uri="{FF2B5EF4-FFF2-40B4-BE49-F238E27FC236}">
                <a16:creationId xmlns:a16="http://schemas.microsoft.com/office/drawing/2014/main" id="{47405EAE-3BF0-B5D6-D870-9CFC7965047B}"/>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FA403F07-E65F-2B47-852B-D8DA7F352B8A}" type="slidenum">
              <a:rPr lang="en-US" altLang="en-US" sz="1200"/>
              <a:pPr algn="r">
                <a:buClrTx/>
                <a:buFontTx/>
                <a:buNone/>
              </a:pPr>
              <a:t>19</a:t>
            </a:fld>
            <a:endParaRPr lang="en-US" altLang="en-US" sz="1200"/>
          </a:p>
        </p:txBody>
      </p:sp>
      <p:sp>
        <p:nvSpPr>
          <p:cNvPr id="95234" name="Text Box 2">
            <a:extLst>
              <a:ext uri="{FF2B5EF4-FFF2-40B4-BE49-F238E27FC236}">
                <a16:creationId xmlns:a16="http://schemas.microsoft.com/office/drawing/2014/main" id="{C3BB874C-0A91-85F9-E0DE-0AD633C397D3}"/>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5235" name="Text Box 3">
            <a:extLst>
              <a:ext uri="{FF2B5EF4-FFF2-40B4-BE49-F238E27FC236}">
                <a16:creationId xmlns:a16="http://schemas.microsoft.com/office/drawing/2014/main" id="{C1EEC55A-8D7C-CAEE-5517-15D9B1069DC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Note that all human languages have varying letter frequencies, though the number of letters and their frequencies varies. Stallings Figure 2.5 shows English letter frequencies. </a:t>
            </a:r>
            <a:r>
              <a:rPr lang="en-AU" altLang="en-US">
                <a:latin typeface="Arial" panose="020B0604020202020204" pitchFamily="34" charset="0"/>
                <a:cs typeface="Arial" panose="020B0604020202020204" pitchFamily="34" charset="0"/>
              </a:rPr>
              <a:t>Seberry &amp; Pieprzyk, </a:t>
            </a:r>
            <a:r>
              <a:rPr lang="en-US" altLang="en-US">
                <a:latin typeface="Arial" panose="020B0604020202020204" pitchFamily="34" charset="0"/>
                <a:cs typeface="Arial" panose="020B0604020202020204" pitchFamily="34" charset="0"/>
              </a:rPr>
              <a:t>"Cryptography - An Introduction to Computer Security", Prentice-Hall 1989, </a:t>
            </a:r>
            <a:r>
              <a:rPr lang="en-AU" altLang="en-US">
                <a:latin typeface="Arial" panose="020B0604020202020204" pitchFamily="34" charset="0"/>
                <a:cs typeface="Arial" panose="020B0604020202020204" pitchFamily="34" charset="0"/>
              </a:rPr>
              <a:t>Appendix A has letter frequency graphs for 20 languages (most European &amp; Japanese &amp; Malay). Also useful are tables of common </a:t>
            </a:r>
            <a:r>
              <a:rPr lang="en-US" altLang="en-US">
                <a:latin typeface="Arial" panose="020B0604020202020204" pitchFamily="34" charset="0"/>
                <a:cs typeface="Arial" panose="020B0604020202020204" pitchFamily="34" charset="0"/>
              </a:rPr>
              <a:t>two-letter combinations, known as digrams, and three-letter combinations, known as trigrams.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1089DB7F-F0B6-0214-3663-74F2B245D131}"/>
              </a:ext>
            </a:extLst>
          </p:cNvPr>
          <p:cNvSpPr>
            <a:spLocks noGrp="1" noChangeArrowheads="1"/>
          </p:cNvSpPr>
          <p:nvPr>
            <p:ph type="sldNum"/>
          </p:nvPr>
        </p:nvSpPr>
        <p:spPr>
          <a:ln/>
        </p:spPr>
        <p:txBody>
          <a:bodyPr/>
          <a:lstStyle/>
          <a:p>
            <a:fld id="{4288D54A-3303-9E46-BC22-49CDA810E44A}" type="slidenum">
              <a:rPr lang="en-AU" altLang="en-US"/>
              <a:pPr/>
              <a:t>20</a:t>
            </a:fld>
            <a:endParaRPr lang="en-AU" altLang="en-US"/>
          </a:p>
        </p:txBody>
      </p:sp>
      <p:sp>
        <p:nvSpPr>
          <p:cNvPr id="96257" name="Text Box 1">
            <a:extLst>
              <a:ext uri="{FF2B5EF4-FFF2-40B4-BE49-F238E27FC236}">
                <a16:creationId xmlns:a16="http://schemas.microsoft.com/office/drawing/2014/main" id="{7BA9E722-A02D-AB86-8E54-0D713BC6C7C9}"/>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BF5F220B-6A96-3F4C-AD38-4BD6FD8C1D7B}" type="slidenum">
              <a:rPr lang="en-US" altLang="en-US" sz="1200"/>
              <a:pPr algn="r">
                <a:buClrTx/>
                <a:buFontTx/>
                <a:buNone/>
              </a:pPr>
              <a:t>20</a:t>
            </a:fld>
            <a:endParaRPr lang="en-US" altLang="en-US" sz="1200"/>
          </a:p>
        </p:txBody>
      </p:sp>
      <p:sp>
        <p:nvSpPr>
          <p:cNvPr id="96258" name="Text Box 2">
            <a:extLst>
              <a:ext uri="{FF2B5EF4-FFF2-40B4-BE49-F238E27FC236}">
                <a16:creationId xmlns:a16="http://schemas.microsoft.com/office/drawing/2014/main" id="{5EDA6488-8206-7B8E-4450-FE0AE1259206}"/>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6259" name="Text Box 3">
            <a:extLst>
              <a:ext uri="{FF2B5EF4-FFF2-40B4-BE49-F238E27FC236}">
                <a16:creationId xmlns:a16="http://schemas.microsoft.com/office/drawing/2014/main" id="{32DD16C7-0CAE-2A25-B2B1-0EDCD1AD8A9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a:ea typeface="AR PL SungtiL GB" charset="0"/>
              <a:cs typeface="AR PL SungtiL GB"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14957D6C-11F1-359A-ABB7-3C490338E7E5}"/>
              </a:ext>
            </a:extLst>
          </p:cNvPr>
          <p:cNvSpPr>
            <a:spLocks noGrp="1" noChangeArrowheads="1"/>
          </p:cNvSpPr>
          <p:nvPr>
            <p:ph type="sldNum"/>
          </p:nvPr>
        </p:nvSpPr>
        <p:spPr>
          <a:ln/>
        </p:spPr>
        <p:txBody>
          <a:bodyPr/>
          <a:lstStyle/>
          <a:p>
            <a:fld id="{AEA4D874-8A31-C343-970E-17133FE25966}" type="slidenum">
              <a:rPr lang="en-AU" altLang="en-US"/>
              <a:pPr/>
              <a:t>21</a:t>
            </a:fld>
            <a:endParaRPr lang="en-AU" altLang="en-US"/>
          </a:p>
        </p:txBody>
      </p:sp>
      <p:sp>
        <p:nvSpPr>
          <p:cNvPr id="97281" name="Text Box 1">
            <a:extLst>
              <a:ext uri="{FF2B5EF4-FFF2-40B4-BE49-F238E27FC236}">
                <a16:creationId xmlns:a16="http://schemas.microsoft.com/office/drawing/2014/main" id="{353083FC-EA58-4F1D-90E3-87B90AC05A89}"/>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C46DC5D6-875A-6343-ADA7-D3664EAC5747}" type="slidenum">
              <a:rPr lang="en-US" altLang="en-US" sz="1200"/>
              <a:pPr algn="r">
                <a:buClrTx/>
                <a:buFontTx/>
                <a:buNone/>
              </a:pPr>
              <a:t>21</a:t>
            </a:fld>
            <a:endParaRPr lang="en-US" altLang="en-US" sz="1200"/>
          </a:p>
        </p:txBody>
      </p:sp>
      <p:sp>
        <p:nvSpPr>
          <p:cNvPr id="97282" name="Text Box 2">
            <a:extLst>
              <a:ext uri="{FF2B5EF4-FFF2-40B4-BE49-F238E27FC236}">
                <a16:creationId xmlns:a16="http://schemas.microsoft.com/office/drawing/2014/main" id="{191F751C-5EA5-0927-C4A7-BF780FA87BC3}"/>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7283" name="Text Box 3">
            <a:extLst>
              <a:ext uri="{FF2B5EF4-FFF2-40B4-BE49-F238E27FC236}">
                <a16:creationId xmlns:a16="http://schemas.microsoft.com/office/drawing/2014/main" id="{7EDE0CBB-3349-A2B0-6FAF-1E6A44F5A20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Note that cipher-0 frequency histogram is the same as English only shifted over – must be a rotational cipher!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084CD7C2-02C4-D546-FB18-B2ED2187C076}"/>
              </a:ext>
            </a:extLst>
          </p:cNvPr>
          <p:cNvSpPr>
            <a:spLocks noGrp="1" noChangeArrowheads="1"/>
          </p:cNvSpPr>
          <p:nvPr>
            <p:ph type="sldNum"/>
          </p:nvPr>
        </p:nvSpPr>
        <p:spPr>
          <a:ln/>
        </p:spPr>
        <p:txBody>
          <a:bodyPr/>
          <a:lstStyle/>
          <a:p>
            <a:fld id="{0CFF6254-B048-AD4B-8869-59D65978D609}" type="slidenum">
              <a:rPr lang="en-AU" altLang="en-US"/>
              <a:pPr/>
              <a:t>22</a:t>
            </a:fld>
            <a:endParaRPr lang="en-AU" altLang="en-US"/>
          </a:p>
        </p:txBody>
      </p:sp>
      <p:sp>
        <p:nvSpPr>
          <p:cNvPr id="98305" name="Text Box 1">
            <a:extLst>
              <a:ext uri="{FF2B5EF4-FFF2-40B4-BE49-F238E27FC236}">
                <a16:creationId xmlns:a16="http://schemas.microsoft.com/office/drawing/2014/main" id="{609AB6D5-3826-60E4-CD84-08422CECA554}"/>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CA32A51E-0080-CB47-8186-F48C0E0CC538}" type="slidenum">
              <a:rPr lang="en-US" altLang="en-US" sz="1200"/>
              <a:pPr algn="r">
                <a:buClrTx/>
                <a:buFontTx/>
                <a:buNone/>
              </a:pPr>
              <a:t>22</a:t>
            </a:fld>
            <a:endParaRPr lang="en-US" altLang="en-US" sz="1200"/>
          </a:p>
        </p:txBody>
      </p:sp>
      <p:sp>
        <p:nvSpPr>
          <p:cNvPr id="98306" name="Text Box 2">
            <a:extLst>
              <a:ext uri="{FF2B5EF4-FFF2-40B4-BE49-F238E27FC236}">
                <a16:creationId xmlns:a16="http://schemas.microsoft.com/office/drawing/2014/main" id="{38A75107-8237-3F5D-48CB-390776B83721}"/>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8307" name="Text Box 3">
            <a:extLst>
              <a:ext uri="{FF2B5EF4-FFF2-40B4-BE49-F238E27FC236}">
                <a16:creationId xmlns:a16="http://schemas.microsoft.com/office/drawing/2014/main" id="{C1225895-9357-E87F-AC5A-DB878D815BA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Not the same histogram only shifted – not a rotational cipher.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4F841D5A-AFB1-552E-11F9-D92DE5BE5081}"/>
              </a:ext>
            </a:extLst>
          </p:cNvPr>
          <p:cNvSpPr>
            <a:spLocks noGrp="1" noChangeArrowheads="1"/>
          </p:cNvSpPr>
          <p:nvPr>
            <p:ph type="sldNum"/>
          </p:nvPr>
        </p:nvSpPr>
        <p:spPr>
          <a:ln/>
        </p:spPr>
        <p:txBody>
          <a:bodyPr/>
          <a:lstStyle/>
          <a:p>
            <a:fld id="{7DA19DB6-4C2F-644B-8616-159E39E30B2B}" type="slidenum">
              <a:rPr lang="en-AU" altLang="en-US"/>
              <a:pPr/>
              <a:t>23</a:t>
            </a:fld>
            <a:endParaRPr lang="en-AU" altLang="en-US"/>
          </a:p>
        </p:txBody>
      </p:sp>
      <p:sp>
        <p:nvSpPr>
          <p:cNvPr id="99329" name="Text Box 1">
            <a:extLst>
              <a:ext uri="{FF2B5EF4-FFF2-40B4-BE49-F238E27FC236}">
                <a16:creationId xmlns:a16="http://schemas.microsoft.com/office/drawing/2014/main" id="{414BD897-AF02-33FD-C76E-78E0B1903B89}"/>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97D8066D-7EFA-5B4C-BA1D-04D1273E7321}" type="slidenum">
              <a:rPr lang="en-US" altLang="en-US" sz="1200"/>
              <a:pPr algn="r">
                <a:buClrTx/>
                <a:buFontTx/>
                <a:buNone/>
              </a:pPr>
              <a:t>23</a:t>
            </a:fld>
            <a:endParaRPr lang="en-US" altLang="en-US" sz="1200"/>
          </a:p>
        </p:txBody>
      </p:sp>
      <p:sp>
        <p:nvSpPr>
          <p:cNvPr id="99330" name="Text Box 2">
            <a:extLst>
              <a:ext uri="{FF2B5EF4-FFF2-40B4-BE49-F238E27FC236}">
                <a16:creationId xmlns:a16="http://schemas.microsoft.com/office/drawing/2014/main" id="{38C6A92C-5467-C94F-C64E-4C05AA83CD0F}"/>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9331" name="Text Box 3">
            <a:extLst>
              <a:ext uri="{FF2B5EF4-FFF2-40B4-BE49-F238E27FC236}">
                <a16:creationId xmlns:a16="http://schemas.microsoft.com/office/drawing/2014/main" id="{29DE16B8-5693-B6AA-59FF-F25C70FE910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Not the same histogram only shifted, but if sorted, the histograms would be the same – must be mono-alphabetic cipher!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6E95857A-5618-4237-2DF7-C48E6CBEFDB3}"/>
              </a:ext>
            </a:extLst>
          </p:cNvPr>
          <p:cNvSpPr>
            <a:spLocks noGrp="1" noChangeArrowheads="1"/>
          </p:cNvSpPr>
          <p:nvPr>
            <p:ph type="sldNum"/>
          </p:nvPr>
        </p:nvSpPr>
        <p:spPr>
          <a:ln/>
        </p:spPr>
        <p:txBody>
          <a:bodyPr/>
          <a:lstStyle/>
          <a:p>
            <a:fld id="{47A55426-3A81-8143-B0C8-A7C0AD7C923E}" type="slidenum">
              <a:rPr lang="en-AU" altLang="en-US"/>
              <a:pPr/>
              <a:t>24</a:t>
            </a:fld>
            <a:endParaRPr lang="en-AU" altLang="en-US"/>
          </a:p>
        </p:txBody>
      </p:sp>
      <p:sp>
        <p:nvSpPr>
          <p:cNvPr id="100353" name="Text Box 1">
            <a:extLst>
              <a:ext uri="{FF2B5EF4-FFF2-40B4-BE49-F238E27FC236}">
                <a16:creationId xmlns:a16="http://schemas.microsoft.com/office/drawing/2014/main" id="{7725AD0B-D83D-3DFA-2C89-9A3B6E8F3C0C}"/>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DCF4D61B-35B7-684A-B499-07DD447A4D54}" type="slidenum">
              <a:rPr lang="en-US" altLang="en-US" sz="1200"/>
              <a:pPr algn="r">
                <a:buClrTx/>
                <a:buFontTx/>
                <a:buNone/>
              </a:pPr>
              <a:t>24</a:t>
            </a:fld>
            <a:endParaRPr lang="en-US" altLang="en-US" sz="1200"/>
          </a:p>
        </p:txBody>
      </p:sp>
      <p:sp>
        <p:nvSpPr>
          <p:cNvPr id="100354" name="Text Box 2">
            <a:extLst>
              <a:ext uri="{FF2B5EF4-FFF2-40B4-BE49-F238E27FC236}">
                <a16:creationId xmlns:a16="http://schemas.microsoft.com/office/drawing/2014/main" id="{4C0B20A5-6719-40A8-7AE2-89B383CC7BB1}"/>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0355" name="Text Box 3">
            <a:extLst>
              <a:ext uri="{FF2B5EF4-FFF2-40B4-BE49-F238E27FC236}">
                <a16:creationId xmlns:a16="http://schemas.microsoft.com/office/drawing/2014/main" id="{69115BC4-C381-AAE8-08B3-47F302544E4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cs typeface="Arial" panose="020B0604020202020204" pitchFamily="34" charset="0"/>
              </a:rPr>
              <a:t>The simplicity and strength of the monoalphabetic substitution cipher meant it dominated cryptographic use for the first millenium AD. It was broken by Arabic scientists. The earliest known description is in Abu al-Kindi's "A Manuscript on Deciphering Cryptographic Messages", published in the 9th century but only rediscovered in 1987 in Istanbul, but other later works also attest to their knowledge of the field. </a:t>
            </a:r>
            <a:r>
              <a:rPr lang="en-US" altLang="en-US">
                <a:latin typeface="Arial" panose="020B0604020202020204" pitchFamily="34" charset="0"/>
                <a:cs typeface="Arial" panose="020B0604020202020204" pitchFamily="34" charset="0"/>
              </a:rPr>
              <a:t>Monoalphabetic ciphers are easy to break because they reflect the frequency data of the original alphabet. The cryptanalyst looks for a mapping between the observed pattern in the ciphertext, and the known source language letter frequencies. If English, look for </a:t>
            </a:r>
            <a:r>
              <a:rPr lang="en-AU" altLang="en-US">
                <a:latin typeface="Arial" panose="020B0604020202020204" pitchFamily="34" charset="0"/>
                <a:cs typeface="Arial" panose="020B0604020202020204" pitchFamily="34" charset="0"/>
              </a:rPr>
              <a:t>peaks at: A-E-I triple, NO pair, RST triple, and troughs at: JK, X-Z.</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Monoalphabetic ciphers are easy to break because they reflect the frequency data of the original alphabet. </a:t>
            </a:r>
          </a:p>
          <a:p>
            <a:pPr marL="914400" lvl="1" indent="0"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AU" altLang="en-US">
              <a:latin typeface="Arial" panose="020B0604020202020204" pitchFamily="34" charset="0"/>
              <a:cs typeface="Arial" panose="020B0604020202020204" pitchFamily="34" charset="0"/>
            </a:endParaRP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AU" altLang="en-US">
              <a:latin typeface="Arial" panose="020B0604020202020204" pitchFamily="34" charset="0"/>
              <a:cs typeface="Arial" panose="020B0604020202020204" pitchFamily="34" charset="0"/>
            </a:endParaRP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cs typeface="Arial" panose="020B0604020202020204" pitchFamily="34" charset="0"/>
              </a:rPr>
              <a:t>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22ADD67A-0725-3460-00E7-FDA8E02ACE39}"/>
              </a:ext>
            </a:extLst>
          </p:cNvPr>
          <p:cNvSpPr>
            <a:spLocks noGrp="1" noChangeArrowheads="1"/>
          </p:cNvSpPr>
          <p:nvPr>
            <p:ph type="sldNum"/>
          </p:nvPr>
        </p:nvSpPr>
        <p:spPr>
          <a:ln/>
        </p:spPr>
        <p:txBody>
          <a:bodyPr/>
          <a:lstStyle/>
          <a:p>
            <a:fld id="{D2846CB5-6B75-8148-92B9-1034326B0773}" type="slidenum">
              <a:rPr lang="en-AU" altLang="en-US"/>
              <a:pPr/>
              <a:t>25</a:t>
            </a:fld>
            <a:endParaRPr lang="en-AU" altLang="en-US"/>
          </a:p>
        </p:txBody>
      </p:sp>
      <p:sp>
        <p:nvSpPr>
          <p:cNvPr id="101377" name="Text Box 1">
            <a:extLst>
              <a:ext uri="{FF2B5EF4-FFF2-40B4-BE49-F238E27FC236}">
                <a16:creationId xmlns:a16="http://schemas.microsoft.com/office/drawing/2014/main" id="{C57B5F63-BF46-08BB-1119-B4CA7997B681}"/>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4FA97241-D5A4-084D-9ADE-FCED73DD2DEA}" type="slidenum">
              <a:rPr lang="en-US" altLang="en-US" sz="1200"/>
              <a:pPr algn="r">
                <a:buClrTx/>
                <a:buFontTx/>
                <a:buNone/>
              </a:pPr>
              <a:t>25</a:t>
            </a:fld>
            <a:endParaRPr lang="en-US" altLang="en-US" sz="1200"/>
          </a:p>
        </p:txBody>
      </p:sp>
      <p:sp>
        <p:nvSpPr>
          <p:cNvPr id="101378" name="Text Box 2">
            <a:extLst>
              <a:ext uri="{FF2B5EF4-FFF2-40B4-BE49-F238E27FC236}">
                <a16:creationId xmlns:a16="http://schemas.microsoft.com/office/drawing/2014/main" id="{E330087F-4BB4-F2B1-DDD2-48BAEB1EF605}"/>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1379" name="Text Box 3">
            <a:extLst>
              <a:ext uri="{FF2B5EF4-FFF2-40B4-BE49-F238E27FC236}">
                <a16:creationId xmlns:a16="http://schemas.microsoft.com/office/drawing/2014/main" id="{BBD36EED-7140-063C-4D56-CCBB08D5ADD9}"/>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Illustrate the process with this example from the text in Stallings section 2.2. Comparing letter frequency breakdown with Figure 2.5, it seems likely that cipher letters P and Z are the equivalents of plain letters e and t, but it is not certain which is which. The letters S, U, O, M, and H are all of relatively high frequency and probably correspond to plain letters from the set {a, h, i, n, o, r, s}. The letters with the lowest frequencies (namely, A, B, G, Y, I, J) are likely included in the set {b, j, k, q, v, x, z}. A powerful tool is to look at the frequency of two-letter combinations, known as digrams. A table similar to Figure 2.5 could be drawn up showing the relative frequency of digrams. The most common such digram is th. In our ciphertext, the most common digram is ZW, which appears three times. So we make the correspondence of Z with t and W with h. Then, by our earlier hypothesis, we can equate P with e. Now notice that the sequence ZWP appears in the ciphertext, and we can translate that sequence as "the." This is the most frequent trigram (three- letter combination) in English, which seems to indicate that we are on the right track. Next, notice the sequence ZWSZ in the first line. We do not know that these four letters form a complete word, but if they do, it is of the form th_t. If so, S equates with a. Only four letters have been identified, but already we have quite a bit of the message. Continued analysis of frequencies plus trial and error should easily yield a solution from this point. The complete plaintext, with spaces added between words, is shown on slide.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F6A21028-8E6A-3637-2CAC-8CD6A75FFF6C}"/>
              </a:ext>
            </a:extLst>
          </p:cNvPr>
          <p:cNvSpPr>
            <a:spLocks noGrp="1" noChangeArrowheads="1"/>
          </p:cNvSpPr>
          <p:nvPr>
            <p:ph type="sldNum"/>
          </p:nvPr>
        </p:nvSpPr>
        <p:spPr>
          <a:ln/>
        </p:spPr>
        <p:txBody>
          <a:bodyPr/>
          <a:lstStyle/>
          <a:p>
            <a:fld id="{FE43DE99-AF56-3045-A397-29F189B643E2}" type="slidenum">
              <a:rPr lang="en-AU" altLang="en-US"/>
              <a:pPr/>
              <a:t>26</a:t>
            </a:fld>
            <a:endParaRPr lang="en-AU" altLang="en-US"/>
          </a:p>
        </p:txBody>
      </p:sp>
      <p:sp>
        <p:nvSpPr>
          <p:cNvPr id="102401" name="Text Box 1">
            <a:extLst>
              <a:ext uri="{FF2B5EF4-FFF2-40B4-BE49-F238E27FC236}">
                <a16:creationId xmlns:a16="http://schemas.microsoft.com/office/drawing/2014/main" id="{6E43D7F3-283A-746B-53FC-911A99138135}"/>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9A2FD95C-9C4A-594C-B80B-EBB551435F9B}" type="slidenum">
              <a:rPr lang="en-US" altLang="en-US" sz="1200"/>
              <a:pPr algn="r">
                <a:buClrTx/>
                <a:buFontTx/>
                <a:buNone/>
              </a:pPr>
              <a:t>26</a:t>
            </a:fld>
            <a:endParaRPr lang="en-US" altLang="en-US" sz="1200"/>
          </a:p>
        </p:txBody>
      </p:sp>
      <p:sp>
        <p:nvSpPr>
          <p:cNvPr id="102402" name="Text Box 2">
            <a:extLst>
              <a:ext uri="{FF2B5EF4-FFF2-40B4-BE49-F238E27FC236}">
                <a16:creationId xmlns:a16="http://schemas.microsoft.com/office/drawing/2014/main" id="{51CE9EE7-7A45-CEDA-FD36-DF923D4633EA}"/>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03" name="Text Box 3">
            <a:extLst>
              <a:ext uri="{FF2B5EF4-FFF2-40B4-BE49-F238E27FC236}">
                <a16:creationId xmlns:a16="http://schemas.microsoft.com/office/drawing/2014/main" id="{BB0B7CCA-BBBD-4A04-ADDF-634AACEB51D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Illustrate the process with this example from the text in Stallings section 2.2. Comparing letter frequency breakdown with Figure 2.5, it seems likely that cipher letters P and Z are the equivalents of plain letters e and t, but it is not certain which is which. The letters S, U, O, M, and H are all of relatively high frequency and probably correspond to plain letters from the set {a, h, i, n, o, r, s}. The letters with the lowest frequencies (namely, A, B, G, Y, I, J) are likely included in the set {b, j, k, q, v, x, z}. A powerful tool is to look at the frequency of two-letter combinations, known as digrams. A table similar to Figure 2.5 could be drawn up showing the relative frequency of digrams. The most common such digram is th. In our ciphertext, the most common digram is ZW, which appears three times. So we make the correspondence of Z with t and W with h. Then, by our earlier hypothesis, we can equate P with e. Now notice that the sequence ZWP appears in the ciphertext, and we can translate that sequence as "the." This is the most frequent trigram (three- letter combination) in English, which seems to indicate that we are on the right track. Next, notice the sequence ZWSZ in the first line. We do not know that these four letters form a complete word, but if they do, it is of the form th_t. If so, S equates with a. Only four letters have been identified, but already we have quite a bit of the message. Continued analysis of frequencies plus trial and error should easily yield a solution from this point. The complete plaintext, with spaces added between words, is shown on slide.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B340F022-0EA1-341F-E40F-6B85B658610B}"/>
              </a:ext>
            </a:extLst>
          </p:cNvPr>
          <p:cNvSpPr>
            <a:spLocks noGrp="1" noChangeArrowheads="1"/>
          </p:cNvSpPr>
          <p:nvPr>
            <p:ph type="sldNum"/>
          </p:nvPr>
        </p:nvSpPr>
        <p:spPr>
          <a:ln/>
        </p:spPr>
        <p:txBody>
          <a:bodyPr/>
          <a:lstStyle/>
          <a:p>
            <a:fld id="{E0A4A4B4-120F-5F48-B157-DE4279217409}" type="slidenum">
              <a:rPr lang="en-AU" altLang="en-US"/>
              <a:pPr/>
              <a:t>27</a:t>
            </a:fld>
            <a:endParaRPr lang="en-AU" altLang="en-US"/>
          </a:p>
        </p:txBody>
      </p:sp>
      <p:sp>
        <p:nvSpPr>
          <p:cNvPr id="90113" name="Text Box 1">
            <a:extLst>
              <a:ext uri="{FF2B5EF4-FFF2-40B4-BE49-F238E27FC236}">
                <a16:creationId xmlns:a16="http://schemas.microsoft.com/office/drawing/2014/main" id="{B0393C4E-2AB1-18D1-539D-72B38C8A9F39}"/>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670FA480-3A57-174C-8976-5EC3FC0C26C0}" type="slidenum">
              <a:rPr lang="en-US" altLang="en-US" sz="1200"/>
              <a:pPr algn="r">
                <a:buClrTx/>
                <a:buFontTx/>
                <a:buNone/>
              </a:pPr>
              <a:t>27</a:t>
            </a:fld>
            <a:endParaRPr lang="en-US" altLang="en-US" sz="1200"/>
          </a:p>
        </p:txBody>
      </p:sp>
      <p:sp>
        <p:nvSpPr>
          <p:cNvPr id="90114" name="Text Box 2">
            <a:extLst>
              <a:ext uri="{FF2B5EF4-FFF2-40B4-BE49-F238E27FC236}">
                <a16:creationId xmlns:a16="http://schemas.microsoft.com/office/drawing/2014/main" id="{E5D22AD0-B66E-4313-BADB-729B859B4A14}"/>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5" name="Text Box 3">
            <a:extLst>
              <a:ext uri="{FF2B5EF4-FFF2-40B4-BE49-F238E27FC236}">
                <a16:creationId xmlns:a16="http://schemas.microsoft.com/office/drawing/2014/main" id="{99C6C040-0D86-B1E0-7777-5EF469ABF2DF}"/>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This mathematical description uses </a:t>
            </a:r>
            <a:r>
              <a:rPr lang="en-AU" altLang="en-US" b="1">
                <a:latin typeface="Arial" panose="020B0604020202020204" pitchFamily="34" charset="0"/>
                <a:ea typeface="ＭＳ Ｐゴシック" panose="020B0600070205080204" pitchFamily="34" charset="-128"/>
              </a:rPr>
              <a:t>modulo (clock) arithmetic</a:t>
            </a:r>
            <a:r>
              <a:rPr lang="en-AU" altLang="en-US">
                <a:latin typeface="Arial" panose="020B0604020202020204" pitchFamily="34" charset="0"/>
                <a:ea typeface="ＭＳ Ｐゴシック" panose="020B0600070205080204" pitchFamily="34" charset="-128"/>
              </a:rPr>
              <a:t>. Here, when you reach Z you go back to A and start again. Mod 26 implies that when you reach 26, you use 0 instead (ie the letter after Z, or 25 + 1 goes to A or 0).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Example: howdy (7,14,22,3,24) encrypted using key </a:t>
            </a:r>
            <a:r>
              <a:rPr lang="en-AU" altLang="en-US" i="1">
                <a:latin typeface="Arial" panose="020B0604020202020204" pitchFamily="34" charset="0"/>
                <a:ea typeface="ＭＳ Ｐゴシック" panose="020B0600070205080204" pitchFamily="34" charset="-128"/>
              </a:rPr>
              <a:t>f </a:t>
            </a:r>
            <a:r>
              <a:rPr lang="en-AU" altLang="en-US">
                <a:latin typeface="Arial" panose="020B0604020202020204" pitchFamily="34" charset="0"/>
                <a:ea typeface="ＭＳ Ｐゴシック" panose="020B0600070205080204" pitchFamily="34" charset="-128"/>
              </a:rPr>
              <a:t>(ie a shift of 5) is MTBID</a:t>
            </a:r>
          </a:p>
        </p:txBody>
      </p:sp>
    </p:spTree>
    <p:extLst>
      <p:ext uri="{BB962C8B-B14F-4D97-AF65-F5344CB8AC3E}">
        <p14:creationId xmlns:p14="http://schemas.microsoft.com/office/powerpoint/2010/main" val="26055937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p:nvPr>
        </p:nvSpPr>
        <p:spPr/>
        <p:txBody>
          <a:bodyPr/>
          <a:lstStyle/>
          <a:p>
            <a:fld id="{54AC46DC-AE11-8F4F-A2BD-44CD9CDFB361}" type="slidenum">
              <a:rPr lang="en-AU" altLang="en-US" smtClean="0"/>
              <a:pPr/>
              <a:t>28</a:t>
            </a:fld>
            <a:endParaRPr lang="en-AU" altLang="en-US"/>
          </a:p>
        </p:txBody>
      </p:sp>
    </p:spTree>
    <p:extLst>
      <p:ext uri="{BB962C8B-B14F-4D97-AF65-F5344CB8AC3E}">
        <p14:creationId xmlns:p14="http://schemas.microsoft.com/office/powerpoint/2010/main" val="23439371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p:nvPr>
        </p:nvSpPr>
        <p:spPr/>
        <p:txBody>
          <a:bodyPr/>
          <a:lstStyle/>
          <a:p>
            <a:fld id="{54AC46DC-AE11-8F4F-A2BD-44CD9CDFB361}" type="slidenum">
              <a:rPr lang="en-AU" altLang="en-US" smtClean="0"/>
              <a:pPr/>
              <a:t>29</a:t>
            </a:fld>
            <a:endParaRPr lang="en-AU" altLang="en-US"/>
          </a:p>
        </p:txBody>
      </p:sp>
    </p:spTree>
    <p:extLst>
      <p:ext uri="{BB962C8B-B14F-4D97-AF65-F5344CB8AC3E}">
        <p14:creationId xmlns:p14="http://schemas.microsoft.com/office/powerpoint/2010/main" val="9252646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407E085D-D298-53D7-F685-7ABCB40F4B94}"/>
              </a:ext>
            </a:extLst>
          </p:cNvPr>
          <p:cNvSpPr>
            <a:spLocks noGrp="1" noChangeArrowheads="1"/>
          </p:cNvSpPr>
          <p:nvPr>
            <p:ph type="sldNum"/>
          </p:nvPr>
        </p:nvSpPr>
        <p:spPr>
          <a:ln/>
        </p:spPr>
        <p:txBody>
          <a:bodyPr/>
          <a:lstStyle/>
          <a:p>
            <a:fld id="{265CA707-E4B2-604A-9622-FACE2236D586}" type="slidenum">
              <a:rPr lang="en-AU" altLang="en-US"/>
              <a:pPr/>
              <a:t>30</a:t>
            </a:fld>
            <a:endParaRPr lang="en-AU" altLang="en-US"/>
          </a:p>
        </p:txBody>
      </p:sp>
      <p:sp>
        <p:nvSpPr>
          <p:cNvPr id="91137" name="Text Box 1">
            <a:extLst>
              <a:ext uri="{FF2B5EF4-FFF2-40B4-BE49-F238E27FC236}">
                <a16:creationId xmlns:a16="http://schemas.microsoft.com/office/drawing/2014/main" id="{833B9F48-05A6-154F-E81E-945DBEBF53E9}"/>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AF746775-7357-1A4B-B9D9-64ADFCC62C28}" type="slidenum">
              <a:rPr lang="en-US" altLang="en-US" sz="1200"/>
              <a:pPr algn="r">
                <a:buClrTx/>
                <a:buFontTx/>
                <a:buNone/>
              </a:pPr>
              <a:t>30</a:t>
            </a:fld>
            <a:endParaRPr lang="en-US" altLang="en-US" sz="1200"/>
          </a:p>
        </p:txBody>
      </p:sp>
      <p:sp>
        <p:nvSpPr>
          <p:cNvPr id="91138" name="Text Box 2">
            <a:extLst>
              <a:ext uri="{FF2B5EF4-FFF2-40B4-BE49-F238E27FC236}">
                <a16:creationId xmlns:a16="http://schemas.microsoft.com/office/drawing/2014/main" id="{2E7267D5-4BEB-CF06-9F20-495F3E034C28}"/>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139" name="Text Box 3">
            <a:extLst>
              <a:ext uri="{FF2B5EF4-FFF2-40B4-BE49-F238E27FC236}">
                <a16:creationId xmlns:a16="http://schemas.microsoft.com/office/drawing/2014/main" id="{9DBFA51D-12BC-9283-3BA7-42661A150339}"/>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This mathematical description uses </a:t>
            </a:r>
            <a:r>
              <a:rPr lang="en-AU" altLang="en-US" b="1">
                <a:latin typeface="Arial" panose="020B0604020202020204" pitchFamily="34" charset="0"/>
                <a:ea typeface="ＭＳ Ｐゴシック" panose="020B0600070205080204" pitchFamily="34" charset="-128"/>
              </a:rPr>
              <a:t>modulo (clock) arithmetic</a:t>
            </a:r>
            <a:r>
              <a:rPr lang="en-AU" altLang="en-US">
                <a:latin typeface="Arial" panose="020B0604020202020204" pitchFamily="34" charset="0"/>
                <a:ea typeface="ＭＳ Ｐゴシック" panose="020B0600070205080204" pitchFamily="34" charset="-128"/>
              </a:rPr>
              <a:t>. Here, when you reach Z you go back to A and start again. Mod 26 implies that when you reach 26, you use 0 instead (ie the letter after Z, or 25 + 1 goes to A or 0).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Example: howdy (7,14,22,3,24) encrypted using key </a:t>
            </a:r>
            <a:r>
              <a:rPr lang="en-AU" altLang="en-US" i="1">
                <a:latin typeface="Arial" panose="020B0604020202020204" pitchFamily="34" charset="0"/>
                <a:ea typeface="ＭＳ Ｐゴシック" panose="020B0600070205080204" pitchFamily="34" charset="-128"/>
              </a:rPr>
              <a:t>f </a:t>
            </a:r>
            <a:r>
              <a:rPr lang="en-AU" altLang="en-US">
                <a:latin typeface="Arial" panose="020B0604020202020204" pitchFamily="34" charset="0"/>
                <a:ea typeface="ＭＳ Ｐゴシック" panose="020B0600070205080204" pitchFamily="34" charset="-128"/>
              </a:rPr>
              <a:t>(ie a shift of 5) is MTBID</a:t>
            </a:r>
          </a:p>
        </p:txBody>
      </p:sp>
    </p:spTree>
    <p:extLst>
      <p:ext uri="{BB962C8B-B14F-4D97-AF65-F5344CB8AC3E}">
        <p14:creationId xmlns:p14="http://schemas.microsoft.com/office/powerpoint/2010/main" val="15193716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B55DB0AE-BB0F-CD32-0EE6-F1DD85ABF0B6}"/>
              </a:ext>
            </a:extLst>
          </p:cNvPr>
          <p:cNvSpPr>
            <a:spLocks noGrp="1" noChangeArrowheads="1"/>
          </p:cNvSpPr>
          <p:nvPr>
            <p:ph type="sldNum"/>
          </p:nvPr>
        </p:nvSpPr>
        <p:spPr>
          <a:ln/>
        </p:spPr>
        <p:txBody>
          <a:bodyPr/>
          <a:lstStyle/>
          <a:p>
            <a:fld id="{369AA8F1-A408-324B-A23C-1C9B8E548528}" type="slidenum">
              <a:rPr lang="en-AU" altLang="en-US"/>
              <a:pPr/>
              <a:t>31</a:t>
            </a:fld>
            <a:endParaRPr lang="en-AU" altLang="en-US"/>
          </a:p>
        </p:txBody>
      </p:sp>
      <p:sp>
        <p:nvSpPr>
          <p:cNvPr id="103425" name="Text Box 1">
            <a:extLst>
              <a:ext uri="{FF2B5EF4-FFF2-40B4-BE49-F238E27FC236}">
                <a16:creationId xmlns:a16="http://schemas.microsoft.com/office/drawing/2014/main" id="{0082B8C2-3EC3-9FCE-9334-871FF35AE170}"/>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6867FD0F-D3B6-474D-9533-B3DF28989999}" type="slidenum">
              <a:rPr lang="en-US" altLang="en-US" sz="1200"/>
              <a:pPr algn="r">
                <a:buClrTx/>
                <a:buFontTx/>
                <a:buNone/>
              </a:pPr>
              <a:t>31</a:t>
            </a:fld>
            <a:endParaRPr lang="en-US" altLang="en-US" sz="1200"/>
          </a:p>
        </p:txBody>
      </p:sp>
      <p:sp>
        <p:nvSpPr>
          <p:cNvPr id="103426" name="Text Box 2">
            <a:extLst>
              <a:ext uri="{FF2B5EF4-FFF2-40B4-BE49-F238E27FC236}">
                <a16:creationId xmlns:a16="http://schemas.microsoft.com/office/drawing/2014/main" id="{DFE9671D-FA35-0AE5-FB00-DDC2C08C3001}"/>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3427" name="Text Box 3">
            <a:extLst>
              <a:ext uri="{FF2B5EF4-FFF2-40B4-BE49-F238E27FC236}">
                <a16:creationId xmlns:a16="http://schemas.microsoft.com/office/drawing/2014/main" id="{254B42C5-E6E1-2F83-DC19-98F69A4E121A}"/>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Consider ways to reduce the "spikyness" of natural language text, since if just map one letter always to another, the frequency distribution is just shuffled. One approach is to encrypt more than one letter at once. The Playfair cipher is an example of doing this, </a:t>
            </a:r>
            <a:r>
              <a:rPr lang="en-US" altLang="en-US">
                <a:latin typeface="Arial" panose="020B0604020202020204" pitchFamily="34" charset="0"/>
                <a:ea typeface="ＭＳ Ｐゴシック" panose="020B0600070205080204" pitchFamily="34" charset="-128"/>
              </a:rPr>
              <a:t>treats digrams in the plaintext as single units and translates these units into ciphertext digrams.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DD7B8947-10C5-BD00-5EED-2DFE4B4ABC5D}"/>
              </a:ext>
            </a:extLst>
          </p:cNvPr>
          <p:cNvSpPr>
            <a:spLocks noGrp="1" noChangeArrowheads="1"/>
          </p:cNvSpPr>
          <p:nvPr>
            <p:ph type="sldNum"/>
          </p:nvPr>
        </p:nvSpPr>
        <p:spPr>
          <a:ln/>
        </p:spPr>
        <p:txBody>
          <a:bodyPr/>
          <a:lstStyle/>
          <a:p>
            <a:fld id="{F5ED6744-C8EC-7047-8E19-216533FB7D23}" type="slidenum">
              <a:rPr lang="en-AU" altLang="en-US"/>
              <a:pPr/>
              <a:t>32</a:t>
            </a:fld>
            <a:endParaRPr lang="en-AU" altLang="en-US"/>
          </a:p>
        </p:txBody>
      </p:sp>
      <p:sp>
        <p:nvSpPr>
          <p:cNvPr id="104449" name="Text Box 1">
            <a:extLst>
              <a:ext uri="{FF2B5EF4-FFF2-40B4-BE49-F238E27FC236}">
                <a16:creationId xmlns:a16="http://schemas.microsoft.com/office/drawing/2014/main" id="{6CB9712A-024A-6B2A-C68A-57F66907B4E8}"/>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1ECB3457-CD24-334B-B6D0-502EA3284EAE}" type="slidenum">
              <a:rPr lang="en-US" altLang="en-US" sz="1200"/>
              <a:pPr algn="r">
                <a:buClrTx/>
                <a:buFontTx/>
                <a:buNone/>
              </a:pPr>
              <a:t>32</a:t>
            </a:fld>
            <a:endParaRPr lang="en-US" altLang="en-US" sz="1200"/>
          </a:p>
        </p:txBody>
      </p:sp>
      <p:sp>
        <p:nvSpPr>
          <p:cNvPr id="104450" name="Text Box 2">
            <a:extLst>
              <a:ext uri="{FF2B5EF4-FFF2-40B4-BE49-F238E27FC236}">
                <a16:creationId xmlns:a16="http://schemas.microsoft.com/office/drawing/2014/main" id="{1EC671BF-4C76-47BD-12F7-8DE604E7F938}"/>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1" name="Text Box 3">
            <a:extLst>
              <a:ext uri="{FF2B5EF4-FFF2-40B4-BE49-F238E27FC236}">
                <a16:creationId xmlns:a16="http://schemas.microsoft.com/office/drawing/2014/main" id="{6917D7F3-8F87-3690-7B32-7E4A9DCB9E5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The best-known multiple-letter encryption cipher is the Playfair, which treats digrams in the plaintext as single units and translates these units into ciphertext digrams. The Playfair algorithm is based on the use of a 5x5 matrix of letters constructed using a keyword.</a:t>
            </a:r>
            <a:r>
              <a:rPr lang="en-AU" altLang="en-US">
                <a:latin typeface="Arial" panose="020B0604020202020204" pitchFamily="34" charset="0"/>
                <a:cs typeface="Arial" panose="020B0604020202020204" pitchFamily="34" charset="0"/>
              </a:rPr>
              <a:t> The rules for filling in this 5x5 matrix are: L to R, top to bottom, first with keyword after duplicate letters have been removed, and then with the remain letters, with I/J used as a single letter. This example comes from Dorothy Sayer's book "Have His Carcase", in which Lord Peter Wimsey solves it, and describes the use of a probably word attack.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D3E877AB-3CCD-0861-D679-9AB3E9A94ACC}"/>
              </a:ext>
            </a:extLst>
          </p:cNvPr>
          <p:cNvSpPr>
            <a:spLocks noGrp="1" noChangeArrowheads="1"/>
          </p:cNvSpPr>
          <p:nvPr>
            <p:ph type="sldNum"/>
          </p:nvPr>
        </p:nvSpPr>
        <p:spPr>
          <a:ln/>
        </p:spPr>
        <p:txBody>
          <a:bodyPr/>
          <a:lstStyle/>
          <a:p>
            <a:fld id="{A47D8F05-B976-0B4F-99A4-85490C2A0309}" type="slidenum">
              <a:rPr lang="en-AU" altLang="en-US"/>
              <a:pPr/>
              <a:t>33</a:t>
            </a:fld>
            <a:endParaRPr lang="en-AU" altLang="en-US"/>
          </a:p>
        </p:txBody>
      </p:sp>
      <p:sp>
        <p:nvSpPr>
          <p:cNvPr id="105473" name="Text Box 1">
            <a:extLst>
              <a:ext uri="{FF2B5EF4-FFF2-40B4-BE49-F238E27FC236}">
                <a16:creationId xmlns:a16="http://schemas.microsoft.com/office/drawing/2014/main" id="{206A2C0D-2E2B-B266-60A9-76FCA716867C}"/>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68D741B5-FA2E-5A4E-A801-E30199FC9E2F}" type="slidenum">
              <a:rPr lang="en-US" altLang="en-US" sz="1200"/>
              <a:pPr algn="r">
                <a:buClrTx/>
                <a:buFontTx/>
                <a:buNone/>
              </a:pPr>
              <a:t>33</a:t>
            </a:fld>
            <a:endParaRPr lang="en-US" altLang="en-US" sz="1200"/>
          </a:p>
        </p:txBody>
      </p:sp>
      <p:sp>
        <p:nvSpPr>
          <p:cNvPr id="105474" name="Text Box 2">
            <a:extLst>
              <a:ext uri="{FF2B5EF4-FFF2-40B4-BE49-F238E27FC236}">
                <a16:creationId xmlns:a16="http://schemas.microsoft.com/office/drawing/2014/main" id="{F0203800-AC3F-B901-BCE7-4E8F005442AA}"/>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5475" name="Text Box 3">
            <a:extLst>
              <a:ext uri="{FF2B5EF4-FFF2-40B4-BE49-F238E27FC236}">
                <a16:creationId xmlns:a16="http://schemas.microsoft.com/office/drawing/2014/main" id="{380BD7EA-6CFC-2779-481B-5B9BA482A409}"/>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28600" indent="-223838" eaLnBrk="1" hangingPunct="1">
              <a:spcBef>
                <a:spcPts val="450"/>
              </a:spcBef>
              <a:buClrTx/>
              <a:buFontTx/>
              <a:buNone/>
              <a:tabLst>
                <a:tab pos="228600" algn="l"/>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Lst>
            </a:pPr>
            <a:r>
              <a:rPr lang="en-US" altLang="en-US">
                <a:latin typeface="Arial" panose="020B0604020202020204" pitchFamily="34" charset="0"/>
                <a:cs typeface="Arial" panose="020B0604020202020204" pitchFamily="34" charset="0"/>
              </a:rPr>
              <a:t>Plaintext is encrypted two letters at a time,according to the rules as shown. </a:t>
            </a:r>
            <a:r>
              <a:rPr lang="en-AU" altLang="en-US">
                <a:latin typeface="Arial" panose="020B0604020202020204" pitchFamily="34" charset="0"/>
                <a:cs typeface="Arial" panose="020B0604020202020204" pitchFamily="34" charset="0"/>
              </a:rPr>
              <a:t>Note how you wrap from right side back to left, or from bottom back to top.</a:t>
            </a:r>
          </a:p>
          <a:p>
            <a:pPr marL="685800" lvl="1" indent="-228600" eaLnBrk="1" hangingPunct="1">
              <a:lnSpc>
                <a:spcPct val="80000"/>
              </a:lnSpc>
              <a:spcBef>
                <a:spcPts val="450"/>
              </a:spcBef>
              <a:buFont typeface="Times New Roman" panose="02020603050405020304" pitchFamily="18" charset="0"/>
              <a:buAutoNum type="arabicPeriod"/>
              <a:tabLst>
                <a:tab pos="228600" algn="l"/>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Lst>
            </a:pPr>
            <a:r>
              <a:rPr lang="en-AU" altLang="en-US">
                <a:latin typeface="Arial" panose="020B0604020202020204" pitchFamily="34" charset="0"/>
                <a:cs typeface="Arial" panose="020B0604020202020204" pitchFamily="34" charset="0"/>
              </a:rPr>
              <a:t> if a pair is a repeated letter, insert a filler like 'X',  eg. "balloon" encrypts as "ba lx lo on" </a:t>
            </a:r>
          </a:p>
          <a:p>
            <a:pPr marL="685800" lvl="1" indent="-228600" eaLnBrk="1" hangingPunct="1">
              <a:lnSpc>
                <a:spcPct val="80000"/>
              </a:lnSpc>
              <a:spcBef>
                <a:spcPts val="450"/>
              </a:spcBef>
              <a:buFont typeface="Times New Roman" panose="02020603050405020304" pitchFamily="18" charset="0"/>
              <a:buAutoNum type="arabicPeriod"/>
              <a:tabLst>
                <a:tab pos="228600" algn="l"/>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Lst>
            </a:pPr>
            <a:r>
              <a:rPr lang="en-AU" altLang="en-US">
                <a:latin typeface="Arial" panose="020B0604020202020204" pitchFamily="34" charset="0"/>
                <a:cs typeface="Arial" panose="020B0604020202020204" pitchFamily="34" charset="0"/>
              </a:rPr>
              <a:t> if both letters fall in the same row, replace each with letter to right (wrapping back to start from end),  eg. “ar" encrypts as "RM" </a:t>
            </a:r>
          </a:p>
          <a:p>
            <a:pPr marL="685800" lvl="1" indent="-228600" eaLnBrk="1" hangingPunct="1">
              <a:lnSpc>
                <a:spcPct val="80000"/>
              </a:lnSpc>
              <a:spcBef>
                <a:spcPts val="450"/>
              </a:spcBef>
              <a:buFont typeface="Times New Roman" panose="02020603050405020304" pitchFamily="18" charset="0"/>
              <a:buAutoNum type="arabicPeriod"/>
              <a:tabLst>
                <a:tab pos="228600" algn="l"/>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Lst>
            </a:pPr>
            <a:r>
              <a:rPr lang="en-AU" altLang="en-US">
                <a:latin typeface="Arial" panose="020B0604020202020204" pitchFamily="34" charset="0"/>
                <a:cs typeface="Arial" panose="020B0604020202020204" pitchFamily="34" charset="0"/>
              </a:rPr>
              <a:t> if both letters fall in the same column, replace each with the letter below it (again wrapping to top from bottom), eg. “mu" encrypts to "CM" </a:t>
            </a:r>
          </a:p>
          <a:p>
            <a:pPr marL="685800" lvl="1" indent="-228600" eaLnBrk="1" hangingPunct="1">
              <a:lnSpc>
                <a:spcPct val="80000"/>
              </a:lnSpc>
              <a:spcBef>
                <a:spcPts val="450"/>
              </a:spcBef>
              <a:buFont typeface="Times New Roman" panose="02020603050405020304" pitchFamily="18" charset="0"/>
              <a:buAutoNum type="arabicPeriod"/>
              <a:tabLst>
                <a:tab pos="228600" algn="l"/>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Lst>
            </a:pPr>
            <a:r>
              <a:rPr lang="en-AU" altLang="en-US">
                <a:latin typeface="Arial" panose="020B0604020202020204" pitchFamily="34" charset="0"/>
                <a:cs typeface="Arial" panose="020B0604020202020204" pitchFamily="34" charset="0"/>
              </a:rPr>
              <a:t> otherwise each letter is replaced by the one in its row in the column of the other letter of the pair, eg. “hs" encrypts to "BP", and “ea" to "IM" or "JM" (as desired) </a:t>
            </a:r>
          </a:p>
          <a:p>
            <a:pPr marL="228600" indent="-223838" eaLnBrk="1" hangingPunct="1">
              <a:spcBef>
                <a:spcPts val="450"/>
              </a:spcBef>
              <a:buClrTx/>
              <a:buFontTx/>
              <a:buNone/>
              <a:tabLst>
                <a:tab pos="228600" algn="l"/>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Lst>
            </a:pPr>
            <a:r>
              <a:rPr lang="en-AU" altLang="en-US">
                <a:latin typeface="Arial" panose="020B0604020202020204" pitchFamily="34" charset="0"/>
                <a:cs typeface="Arial" panose="020B0604020202020204" pitchFamily="34" charset="0"/>
              </a:rPr>
              <a:t> Decrypting of course works exactly in reverse. Can see this by working the example pairs shown, backwards. </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587A0CBE-8664-B478-89E6-7DC095AF085D}"/>
              </a:ext>
            </a:extLst>
          </p:cNvPr>
          <p:cNvSpPr>
            <a:spLocks noGrp="1" noChangeArrowheads="1"/>
          </p:cNvSpPr>
          <p:nvPr>
            <p:ph type="sldNum"/>
          </p:nvPr>
        </p:nvSpPr>
        <p:spPr>
          <a:ln/>
        </p:spPr>
        <p:txBody>
          <a:bodyPr/>
          <a:lstStyle/>
          <a:p>
            <a:fld id="{D78D6928-9E8D-1C40-ACA9-04EFBE606419}" type="slidenum">
              <a:rPr lang="en-AU" altLang="en-US"/>
              <a:pPr/>
              <a:t>34</a:t>
            </a:fld>
            <a:endParaRPr lang="en-AU" altLang="en-US"/>
          </a:p>
        </p:txBody>
      </p:sp>
      <p:sp>
        <p:nvSpPr>
          <p:cNvPr id="106497" name="Text Box 1">
            <a:extLst>
              <a:ext uri="{FF2B5EF4-FFF2-40B4-BE49-F238E27FC236}">
                <a16:creationId xmlns:a16="http://schemas.microsoft.com/office/drawing/2014/main" id="{9403BDE8-5A06-4998-F538-923B98913003}"/>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B3B3EEBC-B438-2745-8BC2-F1CB71A46AFB}" type="slidenum">
              <a:rPr lang="en-US" altLang="en-US" sz="1200"/>
              <a:pPr algn="r">
                <a:buClrTx/>
                <a:buFontTx/>
                <a:buNone/>
              </a:pPr>
              <a:t>34</a:t>
            </a:fld>
            <a:endParaRPr lang="en-US" altLang="en-US" sz="1200"/>
          </a:p>
        </p:txBody>
      </p:sp>
      <p:sp>
        <p:nvSpPr>
          <p:cNvPr id="106498" name="Text Box 2">
            <a:extLst>
              <a:ext uri="{FF2B5EF4-FFF2-40B4-BE49-F238E27FC236}">
                <a16:creationId xmlns:a16="http://schemas.microsoft.com/office/drawing/2014/main" id="{7DCB76E4-AF57-2D53-A2F9-F271AE85C55C}"/>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6499" name="Text Box 3">
            <a:extLst>
              <a:ext uri="{FF2B5EF4-FFF2-40B4-BE49-F238E27FC236}">
                <a16:creationId xmlns:a16="http://schemas.microsoft.com/office/drawing/2014/main" id="{28E5F104-E81B-EC3F-9E46-DCAFC705112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The best-known multiple-letter encryption cipher is the Playfair, which treats digrams in the plaintext as single units and translates these units into ciphertext digrams. The Playfair algorithm is based on the use of a 5x5 matrix of letters constructed using a keyword.</a:t>
            </a:r>
            <a:r>
              <a:rPr lang="en-AU" altLang="en-US">
                <a:latin typeface="Arial" panose="020B0604020202020204" pitchFamily="34" charset="0"/>
                <a:cs typeface="Arial" panose="020B0604020202020204" pitchFamily="34" charset="0"/>
              </a:rPr>
              <a:t> The rules for filling in this 5x5 matrix are: L to R, top to bottom, first with keyword after duplicate letters have been removed, and then with the remain letters, with I/J used as a single letter. This example comes from Dorothy Sayer's book "Have His Carcase", in which Lord Peter Wimsey solves it, and describes the use of a probably word attack. </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p:nvPr>
        </p:nvSpPr>
        <p:spPr/>
        <p:txBody>
          <a:bodyPr/>
          <a:lstStyle/>
          <a:p>
            <a:fld id="{54AC46DC-AE11-8F4F-A2BD-44CD9CDFB361}" type="slidenum">
              <a:rPr lang="en-AU" altLang="en-US" smtClean="0"/>
              <a:pPr/>
              <a:t>35</a:t>
            </a:fld>
            <a:endParaRPr lang="en-AU" altLang="en-US"/>
          </a:p>
        </p:txBody>
      </p:sp>
    </p:spTree>
    <p:extLst>
      <p:ext uri="{BB962C8B-B14F-4D97-AF65-F5344CB8AC3E}">
        <p14:creationId xmlns:p14="http://schemas.microsoft.com/office/powerpoint/2010/main" val="19180195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1C13A63A-2C41-2C0D-B00F-1A059BDDD70C}"/>
              </a:ext>
            </a:extLst>
          </p:cNvPr>
          <p:cNvSpPr>
            <a:spLocks noGrp="1" noChangeArrowheads="1"/>
          </p:cNvSpPr>
          <p:nvPr>
            <p:ph type="sldNum"/>
          </p:nvPr>
        </p:nvSpPr>
        <p:spPr>
          <a:ln/>
        </p:spPr>
        <p:txBody>
          <a:bodyPr/>
          <a:lstStyle/>
          <a:p>
            <a:fld id="{7666B350-15AF-FB4B-89D9-2FBFF54B0440}" type="slidenum">
              <a:rPr lang="en-AU" altLang="en-US"/>
              <a:pPr/>
              <a:t>36</a:t>
            </a:fld>
            <a:endParaRPr lang="en-AU" altLang="en-US"/>
          </a:p>
        </p:txBody>
      </p:sp>
      <p:sp>
        <p:nvSpPr>
          <p:cNvPr id="107521" name="Text Box 1">
            <a:extLst>
              <a:ext uri="{FF2B5EF4-FFF2-40B4-BE49-F238E27FC236}">
                <a16:creationId xmlns:a16="http://schemas.microsoft.com/office/drawing/2014/main" id="{6A4C4B16-8687-9E52-FAAA-FA5751B4E4B1}"/>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7CE99A2B-2FE0-6648-A5E3-7C7FC203F546}" type="slidenum">
              <a:rPr lang="en-US" altLang="en-US" sz="1200"/>
              <a:pPr algn="r">
                <a:buClrTx/>
                <a:buFontTx/>
                <a:buNone/>
              </a:pPr>
              <a:t>36</a:t>
            </a:fld>
            <a:endParaRPr lang="en-US" altLang="en-US" sz="1200"/>
          </a:p>
        </p:txBody>
      </p:sp>
      <p:sp>
        <p:nvSpPr>
          <p:cNvPr id="107522" name="Text Box 2">
            <a:extLst>
              <a:ext uri="{FF2B5EF4-FFF2-40B4-BE49-F238E27FC236}">
                <a16:creationId xmlns:a16="http://schemas.microsoft.com/office/drawing/2014/main" id="{B0244E77-0487-82DB-E5F9-D91C6EF1A58E}"/>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7523" name="Text Box 3">
            <a:extLst>
              <a:ext uri="{FF2B5EF4-FFF2-40B4-BE49-F238E27FC236}">
                <a16:creationId xmlns:a16="http://schemas.microsoft.com/office/drawing/2014/main" id="{08380D3C-2574-60A7-FE19-B6F504C2880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The Playfair cipher is a great advance over simple monoalphabetic ciphers, since there are 26*26=676 digrams (vs 26 letters), so that identification of individual digrams is more difficult. Also,the relative frequencies of individual letters exhibit a much greater range than that of digrams, making frequency analysis much more difficult. The Playfair cipher was for a long time considered unbreakable. It was used as the standard field system by the British Army in World War I and still enjoyed considerable use by the U.S.Army and other Allied forces during World War II. Despite this level of confidence in its security, the Playfair cipher is relatively easy to break because it still leaves much of the structure of the plaintext language intact. A few hundred letters of ciphertext are generally sufficient.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p:nvPr>
        </p:nvSpPr>
        <p:spPr/>
        <p:txBody>
          <a:bodyPr/>
          <a:lstStyle/>
          <a:p>
            <a:fld id="{54AC46DC-AE11-8F4F-A2BD-44CD9CDFB361}" type="slidenum">
              <a:rPr lang="en-AU" altLang="en-US" smtClean="0"/>
              <a:pPr/>
              <a:t>37</a:t>
            </a:fld>
            <a:endParaRPr lang="en-AU" altLang="en-US"/>
          </a:p>
        </p:txBody>
      </p:sp>
    </p:spTree>
    <p:extLst>
      <p:ext uri="{BB962C8B-B14F-4D97-AF65-F5344CB8AC3E}">
        <p14:creationId xmlns:p14="http://schemas.microsoft.com/office/powerpoint/2010/main" val="25018123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p:nvPr>
        </p:nvSpPr>
        <p:spPr/>
        <p:txBody>
          <a:bodyPr/>
          <a:lstStyle/>
          <a:p>
            <a:fld id="{54AC46DC-AE11-8F4F-A2BD-44CD9CDFB361}" type="slidenum">
              <a:rPr lang="en-AU" altLang="en-US" smtClean="0"/>
              <a:pPr/>
              <a:t>38</a:t>
            </a:fld>
            <a:endParaRPr lang="en-AU" altLang="en-US"/>
          </a:p>
        </p:txBody>
      </p:sp>
    </p:spTree>
    <p:extLst>
      <p:ext uri="{BB962C8B-B14F-4D97-AF65-F5344CB8AC3E}">
        <p14:creationId xmlns:p14="http://schemas.microsoft.com/office/powerpoint/2010/main" val="900993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p:nvPr>
        </p:nvSpPr>
        <p:spPr/>
        <p:txBody>
          <a:bodyPr/>
          <a:lstStyle/>
          <a:p>
            <a:fld id="{54AC46DC-AE11-8F4F-A2BD-44CD9CDFB361}" type="slidenum">
              <a:rPr lang="en-AU" altLang="en-US" smtClean="0"/>
              <a:pPr/>
              <a:t>39</a:t>
            </a:fld>
            <a:endParaRPr lang="en-AU" altLang="en-US"/>
          </a:p>
        </p:txBody>
      </p:sp>
    </p:spTree>
    <p:extLst>
      <p:ext uri="{BB962C8B-B14F-4D97-AF65-F5344CB8AC3E}">
        <p14:creationId xmlns:p14="http://schemas.microsoft.com/office/powerpoint/2010/main" val="32910327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p:nvPr>
        </p:nvSpPr>
        <p:spPr/>
        <p:txBody>
          <a:bodyPr/>
          <a:lstStyle/>
          <a:p>
            <a:fld id="{54AC46DC-AE11-8F4F-A2BD-44CD9CDFB361}" type="slidenum">
              <a:rPr lang="en-AU" altLang="en-US" smtClean="0"/>
              <a:pPr/>
              <a:t>40</a:t>
            </a:fld>
            <a:endParaRPr lang="en-AU" altLang="en-US"/>
          </a:p>
        </p:txBody>
      </p:sp>
    </p:spTree>
    <p:extLst>
      <p:ext uri="{BB962C8B-B14F-4D97-AF65-F5344CB8AC3E}">
        <p14:creationId xmlns:p14="http://schemas.microsoft.com/office/powerpoint/2010/main" val="898200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p:nvPr>
        </p:nvSpPr>
        <p:spPr/>
        <p:txBody>
          <a:bodyPr/>
          <a:lstStyle/>
          <a:p>
            <a:fld id="{54AC46DC-AE11-8F4F-A2BD-44CD9CDFB361}" type="slidenum">
              <a:rPr lang="en-AU" altLang="en-US" smtClean="0"/>
              <a:pPr/>
              <a:t>41</a:t>
            </a:fld>
            <a:endParaRPr lang="en-AU" altLang="en-US"/>
          </a:p>
        </p:txBody>
      </p:sp>
    </p:spTree>
    <p:extLst>
      <p:ext uri="{BB962C8B-B14F-4D97-AF65-F5344CB8AC3E}">
        <p14:creationId xmlns:p14="http://schemas.microsoft.com/office/powerpoint/2010/main" val="41563676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65DF1B64-D330-DFB0-DDDE-D119692123CF}"/>
              </a:ext>
            </a:extLst>
          </p:cNvPr>
          <p:cNvSpPr>
            <a:spLocks noGrp="1" noChangeArrowheads="1"/>
          </p:cNvSpPr>
          <p:nvPr>
            <p:ph type="sldNum"/>
          </p:nvPr>
        </p:nvSpPr>
        <p:spPr>
          <a:ln/>
        </p:spPr>
        <p:txBody>
          <a:bodyPr/>
          <a:lstStyle/>
          <a:p>
            <a:fld id="{5708071D-6745-8D4A-A364-6E1CD91F9D40}" type="slidenum">
              <a:rPr lang="en-AU" altLang="en-US"/>
              <a:pPr/>
              <a:t>42</a:t>
            </a:fld>
            <a:endParaRPr lang="en-AU" altLang="en-US"/>
          </a:p>
        </p:txBody>
      </p:sp>
      <p:sp>
        <p:nvSpPr>
          <p:cNvPr id="108545" name="Text Box 1">
            <a:extLst>
              <a:ext uri="{FF2B5EF4-FFF2-40B4-BE49-F238E27FC236}">
                <a16:creationId xmlns:a16="http://schemas.microsoft.com/office/drawing/2014/main" id="{798C5926-F37A-F6A3-97C9-2D41DA376FB3}"/>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DD70FEBE-6B65-9E42-941C-4882C3C48D29}" type="slidenum">
              <a:rPr lang="en-US" altLang="en-US" sz="1200"/>
              <a:pPr algn="r">
                <a:buClrTx/>
                <a:buFontTx/>
                <a:buNone/>
              </a:pPr>
              <a:t>42</a:t>
            </a:fld>
            <a:endParaRPr lang="en-US" altLang="en-US" sz="1200"/>
          </a:p>
        </p:txBody>
      </p:sp>
      <p:sp>
        <p:nvSpPr>
          <p:cNvPr id="108546" name="Text Box 2">
            <a:extLst>
              <a:ext uri="{FF2B5EF4-FFF2-40B4-BE49-F238E27FC236}">
                <a16:creationId xmlns:a16="http://schemas.microsoft.com/office/drawing/2014/main" id="{B1130795-6230-699F-F75C-A5D05C5C7053}"/>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547" name="Text Box 3">
            <a:extLst>
              <a:ext uri="{FF2B5EF4-FFF2-40B4-BE49-F238E27FC236}">
                <a16:creationId xmlns:a16="http://schemas.microsoft.com/office/drawing/2014/main" id="{DE4CCCC5-E93F-C6A5-E0F3-57D721B05BA9}"/>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cs typeface="Arial" panose="020B0604020202020204" pitchFamily="34" charset="0"/>
              </a:rPr>
              <a:t>One approach to reducing the "spikyness" of natural language text is used the Playfair cipher which encrypts more than one letter at once. We now consider the other alternative, using multiple cipher alphabets in turn. This gives the attacker more work, since many alphabets need to be guessed and because the frequency distribution is more complex, since the same plaintext letter could be replaced by several ciphertext letters, depending on which alphabet is used. </a:t>
            </a:r>
            <a:r>
              <a:rPr lang="en-US" altLang="en-US">
                <a:latin typeface="Arial" panose="020B0604020202020204" pitchFamily="34" charset="0"/>
                <a:cs typeface="Arial" panose="020B0604020202020204" pitchFamily="34" charset="0"/>
              </a:rPr>
              <a:t>The general name for this approach is a polyalphabetic substitution cipher. All these techniques have the following features in common: </a:t>
            </a:r>
          </a:p>
          <a:p>
            <a:pPr eaLnBrk="1" hangingPunct="1">
              <a:spcBef>
                <a:spcPts val="450"/>
              </a:spcBef>
              <a:buFont typeface="Times New Roman" panose="02020603050405020304" pitchFamily="18" charset="0"/>
              <a:buAutoNum type="arabicPeriod"/>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 A set of related monoalphabetic substitution rules is used. </a:t>
            </a:r>
          </a:p>
          <a:p>
            <a:pPr eaLnBrk="1" hangingPunct="1">
              <a:spcBef>
                <a:spcPts val="450"/>
              </a:spcBef>
              <a:buFont typeface="Times New Roman" panose="02020603050405020304" pitchFamily="18" charset="0"/>
              <a:buAutoNum type="arabicPeriod"/>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 A key determines which particular rule is chosen for a given transformation. </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F8F7AC40-11B6-8284-E11E-B306C6A84DE5}"/>
              </a:ext>
            </a:extLst>
          </p:cNvPr>
          <p:cNvSpPr>
            <a:spLocks noGrp="1" noChangeArrowheads="1"/>
          </p:cNvSpPr>
          <p:nvPr>
            <p:ph type="sldNum"/>
          </p:nvPr>
        </p:nvSpPr>
        <p:spPr>
          <a:ln/>
        </p:spPr>
        <p:txBody>
          <a:bodyPr/>
          <a:lstStyle/>
          <a:p>
            <a:fld id="{9F47093D-31B2-3548-9277-86612FECD7F2}" type="slidenum">
              <a:rPr lang="en-AU" altLang="en-US"/>
              <a:pPr/>
              <a:t>43</a:t>
            </a:fld>
            <a:endParaRPr lang="en-AU" altLang="en-US"/>
          </a:p>
        </p:txBody>
      </p:sp>
      <p:sp>
        <p:nvSpPr>
          <p:cNvPr id="109569" name="Text Box 1">
            <a:extLst>
              <a:ext uri="{FF2B5EF4-FFF2-40B4-BE49-F238E27FC236}">
                <a16:creationId xmlns:a16="http://schemas.microsoft.com/office/drawing/2014/main" id="{B6323C5D-F94B-A934-418D-912DFECA3CB1}"/>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DA92905F-49D2-D949-BD4E-F05CA5CAFDC8}" type="slidenum">
              <a:rPr lang="en-US" altLang="en-US" sz="1200"/>
              <a:pPr algn="r">
                <a:buClrTx/>
                <a:buFontTx/>
                <a:buNone/>
              </a:pPr>
              <a:t>43</a:t>
            </a:fld>
            <a:endParaRPr lang="en-US" altLang="en-US" sz="1200"/>
          </a:p>
        </p:txBody>
      </p:sp>
      <p:sp>
        <p:nvSpPr>
          <p:cNvPr id="109570" name="Text Box 2">
            <a:extLst>
              <a:ext uri="{FF2B5EF4-FFF2-40B4-BE49-F238E27FC236}">
                <a16:creationId xmlns:a16="http://schemas.microsoft.com/office/drawing/2014/main" id="{609AEE49-11BD-5C0F-9762-BDD9A010AD24}"/>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9571" name="Text Box 3">
            <a:extLst>
              <a:ext uri="{FF2B5EF4-FFF2-40B4-BE49-F238E27FC236}">
                <a16:creationId xmlns:a16="http://schemas.microsoft.com/office/drawing/2014/main" id="{ABC4F4E4-0033-8799-1B34-58B5FAFD576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The best known, and one of the simplest, such algorithms is referred to as the Vigenère cipher, where the set of related monoalphabetic substitution rules consists of the 26 Caesar ciphers, with shifts of 0 through 25. Each cipher is denoted by a key letter, which is the ciphertext letter that substitutes for the plaintext letter ‘a’, and which are </a:t>
            </a:r>
            <a:r>
              <a:rPr lang="en-AU" altLang="en-US">
                <a:latin typeface="Arial" panose="020B0604020202020204" pitchFamily="34" charset="0"/>
                <a:cs typeface="Arial" panose="020B0604020202020204" pitchFamily="34" charset="0"/>
              </a:rPr>
              <a:t>each used in turn, as shown next. </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0967131B-E16D-4927-EA82-9A1C84795CA9}"/>
              </a:ext>
            </a:extLst>
          </p:cNvPr>
          <p:cNvSpPr>
            <a:spLocks noGrp="1" noChangeArrowheads="1"/>
          </p:cNvSpPr>
          <p:nvPr>
            <p:ph type="sldNum"/>
          </p:nvPr>
        </p:nvSpPr>
        <p:spPr>
          <a:ln/>
        </p:spPr>
        <p:txBody>
          <a:bodyPr/>
          <a:lstStyle/>
          <a:p>
            <a:fld id="{C848AD97-FB31-DD46-A406-8629F496C0CA}" type="slidenum">
              <a:rPr lang="en-AU" altLang="en-US"/>
              <a:pPr/>
              <a:t>44</a:t>
            </a:fld>
            <a:endParaRPr lang="en-AU" altLang="en-US"/>
          </a:p>
        </p:txBody>
      </p:sp>
      <p:sp>
        <p:nvSpPr>
          <p:cNvPr id="110593" name="Text Box 1">
            <a:extLst>
              <a:ext uri="{FF2B5EF4-FFF2-40B4-BE49-F238E27FC236}">
                <a16:creationId xmlns:a16="http://schemas.microsoft.com/office/drawing/2014/main" id="{592559FF-E9F5-899A-3214-E261BDCF725D}"/>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302C6F2A-A96B-374D-854F-C20C6CA04802}" type="slidenum">
              <a:rPr lang="en-US" altLang="en-US" sz="1200"/>
              <a:pPr algn="r">
                <a:buClrTx/>
                <a:buFontTx/>
                <a:buNone/>
              </a:pPr>
              <a:t>44</a:t>
            </a:fld>
            <a:endParaRPr lang="en-US" altLang="en-US" sz="1200"/>
          </a:p>
        </p:txBody>
      </p:sp>
      <p:sp>
        <p:nvSpPr>
          <p:cNvPr id="110594" name="Text Box 2">
            <a:extLst>
              <a:ext uri="{FF2B5EF4-FFF2-40B4-BE49-F238E27FC236}">
                <a16:creationId xmlns:a16="http://schemas.microsoft.com/office/drawing/2014/main" id="{4B4C972D-E582-A9D1-8DD4-72825E941591}"/>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0595" name="Text Box 3">
            <a:extLst>
              <a:ext uri="{FF2B5EF4-FFF2-40B4-BE49-F238E27FC236}">
                <a16:creationId xmlns:a16="http://schemas.microsoft.com/office/drawing/2014/main" id="{4A7993EA-3F01-1D9A-B09F-15DD33DC4FB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Discuss this simple example from text Stallings section 2.2.</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p:nvPr>
        </p:nvSpPr>
        <p:spPr/>
        <p:txBody>
          <a:bodyPr/>
          <a:lstStyle/>
          <a:p>
            <a:fld id="{54AC46DC-AE11-8F4F-A2BD-44CD9CDFB361}" type="slidenum">
              <a:rPr lang="en-AU" altLang="en-US" smtClean="0"/>
              <a:pPr/>
              <a:t>45</a:t>
            </a:fld>
            <a:endParaRPr lang="en-AU" altLang="en-US"/>
          </a:p>
        </p:txBody>
      </p:sp>
    </p:spTree>
    <p:extLst>
      <p:ext uri="{BB962C8B-B14F-4D97-AF65-F5344CB8AC3E}">
        <p14:creationId xmlns:p14="http://schemas.microsoft.com/office/powerpoint/2010/main" val="23892929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p:nvPr>
        </p:nvSpPr>
        <p:spPr/>
        <p:txBody>
          <a:bodyPr/>
          <a:lstStyle/>
          <a:p>
            <a:fld id="{54AC46DC-AE11-8F4F-A2BD-44CD9CDFB361}" type="slidenum">
              <a:rPr lang="en-AU" altLang="en-US" smtClean="0"/>
              <a:pPr/>
              <a:t>46</a:t>
            </a:fld>
            <a:endParaRPr lang="en-AU" altLang="en-US"/>
          </a:p>
        </p:txBody>
      </p:sp>
    </p:spTree>
    <p:extLst>
      <p:ext uri="{BB962C8B-B14F-4D97-AF65-F5344CB8AC3E}">
        <p14:creationId xmlns:p14="http://schemas.microsoft.com/office/powerpoint/2010/main" val="16593490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p:nvPr>
        </p:nvSpPr>
        <p:spPr/>
        <p:txBody>
          <a:bodyPr/>
          <a:lstStyle/>
          <a:p>
            <a:fld id="{54AC46DC-AE11-8F4F-A2BD-44CD9CDFB361}" type="slidenum">
              <a:rPr lang="en-AU" altLang="en-US" smtClean="0"/>
              <a:pPr/>
              <a:t>47</a:t>
            </a:fld>
            <a:endParaRPr lang="en-AU" altLang="en-US"/>
          </a:p>
        </p:txBody>
      </p:sp>
    </p:spTree>
    <p:extLst>
      <p:ext uri="{BB962C8B-B14F-4D97-AF65-F5344CB8AC3E}">
        <p14:creationId xmlns:p14="http://schemas.microsoft.com/office/powerpoint/2010/main" val="33019768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53902DC3-ED8C-D280-CD60-55B1B5163DA3}"/>
              </a:ext>
            </a:extLst>
          </p:cNvPr>
          <p:cNvSpPr>
            <a:spLocks noGrp="1" noChangeArrowheads="1"/>
          </p:cNvSpPr>
          <p:nvPr>
            <p:ph type="sldNum"/>
          </p:nvPr>
        </p:nvSpPr>
        <p:spPr>
          <a:ln/>
        </p:spPr>
        <p:txBody>
          <a:bodyPr/>
          <a:lstStyle/>
          <a:p>
            <a:fld id="{20564AAB-B2E2-EE42-AF2B-2FCEBB1F6655}" type="slidenum">
              <a:rPr lang="en-AU" altLang="en-US"/>
              <a:pPr/>
              <a:t>48</a:t>
            </a:fld>
            <a:endParaRPr lang="en-AU" altLang="en-US"/>
          </a:p>
        </p:txBody>
      </p:sp>
      <p:sp>
        <p:nvSpPr>
          <p:cNvPr id="112641" name="Text Box 1">
            <a:extLst>
              <a:ext uri="{FF2B5EF4-FFF2-40B4-BE49-F238E27FC236}">
                <a16:creationId xmlns:a16="http://schemas.microsoft.com/office/drawing/2014/main" id="{55BF9594-B2F6-0691-C4B8-6E592790623C}"/>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6C82AC0A-06BB-3C43-B702-EF24A00CEFE1}" type="slidenum">
              <a:rPr lang="en-US" altLang="en-US" sz="1200"/>
              <a:pPr algn="r">
                <a:buClrTx/>
                <a:buFontTx/>
                <a:buNone/>
              </a:pPr>
              <a:t>48</a:t>
            </a:fld>
            <a:endParaRPr lang="en-US" altLang="en-US" sz="1200"/>
          </a:p>
        </p:txBody>
      </p:sp>
      <p:sp>
        <p:nvSpPr>
          <p:cNvPr id="112642" name="Text Box 2">
            <a:extLst>
              <a:ext uri="{FF2B5EF4-FFF2-40B4-BE49-F238E27FC236}">
                <a16:creationId xmlns:a16="http://schemas.microsoft.com/office/drawing/2014/main" id="{2D6E3962-BDFF-04E3-07CE-583C625627F0}"/>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43" name="Text Box 3">
            <a:extLst>
              <a:ext uri="{FF2B5EF4-FFF2-40B4-BE49-F238E27FC236}">
                <a16:creationId xmlns:a16="http://schemas.microsoft.com/office/drawing/2014/main" id="{A3FCC0A1-85E8-8626-E3E3-FED5F767C3CC}"/>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The </a:t>
            </a:r>
            <a:r>
              <a:rPr lang="en-AU" altLang="en-US">
                <a:latin typeface="Arial" panose="020B0604020202020204" pitchFamily="34" charset="0"/>
                <a:ea typeface="ＭＳ Ｐゴシック" panose="020B0600070205080204" pitchFamily="34" charset="-128"/>
              </a:rPr>
              <a:t>Vigenère &amp; related polyalphabetic ciphers still do not completely obscure the underlying language characteristics. </a:t>
            </a:r>
            <a:r>
              <a:rPr lang="en-US" altLang="en-US">
                <a:latin typeface="Arial" panose="020B0604020202020204" pitchFamily="34" charset="0"/>
                <a:ea typeface="ＭＳ Ｐゴシック" panose="020B0600070205080204" pitchFamily="34" charset="-128"/>
              </a:rPr>
              <a:t>The strength of this cipher is that there are multiple ciphertext letters for each plaintext letter, one for each unique letter of the keyword. Thus, the letter frequency information is obscured. However, not all knowledge of the plaintext structure is lost. </a:t>
            </a:r>
            <a:r>
              <a:rPr lang="en-AU" altLang="en-US">
                <a:latin typeface="Arial" panose="020B0604020202020204" pitchFamily="34" charset="0"/>
                <a:ea typeface="ＭＳ Ｐゴシック" panose="020B0600070205080204" pitchFamily="34" charset="-128"/>
              </a:rPr>
              <a:t>The key to breaking them is to identify the number of translation alphabets, and then attack each separately. </a:t>
            </a:r>
            <a:r>
              <a:rPr lang="en-US" altLang="en-US">
                <a:latin typeface="Arial" panose="020B0604020202020204" pitchFamily="34" charset="0"/>
                <a:ea typeface="ＭＳ Ｐゴシック" panose="020B0600070205080204" pitchFamily="34" charset="-128"/>
              </a:rPr>
              <a:t>If a monoalphabetic substitution is used, then the statistical properties of the ciphertext should be the same as that of the language of the plaintext. If, on the other hand, a Vigenère cipher is suspected, then progress depends on determining the length of the keyword. </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CD2D55D3-7ADD-32A5-1542-910AF7F42E7C}"/>
              </a:ext>
            </a:extLst>
          </p:cNvPr>
          <p:cNvSpPr>
            <a:spLocks noGrp="1" noChangeArrowheads="1"/>
          </p:cNvSpPr>
          <p:nvPr>
            <p:ph type="sldNum"/>
          </p:nvPr>
        </p:nvSpPr>
        <p:spPr>
          <a:ln/>
        </p:spPr>
        <p:txBody>
          <a:bodyPr/>
          <a:lstStyle/>
          <a:p>
            <a:fld id="{2AA255ED-6667-324C-9D4C-17512311B306}" type="slidenum">
              <a:rPr lang="en-AU" altLang="en-US"/>
              <a:pPr/>
              <a:t>49</a:t>
            </a:fld>
            <a:endParaRPr lang="en-AU" altLang="en-US"/>
          </a:p>
        </p:txBody>
      </p:sp>
      <p:sp>
        <p:nvSpPr>
          <p:cNvPr id="113665" name="Text Box 1">
            <a:extLst>
              <a:ext uri="{FF2B5EF4-FFF2-40B4-BE49-F238E27FC236}">
                <a16:creationId xmlns:a16="http://schemas.microsoft.com/office/drawing/2014/main" id="{DCBDB002-0FB6-C140-9F6D-0FD89A8C1D74}"/>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068E22D6-2106-F54C-B569-89B7C5DA5AE5}" type="slidenum">
              <a:rPr lang="en-US" altLang="en-US" sz="1200"/>
              <a:pPr algn="r">
                <a:buClrTx/>
                <a:buFontTx/>
                <a:buNone/>
              </a:pPr>
              <a:t>49</a:t>
            </a:fld>
            <a:endParaRPr lang="en-US" altLang="en-US" sz="1200"/>
          </a:p>
        </p:txBody>
      </p:sp>
      <p:sp>
        <p:nvSpPr>
          <p:cNvPr id="113666" name="Text Box 2">
            <a:extLst>
              <a:ext uri="{FF2B5EF4-FFF2-40B4-BE49-F238E27FC236}">
                <a16:creationId xmlns:a16="http://schemas.microsoft.com/office/drawing/2014/main" id="{470E0820-AE36-2153-779D-CB8012A89B11}"/>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3667" name="Text Box 3">
            <a:extLst>
              <a:ext uri="{FF2B5EF4-FFF2-40B4-BE49-F238E27FC236}">
                <a16:creationId xmlns:a16="http://schemas.microsoft.com/office/drawing/2014/main" id="{0A3D2F95-ECE2-EA95-AE6D-0D159A5E72FA}"/>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a:ea typeface="AR PL SungtiL GB" charset="0"/>
              <a:cs typeface="AR PL SungtiL GB"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74E84A7B-7A4F-39E6-85E6-0F3244378256}"/>
              </a:ext>
            </a:extLst>
          </p:cNvPr>
          <p:cNvSpPr>
            <a:spLocks noGrp="1" noChangeArrowheads="1"/>
          </p:cNvSpPr>
          <p:nvPr>
            <p:ph type="sldNum"/>
          </p:nvPr>
        </p:nvSpPr>
        <p:spPr>
          <a:ln/>
        </p:spPr>
        <p:txBody>
          <a:bodyPr/>
          <a:lstStyle/>
          <a:p>
            <a:fld id="{36017728-B391-6C4A-8711-4981CD909026}" type="slidenum">
              <a:rPr lang="en-AU" altLang="en-US"/>
              <a:pPr/>
              <a:t>50</a:t>
            </a:fld>
            <a:endParaRPr lang="en-AU" altLang="en-US"/>
          </a:p>
        </p:txBody>
      </p:sp>
      <p:sp>
        <p:nvSpPr>
          <p:cNvPr id="114689" name="Text Box 1">
            <a:extLst>
              <a:ext uri="{FF2B5EF4-FFF2-40B4-BE49-F238E27FC236}">
                <a16:creationId xmlns:a16="http://schemas.microsoft.com/office/drawing/2014/main" id="{4782177F-C4CC-AC88-7EEA-0565AC655929}"/>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A06FC3E3-C1FB-7547-9C8B-91FA287AD07B}" type="slidenum">
              <a:rPr lang="en-US" altLang="en-US" sz="1200"/>
              <a:pPr algn="r">
                <a:buClrTx/>
                <a:buFontTx/>
                <a:buNone/>
              </a:pPr>
              <a:t>50</a:t>
            </a:fld>
            <a:endParaRPr lang="en-US" altLang="en-US" sz="1200"/>
          </a:p>
        </p:txBody>
      </p:sp>
      <p:sp>
        <p:nvSpPr>
          <p:cNvPr id="114690" name="Text Box 2">
            <a:extLst>
              <a:ext uri="{FF2B5EF4-FFF2-40B4-BE49-F238E27FC236}">
                <a16:creationId xmlns:a16="http://schemas.microsoft.com/office/drawing/2014/main" id="{2076F182-1645-28E4-58B9-E9DF75C4B11A}"/>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4691" name="Text Box 3">
            <a:extLst>
              <a:ext uri="{FF2B5EF4-FFF2-40B4-BE49-F238E27FC236}">
                <a16:creationId xmlns:a16="http://schemas.microsoft.com/office/drawing/2014/main" id="{7FD9379A-712B-55B9-835C-64FD4E887E31}"/>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a:ea typeface="AR PL SungtiL GB" charset="0"/>
              <a:cs typeface="AR PL SungtiL GB"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4F941F9D-11FE-8B5D-43B8-55D9DFB899DE}"/>
              </a:ext>
            </a:extLst>
          </p:cNvPr>
          <p:cNvSpPr>
            <a:spLocks noGrp="1" noChangeArrowheads="1"/>
          </p:cNvSpPr>
          <p:nvPr>
            <p:ph type="sldNum"/>
          </p:nvPr>
        </p:nvSpPr>
        <p:spPr>
          <a:ln/>
        </p:spPr>
        <p:txBody>
          <a:bodyPr/>
          <a:lstStyle/>
          <a:p>
            <a:fld id="{71250217-9166-CC42-8FD7-B311A059270D}" type="slidenum">
              <a:rPr lang="en-AU" altLang="en-US"/>
              <a:pPr/>
              <a:t>51</a:t>
            </a:fld>
            <a:endParaRPr lang="en-AU" altLang="en-US"/>
          </a:p>
        </p:txBody>
      </p:sp>
      <p:sp>
        <p:nvSpPr>
          <p:cNvPr id="115713" name="Text Box 1">
            <a:extLst>
              <a:ext uri="{FF2B5EF4-FFF2-40B4-BE49-F238E27FC236}">
                <a16:creationId xmlns:a16="http://schemas.microsoft.com/office/drawing/2014/main" id="{75D940CB-350F-EA14-CE2C-5CE99DF765C0}"/>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8FC9A972-50B9-E946-8D5D-7641193CC4F9}" type="slidenum">
              <a:rPr lang="en-US" altLang="en-US" sz="1200"/>
              <a:pPr algn="r">
                <a:buClrTx/>
                <a:buFontTx/>
                <a:buNone/>
              </a:pPr>
              <a:t>51</a:t>
            </a:fld>
            <a:endParaRPr lang="en-US" altLang="en-US" sz="1200"/>
          </a:p>
        </p:txBody>
      </p:sp>
      <p:sp>
        <p:nvSpPr>
          <p:cNvPr id="115714" name="Text Box 2">
            <a:extLst>
              <a:ext uri="{FF2B5EF4-FFF2-40B4-BE49-F238E27FC236}">
                <a16:creationId xmlns:a16="http://schemas.microsoft.com/office/drawing/2014/main" id="{E7E5DA8A-3FF4-7DFF-DEEA-F71B05661FE4}"/>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5715" name="Text Box 3">
            <a:extLst>
              <a:ext uri="{FF2B5EF4-FFF2-40B4-BE49-F238E27FC236}">
                <a16:creationId xmlns:a16="http://schemas.microsoft.com/office/drawing/2014/main" id="{D7E81D00-BFB2-9CFF-E8A5-ABF7094C3DA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For some centuries the Vigenère cipher was </a:t>
            </a:r>
            <a:r>
              <a:rPr lang="en-AU" altLang="en-US" i="1">
                <a:latin typeface="Arial" panose="020B0604020202020204" pitchFamily="34" charset="0"/>
                <a:ea typeface="ＭＳ Ｐゴシック" panose="020B0600070205080204" pitchFamily="34" charset="-128"/>
              </a:rPr>
              <a:t>le chiffre indéchiffrable</a:t>
            </a:r>
            <a:r>
              <a:rPr lang="en-AU" altLang="en-US">
                <a:latin typeface="Arial" panose="020B0604020202020204" pitchFamily="34" charset="0"/>
                <a:ea typeface="ＭＳ Ｐゴシック" panose="020B0600070205080204" pitchFamily="34" charset="-128"/>
              </a:rPr>
              <a:t> (the unbreakable cipher). As a result of a challenge, it was broken by Charles Babbage (the inventor of the computer) in 1854 but kept secret (possibly because of the Crimean War - not the first time governments have kept advances to themselves!). The method was independently reinvented by a Prussian, Friedrich Kasiski, who published the attack now named after him in 1863. However lack of major advances meant that various polyalphabetic substitution ciphers were used into the 20C. One very famous incident was the breaking of the Zimmermann telegram in WW1 which resulted in the USA entering the war. </a:t>
            </a:r>
            <a:r>
              <a:rPr lang="en-US" altLang="en-US">
                <a:latin typeface="Arial" panose="020B0604020202020204" pitchFamily="34" charset="0"/>
                <a:ea typeface="ＭＳ Ｐゴシック" panose="020B0600070205080204" pitchFamily="34" charset="-128"/>
              </a:rPr>
              <a:t>The important is that if two identical sequences of plaintext letters occur at a distance that is an integer multiple of the keyword length, they will generate identical ciphertext sequences.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In general the approach is to find a number of duplicated sequences, collect all their distances apart, look for common factors, remembering that some will be random flukes and need to be discarded. Now have a series of monoalphabetic ciphers, each with original language letter frequency characteristics. Can attack these in turn to break the cipher.</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0B3E885C-5921-0E42-AA52-17A91A428DF6}"/>
              </a:ext>
            </a:extLst>
          </p:cNvPr>
          <p:cNvSpPr>
            <a:spLocks noGrp="1" noChangeArrowheads="1"/>
          </p:cNvSpPr>
          <p:nvPr>
            <p:ph type="sldNum"/>
          </p:nvPr>
        </p:nvSpPr>
        <p:spPr>
          <a:ln/>
        </p:spPr>
        <p:txBody>
          <a:bodyPr/>
          <a:lstStyle/>
          <a:p>
            <a:fld id="{19B674D3-546D-E642-922C-8A98FA31E904}" type="slidenum">
              <a:rPr lang="en-AU" altLang="en-US"/>
              <a:pPr/>
              <a:t>52</a:t>
            </a:fld>
            <a:endParaRPr lang="en-AU" altLang="en-US"/>
          </a:p>
        </p:txBody>
      </p:sp>
      <p:sp>
        <p:nvSpPr>
          <p:cNvPr id="118785" name="Text Box 1">
            <a:extLst>
              <a:ext uri="{FF2B5EF4-FFF2-40B4-BE49-F238E27FC236}">
                <a16:creationId xmlns:a16="http://schemas.microsoft.com/office/drawing/2014/main" id="{E7AF89A7-5976-BCC0-E573-511C5F0533ED}"/>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943E3D36-2C29-644B-B37E-1E74B415E264}" type="slidenum">
              <a:rPr lang="en-AU" altLang="en-US" sz="1200"/>
              <a:pPr algn="r">
                <a:buClrTx/>
                <a:buFontTx/>
                <a:buNone/>
              </a:pPr>
              <a:t>52</a:t>
            </a:fld>
            <a:endParaRPr lang="en-AU" altLang="en-US" sz="1200"/>
          </a:p>
        </p:txBody>
      </p:sp>
      <p:sp>
        <p:nvSpPr>
          <p:cNvPr id="118786" name="Text Box 2">
            <a:extLst>
              <a:ext uri="{FF2B5EF4-FFF2-40B4-BE49-F238E27FC236}">
                <a16:creationId xmlns:a16="http://schemas.microsoft.com/office/drawing/2014/main" id="{33410D79-7AAF-AF66-95A1-CB83EA5F08A1}"/>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8787" name="Text Box 3">
            <a:extLst>
              <a:ext uri="{FF2B5EF4-FFF2-40B4-BE49-F238E27FC236}">
                <a16:creationId xmlns:a16="http://schemas.microsoft.com/office/drawing/2014/main" id="{23353165-7FDE-198B-259B-D577383DD17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Taking the polyalphabetic idea to the extreme, want as many different translation alphabets as letters in the message being sent. One way of doing this with a smallish key, is to use the Autokey cipher.</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The example uses the keyword "DECEPTIVE" prefixed to as much of the message "WEAREDISCOVEREDSAV" as is needed. When deciphering, recover the first 9 letters using the keyword "DECEPTIVE". Then instead of repeating the keyword, start using the recovered letters from the message "WEAREDISC". As recover more letters, have more of key to recover later letters.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Problem is that the same language characteristics are used by the key as the message. ie. a key of 'E' will be used more often than a 'T' etc  hence an 'E' encrypted with a key of 'E' occurs with probability (0.1275)2 = 0.01663, about twice as often as a 'T' encrypted with a key of 'T'  have to use a larger frequency table, but it exists given sufficient ciphertext this can be broken.</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30D650C7-9E78-DDF2-CC3C-EB7491308DDC}"/>
              </a:ext>
            </a:extLst>
          </p:cNvPr>
          <p:cNvSpPr>
            <a:spLocks noGrp="1" noChangeArrowheads="1"/>
          </p:cNvSpPr>
          <p:nvPr>
            <p:ph type="sldNum"/>
          </p:nvPr>
        </p:nvSpPr>
        <p:spPr>
          <a:ln/>
        </p:spPr>
        <p:txBody>
          <a:bodyPr/>
          <a:lstStyle/>
          <a:p>
            <a:fld id="{1B71AF56-7782-3644-8F45-19E50539FB3F}" type="slidenum">
              <a:rPr lang="en-AU" altLang="en-US"/>
              <a:pPr/>
              <a:t>53</a:t>
            </a:fld>
            <a:endParaRPr lang="en-AU" altLang="en-US"/>
          </a:p>
        </p:txBody>
      </p:sp>
      <p:sp>
        <p:nvSpPr>
          <p:cNvPr id="119809" name="Text Box 1">
            <a:extLst>
              <a:ext uri="{FF2B5EF4-FFF2-40B4-BE49-F238E27FC236}">
                <a16:creationId xmlns:a16="http://schemas.microsoft.com/office/drawing/2014/main" id="{69E190F4-4822-0F69-846C-6341785B38A9}"/>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C9AD9448-44C9-6D46-914F-AE1F4BD19F51}" type="slidenum">
              <a:rPr lang="en-AU" altLang="en-US" sz="1200"/>
              <a:pPr algn="r">
                <a:buClrTx/>
                <a:buFontTx/>
                <a:buNone/>
              </a:pPr>
              <a:t>53</a:t>
            </a:fld>
            <a:endParaRPr lang="en-AU" altLang="en-US" sz="1200"/>
          </a:p>
        </p:txBody>
      </p:sp>
      <p:sp>
        <p:nvSpPr>
          <p:cNvPr id="119810" name="Text Box 2">
            <a:extLst>
              <a:ext uri="{FF2B5EF4-FFF2-40B4-BE49-F238E27FC236}">
                <a16:creationId xmlns:a16="http://schemas.microsoft.com/office/drawing/2014/main" id="{04968A8B-9755-A247-CF9E-052CCF161AD7}"/>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9811" name="Text Box 3">
            <a:extLst>
              <a:ext uri="{FF2B5EF4-FFF2-40B4-BE49-F238E27FC236}">
                <a16:creationId xmlns:a16="http://schemas.microsoft.com/office/drawing/2014/main" id="{E5405925-F6AD-9B24-493B-CBA95628FBD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Taking the polyalphabetic idea to the extreme, want as many different translation alphabets as letters in the message being sent. One way of doing this with a smallish key, is to use the Autokey cipher.</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The example uses the keyword "DECEPTIVE" prefixed to as much of the message "WEAREDISCOVEREDSAV" as is needed. When deciphering, recover the first 9 letters using the keyword "DECEPTIVE". Then instead of repeating the keyword, start using the recovered letters from the message "WEAREDISC". As recover more letters, have more of key to recover later letters.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Problem is that the same language characteristics are used by the key as the message. ie. a key of 'E' will be used more often than a 'T' etc  hence an 'E' encrypted with a key of 'E' occurs with probability (0.1275)2 = 0.01663, about twice as often as a 'T' encrypted with a key of 'T'  have to use a larger frequency table, but it exists given sufficient ciphertext this can be broken.</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01138AD9-9A4E-4D86-4078-BE8C44BC2521}"/>
              </a:ext>
            </a:extLst>
          </p:cNvPr>
          <p:cNvSpPr>
            <a:spLocks noGrp="1" noChangeArrowheads="1"/>
          </p:cNvSpPr>
          <p:nvPr>
            <p:ph type="sldNum"/>
          </p:nvPr>
        </p:nvSpPr>
        <p:spPr>
          <a:ln/>
        </p:spPr>
        <p:txBody>
          <a:bodyPr/>
          <a:lstStyle/>
          <a:p>
            <a:fld id="{FC341D3B-CEE2-124D-982E-5227E158781C}" type="slidenum">
              <a:rPr lang="en-AU" altLang="en-US"/>
              <a:pPr/>
              <a:t>54</a:t>
            </a:fld>
            <a:endParaRPr lang="en-AU" altLang="en-US"/>
          </a:p>
        </p:txBody>
      </p:sp>
      <p:sp>
        <p:nvSpPr>
          <p:cNvPr id="120833" name="Text Box 1">
            <a:extLst>
              <a:ext uri="{FF2B5EF4-FFF2-40B4-BE49-F238E27FC236}">
                <a16:creationId xmlns:a16="http://schemas.microsoft.com/office/drawing/2014/main" id="{C36BB4EE-CC11-0FB8-EC31-4032DD15221C}"/>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4" name="Text Box 2">
            <a:extLst>
              <a:ext uri="{FF2B5EF4-FFF2-40B4-BE49-F238E27FC236}">
                <a16:creationId xmlns:a16="http://schemas.microsoft.com/office/drawing/2014/main" id="{4742EA6A-323A-AD89-0934-22C3EC1E48FC}"/>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The ultimate defense against such a cryptanalysis is to choose a keyword that is as long as the plaintext and has no statistical relationship to it. Such a system was introduced by an AT&amp;T engineer named Gilbert Vernam in 1918. His system works on binary data (bits0 rather than letters. The system can be expressed succinctly as follows: </a:t>
            </a:r>
            <a:r>
              <a:rPr lang="en-US" altLang="en-US" i="1">
                <a:latin typeface="Arial" panose="020B0604020202020204" pitchFamily="34" charset="0"/>
                <a:ea typeface="ＭＳ Ｐゴシック" panose="020B0600070205080204" pitchFamily="34" charset="-128"/>
              </a:rPr>
              <a:t>c</a:t>
            </a:r>
            <a:r>
              <a:rPr lang="en-US" altLang="en-US" i="1" baseline="-25000">
                <a:latin typeface="Arial" panose="020B0604020202020204" pitchFamily="34" charset="0"/>
                <a:ea typeface="ＭＳ Ｐゴシック" panose="020B0600070205080204" pitchFamily="34" charset="-128"/>
              </a:rPr>
              <a:t>i</a:t>
            </a:r>
            <a:r>
              <a:rPr lang="en-US" altLang="en-US" i="1">
                <a:latin typeface="Arial" panose="020B0604020202020204" pitchFamily="34" charset="0"/>
                <a:ea typeface="ＭＳ Ｐゴシック" panose="020B0600070205080204" pitchFamily="34" charset="-128"/>
              </a:rPr>
              <a:t>  =  p</a:t>
            </a:r>
            <a:r>
              <a:rPr lang="en-US" altLang="en-US" i="1" baseline="-25000">
                <a:latin typeface="Arial" panose="020B0604020202020204" pitchFamily="34" charset="0"/>
                <a:ea typeface="ＭＳ Ｐゴシック" panose="020B0600070205080204" pitchFamily="34" charset="-128"/>
              </a:rPr>
              <a:t>i</a:t>
            </a:r>
            <a:r>
              <a:rPr lang="en-US" altLang="en-US" i="1">
                <a:latin typeface="Arial" panose="020B0604020202020204" pitchFamily="34" charset="0"/>
                <a:ea typeface="ＭＳ Ｐゴシック" panose="020B0600070205080204" pitchFamily="34" charset="-128"/>
              </a:rPr>
              <a:t> XOR  k</a:t>
            </a:r>
            <a:r>
              <a:rPr lang="en-US" altLang="en-US" i="1" baseline="-25000">
                <a:latin typeface="Arial" panose="020B0604020202020204" pitchFamily="34" charset="0"/>
                <a:ea typeface="ＭＳ Ｐゴシック" panose="020B0600070205080204" pitchFamily="34" charset="-128"/>
              </a:rPr>
              <a:t>i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The essence of this technique is the means of construction of the key. Vernam proposed the use of a running loop of tape that eventually repeated the key, so that in fact the system worked with a very long but repeating keyword. Although such a scheme, with a long key, presents formidable cryptanalytic difficulties, it can be broken with sufficient ciphertext, the use of known or probable plaintext sequences, or both.</a:t>
            </a:r>
          </a:p>
        </p:txBody>
      </p:sp>
      <p:sp>
        <p:nvSpPr>
          <p:cNvPr id="120835" name="Text Box 3">
            <a:extLst>
              <a:ext uri="{FF2B5EF4-FFF2-40B4-BE49-F238E27FC236}">
                <a16:creationId xmlns:a16="http://schemas.microsoft.com/office/drawing/2014/main" id="{B593F9ED-139C-FF4E-EB8E-F5F44BC4E62D}"/>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13BDC9B6-5B6F-284D-96F1-E3C3D32CEA38}" type="slidenum">
              <a:rPr lang="en-AU" altLang="en-US" sz="1200"/>
              <a:pPr algn="r">
                <a:buClrTx/>
                <a:buFontTx/>
                <a:buNone/>
              </a:pPr>
              <a:t>54</a:t>
            </a:fld>
            <a:endParaRPr lang="en-AU" altLang="en-US" sz="120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8813F45C-16C8-E054-B41B-2CD647CD7728}"/>
              </a:ext>
            </a:extLst>
          </p:cNvPr>
          <p:cNvSpPr>
            <a:spLocks noGrp="1" noChangeArrowheads="1"/>
          </p:cNvSpPr>
          <p:nvPr>
            <p:ph type="sldNum"/>
          </p:nvPr>
        </p:nvSpPr>
        <p:spPr>
          <a:ln/>
        </p:spPr>
        <p:txBody>
          <a:bodyPr/>
          <a:lstStyle/>
          <a:p>
            <a:fld id="{D6474436-07F1-814D-9140-F97FBA10DFC6}" type="slidenum">
              <a:rPr lang="en-AU" altLang="en-US"/>
              <a:pPr/>
              <a:t>55</a:t>
            </a:fld>
            <a:endParaRPr lang="en-AU" altLang="en-US"/>
          </a:p>
        </p:txBody>
      </p:sp>
      <p:sp>
        <p:nvSpPr>
          <p:cNvPr id="121857" name="Text Box 1">
            <a:extLst>
              <a:ext uri="{FF2B5EF4-FFF2-40B4-BE49-F238E27FC236}">
                <a16:creationId xmlns:a16="http://schemas.microsoft.com/office/drawing/2014/main" id="{5C57B678-8CDC-ADB9-D851-897ECC46496E}"/>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0875D8DA-DF5C-E74D-AE5C-F0EFB9FB2529}" type="slidenum">
              <a:rPr lang="en-AU" altLang="en-US" sz="1200"/>
              <a:pPr algn="r">
                <a:buClrTx/>
                <a:buFontTx/>
                <a:buNone/>
              </a:pPr>
              <a:t>55</a:t>
            </a:fld>
            <a:endParaRPr lang="en-AU" altLang="en-US" sz="1200"/>
          </a:p>
        </p:txBody>
      </p:sp>
      <p:sp>
        <p:nvSpPr>
          <p:cNvPr id="121858" name="Text Box 2">
            <a:extLst>
              <a:ext uri="{FF2B5EF4-FFF2-40B4-BE49-F238E27FC236}">
                <a16:creationId xmlns:a16="http://schemas.microsoft.com/office/drawing/2014/main" id="{BD1B54DA-59BB-00A5-185D-151D28A4665D}"/>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1859" name="Text Box 3">
            <a:extLst>
              <a:ext uri="{FF2B5EF4-FFF2-40B4-BE49-F238E27FC236}">
                <a16:creationId xmlns:a16="http://schemas.microsoft.com/office/drawing/2014/main" id="{ADE52A6F-B4EC-E6EE-E795-F97CD2C3B27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28600" indent="-223838" eaLnBrk="1" hangingPunct="1">
              <a:spcBef>
                <a:spcPts val="450"/>
              </a:spcBef>
              <a:buClrTx/>
              <a:buFontTx/>
              <a:buNone/>
              <a:tabLst>
                <a:tab pos="228600" algn="l"/>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Lst>
            </a:pPr>
            <a:r>
              <a:rPr lang="en-US" altLang="en-US">
                <a:latin typeface="Arial" panose="020B0604020202020204" pitchFamily="34" charset="0"/>
                <a:cs typeface="Arial" panose="020B0604020202020204" pitchFamily="34" charset="0"/>
              </a:rPr>
              <a:t>The One-Time Pad is an evolution of the Vernham cipher. An Army Signal Corp officer, Joseph Mauborgne, proposed an improvement using a random key that was truly as long as the message, with no repetitions, which thus totally obscures the original message. It produces random output that bears no statistical relationship to the plaintext. Because the ciphertext contains no information whatsoever about the plaintext, there is simply no way to break the code, since any plaintext can be mapped to any ciphertext given some key. </a:t>
            </a:r>
          </a:p>
          <a:p>
            <a:pPr marL="228600" indent="-223838" eaLnBrk="1" hangingPunct="1">
              <a:spcBef>
                <a:spcPts val="450"/>
              </a:spcBef>
              <a:buClrTx/>
              <a:buFontTx/>
              <a:buNone/>
              <a:tabLst>
                <a:tab pos="228600" algn="l"/>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Lst>
            </a:pPr>
            <a:r>
              <a:rPr lang="en-US" altLang="en-US">
                <a:latin typeface="Arial" panose="020B0604020202020204" pitchFamily="34" charset="0"/>
                <a:cs typeface="Arial" panose="020B0604020202020204" pitchFamily="34" charset="0"/>
              </a:rPr>
              <a:t>The one-time pad offers complete security but, in practice, has two fundamental difficulties: </a:t>
            </a:r>
          </a:p>
          <a:p>
            <a:pPr marL="228600" indent="-223838" eaLnBrk="1" hangingPunct="1">
              <a:spcBef>
                <a:spcPts val="450"/>
              </a:spcBef>
              <a:buFont typeface="Times New Roman" panose="02020603050405020304" pitchFamily="18" charset="0"/>
              <a:buAutoNum type="arabicPeriod"/>
              <a:tabLst>
                <a:tab pos="228600" algn="l"/>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Lst>
            </a:pPr>
            <a:r>
              <a:rPr lang="en-US" altLang="en-US">
                <a:latin typeface="Arial" panose="020B0604020202020204" pitchFamily="34" charset="0"/>
                <a:cs typeface="Arial" panose="020B0604020202020204" pitchFamily="34" charset="0"/>
              </a:rPr>
              <a:t>There is the practical problem of making large quantities of random keys. </a:t>
            </a:r>
          </a:p>
          <a:p>
            <a:pPr marL="228600" indent="-223838" eaLnBrk="1" hangingPunct="1">
              <a:spcBef>
                <a:spcPts val="450"/>
              </a:spcBef>
              <a:buFont typeface="Times New Roman" panose="02020603050405020304" pitchFamily="18" charset="0"/>
              <a:buAutoNum type="arabicPeriod"/>
              <a:tabLst>
                <a:tab pos="228600" algn="l"/>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Lst>
            </a:pPr>
            <a:r>
              <a:rPr lang="en-US" altLang="en-US">
                <a:latin typeface="Arial" panose="020B0604020202020204" pitchFamily="34" charset="0"/>
                <a:cs typeface="Arial" panose="020B0604020202020204" pitchFamily="34" charset="0"/>
              </a:rPr>
              <a:t>And the problem of key distribution and protection, where for every message to be sent, a key of equal length is needed by both sender and receiver.</a:t>
            </a:r>
          </a:p>
          <a:p>
            <a:pPr marL="228600" indent="-223838" eaLnBrk="1" hangingPunct="1">
              <a:spcBef>
                <a:spcPts val="450"/>
              </a:spcBef>
              <a:buClrTx/>
              <a:buFontTx/>
              <a:buNone/>
              <a:tabLst>
                <a:tab pos="228600" algn="l"/>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Lst>
            </a:pPr>
            <a:r>
              <a:rPr lang="en-US" altLang="en-US">
                <a:latin typeface="Arial" panose="020B0604020202020204" pitchFamily="34" charset="0"/>
                <a:cs typeface="Arial" panose="020B0604020202020204" pitchFamily="34" charset="0"/>
              </a:rPr>
              <a:t>Because of these difficulties, the one-time pad is of limited utility, and is useful primarily for low-bandwidth channels requiring very high security. The one-time pad is the only cryptosystem that exhibits what is referred to as </a:t>
            </a:r>
            <a:r>
              <a:rPr lang="en-US" altLang="en-US" i="1">
                <a:latin typeface="Arial" panose="020B0604020202020204" pitchFamily="34" charset="0"/>
                <a:cs typeface="Arial" panose="020B0604020202020204" pitchFamily="34" charset="0"/>
              </a:rPr>
              <a:t>perfect secrecy.</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37CBA8A5-E5CC-BC2B-A3B0-F15C5CA80E8C}"/>
              </a:ext>
            </a:extLst>
          </p:cNvPr>
          <p:cNvSpPr>
            <a:spLocks noGrp="1" noChangeArrowheads="1"/>
          </p:cNvSpPr>
          <p:nvPr>
            <p:ph type="sldNum"/>
          </p:nvPr>
        </p:nvSpPr>
        <p:spPr>
          <a:ln/>
        </p:spPr>
        <p:txBody>
          <a:bodyPr/>
          <a:lstStyle/>
          <a:p>
            <a:fld id="{9D8A6DD8-E74C-8C48-8D63-ADA411202DD6}" type="slidenum">
              <a:rPr lang="en-AU" altLang="en-US"/>
              <a:pPr/>
              <a:t>56</a:t>
            </a:fld>
            <a:endParaRPr lang="en-AU" altLang="en-US"/>
          </a:p>
        </p:txBody>
      </p:sp>
      <p:sp>
        <p:nvSpPr>
          <p:cNvPr id="122881" name="Text Box 1">
            <a:extLst>
              <a:ext uri="{FF2B5EF4-FFF2-40B4-BE49-F238E27FC236}">
                <a16:creationId xmlns:a16="http://schemas.microsoft.com/office/drawing/2014/main" id="{FE0BC6CF-95FD-F067-1FFA-1F7052BA17CA}"/>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4FFF50A8-3904-A444-9833-A770B87D0646}" type="slidenum">
              <a:rPr lang="en-AU" altLang="en-US" sz="1200"/>
              <a:pPr algn="r">
                <a:buClrTx/>
                <a:buFontTx/>
                <a:buNone/>
              </a:pPr>
              <a:t>56</a:t>
            </a:fld>
            <a:endParaRPr lang="en-AU" altLang="en-US" sz="1200"/>
          </a:p>
        </p:txBody>
      </p:sp>
      <p:sp>
        <p:nvSpPr>
          <p:cNvPr id="122882" name="Text Box 2">
            <a:extLst>
              <a:ext uri="{FF2B5EF4-FFF2-40B4-BE49-F238E27FC236}">
                <a16:creationId xmlns:a16="http://schemas.microsoft.com/office/drawing/2014/main" id="{7DA63DF5-B846-136A-FE68-C24DC6FC88C2}"/>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2883" name="Text Box 3">
            <a:extLst>
              <a:ext uri="{FF2B5EF4-FFF2-40B4-BE49-F238E27FC236}">
                <a16:creationId xmlns:a16="http://schemas.microsoft.com/office/drawing/2014/main" id="{40DC206B-46A1-01E3-C7EB-AA01070E5902}"/>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All the techniques examined so far involve the substitution of a ciphertext symbol for a plaintext symbol. A very different kind of mapping is achieved by performing some sort of permutation on the plaintext letters. This technique is referred to as a transposition cipher, and </a:t>
            </a:r>
            <a:r>
              <a:rPr lang="en-AU" altLang="en-US">
                <a:latin typeface="Arial" panose="020B0604020202020204" pitchFamily="34" charset="0"/>
                <a:cs typeface="Arial" panose="020B0604020202020204" pitchFamily="34" charset="0"/>
              </a:rPr>
              <a:t>form the second basic building block of ciphers. The core idea is to rearrange the order of basic units (letters/bytes/bits) without altering their actual values. </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D0E7616F-0EBB-C2BD-7D6D-C6EA21F7C3AA}"/>
              </a:ext>
            </a:extLst>
          </p:cNvPr>
          <p:cNvSpPr>
            <a:spLocks noGrp="1" noChangeArrowheads="1"/>
          </p:cNvSpPr>
          <p:nvPr>
            <p:ph type="sldNum"/>
          </p:nvPr>
        </p:nvSpPr>
        <p:spPr>
          <a:ln/>
        </p:spPr>
        <p:txBody>
          <a:bodyPr/>
          <a:lstStyle/>
          <a:p>
            <a:fld id="{72CD1CE2-575E-E541-9549-64B82EEA1668}" type="slidenum">
              <a:rPr lang="en-AU" altLang="en-US"/>
              <a:pPr/>
              <a:t>57</a:t>
            </a:fld>
            <a:endParaRPr lang="en-AU" altLang="en-US"/>
          </a:p>
        </p:txBody>
      </p:sp>
      <p:sp>
        <p:nvSpPr>
          <p:cNvPr id="123905" name="Text Box 1">
            <a:extLst>
              <a:ext uri="{FF2B5EF4-FFF2-40B4-BE49-F238E27FC236}">
                <a16:creationId xmlns:a16="http://schemas.microsoft.com/office/drawing/2014/main" id="{BEEF588B-B755-7713-CBCE-32EC8B3B8110}"/>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F67D825E-7D36-ED47-BB09-6E28A5B26C97}" type="slidenum">
              <a:rPr lang="en-AU" altLang="en-US" sz="1200"/>
              <a:pPr algn="r">
                <a:buClrTx/>
                <a:buFontTx/>
                <a:buNone/>
              </a:pPr>
              <a:t>57</a:t>
            </a:fld>
            <a:endParaRPr lang="en-AU" altLang="en-US" sz="1200"/>
          </a:p>
        </p:txBody>
      </p:sp>
      <p:sp>
        <p:nvSpPr>
          <p:cNvPr id="123906" name="Text Box 2">
            <a:extLst>
              <a:ext uri="{FF2B5EF4-FFF2-40B4-BE49-F238E27FC236}">
                <a16:creationId xmlns:a16="http://schemas.microsoft.com/office/drawing/2014/main" id="{6DA6CA2A-3F62-4463-2A18-4633A135AB62}"/>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3907" name="Text Box 3">
            <a:extLst>
              <a:ext uri="{FF2B5EF4-FFF2-40B4-BE49-F238E27FC236}">
                <a16:creationId xmlns:a16="http://schemas.microsoft.com/office/drawing/2014/main" id="{822931B6-BA84-BBFF-0B6B-831D5911329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The simplest such cipher is the rail fence technique, in which the plaintext is written down as a sequence of diagonals and then read off as a sequence of rows.</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The example message is: </a:t>
            </a:r>
            <a:r>
              <a:rPr lang="en-AU" altLang="en-US">
                <a:latin typeface="Arial" panose="020B0604020202020204" pitchFamily="34" charset="0"/>
                <a:cs typeface="Arial" panose="020B0604020202020204" pitchFamily="34" charset="0"/>
              </a:rPr>
              <a:t>"meet me after the toga party" with a rail fence of depth 2.</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This sort of thing would be trivial to cryptanalyze.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C4C2AB85-0BB5-7B06-0B2E-EB7DC463B869}"/>
              </a:ext>
            </a:extLst>
          </p:cNvPr>
          <p:cNvSpPr>
            <a:spLocks noGrp="1" noChangeArrowheads="1"/>
          </p:cNvSpPr>
          <p:nvPr>
            <p:ph type="sldNum"/>
          </p:nvPr>
        </p:nvSpPr>
        <p:spPr>
          <a:ln/>
        </p:spPr>
        <p:txBody>
          <a:bodyPr/>
          <a:lstStyle/>
          <a:p>
            <a:fld id="{DB96AEA1-5DF2-4F4D-9722-AC23FC1EBBD8}" type="slidenum">
              <a:rPr lang="en-AU" altLang="en-US"/>
              <a:pPr/>
              <a:t>59</a:t>
            </a:fld>
            <a:endParaRPr lang="en-AU" altLang="en-US"/>
          </a:p>
        </p:txBody>
      </p:sp>
      <p:sp>
        <p:nvSpPr>
          <p:cNvPr id="124929" name="Text Box 1">
            <a:extLst>
              <a:ext uri="{FF2B5EF4-FFF2-40B4-BE49-F238E27FC236}">
                <a16:creationId xmlns:a16="http://schemas.microsoft.com/office/drawing/2014/main" id="{C09DE35C-83A5-4A4E-3627-A75E9045272E}"/>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49C92CD7-A8A0-4444-9908-F000772958E7}" type="slidenum">
              <a:rPr lang="en-AU" altLang="en-US" sz="1200"/>
              <a:pPr algn="r">
                <a:buClrTx/>
                <a:buFontTx/>
                <a:buNone/>
              </a:pPr>
              <a:t>59</a:t>
            </a:fld>
            <a:endParaRPr lang="en-AU" altLang="en-US" sz="1200"/>
          </a:p>
        </p:txBody>
      </p:sp>
      <p:sp>
        <p:nvSpPr>
          <p:cNvPr id="124930" name="Text Box 2">
            <a:extLst>
              <a:ext uri="{FF2B5EF4-FFF2-40B4-BE49-F238E27FC236}">
                <a16:creationId xmlns:a16="http://schemas.microsoft.com/office/drawing/2014/main" id="{A942FE9D-9A4E-5AC4-40ED-9FE94B8909A4}"/>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4931" name="Text Box 3">
            <a:extLst>
              <a:ext uri="{FF2B5EF4-FFF2-40B4-BE49-F238E27FC236}">
                <a16:creationId xmlns:a16="http://schemas.microsoft.com/office/drawing/2014/main" id="{00AC846F-BF01-23F1-5257-74DA83F6868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A more complex transposition cipher is to write the message in a rectangle, row by row, and read the message off shuffling the order of the columns in each row. The order of the columns then becomes the key to the algorithm. In the example shown, the key is 4312567, that is use column 4 first, then column3, then 1 etc (as shown in the Column Out row).</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A pure transposition cipher is easily recognized because it has the same letter frequencies as the original plaintext. For the type of columnar transposition just shown, cryptanalysis is fairly straightforward and involves laying out the ciphertext in a matrix and playing around with column positions. Digram and trigram frequency tables can be useful.</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EDB30BC9-9909-DDD7-A73D-5473744CD853}"/>
              </a:ext>
            </a:extLst>
          </p:cNvPr>
          <p:cNvSpPr>
            <a:spLocks noGrp="1" noChangeArrowheads="1"/>
          </p:cNvSpPr>
          <p:nvPr>
            <p:ph type="sldNum"/>
          </p:nvPr>
        </p:nvSpPr>
        <p:spPr>
          <a:ln/>
        </p:spPr>
        <p:txBody>
          <a:bodyPr/>
          <a:lstStyle/>
          <a:p>
            <a:fld id="{9C491B39-FA6E-6C49-9F11-EA55FBECE4DE}" type="slidenum">
              <a:rPr lang="en-AU" altLang="en-US"/>
              <a:pPr/>
              <a:t>60</a:t>
            </a:fld>
            <a:endParaRPr lang="en-AU" altLang="en-US"/>
          </a:p>
        </p:txBody>
      </p:sp>
      <p:sp>
        <p:nvSpPr>
          <p:cNvPr id="125953" name="Text Box 1">
            <a:extLst>
              <a:ext uri="{FF2B5EF4-FFF2-40B4-BE49-F238E27FC236}">
                <a16:creationId xmlns:a16="http://schemas.microsoft.com/office/drawing/2014/main" id="{C1B5BE88-4619-60B4-B3FF-456493D6D483}"/>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5CE32D3B-680C-884D-A6A5-B38D1C8AC615}" type="slidenum">
              <a:rPr lang="en-AU" altLang="en-US" sz="1200"/>
              <a:pPr algn="r">
                <a:buClrTx/>
                <a:buFontTx/>
                <a:buNone/>
              </a:pPr>
              <a:t>60</a:t>
            </a:fld>
            <a:endParaRPr lang="en-AU" altLang="en-US" sz="1200"/>
          </a:p>
        </p:txBody>
      </p:sp>
      <p:sp>
        <p:nvSpPr>
          <p:cNvPr id="125954" name="Text Box 2">
            <a:extLst>
              <a:ext uri="{FF2B5EF4-FFF2-40B4-BE49-F238E27FC236}">
                <a16:creationId xmlns:a16="http://schemas.microsoft.com/office/drawing/2014/main" id="{DEC8736E-1078-7765-E343-57C47E84EE08}"/>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5955" name="Text Box 3">
            <a:extLst>
              <a:ext uri="{FF2B5EF4-FFF2-40B4-BE49-F238E27FC236}">
                <a16:creationId xmlns:a16="http://schemas.microsoft.com/office/drawing/2014/main" id="{180FE569-6B38-03D3-E4A3-0A5CB52FC156}"/>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A more complex transposition cipher is to write the message in a rectangle, row by row, and read the message off shuffling the order of the columns in each row. The order of the columns then becomes the key to the algorithm. In the example shown, the key is 4312567, that is use column 4 first, then column3, then 1 etc (as shown in the Column Out row).</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A pure transposition cipher is easily recognized because it has the same letter frequencies as the original plaintext. For the type of columnar transposition just shown, cryptanalysis is fairly straightforward and involves laying out the ciphertext in a matrix and playing around with column positions. Digram and trigram frequency tables can be useful.</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9000B775-87F3-BE0A-D30D-3694A419491A}"/>
              </a:ext>
            </a:extLst>
          </p:cNvPr>
          <p:cNvSpPr>
            <a:spLocks noGrp="1" noChangeArrowheads="1"/>
          </p:cNvSpPr>
          <p:nvPr>
            <p:ph type="sldNum"/>
          </p:nvPr>
        </p:nvSpPr>
        <p:spPr>
          <a:ln/>
        </p:spPr>
        <p:txBody>
          <a:bodyPr/>
          <a:lstStyle/>
          <a:p>
            <a:fld id="{42F8E8B2-9703-ED40-B793-26A08EAB0F5A}" type="slidenum">
              <a:rPr lang="en-AU" altLang="en-US"/>
              <a:pPr/>
              <a:t>61</a:t>
            </a:fld>
            <a:endParaRPr lang="en-AU" altLang="en-US"/>
          </a:p>
        </p:txBody>
      </p:sp>
      <p:sp>
        <p:nvSpPr>
          <p:cNvPr id="126977" name="Text Box 1">
            <a:extLst>
              <a:ext uri="{FF2B5EF4-FFF2-40B4-BE49-F238E27FC236}">
                <a16:creationId xmlns:a16="http://schemas.microsoft.com/office/drawing/2014/main" id="{DDE03C21-CC8B-0436-E286-BBDC42C409F9}"/>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F0768CF3-FB22-E44C-8318-8BB2F7C23C00}" type="slidenum">
              <a:rPr lang="en-AU" altLang="en-US" sz="1200"/>
              <a:pPr algn="r">
                <a:buClrTx/>
                <a:buFontTx/>
                <a:buNone/>
              </a:pPr>
              <a:t>61</a:t>
            </a:fld>
            <a:endParaRPr lang="en-AU" altLang="en-US" sz="1200"/>
          </a:p>
        </p:txBody>
      </p:sp>
      <p:sp>
        <p:nvSpPr>
          <p:cNvPr id="126978" name="Text Box 2">
            <a:extLst>
              <a:ext uri="{FF2B5EF4-FFF2-40B4-BE49-F238E27FC236}">
                <a16:creationId xmlns:a16="http://schemas.microsoft.com/office/drawing/2014/main" id="{A05EE0B8-2783-F2A8-A407-AF8546F38236}"/>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6979" name="Text Box 3">
            <a:extLst>
              <a:ext uri="{FF2B5EF4-FFF2-40B4-BE49-F238E27FC236}">
                <a16:creationId xmlns:a16="http://schemas.microsoft.com/office/drawing/2014/main" id="{06D7ECAB-D4B6-FBBC-9EFE-3B56A94ADFE2}"/>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For some centuries the Vigenère cipher was </a:t>
            </a:r>
            <a:r>
              <a:rPr lang="en-AU" altLang="en-US" i="1">
                <a:latin typeface="Arial" panose="020B0604020202020204" pitchFamily="34" charset="0"/>
                <a:ea typeface="ＭＳ Ｐゴシック" panose="020B0600070205080204" pitchFamily="34" charset="-128"/>
              </a:rPr>
              <a:t>le chiffre indéchiffrable</a:t>
            </a:r>
            <a:r>
              <a:rPr lang="en-AU" altLang="en-US">
                <a:latin typeface="Arial" panose="020B0604020202020204" pitchFamily="34" charset="0"/>
                <a:ea typeface="ＭＳ Ｐゴシック" panose="020B0600070205080204" pitchFamily="34" charset="-128"/>
              </a:rPr>
              <a:t> (the unbreakable cipher). As a result of a challenge, it was broken by Charles Babbage (the inventor of the computer) in 1854 but kept secret (possibly because of the Crimean War - not the first time governments have kept advances to themselves!). The method was independently reinvented by a Prussian, Friedrich Kasiski, who published the attack now named after him in 1863. However lack of major advances meant that various polyalphabetic substitution ciphers were used into the 20C. One very famous incident was the breaking of the Zimmermann telegram in WW1 which resulted in the USA entering the war. </a:t>
            </a:r>
            <a:r>
              <a:rPr lang="en-US" altLang="en-US">
                <a:latin typeface="Arial" panose="020B0604020202020204" pitchFamily="34" charset="0"/>
                <a:ea typeface="ＭＳ Ｐゴシック" panose="020B0600070205080204" pitchFamily="34" charset="-128"/>
              </a:rPr>
              <a:t>The important is that if two identical sequences of plaintext letters occur at a distance that is an integer multiple of the keyword length, they will generate identical ciphertext sequences.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In general the approach is to find a number of duplicated sequences, collect all their distances apart, look for common factors, remembering that some will be random flukes and need to be discarded. Now have a series of monoalphabetic ciphers, each with original language letter frequency characteristics. Can attack these in turn to break the cipher.</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942F1EAC-D337-1B77-2191-26C62B92802F}"/>
              </a:ext>
            </a:extLst>
          </p:cNvPr>
          <p:cNvSpPr>
            <a:spLocks noGrp="1" noChangeArrowheads="1"/>
          </p:cNvSpPr>
          <p:nvPr>
            <p:ph type="sldNum"/>
          </p:nvPr>
        </p:nvSpPr>
        <p:spPr>
          <a:ln/>
        </p:spPr>
        <p:txBody>
          <a:bodyPr/>
          <a:lstStyle/>
          <a:p>
            <a:fld id="{0EFA0291-5191-484D-8A1F-845C547D0D01}" type="slidenum">
              <a:rPr lang="en-AU" altLang="en-US"/>
              <a:pPr/>
              <a:t>62</a:t>
            </a:fld>
            <a:endParaRPr lang="en-AU" altLang="en-US"/>
          </a:p>
        </p:txBody>
      </p:sp>
      <p:sp>
        <p:nvSpPr>
          <p:cNvPr id="128001" name="Text Box 1">
            <a:extLst>
              <a:ext uri="{FF2B5EF4-FFF2-40B4-BE49-F238E27FC236}">
                <a16:creationId xmlns:a16="http://schemas.microsoft.com/office/drawing/2014/main" id="{97E3B547-E2F0-063F-01AB-48A88BD71E72}"/>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0284E660-999A-0046-9374-E43938E3F7C1}" type="slidenum">
              <a:rPr lang="en-AU" altLang="en-US" sz="1200"/>
              <a:pPr algn="r">
                <a:buClrTx/>
                <a:buFontTx/>
                <a:buNone/>
              </a:pPr>
              <a:t>62</a:t>
            </a:fld>
            <a:endParaRPr lang="en-AU" altLang="en-US" sz="1200"/>
          </a:p>
        </p:txBody>
      </p:sp>
      <p:sp>
        <p:nvSpPr>
          <p:cNvPr id="128002" name="Text Box 2">
            <a:extLst>
              <a:ext uri="{FF2B5EF4-FFF2-40B4-BE49-F238E27FC236}">
                <a16:creationId xmlns:a16="http://schemas.microsoft.com/office/drawing/2014/main" id="{C4F47322-E0DE-710D-653D-4442652B8077}"/>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8003" name="Text Box 3">
            <a:extLst>
              <a:ext uri="{FF2B5EF4-FFF2-40B4-BE49-F238E27FC236}">
                <a16:creationId xmlns:a16="http://schemas.microsoft.com/office/drawing/2014/main" id="{90FBCEC4-79F4-11C8-56FE-5E5C47F9C30A}"/>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Have seen that ciphers based on just substitutions or transpositions are not secure, and can be attacked because they do not sufficient obscure the underlying language structure</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So consider using several ciphers in succession to make harder.</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A substitution followed by a transposition is known as a Product Cipher, and makes a new much more secure cipher, and forms the bridge to modern ciphers.</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512F2621-23ED-7358-FD7E-DF7EA72CEF26}"/>
              </a:ext>
            </a:extLst>
          </p:cNvPr>
          <p:cNvSpPr>
            <a:spLocks noGrp="1" noChangeArrowheads="1"/>
          </p:cNvSpPr>
          <p:nvPr>
            <p:ph type="sldNum"/>
          </p:nvPr>
        </p:nvSpPr>
        <p:spPr>
          <a:ln/>
        </p:spPr>
        <p:txBody>
          <a:bodyPr/>
          <a:lstStyle/>
          <a:p>
            <a:fld id="{2E9403AD-5498-834F-8446-2270DC73971D}" type="slidenum">
              <a:rPr lang="en-AU" altLang="en-US"/>
              <a:pPr/>
              <a:t>63</a:t>
            </a:fld>
            <a:endParaRPr lang="en-AU" altLang="en-US"/>
          </a:p>
        </p:txBody>
      </p:sp>
      <p:sp>
        <p:nvSpPr>
          <p:cNvPr id="129025" name="Text Box 1">
            <a:extLst>
              <a:ext uri="{FF2B5EF4-FFF2-40B4-BE49-F238E27FC236}">
                <a16:creationId xmlns:a16="http://schemas.microsoft.com/office/drawing/2014/main" id="{A7D1568E-E03B-140C-EBC8-0F51E952165A}"/>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1F3C8C73-BD2F-9A49-8DB2-C7FC32EAEDDD}" type="slidenum">
              <a:rPr lang="en-AU" altLang="en-US" sz="1200"/>
              <a:pPr algn="r">
                <a:buClrTx/>
                <a:buFontTx/>
                <a:buNone/>
              </a:pPr>
              <a:t>63</a:t>
            </a:fld>
            <a:endParaRPr lang="en-AU" altLang="en-US" sz="1200"/>
          </a:p>
        </p:txBody>
      </p:sp>
      <p:sp>
        <p:nvSpPr>
          <p:cNvPr id="129026" name="Text Box 2">
            <a:extLst>
              <a:ext uri="{FF2B5EF4-FFF2-40B4-BE49-F238E27FC236}">
                <a16:creationId xmlns:a16="http://schemas.microsoft.com/office/drawing/2014/main" id="{B8B345D5-69EA-1A81-BF14-D2BA344EF4A4}"/>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9027" name="Text Box 3">
            <a:extLst>
              <a:ext uri="{FF2B5EF4-FFF2-40B4-BE49-F238E27FC236}">
                <a16:creationId xmlns:a16="http://schemas.microsoft.com/office/drawing/2014/main" id="{7287F1C4-BB8B-73FE-6A65-CA8C8821796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For some centuries the Vigenère cipher was </a:t>
            </a:r>
            <a:r>
              <a:rPr lang="en-AU" altLang="en-US" i="1">
                <a:latin typeface="Arial" panose="020B0604020202020204" pitchFamily="34" charset="0"/>
                <a:ea typeface="ＭＳ Ｐゴシック" panose="020B0600070205080204" pitchFamily="34" charset="-128"/>
              </a:rPr>
              <a:t>le chiffre indéchiffrable</a:t>
            </a:r>
            <a:r>
              <a:rPr lang="en-AU" altLang="en-US">
                <a:latin typeface="Arial" panose="020B0604020202020204" pitchFamily="34" charset="0"/>
                <a:ea typeface="ＭＳ Ｐゴシック" panose="020B0600070205080204" pitchFamily="34" charset="-128"/>
              </a:rPr>
              <a:t> (the unbreakable cipher). As a result of a challenge, it was broken by Charles Babbage (the inventor of the computer) in 1854 but kept secret (possibly because of the Crimean War - not the first time governments have kept advances to themselves!). The method was independently reinvented by a Prussian, Friedrich Kasiski, who published the attack now named after him in 1863. However lack of major advances meant that various polyalphabetic substitution ciphers were used into the 20C. One very famous incident was the breaking of the Zimmermann telegram in WW1 which resulted in the USA entering the war. </a:t>
            </a:r>
            <a:r>
              <a:rPr lang="en-US" altLang="en-US">
                <a:latin typeface="Arial" panose="020B0604020202020204" pitchFamily="34" charset="0"/>
                <a:ea typeface="ＭＳ Ｐゴシック" panose="020B0600070205080204" pitchFamily="34" charset="-128"/>
              </a:rPr>
              <a:t>The important is that if two identical sequences of plaintext letters occur at a distance that is an integer multiple of the keyword length, they will generate identical ciphertext sequences.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In general the approach is to find a number of duplicated sequences, collect all their distances apart, look for common factors, remembering that some will be random flukes and need to be discarded. Now have a series of monoalphabetic ciphers, each with original language letter frequency characteristics. Can attack these in turn to break the cipher.</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F5ED0CDE-8635-D6F5-2B23-7A45E3C5CB26}"/>
              </a:ext>
            </a:extLst>
          </p:cNvPr>
          <p:cNvSpPr>
            <a:spLocks noGrp="1" noChangeArrowheads="1"/>
          </p:cNvSpPr>
          <p:nvPr>
            <p:ph type="sldNum"/>
          </p:nvPr>
        </p:nvSpPr>
        <p:spPr>
          <a:ln/>
        </p:spPr>
        <p:txBody>
          <a:bodyPr/>
          <a:lstStyle/>
          <a:p>
            <a:fld id="{05F50532-9C78-6442-B39C-2DF7E34E4BFD}" type="slidenum">
              <a:rPr lang="en-AU" altLang="en-US"/>
              <a:pPr/>
              <a:t>64</a:t>
            </a:fld>
            <a:endParaRPr lang="en-AU" altLang="en-US"/>
          </a:p>
        </p:txBody>
      </p:sp>
      <p:sp>
        <p:nvSpPr>
          <p:cNvPr id="130049" name="Text Box 1">
            <a:extLst>
              <a:ext uri="{FF2B5EF4-FFF2-40B4-BE49-F238E27FC236}">
                <a16:creationId xmlns:a16="http://schemas.microsoft.com/office/drawing/2014/main" id="{9B7DC632-A5AF-46A1-C70D-1C0BB169EA22}"/>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B3E46A41-ECEB-2F4C-899E-44E944C6E96A}" type="slidenum">
              <a:rPr lang="en-AU" altLang="en-US" sz="1200"/>
              <a:pPr algn="r">
                <a:buClrTx/>
                <a:buFontTx/>
                <a:buNone/>
              </a:pPr>
              <a:t>64</a:t>
            </a:fld>
            <a:endParaRPr lang="en-AU" altLang="en-US" sz="1200"/>
          </a:p>
        </p:txBody>
      </p:sp>
      <p:sp>
        <p:nvSpPr>
          <p:cNvPr id="130050" name="Text Box 2">
            <a:extLst>
              <a:ext uri="{FF2B5EF4-FFF2-40B4-BE49-F238E27FC236}">
                <a16:creationId xmlns:a16="http://schemas.microsoft.com/office/drawing/2014/main" id="{04DBAE08-4661-933E-1082-489312F71267}"/>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0051" name="Text Box 3">
            <a:extLst>
              <a:ext uri="{FF2B5EF4-FFF2-40B4-BE49-F238E27FC236}">
                <a16:creationId xmlns:a16="http://schemas.microsoft.com/office/drawing/2014/main" id="{C8C1E6E0-2B22-D5C7-7D1F-A4E86BD5657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The next major advance in ciphers required use of mechanical cipher machines which enabled to use of complex varying substitutions.</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A rotor machine consists of a set of independently rotating cylinders through which electrical pulses can flow. Each cylinder has 26 input pins and 26 output pins, with internal wiring that connects each input pin to a unique output pin. If we associate each input and output pin with a letter of the alphabet, then a single cylinder defines a monoalphabetic substitution. After each input key is depressed, the cylinder rotates one position, so that the internal connections are shifted accordingly. The power of the rotor machine is in the use of multiple cylinders, in which the output pins of one cylinder are connected to the input pins of the next, and with the cylinders rotating like an “odometer”, leading to a very large number of substitution alphabets being used, eg with 3 cylinders have 26</a:t>
            </a:r>
            <a:r>
              <a:rPr lang="en-US" altLang="en-US" baseline="30000">
                <a:latin typeface="Arial" panose="020B0604020202020204" pitchFamily="34" charset="0"/>
                <a:cs typeface="Arial" panose="020B0604020202020204" pitchFamily="34" charset="0"/>
              </a:rPr>
              <a:t>3</a:t>
            </a:r>
            <a:r>
              <a:rPr lang="en-US" altLang="en-US">
                <a:latin typeface="Arial" panose="020B0604020202020204" pitchFamily="34" charset="0"/>
                <a:cs typeface="Arial" panose="020B0604020202020204" pitchFamily="34" charset="0"/>
              </a:rPr>
              <a:t>=17576 alphabets used.</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They were extensively used in world war 2, and the history of their use and analysis is one of the great stories from WW2.</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AA442719-2232-F1DF-E81B-768C76ADA513}"/>
              </a:ext>
            </a:extLst>
          </p:cNvPr>
          <p:cNvSpPr>
            <a:spLocks noGrp="1" noChangeArrowheads="1"/>
          </p:cNvSpPr>
          <p:nvPr>
            <p:ph type="sldNum"/>
          </p:nvPr>
        </p:nvSpPr>
        <p:spPr>
          <a:ln/>
        </p:spPr>
        <p:txBody>
          <a:bodyPr/>
          <a:lstStyle/>
          <a:p>
            <a:fld id="{8BD8B2F1-5889-4C44-BED8-990905E88CD9}" type="slidenum">
              <a:rPr lang="en-AU" altLang="en-US"/>
              <a:pPr/>
              <a:t>65</a:t>
            </a:fld>
            <a:endParaRPr lang="en-AU" altLang="en-US"/>
          </a:p>
        </p:txBody>
      </p:sp>
      <p:sp>
        <p:nvSpPr>
          <p:cNvPr id="131073" name="Text Box 1">
            <a:extLst>
              <a:ext uri="{FF2B5EF4-FFF2-40B4-BE49-F238E27FC236}">
                <a16:creationId xmlns:a16="http://schemas.microsoft.com/office/drawing/2014/main" id="{1D7169C4-86C3-9E9E-BA92-05C07E55C0B0}"/>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C3D92B84-87D7-4B42-A9A4-D7242DEFF2DB}" type="slidenum">
              <a:rPr lang="en-AU" altLang="en-US" sz="1200"/>
              <a:pPr algn="r">
                <a:buClrTx/>
                <a:buFontTx/>
                <a:buNone/>
              </a:pPr>
              <a:t>65</a:t>
            </a:fld>
            <a:endParaRPr lang="en-AU" altLang="en-US" sz="1200"/>
          </a:p>
        </p:txBody>
      </p:sp>
      <p:sp>
        <p:nvSpPr>
          <p:cNvPr id="131074" name="Text Box 2">
            <a:extLst>
              <a:ext uri="{FF2B5EF4-FFF2-40B4-BE49-F238E27FC236}">
                <a16:creationId xmlns:a16="http://schemas.microsoft.com/office/drawing/2014/main" id="{E4BAF160-9755-39C8-1DDC-49C643DE355E}"/>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1075" name="Text Box 3">
            <a:extLst>
              <a:ext uri="{FF2B5EF4-FFF2-40B4-BE49-F238E27FC236}">
                <a16:creationId xmlns:a16="http://schemas.microsoft.com/office/drawing/2014/main" id="{67BA106B-6249-7785-90BF-CB0E8FBF7CC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This photo of an Allied </a:t>
            </a:r>
            <a:r>
              <a:rPr lang="en-US" altLang="en-US" i="1">
                <a:latin typeface="Arial" panose="020B0604020202020204" pitchFamily="34" charset="0"/>
                <a:cs typeface="Arial" panose="020B0604020202020204" pitchFamily="34" charset="0"/>
              </a:rPr>
              <a:t>Hagelin </a:t>
            </a:r>
            <a:r>
              <a:rPr lang="en-US" altLang="en-US">
                <a:latin typeface="Arial" panose="020B0604020202020204" pitchFamily="34" charset="0"/>
                <a:cs typeface="Arial" panose="020B0604020202020204" pitchFamily="34" charset="0"/>
              </a:rPr>
              <a:t>machine was taken by Lawrie Brown at Eurocrypt'93 in Norway. Note pen for scale, and the rotating cipher wheels near the front.</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D63C5D7D-3EFD-6106-8F54-4827281D1F5D}"/>
              </a:ext>
            </a:extLst>
          </p:cNvPr>
          <p:cNvSpPr>
            <a:spLocks noGrp="1" noChangeArrowheads="1"/>
          </p:cNvSpPr>
          <p:nvPr>
            <p:ph type="sldNum"/>
          </p:nvPr>
        </p:nvSpPr>
        <p:spPr>
          <a:ln/>
        </p:spPr>
        <p:txBody>
          <a:bodyPr/>
          <a:lstStyle/>
          <a:p>
            <a:fld id="{C2645B37-FAA9-6C45-96FD-7D14CEB0C2E7}" type="slidenum">
              <a:rPr lang="en-AU" altLang="en-US"/>
              <a:pPr/>
              <a:t>66</a:t>
            </a:fld>
            <a:endParaRPr lang="en-AU" altLang="en-US"/>
          </a:p>
        </p:txBody>
      </p:sp>
      <p:sp>
        <p:nvSpPr>
          <p:cNvPr id="132097" name="Text Box 1">
            <a:extLst>
              <a:ext uri="{FF2B5EF4-FFF2-40B4-BE49-F238E27FC236}">
                <a16:creationId xmlns:a16="http://schemas.microsoft.com/office/drawing/2014/main" id="{F3A6EF97-5C1F-E3BD-0DE8-46A74F8DC75A}"/>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2098" name="Text Box 2">
            <a:extLst>
              <a:ext uri="{FF2B5EF4-FFF2-40B4-BE49-F238E27FC236}">
                <a16:creationId xmlns:a16="http://schemas.microsoft.com/office/drawing/2014/main" id="{EC95B534-BC02-BC4F-153A-4E4CA00392FF}"/>
              </a:ext>
            </a:extLst>
          </p:cNvPr>
          <p:cNvSpPr txBox="1">
            <a:spLocks noGrp="1" noChangeArrowheads="1"/>
          </p:cNvSpPr>
          <p:nvPr>
            <p:ph type="body" idx="1"/>
          </p:nvPr>
        </p:nvSpPr>
        <p:spPr bwMode="auto">
          <a:xfrm>
            <a:off x="685800" y="4343400"/>
            <a:ext cx="5486400" cy="42529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lnSpc>
                <a:spcPct val="90000"/>
              </a:lnSpc>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The basic principle of the rotor machine is illustrated in Figure 2.8. The machine consists of a set of independently rotating cylinders through which electrical pulses can flow. Each cylinder has 26 input pins and 26 output pins, with internal wiring that connects each input pin to a unique output pin. If we associate each input and output pin with a letter of the alphabet, then a single cylinder defines a monoalphabetic substitution. If an operator depresses the key for the letter A, an electric signal is applied to the first pin of the first cylinder and flows through the internal connection to the twenty-fifth output pin.  Consider a machine with a single cylinder. After each input key is depressed, the cylinder rotates one position, so that the internal connections are shifted accordingly. Thus, a different monoalphabetic substitution cipher is defined. After 26 letters of plaintext, the cylinder would be back to the initial position. Thus, we have a polyalphabetic substitution algorithm with a period of 26. </a:t>
            </a:r>
          </a:p>
          <a:p>
            <a:pPr eaLnBrk="1" hangingPunct="1">
              <a:lnSpc>
                <a:spcPct val="90000"/>
              </a:lnSpc>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A single-cylinder system is trivial and does not present a formidable cryptanalytic task. The power of the rotor machine is in the use of multiple cylinders, in which the output pins of one cylinder are connected to the input pins of the next. Figure 2.8 shows a three-cylinder system. With multiple cylinders, the one closest to the operator input rotates one pin position with each keystroke. The right half of Figure 2.8 shows the system's configuration after a single keystroke. For every complete rotation of the inner cylinder, the middle cylinder rotates one pin position. Finally, for every complete rotation of the middle cylinder, the outer cylinder rotates one pin position. The result is that there are 26 " 26 " 26 = 17,576 different substitution alphabets used before the system repeats. </a:t>
            </a:r>
          </a:p>
        </p:txBody>
      </p:sp>
      <p:sp>
        <p:nvSpPr>
          <p:cNvPr id="132099" name="Text Box 3">
            <a:extLst>
              <a:ext uri="{FF2B5EF4-FFF2-40B4-BE49-F238E27FC236}">
                <a16:creationId xmlns:a16="http://schemas.microsoft.com/office/drawing/2014/main" id="{3454332D-3BEC-8696-D8EB-74E25ACB87E7}"/>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559D2164-D6EE-374C-A50E-3BA115657773}" type="slidenum">
              <a:rPr lang="en-AU" altLang="en-US" sz="1200"/>
              <a:pPr algn="r">
                <a:buClrTx/>
                <a:buFontTx/>
                <a:buNone/>
              </a:pPr>
              <a:t>66</a:t>
            </a:fld>
            <a:endParaRPr lang="en-AU" altLang="en-US" sz="120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E637B172-8325-1627-D00A-CD5ACCDE7963}"/>
              </a:ext>
            </a:extLst>
          </p:cNvPr>
          <p:cNvSpPr>
            <a:spLocks noGrp="1" noChangeArrowheads="1"/>
          </p:cNvSpPr>
          <p:nvPr>
            <p:ph type="sldNum"/>
          </p:nvPr>
        </p:nvSpPr>
        <p:spPr>
          <a:ln/>
        </p:spPr>
        <p:txBody>
          <a:bodyPr/>
          <a:lstStyle/>
          <a:p>
            <a:fld id="{C7EF1F8C-0BA3-DB45-BDB2-0F3B69D61E48}" type="slidenum">
              <a:rPr lang="en-AU" altLang="en-US"/>
              <a:pPr/>
              <a:t>67</a:t>
            </a:fld>
            <a:endParaRPr lang="en-AU" altLang="en-US"/>
          </a:p>
        </p:txBody>
      </p:sp>
      <p:sp>
        <p:nvSpPr>
          <p:cNvPr id="133121" name="Text Box 1">
            <a:extLst>
              <a:ext uri="{FF2B5EF4-FFF2-40B4-BE49-F238E27FC236}">
                <a16:creationId xmlns:a16="http://schemas.microsoft.com/office/drawing/2014/main" id="{8D32280D-D6DF-62E0-29D6-ADEAC48F113D}"/>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07933496-95B3-2040-B9D3-37B7F4CDF9BB}" type="slidenum">
              <a:rPr lang="en-AU" altLang="en-US" sz="1200"/>
              <a:pPr algn="r">
                <a:buClrTx/>
                <a:buFontTx/>
                <a:buNone/>
              </a:pPr>
              <a:t>67</a:t>
            </a:fld>
            <a:endParaRPr lang="en-AU" altLang="en-US" sz="1200"/>
          </a:p>
        </p:txBody>
      </p:sp>
      <p:sp>
        <p:nvSpPr>
          <p:cNvPr id="133122" name="Text Box 2">
            <a:extLst>
              <a:ext uri="{FF2B5EF4-FFF2-40B4-BE49-F238E27FC236}">
                <a16:creationId xmlns:a16="http://schemas.microsoft.com/office/drawing/2014/main" id="{3BA4F1DB-13F6-AD83-2FBE-B63660308740}"/>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23" name="Text Box 3">
            <a:extLst>
              <a:ext uri="{FF2B5EF4-FFF2-40B4-BE49-F238E27FC236}">
                <a16:creationId xmlns:a16="http://schemas.microsoft.com/office/drawing/2014/main" id="{03CE322D-D7B3-FCFE-5CED-667377192E0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For some centuries the Vigenère cipher was </a:t>
            </a:r>
            <a:r>
              <a:rPr lang="en-AU" altLang="en-US" i="1">
                <a:latin typeface="Arial" panose="020B0604020202020204" pitchFamily="34" charset="0"/>
                <a:ea typeface="ＭＳ Ｐゴシック" panose="020B0600070205080204" pitchFamily="34" charset="-128"/>
              </a:rPr>
              <a:t>le chiffre indéchiffrable</a:t>
            </a:r>
            <a:r>
              <a:rPr lang="en-AU" altLang="en-US">
                <a:latin typeface="Arial" panose="020B0604020202020204" pitchFamily="34" charset="0"/>
                <a:ea typeface="ＭＳ Ｐゴシック" panose="020B0600070205080204" pitchFamily="34" charset="-128"/>
              </a:rPr>
              <a:t> (the unbreakable cipher). As a result of a challenge, it was broken by Charles Babbage (the inventor of the computer) in 1854 but kept secret (possibly because of the Crimean War - not the first time governments have kept advances to themselves!). The method was independently reinvented by a Prussian, Friedrich Kasiski, who published the attack now named after him in 1863. However lack of major advances meant that various polyalphabetic substitution ciphers were used into the 20C. One very famous incident was the breaking of the Zimmermann telegram in WW1 which resulted in the USA entering the war. </a:t>
            </a:r>
            <a:r>
              <a:rPr lang="en-US" altLang="en-US">
                <a:latin typeface="Arial" panose="020B0604020202020204" pitchFamily="34" charset="0"/>
                <a:ea typeface="ＭＳ Ｐゴシック" panose="020B0600070205080204" pitchFamily="34" charset="-128"/>
              </a:rPr>
              <a:t>The important is that if two identical sequences of plaintext letters occur at a distance that is an integer multiple of the keyword length, they will generate identical ciphertext sequences.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In general the approach is to find a number of duplicated sequences, collect all their distances apart, look for common factors, remembering that some will be random flukes and need to be discarded. Now have a series of monoalphabetic ciphers, each with original language letter frequency characteristics. Can attack these in turn to break the cipher.</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A7E62395-35DF-4763-DF70-2A4CAED178C2}"/>
              </a:ext>
            </a:extLst>
          </p:cNvPr>
          <p:cNvSpPr>
            <a:spLocks noGrp="1" noChangeArrowheads="1"/>
          </p:cNvSpPr>
          <p:nvPr>
            <p:ph type="sldNum"/>
          </p:nvPr>
        </p:nvSpPr>
        <p:spPr>
          <a:ln/>
        </p:spPr>
        <p:txBody>
          <a:bodyPr/>
          <a:lstStyle/>
          <a:p>
            <a:fld id="{AC77B1D3-2DDB-EC4E-9D51-747AAF393C42}" type="slidenum">
              <a:rPr lang="en-AU" altLang="en-US"/>
              <a:pPr/>
              <a:t>68</a:t>
            </a:fld>
            <a:endParaRPr lang="en-AU" altLang="en-US"/>
          </a:p>
        </p:txBody>
      </p:sp>
      <p:sp>
        <p:nvSpPr>
          <p:cNvPr id="134145" name="Text Box 1">
            <a:extLst>
              <a:ext uri="{FF2B5EF4-FFF2-40B4-BE49-F238E27FC236}">
                <a16:creationId xmlns:a16="http://schemas.microsoft.com/office/drawing/2014/main" id="{446038C8-7BB3-2FFC-DF2C-D3F3DE208B4A}"/>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D2464BD0-1D7D-924D-851F-807C7AF9B4F9}" type="slidenum">
              <a:rPr lang="en-AU" altLang="en-US" sz="1200"/>
              <a:pPr algn="r">
                <a:buClrTx/>
                <a:buFontTx/>
                <a:buNone/>
              </a:pPr>
              <a:t>68</a:t>
            </a:fld>
            <a:endParaRPr lang="en-AU" altLang="en-US" sz="1200"/>
          </a:p>
        </p:txBody>
      </p:sp>
      <p:sp>
        <p:nvSpPr>
          <p:cNvPr id="134146" name="Text Box 2">
            <a:extLst>
              <a:ext uri="{FF2B5EF4-FFF2-40B4-BE49-F238E27FC236}">
                <a16:creationId xmlns:a16="http://schemas.microsoft.com/office/drawing/2014/main" id="{A2E43590-A930-62FF-F108-CBA7CDF3C2F4}"/>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4147" name="Text Box 3">
            <a:extLst>
              <a:ext uri="{FF2B5EF4-FFF2-40B4-BE49-F238E27FC236}">
                <a16:creationId xmlns:a16="http://schemas.microsoft.com/office/drawing/2014/main" id="{E29064CB-1E9F-7260-43A1-B903A46C070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For some centuries the Vigenère cipher was </a:t>
            </a:r>
            <a:r>
              <a:rPr lang="en-AU" altLang="en-US" i="1">
                <a:latin typeface="Arial" panose="020B0604020202020204" pitchFamily="34" charset="0"/>
                <a:ea typeface="ＭＳ Ｐゴシック" panose="020B0600070205080204" pitchFamily="34" charset="-128"/>
              </a:rPr>
              <a:t>le chiffre indéchiffrable</a:t>
            </a:r>
            <a:r>
              <a:rPr lang="en-AU" altLang="en-US">
                <a:latin typeface="Arial" panose="020B0604020202020204" pitchFamily="34" charset="0"/>
                <a:ea typeface="ＭＳ Ｐゴシック" panose="020B0600070205080204" pitchFamily="34" charset="-128"/>
              </a:rPr>
              <a:t> (the unbreakable cipher). As a result of a challenge, it was broken by Charles Babbage (the inventor of the computer) in 1854 but kept secret (possibly because of the Crimean War - not the first time governments have kept advances to themselves!). The method was independently reinvented by a Prussian, Friedrich Kasiski, who published the attack now named after him in 1863. However lack of major advances meant that various polyalphabetic substitution ciphers were used into the 20C. One very famous incident was the breaking of the Zimmermann telegram in WW1 which resulted in the USA entering the war. </a:t>
            </a:r>
            <a:r>
              <a:rPr lang="en-US" altLang="en-US">
                <a:latin typeface="Arial" panose="020B0604020202020204" pitchFamily="34" charset="0"/>
                <a:ea typeface="ＭＳ Ｐゴシック" panose="020B0600070205080204" pitchFamily="34" charset="-128"/>
              </a:rPr>
              <a:t>The important is that if two identical sequences of plaintext letters occur at a distance that is an integer multiple of the keyword length, they will generate identical ciphertext sequences.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ea typeface="ＭＳ Ｐゴシック" panose="020B0600070205080204" pitchFamily="34" charset="-128"/>
              </a:rPr>
              <a:t>In general the approach is to find a number of duplicated sequences, collect all their distances apart, look for common factors, remembering that some will be random flukes and need to be discarded. Now have a series of monoalphabetic ciphers, each with original language letter frequency characteristics. Can attack these in turn to break the cipher.</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753CF03E-B834-AD7E-20CF-3806060D9E43}"/>
              </a:ext>
            </a:extLst>
          </p:cNvPr>
          <p:cNvSpPr>
            <a:spLocks noGrp="1" noChangeArrowheads="1"/>
          </p:cNvSpPr>
          <p:nvPr>
            <p:ph type="sldNum"/>
          </p:nvPr>
        </p:nvSpPr>
        <p:spPr>
          <a:ln/>
        </p:spPr>
        <p:txBody>
          <a:bodyPr/>
          <a:lstStyle/>
          <a:p>
            <a:fld id="{FEDD35A1-6C73-034B-951C-5C217A413E7C}" type="slidenum">
              <a:rPr lang="en-AU" altLang="en-US"/>
              <a:pPr/>
              <a:t>69</a:t>
            </a:fld>
            <a:endParaRPr lang="en-AU" altLang="en-US"/>
          </a:p>
        </p:txBody>
      </p:sp>
      <p:sp>
        <p:nvSpPr>
          <p:cNvPr id="135169" name="Text Box 1">
            <a:extLst>
              <a:ext uri="{FF2B5EF4-FFF2-40B4-BE49-F238E27FC236}">
                <a16:creationId xmlns:a16="http://schemas.microsoft.com/office/drawing/2014/main" id="{36E6D55C-7833-12B8-CB5E-B53664AA0309}"/>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C3DD1197-52CA-604C-B067-E083B61064AD}" type="slidenum">
              <a:rPr lang="en-AU" altLang="en-US" sz="1200"/>
              <a:pPr algn="r">
                <a:buClrTx/>
                <a:buFontTx/>
                <a:buNone/>
              </a:pPr>
              <a:t>69</a:t>
            </a:fld>
            <a:endParaRPr lang="en-AU" altLang="en-US" sz="1200"/>
          </a:p>
        </p:txBody>
      </p:sp>
      <p:sp>
        <p:nvSpPr>
          <p:cNvPr id="135170" name="Text Box 2">
            <a:extLst>
              <a:ext uri="{FF2B5EF4-FFF2-40B4-BE49-F238E27FC236}">
                <a16:creationId xmlns:a16="http://schemas.microsoft.com/office/drawing/2014/main" id="{1CF5110B-E9BD-5F3E-2FE8-41DFEDA91FF0}"/>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5171" name="Text Box 3">
            <a:extLst>
              <a:ext uri="{FF2B5EF4-FFF2-40B4-BE49-F238E27FC236}">
                <a16:creationId xmlns:a16="http://schemas.microsoft.com/office/drawing/2014/main" id="{1D92B511-B4D8-9B34-EFD6-A8ADB8786D79}"/>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altLang="en-US">
                <a:latin typeface="Arial" panose="020B0604020202020204" pitchFamily="34" charset="0"/>
                <a:cs typeface="Arial" panose="020B0604020202020204" pitchFamily="34" charset="0"/>
              </a:rPr>
              <a:t>Steganography is </a:t>
            </a:r>
            <a:r>
              <a:rPr lang="en-US" altLang="en-US">
                <a:latin typeface="Arial" panose="020B0604020202020204" pitchFamily="34" charset="0"/>
                <a:cs typeface="Arial" panose="020B0604020202020204" pitchFamily="34" charset="0"/>
              </a:rPr>
              <a:t>an alternative to encryption which hides the very existence of a message by some means. There are a large range of techniques for doing this.</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Steganography has a number of drawbacks when compared to encryption. It requires a lot of overhead to hide a relatively few bits of information.</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cs typeface="Arial" panose="020B0604020202020204" pitchFamily="34" charset="0"/>
              </a:rPr>
              <a:t>Also, once the system is discovered, it becomes virtually worthless, although a message can be first encrypted and then hidden using steganography. The advantage of steganography is that it can be employed by parties who have something to lose should the fact of their secret communication (not necessarily the content) be discovered.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44E98EFC-773B-A67B-89A4-98450649D3B4}"/>
              </a:ext>
            </a:extLst>
          </p:cNvPr>
          <p:cNvSpPr>
            <a:spLocks noGrp="1" noChangeArrowheads="1"/>
          </p:cNvSpPr>
          <p:nvPr>
            <p:ph type="sldNum"/>
          </p:nvPr>
        </p:nvSpPr>
        <p:spPr>
          <a:ln/>
        </p:spPr>
        <p:txBody>
          <a:bodyPr/>
          <a:lstStyle/>
          <a:p>
            <a:fld id="{3B98A010-A33C-FD41-B678-33F04F944251}" type="slidenum">
              <a:rPr lang="en-AU" altLang="en-US"/>
              <a:pPr/>
              <a:t>70</a:t>
            </a:fld>
            <a:endParaRPr lang="en-AU" altLang="en-US"/>
          </a:p>
        </p:txBody>
      </p:sp>
      <p:sp>
        <p:nvSpPr>
          <p:cNvPr id="136193" name="Text Box 1">
            <a:extLst>
              <a:ext uri="{FF2B5EF4-FFF2-40B4-BE49-F238E27FC236}">
                <a16:creationId xmlns:a16="http://schemas.microsoft.com/office/drawing/2014/main" id="{570CD1E0-C3AE-1758-5085-3030B3FF4D32}"/>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r">
              <a:buClrTx/>
              <a:buFontTx/>
              <a:buNone/>
            </a:pPr>
            <a:fld id="{1D7025BD-C1D5-1B45-A6C8-750E94D4DA4C}" type="slidenum">
              <a:rPr lang="en-AU" altLang="en-US" sz="1200"/>
              <a:pPr algn="r">
                <a:buClrTx/>
                <a:buFontTx/>
                <a:buNone/>
              </a:pPr>
              <a:t>70</a:t>
            </a:fld>
            <a:endParaRPr lang="en-AU" altLang="en-US" sz="1200"/>
          </a:p>
        </p:txBody>
      </p:sp>
      <p:sp>
        <p:nvSpPr>
          <p:cNvPr id="136194" name="Text Box 2">
            <a:extLst>
              <a:ext uri="{FF2B5EF4-FFF2-40B4-BE49-F238E27FC236}">
                <a16:creationId xmlns:a16="http://schemas.microsoft.com/office/drawing/2014/main" id="{5AAB9650-D1DA-E78D-97D2-871975574334}"/>
              </a:ext>
            </a:extLst>
          </p:cNvPr>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6195" name="Text Box 3">
            <a:extLst>
              <a:ext uri="{FF2B5EF4-FFF2-40B4-BE49-F238E27FC236}">
                <a16:creationId xmlns:a16="http://schemas.microsoft.com/office/drawing/2014/main" id="{4CBCABC0-11FA-EC21-1091-56C52C3B8B3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Arial" panose="020B0604020202020204" pitchFamily="34" charset="0"/>
                <a:ea typeface="ＭＳ Ｐゴシック" panose="020B0600070205080204" pitchFamily="34" charset="-128"/>
              </a:rPr>
              <a:t>Chapter 2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AE79600-116B-B44E-985E-DF0E3402F900}"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697825-2A02-314D-B71E-8B41E64C21DC}" type="slidenum">
              <a:rPr lang="en-US" altLang="en-US" smtClean="0"/>
              <a:pPr/>
              <a:t>‹#›</a:t>
            </a:fld>
            <a:endParaRPr lang="en-US" altLang="en-US"/>
          </a:p>
        </p:txBody>
      </p:sp>
    </p:spTree>
    <p:extLst>
      <p:ext uri="{BB962C8B-B14F-4D97-AF65-F5344CB8AC3E}">
        <p14:creationId xmlns:p14="http://schemas.microsoft.com/office/powerpoint/2010/main" val="119491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AE79600-116B-B44E-985E-DF0E3402F900}"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FCA6C-B352-B341-AB95-6E0F564A4B6A}" type="slidenum">
              <a:rPr lang="en-US" altLang="en-US" smtClean="0"/>
              <a:pPr/>
              <a:t>‹#›</a:t>
            </a:fld>
            <a:endParaRPr lang="en-US" altLang="en-US"/>
          </a:p>
        </p:txBody>
      </p:sp>
    </p:spTree>
    <p:extLst>
      <p:ext uri="{BB962C8B-B14F-4D97-AF65-F5344CB8AC3E}">
        <p14:creationId xmlns:p14="http://schemas.microsoft.com/office/powerpoint/2010/main" val="3065242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AE79600-116B-B44E-985E-DF0E3402F900}"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B7512A-1856-D046-AC6D-38D7EE5FE9C0}" type="slidenum">
              <a:rPr lang="en-US" altLang="en-US" smtClean="0"/>
              <a:pPr/>
              <a:t>‹#›</a:t>
            </a:fld>
            <a:endParaRPr lang="en-US" altLang="en-US"/>
          </a:p>
        </p:txBody>
      </p:sp>
    </p:spTree>
    <p:extLst>
      <p:ext uri="{BB962C8B-B14F-4D97-AF65-F5344CB8AC3E}">
        <p14:creationId xmlns:p14="http://schemas.microsoft.com/office/powerpoint/2010/main" val="3063726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AE79600-116B-B44E-985E-DF0E3402F900}"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7023F2-591F-9046-A17B-0F20E4A66890}" type="slidenum">
              <a:rPr lang="en-US" altLang="en-US" smtClean="0"/>
              <a:pPr/>
              <a:t>‹#›</a:t>
            </a:fld>
            <a:endParaRPr lang="en-US" altLang="en-US"/>
          </a:p>
        </p:txBody>
      </p:sp>
    </p:spTree>
    <p:extLst>
      <p:ext uri="{BB962C8B-B14F-4D97-AF65-F5344CB8AC3E}">
        <p14:creationId xmlns:p14="http://schemas.microsoft.com/office/powerpoint/2010/main" val="3210201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AE79600-116B-B44E-985E-DF0E3402F900}" type="datetimeFigureOut">
              <a:rPr lang="en-US" smtClean="0"/>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3C7C79-DC0A-4740-B9E8-1114F41D6CC8}" type="slidenum">
              <a:rPr lang="en-US" altLang="en-US" smtClean="0"/>
              <a:pPr/>
              <a:t>‹#›</a:t>
            </a:fld>
            <a:endParaRPr lang="en-US" altLang="en-US"/>
          </a:p>
        </p:txBody>
      </p:sp>
    </p:spTree>
    <p:extLst>
      <p:ext uri="{BB962C8B-B14F-4D97-AF65-F5344CB8AC3E}">
        <p14:creationId xmlns:p14="http://schemas.microsoft.com/office/powerpoint/2010/main" val="2854507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AE79600-116B-B44E-985E-DF0E3402F900}" type="datetimeFigureOut">
              <a:rPr lang="en-US" smtClean="0"/>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82C530-796E-0A44-A0B6-54B19AB5922B}" type="slidenum">
              <a:rPr lang="en-US" altLang="en-US" smtClean="0"/>
              <a:pPr/>
              <a:t>‹#›</a:t>
            </a:fld>
            <a:endParaRPr lang="en-US" altLang="en-US"/>
          </a:p>
        </p:txBody>
      </p:sp>
    </p:spTree>
    <p:extLst>
      <p:ext uri="{BB962C8B-B14F-4D97-AF65-F5344CB8AC3E}">
        <p14:creationId xmlns:p14="http://schemas.microsoft.com/office/powerpoint/2010/main" val="1527058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E79600-116B-B44E-985E-DF0E3402F900}" type="datetimeFigureOut">
              <a:rPr lang="en-US" smtClean="0"/>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EC039A-47C6-7A4E-948F-B60F6C113224}" type="slidenum">
              <a:rPr lang="en-US" altLang="en-US" smtClean="0"/>
              <a:pPr/>
              <a:t>‹#›</a:t>
            </a:fld>
            <a:endParaRPr lang="en-US" altLang="en-US"/>
          </a:p>
        </p:txBody>
      </p:sp>
    </p:spTree>
    <p:extLst>
      <p:ext uri="{BB962C8B-B14F-4D97-AF65-F5344CB8AC3E}">
        <p14:creationId xmlns:p14="http://schemas.microsoft.com/office/powerpoint/2010/main" val="901694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AE79600-116B-B44E-985E-DF0E3402F900}"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B05CCF-864B-D942-80FC-D5633C4F07D8}" type="slidenum">
              <a:rPr lang="en-US" altLang="en-US" smtClean="0"/>
              <a:pPr/>
              <a:t>‹#›</a:t>
            </a:fld>
            <a:endParaRPr lang="en-US" altLang="en-US"/>
          </a:p>
        </p:txBody>
      </p:sp>
    </p:spTree>
    <p:extLst>
      <p:ext uri="{BB962C8B-B14F-4D97-AF65-F5344CB8AC3E}">
        <p14:creationId xmlns:p14="http://schemas.microsoft.com/office/powerpoint/2010/main" val="3440288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AE79600-116B-B44E-985E-DF0E3402F900}"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617A96-C8AF-D34A-9AC7-A1F6E6AF0C94}" type="slidenum">
              <a:rPr lang="en-US" altLang="en-US" smtClean="0"/>
              <a:pPr/>
              <a:t>‹#›</a:t>
            </a:fld>
            <a:endParaRPr lang="en-US" altLang="en-US"/>
          </a:p>
        </p:txBody>
      </p:sp>
    </p:spTree>
    <p:extLst>
      <p:ext uri="{BB962C8B-B14F-4D97-AF65-F5344CB8AC3E}">
        <p14:creationId xmlns:p14="http://schemas.microsoft.com/office/powerpoint/2010/main" val="3695358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AE79600-116B-B44E-985E-DF0E3402F900}"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545F7D-C9AC-9B44-8215-E135E1960FE6}" type="slidenum">
              <a:rPr lang="en-US" altLang="en-US" smtClean="0"/>
              <a:pPr/>
              <a:t>‹#›</a:t>
            </a:fld>
            <a:endParaRPr lang="en-US" altLang="en-US"/>
          </a:p>
        </p:txBody>
      </p:sp>
    </p:spTree>
    <p:extLst>
      <p:ext uri="{BB962C8B-B14F-4D97-AF65-F5344CB8AC3E}">
        <p14:creationId xmlns:p14="http://schemas.microsoft.com/office/powerpoint/2010/main" val="566545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AE79600-116B-B44E-985E-DF0E3402F900}"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B2CE15-FE42-3C42-A399-C9F5CDD233D6}" type="slidenum">
              <a:rPr lang="en-US" altLang="en-US" smtClean="0"/>
              <a:pPr/>
              <a:t>‹#›</a:t>
            </a:fld>
            <a:endParaRPr lang="en-US" altLang="en-US"/>
          </a:p>
        </p:txBody>
      </p:sp>
    </p:spTree>
    <p:extLst>
      <p:ext uri="{BB962C8B-B14F-4D97-AF65-F5344CB8AC3E}">
        <p14:creationId xmlns:p14="http://schemas.microsoft.com/office/powerpoint/2010/main" val="20723239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76ADCD-61AD-7044-AF50-036680109959}" type="slidenum">
              <a:rPr lang="en-US" altLang="en-US" smtClean="0"/>
              <a:pPr/>
              <a:t>‹#›</a:t>
            </a:fld>
            <a:endParaRPr lang="en-US" altLang="en-US"/>
          </a:p>
        </p:txBody>
      </p:sp>
    </p:spTree>
    <p:extLst>
      <p:ext uri="{BB962C8B-B14F-4D97-AF65-F5344CB8AC3E}">
        <p14:creationId xmlns:p14="http://schemas.microsoft.com/office/powerpoint/2010/main" val="42213277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F35962-7A16-BF43-9F1C-6381DCF9FB12}" type="slidenum">
              <a:rPr lang="en-US" altLang="en-US" smtClean="0"/>
              <a:pPr/>
              <a:t>‹#›</a:t>
            </a:fld>
            <a:endParaRPr lang="en-US" altLang="en-US"/>
          </a:p>
        </p:txBody>
      </p:sp>
    </p:spTree>
    <p:extLst>
      <p:ext uri="{BB962C8B-B14F-4D97-AF65-F5344CB8AC3E}">
        <p14:creationId xmlns:p14="http://schemas.microsoft.com/office/powerpoint/2010/main" val="23716678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FD0A9F6-D7D7-7D4E-B108-7B0B3C4CD249}" type="slidenum">
              <a:rPr lang="en-US" altLang="en-US" smtClean="0"/>
              <a:pPr/>
              <a:t>‹#›</a:t>
            </a:fld>
            <a:endParaRPr lang="en-US" altLang="en-US"/>
          </a:p>
        </p:txBody>
      </p:sp>
    </p:spTree>
    <p:extLst>
      <p:ext uri="{BB962C8B-B14F-4D97-AF65-F5344CB8AC3E}">
        <p14:creationId xmlns:p14="http://schemas.microsoft.com/office/powerpoint/2010/main" val="231577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812EB31-93B3-DF4E-B67F-E956E9DA306F}" type="slidenum">
              <a:rPr lang="en-US" altLang="en-US" smtClean="0"/>
              <a:pPr/>
              <a:t>‹#›</a:t>
            </a:fld>
            <a:endParaRPr lang="en-US" altLang="en-US"/>
          </a:p>
        </p:txBody>
      </p:sp>
    </p:spTree>
    <p:extLst>
      <p:ext uri="{BB962C8B-B14F-4D97-AF65-F5344CB8AC3E}">
        <p14:creationId xmlns:p14="http://schemas.microsoft.com/office/powerpoint/2010/main" val="1037947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7DDBFFE-8C95-7846-841A-C043F4CCA1DD}" type="slidenum">
              <a:rPr lang="en-US" altLang="en-US" smtClean="0"/>
              <a:pPr/>
              <a:t>‹#›</a:t>
            </a:fld>
            <a:endParaRPr lang="en-US" altLang="en-US"/>
          </a:p>
        </p:txBody>
      </p:sp>
    </p:spTree>
    <p:extLst>
      <p:ext uri="{BB962C8B-B14F-4D97-AF65-F5344CB8AC3E}">
        <p14:creationId xmlns:p14="http://schemas.microsoft.com/office/powerpoint/2010/main" val="2735821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14C07FC-EC55-2E4C-9F0F-6AA4AE281DE0}" type="slidenum">
              <a:rPr lang="en-US" altLang="en-US" smtClean="0"/>
              <a:pPr/>
              <a:t>‹#›</a:t>
            </a:fld>
            <a:endParaRPr lang="en-US" altLang="en-US"/>
          </a:p>
        </p:txBody>
      </p:sp>
    </p:spTree>
    <p:extLst>
      <p:ext uri="{BB962C8B-B14F-4D97-AF65-F5344CB8AC3E}">
        <p14:creationId xmlns:p14="http://schemas.microsoft.com/office/powerpoint/2010/main" val="37149483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18A1A5-B8C2-7348-90EE-CC4DCEF7B4C1}" type="slidenum">
              <a:rPr lang="en-US" altLang="en-US" smtClean="0"/>
              <a:pPr/>
              <a:t>‹#›</a:t>
            </a:fld>
            <a:endParaRPr lang="en-US" altLang="en-US"/>
          </a:p>
        </p:txBody>
      </p:sp>
    </p:spTree>
    <p:extLst>
      <p:ext uri="{BB962C8B-B14F-4D97-AF65-F5344CB8AC3E}">
        <p14:creationId xmlns:p14="http://schemas.microsoft.com/office/powerpoint/2010/main" val="32393234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A7185FC-DE17-F142-899B-15BA5BDC49B2}" type="slidenum">
              <a:rPr lang="en-US" altLang="en-US" smtClean="0"/>
              <a:pPr/>
              <a:t>‹#›</a:t>
            </a:fld>
            <a:endParaRPr lang="en-US" altLang="en-US"/>
          </a:p>
        </p:txBody>
      </p:sp>
    </p:spTree>
    <p:extLst>
      <p:ext uri="{BB962C8B-B14F-4D97-AF65-F5344CB8AC3E}">
        <p14:creationId xmlns:p14="http://schemas.microsoft.com/office/powerpoint/2010/main" val="9965768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DA17ABF-C28C-8246-94E9-EC1181BD7103}" type="slidenum">
              <a:rPr lang="en-US" altLang="en-US" smtClean="0"/>
              <a:pPr/>
              <a:t>‹#›</a:t>
            </a:fld>
            <a:endParaRPr lang="en-US" altLang="en-US"/>
          </a:p>
        </p:txBody>
      </p:sp>
    </p:spTree>
    <p:extLst>
      <p:ext uri="{BB962C8B-B14F-4D97-AF65-F5344CB8AC3E}">
        <p14:creationId xmlns:p14="http://schemas.microsoft.com/office/powerpoint/2010/main" val="13843670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D84D79C-6101-6442-92E0-D7B0EA99B12D}" type="slidenum">
              <a:rPr lang="en-US" altLang="en-US" smtClean="0"/>
              <a:pPr/>
              <a:t>‹#›</a:t>
            </a:fld>
            <a:endParaRPr lang="en-US" altLang="en-US"/>
          </a:p>
        </p:txBody>
      </p:sp>
    </p:spTree>
    <p:extLst>
      <p:ext uri="{BB962C8B-B14F-4D97-AF65-F5344CB8AC3E}">
        <p14:creationId xmlns:p14="http://schemas.microsoft.com/office/powerpoint/2010/main" val="9882255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A35D16-355A-A442-A009-96BB6AF8921F}" type="slidenum">
              <a:rPr lang="en-US" altLang="en-US" smtClean="0"/>
              <a:pPr/>
              <a:t>‹#›</a:t>
            </a:fld>
            <a:endParaRPr lang="en-US" altLang="en-US"/>
          </a:p>
        </p:txBody>
      </p:sp>
    </p:spTree>
    <p:extLst>
      <p:ext uri="{BB962C8B-B14F-4D97-AF65-F5344CB8AC3E}">
        <p14:creationId xmlns:p14="http://schemas.microsoft.com/office/powerpoint/2010/main" val="37832119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6BFD8-735A-7EEB-A847-20C3C2151E74}"/>
              </a:ext>
            </a:extLst>
          </p:cNvPr>
          <p:cNvSpPr>
            <a:spLocks noGrp="1"/>
          </p:cNvSpPr>
          <p:nvPr>
            <p:ph type="title"/>
          </p:nvPr>
        </p:nvSpPr>
        <p:spPr>
          <a:xfrm>
            <a:off x="457200" y="130175"/>
            <a:ext cx="8224838" cy="1433513"/>
          </a:xfrm>
        </p:spPr>
        <p:txBody>
          <a:body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F3CC7BBD-D19F-C256-2C2C-BD7437B42FAC}"/>
              </a:ext>
            </a:extLst>
          </p:cNvPr>
          <p:cNvSpPr>
            <a:spLocks noGrp="1"/>
          </p:cNvSpPr>
          <p:nvPr>
            <p:ph type="sldNum" idx="10"/>
          </p:nvPr>
        </p:nvSpPr>
        <p:spPr>
          <a:xfrm>
            <a:off x="6553200" y="6248400"/>
            <a:ext cx="2128838" cy="452438"/>
          </a:xfrm>
        </p:spPr>
        <p:txBody>
          <a:bodyPr/>
          <a:lstStyle>
            <a:lvl1pPr>
              <a:defRPr/>
            </a:lvl1pPr>
          </a:lstStyle>
          <a:p>
            <a:fld id="{18150D8D-E992-AF4B-8FB0-F27D02456DE4}" type="slidenum">
              <a:rPr lang="en-US" altLang="en-US"/>
              <a:pPr/>
              <a:t>‹#›</a:t>
            </a:fld>
            <a:endParaRPr lang="en-US" altLang="en-US"/>
          </a:p>
        </p:txBody>
      </p:sp>
    </p:spTree>
    <p:extLst>
      <p:ext uri="{BB962C8B-B14F-4D97-AF65-F5344CB8AC3E}">
        <p14:creationId xmlns:p14="http://schemas.microsoft.com/office/powerpoint/2010/main" val="13572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2/2/2026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AC89A1-6D16-1B4B-AD7C-460EF8019270}" type="slidenum">
              <a:rPr lang="en-US" altLang="en-US" smtClean="0"/>
              <a:pPr/>
              <a:t>‹#›</a:t>
            </a:fld>
            <a:endParaRPr lang="en-US" altLang="en-US"/>
          </a:p>
        </p:txBody>
      </p:sp>
    </p:spTree>
    <p:extLst>
      <p:ext uri="{BB962C8B-B14F-4D97-AF65-F5344CB8AC3E}">
        <p14:creationId xmlns:p14="http://schemas.microsoft.com/office/powerpoint/2010/main" val="248352436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2/2/2026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AC89A1-6D16-1B4B-AD7C-460EF8019270}" type="slidenum">
              <a:rPr lang="en-US" altLang="en-US" smtClean="0"/>
              <a:pPr/>
              <a:t>‹#›</a:t>
            </a:fld>
            <a:endParaRPr lang="en-US" altLang="en-US"/>
          </a:p>
        </p:txBody>
      </p:sp>
    </p:spTree>
    <p:extLst>
      <p:ext uri="{BB962C8B-B14F-4D97-AF65-F5344CB8AC3E}">
        <p14:creationId xmlns:p14="http://schemas.microsoft.com/office/powerpoint/2010/main" val="2825158544"/>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image" Target="../media/image5.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7.emf"/><Relationship Id="rId5" Type="http://schemas.openxmlformats.org/officeDocument/2006/relationships/oleObject" Target="../embeddings/oleObject5.bin"/><Relationship Id="rId4" Type="http://schemas.openxmlformats.org/officeDocument/2006/relationships/image" Target="../media/image5.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9.emf"/><Relationship Id="rId5" Type="http://schemas.openxmlformats.org/officeDocument/2006/relationships/oleObject" Target="../embeddings/oleObject7.bin"/><Relationship Id="rId4" Type="http://schemas.openxmlformats.org/officeDocument/2006/relationships/image" Target="../media/image8.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25.e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26.e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hyperlink" Target="http://www.google.com/patents?vid=1310719" TargetMode="External"/><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4097" name="Text Box 1">
            <a:extLst>
              <a:ext uri="{FF2B5EF4-FFF2-40B4-BE49-F238E27FC236}">
                <a16:creationId xmlns:a16="http://schemas.microsoft.com/office/drawing/2014/main" id="{8DB5875E-A3A6-1B94-2634-088BF6F79E60}"/>
              </a:ext>
            </a:extLst>
          </p:cNvPr>
          <p:cNvSpPr txBox="1">
            <a:spLocks noChangeArrowheads="1"/>
          </p:cNvSpPr>
          <p:nvPr/>
        </p:nvSpPr>
        <p:spPr bwMode="auto">
          <a:xfrm>
            <a:off x="838200" y="457200"/>
            <a:ext cx="7848600" cy="2765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5400" b="1" dirty="0">
                <a:solidFill>
                  <a:srgbClr val="D9D9FF"/>
                </a:solidFill>
                <a:effectLst>
                  <a:outerShdw blurRad="38100" dist="38100" dir="2700000" algn="tl">
                    <a:srgbClr val="000000"/>
                  </a:outerShdw>
                </a:effectLst>
              </a:rPr>
              <a:t>LU2 - classical cryptosystem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6145" name="Text Box 1">
            <a:extLst>
              <a:ext uri="{FF2B5EF4-FFF2-40B4-BE49-F238E27FC236}">
                <a16:creationId xmlns:a16="http://schemas.microsoft.com/office/drawing/2014/main" id="{820AB34C-BCF8-A8EA-657C-E66D218F811E}"/>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Symmetric Encryption</a:t>
            </a:r>
          </a:p>
        </p:txBody>
      </p:sp>
      <p:sp>
        <p:nvSpPr>
          <p:cNvPr id="6146" name="Text Box 2">
            <a:extLst>
              <a:ext uri="{FF2B5EF4-FFF2-40B4-BE49-F238E27FC236}">
                <a16:creationId xmlns:a16="http://schemas.microsoft.com/office/drawing/2014/main" id="{D7ED985B-6E8F-497F-935F-8D442454F8D2}"/>
              </a:ext>
            </a:extLst>
          </p:cNvPr>
          <p:cNvSpPr txBox="1">
            <a:spLocks noChangeArrowheads="1"/>
          </p:cNvSpPr>
          <p:nvPr/>
        </p:nvSpPr>
        <p:spPr bwMode="auto">
          <a:xfrm>
            <a:off x="457200" y="1676400"/>
            <a:ext cx="8229600" cy="4545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or conventional / </a:t>
            </a:r>
            <a:r>
              <a:rPr lang="en-AU" altLang="en-US" sz="3200">
                <a:effectLst>
                  <a:outerShdw blurRad="38100" dist="38100" dir="2700000" algn="tl">
                    <a:srgbClr val="000000"/>
                  </a:outerShdw>
                </a:effectLst>
              </a:rPr>
              <a:t>private-key</a:t>
            </a:r>
            <a:r>
              <a:rPr lang="en-US" altLang="en-US" sz="3200">
                <a:effectLst>
                  <a:outerShdw blurRad="38100" dist="38100" dir="2700000" algn="tl">
                    <a:srgbClr val="000000"/>
                  </a:outerShdw>
                </a:effectLst>
              </a:rPr>
              <a:t>  / single-key</a:t>
            </a:r>
          </a:p>
          <a:p>
            <a:pPr>
              <a:lnSpc>
                <a:spcPct val="90000"/>
              </a:lnSpc>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sender and recipient share a common key</a:t>
            </a:r>
          </a:p>
          <a:p>
            <a:pPr>
              <a:lnSpc>
                <a:spcPct val="90000"/>
              </a:lnSpc>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all classical encryption algorithms are private-key</a:t>
            </a:r>
          </a:p>
          <a:p>
            <a:pPr>
              <a:lnSpc>
                <a:spcPct val="90000"/>
              </a:lnSpc>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was only type prior to invention of public-key in 1970’s</a:t>
            </a:r>
          </a:p>
          <a:p>
            <a:pPr>
              <a:lnSpc>
                <a:spcPct val="90000"/>
              </a:lnSpc>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and by far most widely used (still)</a:t>
            </a:r>
          </a:p>
          <a:p>
            <a:pPr>
              <a:lnSpc>
                <a:spcPct val="90000"/>
              </a:lnSpc>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is significantly faster than public-key crypto</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614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AC88D4C8-B86E-AB4F-208E-B29AAFE699A3}"/>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Some Basic Terminology</a:t>
            </a:r>
          </a:p>
        </p:txBody>
      </p:sp>
      <p:sp>
        <p:nvSpPr>
          <p:cNvPr id="7170" name="Text Box 2">
            <a:extLst>
              <a:ext uri="{FF2B5EF4-FFF2-40B4-BE49-F238E27FC236}">
                <a16:creationId xmlns:a16="http://schemas.microsoft.com/office/drawing/2014/main" id="{942EF654-56D3-C683-B106-21B8C7A9FE4B}"/>
              </a:ext>
            </a:extLst>
          </p:cNvPr>
          <p:cNvSpPr txBox="1">
            <a:spLocks noChangeArrowheads="1"/>
          </p:cNvSpPr>
          <p:nvPr/>
        </p:nvSpPr>
        <p:spPr bwMode="auto">
          <a:xfrm>
            <a:off x="457200" y="1341438"/>
            <a:ext cx="8362950" cy="4840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80000"/>
              </a:lnSpc>
              <a:spcBef>
                <a:spcPts val="600"/>
              </a:spcBef>
              <a:spcAft>
                <a:spcPts val="1200"/>
              </a:spcAft>
              <a:buClr>
                <a:srgbClr val="5FAFFF"/>
              </a:buClr>
              <a:buSzPct val="80000"/>
              <a:buFont typeface="Wingdings" pitchFamily="2" charset="2"/>
              <a:buChar char=""/>
            </a:pPr>
            <a:r>
              <a:rPr lang="en-AU" altLang="en-US" b="1">
                <a:effectLst>
                  <a:outerShdw blurRad="38100" dist="38100" dir="2700000" algn="tl">
                    <a:srgbClr val="000000"/>
                  </a:outerShdw>
                </a:effectLst>
              </a:rPr>
              <a:t>plaintext</a:t>
            </a:r>
            <a:r>
              <a:rPr lang="en-AU" altLang="en-US">
                <a:effectLst>
                  <a:outerShdw blurRad="38100" dist="38100" dir="2700000" algn="tl">
                    <a:srgbClr val="000000"/>
                  </a:outerShdw>
                </a:effectLst>
              </a:rPr>
              <a:t> - original message </a:t>
            </a:r>
          </a:p>
          <a:p>
            <a:pPr>
              <a:lnSpc>
                <a:spcPct val="80000"/>
              </a:lnSpc>
              <a:spcBef>
                <a:spcPts val="600"/>
              </a:spcBef>
              <a:spcAft>
                <a:spcPts val="1200"/>
              </a:spcAft>
              <a:buClr>
                <a:srgbClr val="5FAFFF"/>
              </a:buClr>
              <a:buSzPct val="80000"/>
              <a:buFont typeface="Wingdings" pitchFamily="2" charset="2"/>
              <a:buChar char=""/>
            </a:pPr>
            <a:r>
              <a:rPr lang="en-AU" altLang="en-US" b="1">
                <a:effectLst>
                  <a:outerShdw blurRad="38100" dist="38100" dir="2700000" algn="tl">
                    <a:srgbClr val="000000"/>
                  </a:outerShdw>
                </a:effectLst>
              </a:rPr>
              <a:t>ciphertext</a:t>
            </a:r>
            <a:r>
              <a:rPr lang="en-AU" altLang="en-US">
                <a:effectLst>
                  <a:outerShdw blurRad="38100" dist="38100" dir="2700000" algn="tl">
                    <a:srgbClr val="000000"/>
                  </a:outerShdw>
                </a:effectLst>
              </a:rPr>
              <a:t> - coded message </a:t>
            </a:r>
          </a:p>
          <a:p>
            <a:pPr>
              <a:lnSpc>
                <a:spcPct val="80000"/>
              </a:lnSpc>
              <a:spcBef>
                <a:spcPts val="600"/>
              </a:spcBef>
              <a:spcAft>
                <a:spcPts val="1200"/>
              </a:spcAft>
              <a:buClr>
                <a:srgbClr val="5FAFFF"/>
              </a:buClr>
              <a:buSzPct val="80000"/>
              <a:buFont typeface="Wingdings" pitchFamily="2" charset="2"/>
              <a:buChar char=""/>
            </a:pPr>
            <a:r>
              <a:rPr lang="en-AU" altLang="en-US" b="1">
                <a:effectLst>
                  <a:outerShdw blurRad="38100" dist="38100" dir="2700000" algn="tl">
                    <a:srgbClr val="000000"/>
                  </a:outerShdw>
                </a:effectLst>
              </a:rPr>
              <a:t>cipher</a:t>
            </a:r>
            <a:r>
              <a:rPr lang="en-AU" altLang="en-US">
                <a:effectLst>
                  <a:outerShdw blurRad="38100" dist="38100" dir="2700000" algn="tl">
                    <a:srgbClr val="000000"/>
                  </a:outerShdw>
                </a:effectLst>
              </a:rPr>
              <a:t> - algorithm for transforming plaintext to ciphertext </a:t>
            </a:r>
          </a:p>
          <a:p>
            <a:pPr>
              <a:lnSpc>
                <a:spcPct val="80000"/>
              </a:lnSpc>
              <a:spcBef>
                <a:spcPts val="600"/>
              </a:spcBef>
              <a:spcAft>
                <a:spcPts val="1200"/>
              </a:spcAft>
              <a:buClr>
                <a:srgbClr val="5FAFFF"/>
              </a:buClr>
              <a:buSzPct val="80000"/>
              <a:buFont typeface="Wingdings" pitchFamily="2" charset="2"/>
              <a:buChar char=""/>
            </a:pPr>
            <a:r>
              <a:rPr lang="en-AU" altLang="en-US" b="1">
                <a:effectLst>
                  <a:outerShdw blurRad="38100" dist="38100" dir="2700000" algn="tl">
                    <a:srgbClr val="000000"/>
                  </a:outerShdw>
                </a:effectLst>
              </a:rPr>
              <a:t>key</a:t>
            </a:r>
            <a:r>
              <a:rPr lang="en-AU" altLang="en-US">
                <a:effectLst>
                  <a:outerShdw blurRad="38100" dist="38100" dir="2700000" algn="tl">
                    <a:srgbClr val="000000"/>
                  </a:outerShdw>
                </a:effectLst>
              </a:rPr>
              <a:t> - info used in cipher known only to sender/receiver </a:t>
            </a:r>
          </a:p>
          <a:p>
            <a:pPr>
              <a:lnSpc>
                <a:spcPct val="80000"/>
              </a:lnSpc>
              <a:spcBef>
                <a:spcPts val="600"/>
              </a:spcBef>
              <a:spcAft>
                <a:spcPts val="1200"/>
              </a:spcAft>
              <a:buClr>
                <a:srgbClr val="5FAFFF"/>
              </a:buClr>
              <a:buSzPct val="80000"/>
              <a:buFont typeface="Wingdings" pitchFamily="2" charset="2"/>
              <a:buChar char=""/>
            </a:pPr>
            <a:r>
              <a:rPr lang="en-AU" altLang="en-US" b="1">
                <a:effectLst>
                  <a:outerShdw blurRad="38100" dist="38100" dir="2700000" algn="tl">
                    <a:srgbClr val="000000"/>
                  </a:outerShdw>
                </a:effectLst>
              </a:rPr>
              <a:t>encipher (encrypt)</a:t>
            </a:r>
            <a:r>
              <a:rPr lang="en-AU" altLang="en-US">
                <a:effectLst>
                  <a:outerShdw blurRad="38100" dist="38100" dir="2700000" algn="tl">
                    <a:srgbClr val="000000"/>
                  </a:outerShdw>
                </a:effectLst>
              </a:rPr>
              <a:t> - converting plaintext to ciphertext </a:t>
            </a:r>
          </a:p>
          <a:p>
            <a:pPr>
              <a:lnSpc>
                <a:spcPct val="80000"/>
              </a:lnSpc>
              <a:spcBef>
                <a:spcPts val="600"/>
              </a:spcBef>
              <a:spcAft>
                <a:spcPts val="1200"/>
              </a:spcAft>
              <a:buClr>
                <a:srgbClr val="5FAFFF"/>
              </a:buClr>
              <a:buSzPct val="80000"/>
              <a:buFont typeface="Wingdings" pitchFamily="2" charset="2"/>
              <a:buChar char=""/>
            </a:pPr>
            <a:r>
              <a:rPr lang="en-AU" altLang="en-US" b="1">
                <a:effectLst>
                  <a:outerShdw blurRad="38100" dist="38100" dir="2700000" algn="tl">
                    <a:srgbClr val="000000"/>
                  </a:outerShdw>
                </a:effectLst>
              </a:rPr>
              <a:t>decipher (decrypt)</a:t>
            </a:r>
            <a:r>
              <a:rPr lang="en-AU" altLang="en-US">
                <a:effectLst>
                  <a:outerShdw blurRad="38100" dist="38100" dir="2700000" algn="tl">
                    <a:srgbClr val="000000"/>
                  </a:outerShdw>
                </a:effectLst>
              </a:rPr>
              <a:t> - recovering plaintext from ciphertext</a:t>
            </a:r>
          </a:p>
          <a:p>
            <a:pPr>
              <a:lnSpc>
                <a:spcPct val="80000"/>
              </a:lnSpc>
              <a:spcBef>
                <a:spcPts val="600"/>
              </a:spcBef>
              <a:spcAft>
                <a:spcPts val="1200"/>
              </a:spcAft>
              <a:buClr>
                <a:srgbClr val="5FAFFF"/>
              </a:buClr>
              <a:buSzPct val="80000"/>
              <a:buFont typeface="Wingdings" pitchFamily="2" charset="2"/>
              <a:buChar char=""/>
            </a:pPr>
            <a:r>
              <a:rPr lang="en-AU" altLang="en-US" b="1">
                <a:effectLst>
                  <a:outerShdw blurRad="38100" dist="38100" dir="2700000" algn="tl">
                    <a:srgbClr val="000000"/>
                  </a:outerShdw>
                </a:effectLst>
              </a:rPr>
              <a:t>cryptography</a:t>
            </a:r>
            <a:r>
              <a:rPr lang="en-AU" altLang="en-US">
                <a:effectLst>
                  <a:outerShdw blurRad="38100" dist="38100" dir="2700000" algn="tl">
                    <a:srgbClr val="000000"/>
                  </a:outerShdw>
                </a:effectLst>
              </a:rPr>
              <a:t> - study of encryption principles/methods</a:t>
            </a:r>
          </a:p>
          <a:p>
            <a:pPr>
              <a:lnSpc>
                <a:spcPct val="80000"/>
              </a:lnSpc>
              <a:spcBef>
                <a:spcPts val="600"/>
              </a:spcBef>
              <a:spcAft>
                <a:spcPts val="1200"/>
              </a:spcAft>
              <a:buClr>
                <a:srgbClr val="5FAFFF"/>
              </a:buClr>
              <a:buSzPct val="80000"/>
              <a:buFont typeface="Wingdings" pitchFamily="2" charset="2"/>
              <a:buChar char=""/>
            </a:pPr>
            <a:r>
              <a:rPr lang="en-AU" altLang="en-US" b="1">
                <a:effectLst>
                  <a:outerShdw blurRad="38100" dist="38100" dir="2700000" algn="tl">
                    <a:srgbClr val="000000"/>
                  </a:outerShdw>
                </a:effectLst>
              </a:rPr>
              <a:t>cryptanalysis (codebreaking)</a:t>
            </a:r>
            <a:r>
              <a:rPr lang="en-AU" altLang="en-US">
                <a:effectLst>
                  <a:outerShdw blurRad="38100" dist="38100" dir="2700000" algn="tl">
                    <a:srgbClr val="000000"/>
                  </a:outerShdw>
                </a:effectLst>
              </a:rPr>
              <a:t> - study of principles/ methods of deciphering ciphertext </a:t>
            </a:r>
            <a:r>
              <a:rPr lang="en-AU" altLang="en-US" i="1">
                <a:effectLst>
                  <a:outerShdw blurRad="38100" dist="38100" dir="2700000" algn="tl">
                    <a:srgbClr val="000000"/>
                  </a:outerShdw>
                </a:effectLst>
              </a:rPr>
              <a:t>without</a:t>
            </a:r>
            <a:r>
              <a:rPr lang="en-AU" altLang="en-US">
                <a:effectLst>
                  <a:outerShdw blurRad="38100" dist="38100" dir="2700000" algn="tl">
                    <a:srgbClr val="000000"/>
                  </a:outerShdw>
                </a:effectLst>
              </a:rPr>
              <a:t> knowing key</a:t>
            </a:r>
          </a:p>
          <a:p>
            <a:pPr>
              <a:lnSpc>
                <a:spcPct val="80000"/>
              </a:lnSpc>
              <a:spcBef>
                <a:spcPts val="600"/>
              </a:spcBef>
              <a:spcAft>
                <a:spcPts val="1200"/>
              </a:spcAft>
              <a:buClr>
                <a:srgbClr val="5FAFFF"/>
              </a:buClr>
              <a:buSzPct val="80000"/>
              <a:buFont typeface="Wingdings" pitchFamily="2" charset="2"/>
              <a:buChar char=""/>
            </a:pPr>
            <a:r>
              <a:rPr lang="en-AU" altLang="en-US" b="1">
                <a:effectLst>
                  <a:outerShdw blurRad="38100" dist="38100" dir="2700000" algn="tl">
                    <a:srgbClr val="000000"/>
                  </a:outerShdw>
                </a:effectLst>
              </a:rPr>
              <a:t>cryptology</a:t>
            </a:r>
            <a:r>
              <a:rPr lang="en-AU" altLang="en-US">
                <a:effectLst>
                  <a:outerShdw blurRad="38100" dist="38100" dir="2700000" algn="tl">
                    <a:srgbClr val="000000"/>
                  </a:outerShdw>
                </a:effectLst>
              </a:rPr>
              <a:t> - field of both cryptography and cryptanalysis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8193" name="Text Box 1">
            <a:extLst>
              <a:ext uri="{FF2B5EF4-FFF2-40B4-BE49-F238E27FC236}">
                <a16:creationId xmlns:a16="http://schemas.microsoft.com/office/drawing/2014/main" id="{D8F734DC-4D87-E265-EC14-B79BFDC831F1}"/>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Symmetric Cipher Model</a:t>
            </a:r>
          </a:p>
        </p:txBody>
      </p:sp>
      <p:pic>
        <p:nvPicPr>
          <p:cNvPr id="8194" name="Picture 2">
            <a:extLst>
              <a:ext uri="{FF2B5EF4-FFF2-40B4-BE49-F238E27FC236}">
                <a16:creationId xmlns:a16="http://schemas.microsoft.com/office/drawing/2014/main" id="{A196BEEC-1040-E22F-FC8B-B1399B2BFF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981200"/>
            <a:ext cx="8572500" cy="3276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9217" name="Text Box 1">
            <a:extLst>
              <a:ext uri="{FF2B5EF4-FFF2-40B4-BE49-F238E27FC236}">
                <a16:creationId xmlns:a16="http://schemas.microsoft.com/office/drawing/2014/main" id="{87A2AAA0-4E68-F43C-D7FB-959D10FAE85B}"/>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Requirements</a:t>
            </a:r>
          </a:p>
        </p:txBody>
      </p:sp>
      <p:sp>
        <p:nvSpPr>
          <p:cNvPr id="9218" name="Text Box 2">
            <a:extLst>
              <a:ext uri="{FF2B5EF4-FFF2-40B4-BE49-F238E27FC236}">
                <a16:creationId xmlns:a16="http://schemas.microsoft.com/office/drawing/2014/main" id="{836DBCCC-AE1A-7F2F-17B0-D767D513B60A}"/>
              </a:ext>
            </a:extLst>
          </p:cNvPr>
          <p:cNvSpPr txBox="1">
            <a:spLocks noChangeArrowheads="1"/>
          </p:cNvSpPr>
          <p:nvPr/>
        </p:nvSpPr>
        <p:spPr bwMode="auto">
          <a:xfrm>
            <a:off x="457200" y="1676400"/>
            <a:ext cx="8229600" cy="470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80000"/>
              </a:lnSpc>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two requirements for secure use of symmetric encryption:</a:t>
            </a:r>
          </a:p>
          <a:p>
            <a:pPr lvl="1">
              <a:lnSpc>
                <a:spcPct val="80000"/>
              </a:lnSpc>
              <a:spcBef>
                <a:spcPts val="600"/>
              </a:spcBef>
              <a:buClr>
                <a:srgbClr val="D9D9FF"/>
              </a:buClr>
              <a:buSzPct val="50000"/>
              <a:buFont typeface="Wingdings" pitchFamily="2" charset="2"/>
              <a:buChar char=""/>
            </a:pPr>
            <a:r>
              <a:rPr lang="en-US" altLang="en-US">
                <a:effectLst>
                  <a:outerShdw blurRad="38100" dist="38100" dir="2700000" algn="tl">
                    <a:srgbClr val="000000"/>
                  </a:outerShdw>
                </a:effectLst>
              </a:rPr>
              <a:t>a strong encryption algorithm</a:t>
            </a:r>
          </a:p>
          <a:p>
            <a:pPr lvl="1">
              <a:lnSpc>
                <a:spcPct val="80000"/>
              </a:lnSpc>
              <a:spcBef>
                <a:spcPts val="600"/>
              </a:spcBef>
              <a:buClr>
                <a:srgbClr val="D9D9FF"/>
              </a:buClr>
              <a:buSzPct val="50000"/>
              <a:buFont typeface="Wingdings" pitchFamily="2" charset="2"/>
              <a:buChar char=""/>
            </a:pPr>
            <a:r>
              <a:rPr lang="en-US" altLang="en-US">
                <a:effectLst>
                  <a:outerShdw blurRad="38100" dist="38100" dir="2700000" algn="tl">
                    <a:srgbClr val="000000"/>
                  </a:outerShdw>
                </a:effectLst>
              </a:rPr>
              <a:t>a secret key known only to sender / receiver</a:t>
            </a:r>
          </a:p>
          <a:p>
            <a:pPr>
              <a:lnSpc>
                <a:spcPct val="80000"/>
              </a:lnSpc>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mathematically have:</a:t>
            </a:r>
          </a:p>
          <a:p>
            <a:pPr lvl="1">
              <a:lnSpc>
                <a:spcPct val="80000"/>
              </a:lnSpc>
              <a:spcBef>
                <a:spcPts val="600"/>
              </a:spcBef>
              <a:buClrTx/>
              <a:buSzPct val="50000"/>
              <a:buFontTx/>
              <a:buNone/>
            </a:pPr>
            <a:r>
              <a:rPr lang="en-US" altLang="en-US" i="1">
                <a:effectLst>
                  <a:outerShdw blurRad="38100" dist="38100" dir="2700000" algn="tl">
                    <a:srgbClr val="000000"/>
                  </a:outerShdw>
                </a:effectLst>
              </a:rPr>
              <a:t>	Y </a:t>
            </a:r>
            <a:r>
              <a:rPr lang="en-US" altLang="en-US">
                <a:effectLst>
                  <a:outerShdw blurRad="38100" dist="38100" dir="2700000" algn="tl">
                    <a:srgbClr val="000000"/>
                  </a:outerShdw>
                </a:effectLst>
              </a:rPr>
              <a:t>= E(K, </a:t>
            </a:r>
            <a:r>
              <a:rPr lang="en-US" altLang="en-US" i="1">
                <a:effectLst>
                  <a:outerShdw blurRad="38100" dist="38100" dir="2700000" algn="tl">
                    <a:srgbClr val="000000"/>
                  </a:outerShdw>
                </a:effectLst>
              </a:rPr>
              <a:t>X</a:t>
            </a:r>
            <a:r>
              <a:rPr lang="en-US" altLang="en-US">
                <a:effectLst>
                  <a:outerShdw blurRad="38100" dist="38100" dir="2700000" algn="tl">
                    <a:srgbClr val="000000"/>
                  </a:outerShdw>
                </a:effectLst>
              </a:rPr>
              <a:t>) = E</a:t>
            </a:r>
            <a:r>
              <a:rPr lang="en-US" altLang="en-US" baseline="-25000">
                <a:effectLst>
                  <a:outerShdw blurRad="38100" dist="38100" dir="2700000" algn="tl">
                    <a:srgbClr val="000000"/>
                  </a:outerShdw>
                </a:effectLst>
              </a:rPr>
              <a:t>K</a:t>
            </a:r>
            <a:r>
              <a:rPr lang="en-US" altLang="en-US">
                <a:effectLst>
                  <a:outerShdw blurRad="38100" dist="38100" dir="2700000" algn="tl">
                    <a:srgbClr val="000000"/>
                  </a:outerShdw>
                </a:effectLst>
              </a:rPr>
              <a:t>(X) = {X}</a:t>
            </a:r>
            <a:r>
              <a:rPr lang="en-US" altLang="en-US" baseline="-25000">
                <a:effectLst>
                  <a:outerShdw blurRad="38100" dist="38100" dir="2700000" algn="tl">
                    <a:srgbClr val="000000"/>
                  </a:outerShdw>
                </a:effectLst>
              </a:rPr>
              <a:t>K</a:t>
            </a:r>
          </a:p>
          <a:p>
            <a:pPr lvl="1">
              <a:lnSpc>
                <a:spcPct val="80000"/>
              </a:lnSpc>
              <a:spcBef>
                <a:spcPts val="600"/>
              </a:spcBef>
              <a:buClrTx/>
              <a:buSzPct val="50000"/>
              <a:buFontTx/>
              <a:buNone/>
            </a:pPr>
            <a:r>
              <a:rPr lang="en-US" altLang="en-US" i="1">
                <a:effectLst>
                  <a:outerShdw blurRad="38100" dist="38100" dir="2700000" algn="tl">
                    <a:srgbClr val="000000"/>
                  </a:outerShdw>
                </a:effectLst>
              </a:rPr>
              <a:t>	X </a:t>
            </a:r>
            <a:r>
              <a:rPr lang="en-US" altLang="en-US">
                <a:effectLst>
                  <a:outerShdw blurRad="38100" dist="38100" dir="2700000" algn="tl">
                    <a:srgbClr val="000000"/>
                  </a:outerShdw>
                </a:effectLst>
              </a:rPr>
              <a:t>= D(K, </a:t>
            </a:r>
            <a:r>
              <a:rPr lang="en-US" altLang="en-US" i="1">
                <a:effectLst>
                  <a:outerShdw blurRad="38100" dist="38100" dir="2700000" algn="tl">
                    <a:srgbClr val="000000"/>
                  </a:outerShdw>
                </a:effectLst>
              </a:rPr>
              <a:t>Y</a:t>
            </a:r>
            <a:r>
              <a:rPr lang="en-US" altLang="en-US">
                <a:effectLst>
                  <a:outerShdw blurRad="38100" dist="38100" dir="2700000" algn="tl">
                    <a:srgbClr val="000000"/>
                  </a:outerShdw>
                </a:effectLst>
              </a:rPr>
              <a:t>) = D</a:t>
            </a:r>
            <a:r>
              <a:rPr lang="en-US" altLang="en-US" baseline="-25000">
                <a:effectLst>
                  <a:outerShdw blurRad="38100" dist="38100" dir="2700000" algn="tl">
                    <a:srgbClr val="000000"/>
                  </a:outerShdw>
                </a:effectLst>
              </a:rPr>
              <a:t>K</a:t>
            </a:r>
            <a:r>
              <a:rPr lang="en-US" altLang="en-US">
                <a:effectLst>
                  <a:outerShdw blurRad="38100" dist="38100" dir="2700000" algn="tl">
                    <a:srgbClr val="000000"/>
                  </a:outerShdw>
                </a:effectLst>
              </a:rPr>
              <a:t>(Y)</a:t>
            </a:r>
          </a:p>
          <a:p>
            <a:pPr>
              <a:lnSpc>
                <a:spcPct val="80000"/>
              </a:lnSpc>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assume encryption algorithm is known</a:t>
            </a:r>
          </a:p>
          <a:p>
            <a:pPr lvl="1">
              <a:lnSpc>
                <a:spcPct val="80000"/>
              </a:lnSpc>
              <a:spcBef>
                <a:spcPts val="600"/>
              </a:spcBef>
              <a:buClr>
                <a:srgbClr val="D9D9FF"/>
              </a:buClr>
              <a:buSzPct val="50000"/>
              <a:buFont typeface="Wingdings" pitchFamily="2" charset="2"/>
              <a:buChar char=""/>
            </a:pPr>
            <a:r>
              <a:rPr lang="en-US" altLang="en-US">
                <a:solidFill>
                  <a:srgbClr val="FFFF00"/>
                </a:solidFill>
                <a:effectLst>
                  <a:outerShdw blurRad="38100" dist="38100" dir="2700000" algn="tl">
                    <a:srgbClr val="000000"/>
                  </a:outerShdw>
                </a:effectLst>
              </a:rPr>
              <a:t>Kerckhoff’s Principle</a:t>
            </a:r>
            <a:r>
              <a:rPr lang="en-US" altLang="en-US">
                <a:solidFill>
                  <a:srgbClr val="00FFFF"/>
                </a:solidFill>
                <a:effectLst>
                  <a:outerShdw blurRad="38100" dist="38100" dir="2700000" algn="tl">
                    <a:srgbClr val="000000"/>
                  </a:outerShdw>
                </a:effectLst>
              </a:rPr>
              <a:t>: security in secrecy of key alone, not in obscurity of the encryption algorithm</a:t>
            </a:r>
          </a:p>
          <a:p>
            <a:pPr>
              <a:lnSpc>
                <a:spcPct val="80000"/>
              </a:lnSpc>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implies a secure channel to </a:t>
            </a:r>
            <a:r>
              <a:rPr lang="en-US" altLang="en-US" sz="2800">
                <a:solidFill>
                  <a:srgbClr val="FFFF00"/>
                </a:solidFill>
                <a:effectLst>
                  <a:outerShdw blurRad="38100" dist="38100" dir="2700000" algn="tl">
                    <a:srgbClr val="000000"/>
                  </a:outerShdw>
                </a:effectLst>
              </a:rPr>
              <a:t>distribute key</a:t>
            </a:r>
          </a:p>
          <a:p>
            <a:pPr lvl="1">
              <a:lnSpc>
                <a:spcPct val="80000"/>
              </a:lnSpc>
              <a:spcBef>
                <a:spcPts val="600"/>
              </a:spcBef>
              <a:buClr>
                <a:srgbClr val="D9D9FF"/>
              </a:buClr>
              <a:buSzPct val="50000"/>
              <a:buFont typeface="Wingdings" pitchFamily="2" charset="2"/>
              <a:buChar char=""/>
            </a:pPr>
            <a:r>
              <a:rPr lang="en-AU" altLang="en-US">
                <a:solidFill>
                  <a:srgbClr val="00FFFF"/>
                </a:solidFill>
                <a:effectLst>
                  <a:outerShdw blurRad="38100" dist="38100" dir="2700000" algn="tl">
                    <a:srgbClr val="000000"/>
                  </a:outerShdw>
                </a:effectLst>
              </a:rPr>
              <a:t>Central problem in symmetric cryptography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10241" name="Text Box 1">
            <a:extLst>
              <a:ext uri="{FF2B5EF4-FFF2-40B4-BE49-F238E27FC236}">
                <a16:creationId xmlns:a16="http://schemas.microsoft.com/office/drawing/2014/main" id="{9EEB9FF6-C7AE-5ED7-107B-1F3ED9088EC8}"/>
              </a:ext>
            </a:extLst>
          </p:cNvPr>
          <p:cNvSpPr txBox="1">
            <a:spLocks noChangeArrowheads="1"/>
          </p:cNvSpPr>
          <p:nvPr/>
        </p:nvSpPr>
        <p:spPr bwMode="auto">
          <a:xfrm>
            <a:off x="457200" y="152400"/>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Cryptography</a:t>
            </a:r>
          </a:p>
        </p:txBody>
      </p:sp>
      <p:sp>
        <p:nvSpPr>
          <p:cNvPr id="10242" name="Text Box 2">
            <a:extLst>
              <a:ext uri="{FF2B5EF4-FFF2-40B4-BE49-F238E27FC236}">
                <a16:creationId xmlns:a16="http://schemas.microsoft.com/office/drawing/2014/main" id="{69527992-3CC3-C1DD-0FFE-76AE00888B5B}"/>
              </a:ext>
            </a:extLst>
          </p:cNvPr>
          <p:cNvSpPr txBox="1">
            <a:spLocks noChangeArrowheads="1"/>
          </p:cNvSpPr>
          <p:nvPr/>
        </p:nvSpPr>
        <p:spPr bwMode="auto">
          <a:xfrm>
            <a:off x="457200" y="1447800"/>
            <a:ext cx="8229600" cy="5216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can characterize cryptographic system by:</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type of encryption operations used</a:t>
            </a:r>
          </a:p>
          <a:p>
            <a:pPr lvl="2">
              <a:spcBef>
                <a:spcPts val="600"/>
              </a:spcBef>
              <a:buClr>
                <a:srgbClr val="00FFFF"/>
              </a:buClr>
              <a:buFont typeface="Arial" panose="020B0604020202020204" pitchFamily="34" charset="0"/>
              <a:buChar char="•"/>
            </a:pPr>
            <a:r>
              <a:rPr lang="en-US" altLang="en-US">
                <a:effectLst>
                  <a:outerShdw blurRad="38100" dist="38100" dir="2700000" algn="tl">
                    <a:srgbClr val="000000"/>
                  </a:outerShdw>
                </a:effectLst>
              </a:rPr>
              <a:t>substitution</a:t>
            </a:r>
          </a:p>
          <a:p>
            <a:pPr lvl="2">
              <a:spcBef>
                <a:spcPts val="600"/>
              </a:spcBef>
              <a:buClr>
                <a:srgbClr val="00FFFF"/>
              </a:buClr>
              <a:buFont typeface="Arial" panose="020B0604020202020204" pitchFamily="34" charset="0"/>
              <a:buChar char="•"/>
            </a:pPr>
            <a:r>
              <a:rPr lang="en-US" altLang="en-US">
                <a:effectLst>
                  <a:outerShdw blurRad="38100" dist="38100" dir="2700000" algn="tl">
                    <a:srgbClr val="000000"/>
                  </a:outerShdw>
                </a:effectLst>
              </a:rPr>
              <a:t>transposition</a:t>
            </a:r>
          </a:p>
          <a:p>
            <a:pPr lvl="2">
              <a:spcBef>
                <a:spcPts val="600"/>
              </a:spcBef>
              <a:buClr>
                <a:srgbClr val="00FFFF"/>
              </a:buClr>
              <a:buFont typeface="Arial" panose="020B0604020202020204" pitchFamily="34" charset="0"/>
              <a:buChar char="•"/>
            </a:pPr>
            <a:r>
              <a:rPr lang="en-US" altLang="en-US">
                <a:effectLst>
                  <a:outerShdw blurRad="38100" dist="38100" dir="2700000" algn="tl">
                    <a:srgbClr val="000000"/>
                  </a:outerShdw>
                </a:effectLst>
              </a:rPr>
              <a:t>product</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number of keys used</a:t>
            </a:r>
          </a:p>
          <a:p>
            <a:pPr lvl="2">
              <a:spcBef>
                <a:spcPts val="600"/>
              </a:spcBef>
              <a:buClr>
                <a:srgbClr val="00FFFF"/>
              </a:buClr>
              <a:buFont typeface="Arial" panose="020B0604020202020204" pitchFamily="34" charset="0"/>
              <a:buChar char="•"/>
            </a:pPr>
            <a:r>
              <a:rPr lang="en-US" altLang="en-US">
                <a:effectLst>
                  <a:outerShdw blurRad="38100" dist="38100" dir="2700000" algn="tl">
                    <a:srgbClr val="000000"/>
                  </a:outerShdw>
                </a:effectLst>
              </a:rPr>
              <a:t>single-key or private</a:t>
            </a:r>
          </a:p>
          <a:p>
            <a:pPr lvl="2">
              <a:spcBef>
                <a:spcPts val="600"/>
              </a:spcBef>
              <a:buClr>
                <a:srgbClr val="00FFFF"/>
              </a:buClr>
              <a:buFont typeface="Arial" panose="020B0604020202020204" pitchFamily="34" charset="0"/>
              <a:buChar char="•"/>
            </a:pPr>
            <a:r>
              <a:rPr lang="en-US" altLang="en-US">
                <a:effectLst>
                  <a:outerShdw blurRad="38100" dist="38100" dir="2700000" algn="tl">
                    <a:srgbClr val="000000"/>
                  </a:outerShdw>
                </a:effectLst>
              </a:rPr>
              <a:t>two-key or public</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way in which plaintext is processed</a:t>
            </a:r>
          </a:p>
          <a:p>
            <a:pPr lvl="2">
              <a:spcBef>
                <a:spcPts val="600"/>
              </a:spcBef>
              <a:buClr>
                <a:srgbClr val="00FFFF"/>
              </a:buClr>
              <a:buFont typeface="Arial" panose="020B0604020202020204" pitchFamily="34" charset="0"/>
              <a:buChar char="•"/>
            </a:pPr>
            <a:r>
              <a:rPr lang="en-US" altLang="en-US">
                <a:effectLst>
                  <a:outerShdw blurRad="38100" dist="38100" dir="2700000" algn="tl">
                    <a:srgbClr val="000000"/>
                  </a:outerShdw>
                </a:effectLst>
              </a:rPr>
              <a:t>block</a:t>
            </a:r>
          </a:p>
          <a:p>
            <a:pPr lvl="2">
              <a:spcBef>
                <a:spcPts val="600"/>
              </a:spcBef>
              <a:buClr>
                <a:srgbClr val="00FFFF"/>
              </a:buClr>
              <a:buFont typeface="Arial" panose="020B0604020202020204" pitchFamily="34" charset="0"/>
              <a:buChar char="•"/>
            </a:pPr>
            <a:r>
              <a:rPr lang="en-US" altLang="en-US">
                <a:effectLst>
                  <a:outerShdw blurRad="38100" dist="38100" dir="2700000" algn="tl">
                    <a:srgbClr val="000000"/>
                  </a:outerShdw>
                </a:effectLst>
              </a:rPr>
              <a:t>stream</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10242">
                                            <p:txEl>
                                              <p:pRg st="1" end="1"/>
                                            </p:txEl>
                                          </p:spTgt>
                                        </p:tgtEl>
                                        <p:attrNameLst>
                                          <p:attrName>style.visibility</p:attrName>
                                        </p:attrNameLst>
                                      </p:cBhvr>
                                      <p:to>
                                        <p:strVal val="visible"/>
                                      </p:to>
                                    </p:set>
                                  </p:childTnLst>
                                </p:cTn>
                              </p:par>
                              <p:par>
                                <p:cTn id="7" presetID="1" presetClass="entr" fill="hold" nodeType="withEffect">
                                  <p:stCondLst>
                                    <p:cond delay="0"/>
                                  </p:stCondLst>
                                  <p:childTnLst>
                                    <p:set>
                                      <p:cBhvr additive="repl">
                                        <p:cTn id="8" dur="1" fill="hold">
                                          <p:stCondLst>
                                            <p:cond delay="0"/>
                                          </p:stCondLst>
                                        </p:cTn>
                                        <p:tgtEl>
                                          <p:spTgt spid="10242">
                                            <p:txEl>
                                              <p:pRg st="2" end="2"/>
                                            </p:txEl>
                                          </p:spTgt>
                                        </p:tgtEl>
                                        <p:attrNameLst>
                                          <p:attrName>style.visibility</p:attrName>
                                        </p:attrNameLst>
                                      </p:cBhvr>
                                      <p:to>
                                        <p:strVal val="visible"/>
                                      </p:to>
                                    </p:set>
                                  </p:childTnLst>
                                </p:cTn>
                              </p:par>
                              <p:par>
                                <p:cTn id="9" presetID="1" presetClass="entr" fill="hold" nodeType="withEffect">
                                  <p:stCondLst>
                                    <p:cond delay="0"/>
                                  </p:stCondLst>
                                  <p:childTnLst>
                                    <p:set>
                                      <p:cBhvr additive="repl">
                                        <p:cTn id="10" dur="1" fill="hold">
                                          <p:stCondLst>
                                            <p:cond delay="0"/>
                                          </p:stCondLst>
                                        </p:cTn>
                                        <p:tgtEl>
                                          <p:spTgt spid="10242">
                                            <p:txEl>
                                              <p:pRg st="3" end="3"/>
                                            </p:txEl>
                                          </p:spTgt>
                                        </p:tgtEl>
                                        <p:attrNameLst>
                                          <p:attrName>style.visibility</p:attrName>
                                        </p:attrNameLst>
                                      </p:cBhvr>
                                      <p:to>
                                        <p:strVal val="visible"/>
                                      </p:to>
                                    </p:set>
                                  </p:childTnLst>
                                </p:cTn>
                              </p:par>
                              <p:par>
                                <p:cTn id="11" presetID="1" presetClass="entr" fill="hold" nodeType="withEffect">
                                  <p:stCondLst>
                                    <p:cond delay="0"/>
                                  </p:stCondLst>
                                  <p:childTnLst>
                                    <p:set>
                                      <p:cBhvr additive="repl">
                                        <p:cTn id="12" dur="1" fill="hold">
                                          <p:stCondLst>
                                            <p:cond delay="0"/>
                                          </p:stCondLst>
                                        </p:cTn>
                                        <p:tgtEl>
                                          <p:spTgt spid="10242">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fill="hold" nodeType="clickEffect">
                                  <p:stCondLst>
                                    <p:cond delay="0"/>
                                  </p:stCondLst>
                                  <p:childTnLst>
                                    <p:set>
                                      <p:cBhvr additive="repl">
                                        <p:cTn id="16" dur="1" fill="hold">
                                          <p:stCondLst>
                                            <p:cond delay="0"/>
                                          </p:stCondLst>
                                        </p:cTn>
                                        <p:tgtEl>
                                          <p:spTgt spid="10242">
                                            <p:txEl>
                                              <p:pRg st="5" end="5"/>
                                            </p:txEl>
                                          </p:spTgt>
                                        </p:tgtEl>
                                        <p:attrNameLst>
                                          <p:attrName>style.visibility</p:attrName>
                                        </p:attrNameLst>
                                      </p:cBhvr>
                                      <p:to>
                                        <p:strVal val="visible"/>
                                      </p:to>
                                    </p:set>
                                  </p:childTnLst>
                                </p:cTn>
                              </p:par>
                              <p:par>
                                <p:cTn id="17" presetID="1" presetClass="entr" fill="hold" nodeType="withEffect">
                                  <p:stCondLst>
                                    <p:cond delay="0"/>
                                  </p:stCondLst>
                                  <p:childTnLst>
                                    <p:set>
                                      <p:cBhvr additive="repl">
                                        <p:cTn id="18" dur="1" fill="hold">
                                          <p:stCondLst>
                                            <p:cond delay="0"/>
                                          </p:stCondLst>
                                        </p:cTn>
                                        <p:tgtEl>
                                          <p:spTgt spid="10242">
                                            <p:txEl>
                                              <p:pRg st="6" end="6"/>
                                            </p:txEl>
                                          </p:spTgt>
                                        </p:tgtEl>
                                        <p:attrNameLst>
                                          <p:attrName>style.visibility</p:attrName>
                                        </p:attrNameLst>
                                      </p:cBhvr>
                                      <p:to>
                                        <p:strVal val="visible"/>
                                      </p:to>
                                    </p:set>
                                  </p:childTnLst>
                                </p:cTn>
                              </p:par>
                              <p:par>
                                <p:cTn id="19" presetID="1" presetClass="entr" fill="hold" nodeType="withEffect">
                                  <p:stCondLst>
                                    <p:cond delay="0"/>
                                  </p:stCondLst>
                                  <p:childTnLst>
                                    <p:set>
                                      <p:cBhvr additive="repl">
                                        <p:cTn id="20" dur="1" fill="hold">
                                          <p:stCondLst>
                                            <p:cond delay="0"/>
                                          </p:stCondLst>
                                        </p:cTn>
                                        <p:tgtEl>
                                          <p:spTgt spid="10242">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fill="hold" nodeType="clickEffect">
                                  <p:stCondLst>
                                    <p:cond delay="0"/>
                                  </p:stCondLst>
                                  <p:childTnLst>
                                    <p:set>
                                      <p:cBhvr additive="repl">
                                        <p:cTn id="24" dur="1" fill="hold">
                                          <p:stCondLst>
                                            <p:cond delay="0"/>
                                          </p:stCondLst>
                                        </p:cTn>
                                        <p:tgtEl>
                                          <p:spTgt spid="10242">
                                            <p:txEl>
                                              <p:pRg st="8" end="8"/>
                                            </p:txEl>
                                          </p:spTgt>
                                        </p:tgtEl>
                                        <p:attrNameLst>
                                          <p:attrName>style.visibility</p:attrName>
                                        </p:attrNameLst>
                                      </p:cBhvr>
                                      <p:to>
                                        <p:strVal val="visible"/>
                                      </p:to>
                                    </p:set>
                                  </p:childTnLst>
                                </p:cTn>
                              </p:par>
                              <p:par>
                                <p:cTn id="25" presetID="1" presetClass="entr" fill="hold" nodeType="withEffect">
                                  <p:stCondLst>
                                    <p:cond delay="0"/>
                                  </p:stCondLst>
                                  <p:childTnLst>
                                    <p:set>
                                      <p:cBhvr additive="repl">
                                        <p:cTn id="26" dur="1" fill="hold">
                                          <p:stCondLst>
                                            <p:cond delay="0"/>
                                          </p:stCondLst>
                                        </p:cTn>
                                        <p:tgtEl>
                                          <p:spTgt spid="10242">
                                            <p:txEl>
                                              <p:pRg st="9" end="9"/>
                                            </p:txEl>
                                          </p:spTgt>
                                        </p:tgtEl>
                                        <p:attrNameLst>
                                          <p:attrName>style.visibility</p:attrName>
                                        </p:attrNameLst>
                                      </p:cBhvr>
                                      <p:to>
                                        <p:strVal val="visible"/>
                                      </p:to>
                                    </p:set>
                                  </p:childTnLst>
                                </p:cTn>
                              </p:par>
                              <p:par>
                                <p:cTn id="27" presetID="1" presetClass="entr" fill="hold" nodeType="withEffect">
                                  <p:stCondLst>
                                    <p:cond delay="0"/>
                                  </p:stCondLst>
                                  <p:childTnLst>
                                    <p:set>
                                      <p:cBhvr additive="repl">
                                        <p:cTn id="28" dur="1" fill="hold">
                                          <p:stCondLst>
                                            <p:cond delay="0"/>
                                          </p:stCondLst>
                                        </p:cTn>
                                        <p:tgtEl>
                                          <p:spTgt spid="1024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11265" name="Text Box 1">
            <a:extLst>
              <a:ext uri="{FF2B5EF4-FFF2-40B4-BE49-F238E27FC236}">
                <a16:creationId xmlns:a16="http://schemas.microsoft.com/office/drawing/2014/main" id="{2B20E767-D60F-5A8C-60A3-72F9C7C923E8}"/>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Cryptanalysis</a:t>
            </a:r>
          </a:p>
        </p:txBody>
      </p:sp>
      <p:sp>
        <p:nvSpPr>
          <p:cNvPr id="11266" name="Text Box 2">
            <a:extLst>
              <a:ext uri="{FF2B5EF4-FFF2-40B4-BE49-F238E27FC236}">
                <a16:creationId xmlns:a16="http://schemas.microsoft.com/office/drawing/2014/main" id="{080185F2-81DC-7961-9B47-780A3967FC51}"/>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objective to recover key not just message</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general approaches:</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cryptanalytic attack</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brute-force attack</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if either succeed all key use compromised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12289" name="Text Box 1">
            <a:extLst>
              <a:ext uri="{FF2B5EF4-FFF2-40B4-BE49-F238E27FC236}">
                <a16:creationId xmlns:a16="http://schemas.microsoft.com/office/drawing/2014/main" id="{1B6E6623-C301-0958-BFB3-C1A26E79CB6E}"/>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Cryptanalytic Attacks</a:t>
            </a:r>
          </a:p>
        </p:txBody>
      </p:sp>
      <p:sp>
        <p:nvSpPr>
          <p:cNvPr id="12290" name="Text Box 2">
            <a:extLst>
              <a:ext uri="{FF2B5EF4-FFF2-40B4-BE49-F238E27FC236}">
                <a16:creationId xmlns:a16="http://schemas.microsoft.com/office/drawing/2014/main" id="{DDB6B65D-1F99-8BC5-15B7-018D693787BC}"/>
              </a:ext>
            </a:extLst>
          </p:cNvPr>
          <p:cNvSpPr txBox="1">
            <a:spLocks noChangeArrowheads="1"/>
          </p:cNvSpPr>
          <p:nvPr/>
        </p:nvSpPr>
        <p:spPr bwMode="auto">
          <a:xfrm>
            <a:off x="468313" y="1268413"/>
            <a:ext cx="8229600" cy="558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800"/>
              </a:spcBef>
              <a:buClr>
                <a:srgbClr val="5FAFFF"/>
              </a:buClr>
              <a:buSzPct val="80000"/>
              <a:buFont typeface="Wingdings" pitchFamily="2" charset="2"/>
              <a:buChar char=""/>
            </a:pPr>
            <a:r>
              <a:rPr lang="en-AU" altLang="en-US" sz="3200" b="1">
                <a:effectLst>
                  <a:outerShdw blurRad="38100" dist="38100" dir="2700000" algn="tl">
                    <a:srgbClr val="000000"/>
                  </a:outerShdw>
                </a:effectLst>
              </a:rPr>
              <a:t>ciphertext only</a:t>
            </a:r>
            <a:r>
              <a:rPr lang="en-AU" altLang="en-US" sz="3200">
                <a:effectLst>
                  <a:outerShdw blurRad="38100" dist="38100" dir="2700000" algn="tl">
                    <a:srgbClr val="000000"/>
                  </a:outerShdw>
                </a:effectLst>
              </a:rPr>
              <a:t> </a:t>
            </a:r>
          </a:p>
          <a:p>
            <a:pPr lvl="1">
              <a:lnSpc>
                <a:spcPct val="90000"/>
              </a:lnSpc>
              <a:spcBef>
                <a:spcPts val="700"/>
              </a:spcBef>
              <a:buClr>
                <a:srgbClr val="D9D9FF"/>
              </a:buClr>
              <a:buSzPct val="50000"/>
              <a:buFont typeface="Wingdings" pitchFamily="2" charset="2"/>
              <a:buChar char=""/>
            </a:pPr>
            <a:r>
              <a:rPr lang="en-AU" altLang="en-US" sz="2800">
                <a:effectLst>
                  <a:outerShdw blurRad="38100" dist="38100" dir="2700000" algn="tl">
                    <a:srgbClr val="000000"/>
                  </a:outerShdw>
                </a:effectLst>
              </a:rPr>
              <a:t>only know algorithm &amp; ciphertext, is statistical, can identify plaintext </a:t>
            </a:r>
          </a:p>
          <a:p>
            <a:pPr>
              <a:lnSpc>
                <a:spcPct val="90000"/>
              </a:lnSpc>
              <a:spcBef>
                <a:spcPts val="800"/>
              </a:spcBef>
              <a:buClr>
                <a:srgbClr val="5FAFFF"/>
              </a:buClr>
              <a:buSzPct val="80000"/>
              <a:buFont typeface="Wingdings" pitchFamily="2" charset="2"/>
              <a:buChar char=""/>
            </a:pPr>
            <a:r>
              <a:rPr lang="en-AU" altLang="en-US" sz="3200" b="1">
                <a:effectLst>
                  <a:outerShdw blurRad="38100" dist="38100" dir="2700000" algn="tl">
                    <a:srgbClr val="000000"/>
                  </a:outerShdw>
                </a:effectLst>
              </a:rPr>
              <a:t>known plaintext</a:t>
            </a:r>
            <a:r>
              <a:rPr lang="en-AU" altLang="en-US" sz="3200">
                <a:effectLst>
                  <a:outerShdw blurRad="38100" dist="38100" dir="2700000" algn="tl">
                    <a:srgbClr val="000000"/>
                  </a:outerShdw>
                </a:effectLst>
              </a:rPr>
              <a:t> </a:t>
            </a:r>
          </a:p>
          <a:p>
            <a:pPr lvl="1">
              <a:lnSpc>
                <a:spcPct val="90000"/>
              </a:lnSpc>
              <a:spcBef>
                <a:spcPts val="700"/>
              </a:spcBef>
              <a:buClr>
                <a:srgbClr val="D9D9FF"/>
              </a:buClr>
              <a:buSzPct val="50000"/>
              <a:buFont typeface="Wingdings" pitchFamily="2" charset="2"/>
              <a:buChar char=""/>
            </a:pPr>
            <a:r>
              <a:rPr lang="en-AU" altLang="en-US" sz="2800">
                <a:effectLst>
                  <a:outerShdw blurRad="38100" dist="38100" dir="2700000" algn="tl">
                    <a:srgbClr val="000000"/>
                  </a:outerShdw>
                </a:effectLst>
              </a:rPr>
              <a:t>know/suspect plaintext &amp; ciphertext</a:t>
            </a:r>
          </a:p>
          <a:p>
            <a:pPr>
              <a:lnSpc>
                <a:spcPct val="90000"/>
              </a:lnSpc>
              <a:spcBef>
                <a:spcPts val="800"/>
              </a:spcBef>
              <a:buClr>
                <a:srgbClr val="5FAFFF"/>
              </a:buClr>
              <a:buSzPct val="80000"/>
              <a:buFont typeface="Wingdings" pitchFamily="2" charset="2"/>
              <a:buChar char=""/>
            </a:pPr>
            <a:r>
              <a:rPr lang="en-AU" altLang="en-US" sz="3200" b="1">
                <a:effectLst>
                  <a:outerShdw blurRad="38100" dist="38100" dir="2700000" algn="tl">
                    <a:srgbClr val="000000"/>
                  </a:outerShdw>
                </a:effectLst>
              </a:rPr>
              <a:t>chosen plaintext</a:t>
            </a:r>
            <a:r>
              <a:rPr lang="en-AU" altLang="en-US" sz="3200">
                <a:effectLst>
                  <a:outerShdw blurRad="38100" dist="38100" dir="2700000" algn="tl">
                    <a:srgbClr val="000000"/>
                  </a:outerShdw>
                </a:effectLst>
              </a:rPr>
              <a:t> </a:t>
            </a:r>
          </a:p>
          <a:p>
            <a:pPr lvl="1">
              <a:lnSpc>
                <a:spcPct val="90000"/>
              </a:lnSpc>
              <a:spcBef>
                <a:spcPts val="700"/>
              </a:spcBef>
              <a:buClr>
                <a:srgbClr val="D9D9FF"/>
              </a:buClr>
              <a:buSzPct val="50000"/>
              <a:buFont typeface="Wingdings" pitchFamily="2" charset="2"/>
              <a:buChar char=""/>
            </a:pPr>
            <a:r>
              <a:rPr lang="en-AU" altLang="en-US" sz="2800">
                <a:effectLst>
                  <a:outerShdw blurRad="38100" dist="38100" dir="2700000" algn="tl">
                    <a:srgbClr val="000000"/>
                  </a:outerShdw>
                </a:effectLst>
              </a:rPr>
              <a:t>select plaintext and obtain ciphertext</a:t>
            </a:r>
          </a:p>
          <a:p>
            <a:pPr>
              <a:lnSpc>
                <a:spcPct val="90000"/>
              </a:lnSpc>
              <a:spcBef>
                <a:spcPts val="800"/>
              </a:spcBef>
              <a:buClr>
                <a:srgbClr val="5FAFFF"/>
              </a:buClr>
              <a:buSzPct val="80000"/>
              <a:buFont typeface="Wingdings" pitchFamily="2" charset="2"/>
              <a:buChar char=""/>
            </a:pPr>
            <a:r>
              <a:rPr lang="en-AU" altLang="en-US" sz="3200" b="1">
                <a:effectLst>
                  <a:outerShdw blurRad="38100" dist="38100" dir="2700000" algn="tl">
                    <a:srgbClr val="000000"/>
                  </a:outerShdw>
                </a:effectLst>
              </a:rPr>
              <a:t>chosen ciphertext</a:t>
            </a:r>
            <a:r>
              <a:rPr lang="en-AU" altLang="en-US" sz="3200">
                <a:effectLst>
                  <a:outerShdw blurRad="38100" dist="38100" dir="2700000" algn="tl">
                    <a:srgbClr val="000000"/>
                  </a:outerShdw>
                </a:effectLst>
              </a:rPr>
              <a:t> </a:t>
            </a:r>
          </a:p>
          <a:p>
            <a:pPr lvl="1">
              <a:lnSpc>
                <a:spcPct val="90000"/>
              </a:lnSpc>
              <a:spcBef>
                <a:spcPts val="700"/>
              </a:spcBef>
              <a:buClr>
                <a:srgbClr val="D9D9FF"/>
              </a:buClr>
              <a:buSzPct val="50000"/>
              <a:buFont typeface="Wingdings" pitchFamily="2" charset="2"/>
              <a:buChar char=""/>
            </a:pPr>
            <a:r>
              <a:rPr lang="en-AU" altLang="en-US" sz="2800">
                <a:effectLst>
                  <a:outerShdw blurRad="38100" dist="38100" dir="2700000" algn="tl">
                    <a:srgbClr val="000000"/>
                  </a:outerShdw>
                </a:effectLst>
              </a:rPr>
              <a:t>select ciphertext and obtain plaintext</a:t>
            </a:r>
          </a:p>
          <a:p>
            <a:pPr>
              <a:lnSpc>
                <a:spcPct val="90000"/>
              </a:lnSpc>
              <a:spcBef>
                <a:spcPts val="800"/>
              </a:spcBef>
              <a:buClr>
                <a:srgbClr val="5FAFFF"/>
              </a:buClr>
              <a:buSzPct val="80000"/>
              <a:buFont typeface="Wingdings" pitchFamily="2" charset="2"/>
              <a:buChar char=""/>
            </a:pPr>
            <a:r>
              <a:rPr lang="en-AU" altLang="en-US" sz="3200" b="1">
                <a:effectLst>
                  <a:outerShdw blurRad="38100" dist="38100" dir="2700000" algn="tl">
                    <a:srgbClr val="000000"/>
                  </a:outerShdw>
                </a:effectLst>
              </a:rPr>
              <a:t>chosen text</a:t>
            </a:r>
            <a:r>
              <a:rPr lang="en-AU" altLang="en-US" sz="3200">
                <a:effectLst>
                  <a:outerShdw blurRad="38100" dist="38100" dir="2700000" algn="tl">
                    <a:srgbClr val="000000"/>
                  </a:outerShdw>
                </a:effectLst>
              </a:rPr>
              <a:t> </a:t>
            </a:r>
          </a:p>
          <a:p>
            <a:pPr lvl="1">
              <a:lnSpc>
                <a:spcPct val="90000"/>
              </a:lnSpc>
              <a:spcBef>
                <a:spcPts val="700"/>
              </a:spcBef>
              <a:buClr>
                <a:srgbClr val="D9D9FF"/>
              </a:buClr>
              <a:buSzPct val="50000"/>
              <a:buFont typeface="Wingdings" pitchFamily="2" charset="2"/>
              <a:buChar char=""/>
            </a:pPr>
            <a:r>
              <a:rPr lang="en-AU" altLang="en-US" sz="2800">
                <a:effectLst>
                  <a:outerShdw blurRad="38100" dist="38100" dir="2700000" algn="tl">
                    <a:srgbClr val="000000"/>
                  </a:outerShdw>
                </a:effectLst>
              </a:rPr>
              <a:t>select plaintext or ciphertext to en/decrypt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12290">
                                            <p:txEl>
                                              <p:pRg st="0" end="0"/>
                                            </p:txEl>
                                          </p:spTgt>
                                        </p:tgtEl>
                                        <p:attrNameLst>
                                          <p:attrName>style.visibility</p:attrName>
                                        </p:attrNameLst>
                                      </p:cBhvr>
                                      <p:to>
                                        <p:strVal val="visible"/>
                                      </p:to>
                                    </p:set>
                                  </p:childTnLst>
                                </p:cTn>
                              </p:par>
                              <p:par>
                                <p:cTn id="7" presetID="1" presetClass="entr" fill="hold" nodeType="withEffect">
                                  <p:stCondLst>
                                    <p:cond delay="0"/>
                                  </p:stCondLst>
                                  <p:childTnLst>
                                    <p:set>
                                      <p:cBhvr additive="repl">
                                        <p:cTn id="8" dur="1" fill="hold">
                                          <p:stCondLst>
                                            <p:cond delay="0"/>
                                          </p:stCondLst>
                                        </p:cTn>
                                        <p:tgtEl>
                                          <p:spTgt spid="12290">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fill="hold" nodeType="clickEffect">
                                  <p:stCondLst>
                                    <p:cond delay="0"/>
                                  </p:stCondLst>
                                  <p:childTnLst>
                                    <p:set>
                                      <p:cBhvr additive="repl">
                                        <p:cTn id="12" dur="1" fill="hold">
                                          <p:stCondLst>
                                            <p:cond delay="0"/>
                                          </p:stCondLst>
                                        </p:cTn>
                                        <p:tgtEl>
                                          <p:spTgt spid="12290">
                                            <p:txEl>
                                              <p:pRg st="2" end="2"/>
                                            </p:txEl>
                                          </p:spTgt>
                                        </p:tgtEl>
                                        <p:attrNameLst>
                                          <p:attrName>style.visibility</p:attrName>
                                        </p:attrNameLst>
                                      </p:cBhvr>
                                      <p:to>
                                        <p:strVal val="visible"/>
                                      </p:to>
                                    </p:set>
                                  </p:childTnLst>
                                </p:cTn>
                              </p:par>
                              <p:par>
                                <p:cTn id="13" presetID="1" presetClass="entr" fill="hold" nodeType="withEffect">
                                  <p:stCondLst>
                                    <p:cond delay="0"/>
                                  </p:stCondLst>
                                  <p:childTnLst>
                                    <p:set>
                                      <p:cBhvr additive="repl">
                                        <p:cTn id="14" dur="1" fill="hold">
                                          <p:stCondLst>
                                            <p:cond delay="0"/>
                                          </p:stCondLst>
                                        </p:cTn>
                                        <p:tgtEl>
                                          <p:spTgt spid="12290">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fill="hold" nodeType="clickEffect">
                                  <p:stCondLst>
                                    <p:cond delay="0"/>
                                  </p:stCondLst>
                                  <p:childTnLst>
                                    <p:set>
                                      <p:cBhvr additive="repl">
                                        <p:cTn id="18" dur="1" fill="hold">
                                          <p:stCondLst>
                                            <p:cond delay="0"/>
                                          </p:stCondLst>
                                        </p:cTn>
                                        <p:tgtEl>
                                          <p:spTgt spid="12290">
                                            <p:txEl>
                                              <p:pRg st="4" end="4"/>
                                            </p:txEl>
                                          </p:spTgt>
                                        </p:tgtEl>
                                        <p:attrNameLst>
                                          <p:attrName>style.visibility</p:attrName>
                                        </p:attrNameLst>
                                      </p:cBhvr>
                                      <p:to>
                                        <p:strVal val="visible"/>
                                      </p:to>
                                    </p:set>
                                  </p:childTnLst>
                                </p:cTn>
                              </p:par>
                              <p:par>
                                <p:cTn id="19" presetID="1" presetClass="entr" fill="hold" nodeType="withEffect">
                                  <p:stCondLst>
                                    <p:cond delay="0"/>
                                  </p:stCondLst>
                                  <p:childTnLst>
                                    <p:set>
                                      <p:cBhvr additive="repl">
                                        <p:cTn id="20" dur="1" fill="hold">
                                          <p:stCondLst>
                                            <p:cond delay="0"/>
                                          </p:stCondLst>
                                        </p:cTn>
                                        <p:tgtEl>
                                          <p:spTgt spid="12290">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fill="hold" nodeType="clickEffect">
                                  <p:stCondLst>
                                    <p:cond delay="0"/>
                                  </p:stCondLst>
                                  <p:childTnLst>
                                    <p:set>
                                      <p:cBhvr additive="repl">
                                        <p:cTn id="24" dur="1" fill="hold">
                                          <p:stCondLst>
                                            <p:cond delay="0"/>
                                          </p:stCondLst>
                                        </p:cTn>
                                        <p:tgtEl>
                                          <p:spTgt spid="12290">
                                            <p:txEl>
                                              <p:pRg st="6" end="6"/>
                                            </p:txEl>
                                          </p:spTgt>
                                        </p:tgtEl>
                                        <p:attrNameLst>
                                          <p:attrName>style.visibility</p:attrName>
                                        </p:attrNameLst>
                                      </p:cBhvr>
                                      <p:to>
                                        <p:strVal val="visible"/>
                                      </p:to>
                                    </p:set>
                                  </p:childTnLst>
                                </p:cTn>
                              </p:par>
                              <p:par>
                                <p:cTn id="25" presetID="1" presetClass="entr" fill="hold" nodeType="withEffect">
                                  <p:stCondLst>
                                    <p:cond delay="0"/>
                                  </p:stCondLst>
                                  <p:childTnLst>
                                    <p:set>
                                      <p:cBhvr additive="repl">
                                        <p:cTn id="26" dur="1" fill="hold">
                                          <p:stCondLst>
                                            <p:cond delay="0"/>
                                          </p:stCondLst>
                                        </p:cTn>
                                        <p:tgtEl>
                                          <p:spTgt spid="12290">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fill="hold" nodeType="clickEffect">
                                  <p:stCondLst>
                                    <p:cond delay="0"/>
                                  </p:stCondLst>
                                  <p:childTnLst>
                                    <p:set>
                                      <p:cBhvr additive="repl">
                                        <p:cTn id="30" dur="1" fill="hold">
                                          <p:stCondLst>
                                            <p:cond delay="0"/>
                                          </p:stCondLst>
                                        </p:cTn>
                                        <p:tgtEl>
                                          <p:spTgt spid="12290">
                                            <p:txEl>
                                              <p:pRg st="8" end="8"/>
                                            </p:txEl>
                                          </p:spTgt>
                                        </p:tgtEl>
                                        <p:attrNameLst>
                                          <p:attrName>style.visibility</p:attrName>
                                        </p:attrNameLst>
                                      </p:cBhvr>
                                      <p:to>
                                        <p:strVal val="visible"/>
                                      </p:to>
                                    </p:set>
                                  </p:childTnLst>
                                </p:cTn>
                              </p:par>
                              <p:par>
                                <p:cTn id="31" presetID="1" presetClass="entr" fill="hold" nodeType="withEffect">
                                  <p:stCondLst>
                                    <p:cond delay="0"/>
                                  </p:stCondLst>
                                  <p:childTnLst>
                                    <p:set>
                                      <p:cBhvr additive="repl">
                                        <p:cTn id="32" dur="1" fill="hold">
                                          <p:stCondLst>
                                            <p:cond delay="0"/>
                                          </p:stCondLst>
                                        </p:cTn>
                                        <p:tgtEl>
                                          <p:spTgt spid="1229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13313" name="Text Box 1">
            <a:extLst>
              <a:ext uri="{FF2B5EF4-FFF2-40B4-BE49-F238E27FC236}">
                <a16:creationId xmlns:a16="http://schemas.microsoft.com/office/drawing/2014/main" id="{C7563EE8-20DA-CAB5-11D9-B219BD7EF930}"/>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Cipher Strength</a:t>
            </a:r>
          </a:p>
        </p:txBody>
      </p:sp>
      <p:sp>
        <p:nvSpPr>
          <p:cNvPr id="13314" name="Text Box 2">
            <a:extLst>
              <a:ext uri="{FF2B5EF4-FFF2-40B4-BE49-F238E27FC236}">
                <a16:creationId xmlns:a16="http://schemas.microsoft.com/office/drawing/2014/main" id="{DEC95058-6CA0-2AD0-73A8-9D61436DC6DF}"/>
              </a:ext>
            </a:extLst>
          </p:cNvPr>
          <p:cNvSpPr txBox="1">
            <a:spLocks noChangeArrowheads="1"/>
          </p:cNvSpPr>
          <p:nvPr/>
        </p:nvSpPr>
        <p:spPr bwMode="auto">
          <a:xfrm>
            <a:off x="457200" y="1447800"/>
            <a:ext cx="8229600" cy="480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AU" altLang="en-US" sz="3200" b="1">
                <a:effectLst>
                  <a:outerShdw blurRad="38100" dist="38100" dir="2700000" algn="tl">
                    <a:srgbClr val="000000"/>
                  </a:outerShdw>
                </a:effectLst>
              </a:rPr>
              <a:t>unconditional security</a:t>
            </a:r>
            <a:r>
              <a:rPr lang="en-AU" altLang="en-US" sz="3200">
                <a:effectLst>
                  <a:outerShdw blurRad="38100" dist="38100" dir="2700000" algn="tl">
                    <a:srgbClr val="000000"/>
                  </a:outerShdw>
                </a:effectLst>
              </a:rPr>
              <a:t> </a:t>
            </a:r>
          </a:p>
          <a:p>
            <a:pPr lvl="1">
              <a:spcBef>
                <a:spcPts val="700"/>
              </a:spcBef>
              <a:buClr>
                <a:srgbClr val="D9D9FF"/>
              </a:buClr>
              <a:buSzPct val="50000"/>
              <a:buFont typeface="Wingdings" pitchFamily="2" charset="2"/>
              <a:buChar char=""/>
            </a:pPr>
            <a:r>
              <a:rPr lang="en-AU" altLang="en-US" sz="2800">
                <a:effectLst>
                  <a:outerShdw blurRad="38100" dist="38100" dir="2700000" algn="tl">
                    <a:srgbClr val="000000"/>
                  </a:outerShdw>
                </a:effectLst>
              </a:rPr>
              <a:t>no matter how much computer power or time is available, the cipher cannot be broken since the ciphertext provides insufficient information to uniquely determine the corresponding plaintext </a:t>
            </a:r>
          </a:p>
          <a:p>
            <a:pPr>
              <a:spcBef>
                <a:spcPts val="800"/>
              </a:spcBef>
              <a:buClr>
                <a:srgbClr val="5FAFFF"/>
              </a:buClr>
              <a:buSzPct val="80000"/>
              <a:buFont typeface="Wingdings" pitchFamily="2" charset="2"/>
              <a:buChar char=""/>
            </a:pPr>
            <a:r>
              <a:rPr lang="en-AU" altLang="en-US" sz="3200" b="1">
                <a:effectLst>
                  <a:outerShdw blurRad="38100" dist="38100" dir="2700000" algn="tl">
                    <a:srgbClr val="000000"/>
                  </a:outerShdw>
                </a:effectLst>
              </a:rPr>
              <a:t>computational security</a:t>
            </a:r>
            <a:r>
              <a:rPr lang="en-AU" altLang="en-US" sz="3200">
                <a:effectLst>
                  <a:outerShdw blurRad="38100" dist="38100" dir="2700000" algn="tl">
                    <a:srgbClr val="000000"/>
                  </a:outerShdw>
                </a:effectLst>
              </a:rPr>
              <a:t> </a:t>
            </a:r>
          </a:p>
          <a:p>
            <a:pPr lvl="1">
              <a:spcBef>
                <a:spcPts val="700"/>
              </a:spcBef>
              <a:buClr>
                <a:srgbClr val="D9D9FF"/>
              </a:buClr>
              <a:buSzPct val="50000"/>
              <a:buFont typeface="Wingdings" pitchFamily="2" charset="2"/>
              <a:buChar char=""/>
            </a:pPr>
            <a:r>
              <a:rPr lang="en-AU" altLang="en-US" sz="2800">
                <a:effectLst>
                  <a:outerShdw blurRad="38100" dist="38100" dir="2700000" algn="tl">
                    <a:srgbClr val="000000"/>
                  </a:outerShdw>
                </a:effectLst>
              </a:rPr>
              <a:t>given limited computing resources (e.g. time needed for calculations is greater than age of universe), the cipher cannot be broken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13314">
                                            <p:txEl>
                                              <p:pRg st="0" end="0"/>
                                            </p:txEl>
                                          </p:spTgt>
                                        </p:tgtEl>
                                        <p:attrNameLst>
                                          <p:attrName>style.visibility</p:attrName>
                                        </p:attrNameLst>
                                      </p:cBhvr>
                                      <p:to>
                                        <p:strVal val="visible"/>
                                      </p:to>
                                    </p:set>
                                  </p:childTnLst>
                                </p:cTn>
                              </p:par>
                              <p:par>
                                <p:cTn id="7" presetID="1" presetClass="entr" fill="hold" nodeType="withEffect">
                                  <p:stCondLst>
                                    <p:cond delay="0"/>
                                  </p:stCondLst>
                                  <p:childTnLst>
                                    <p:set>
                                      <p:cBhvr additive="repl">
                                        <p:cTn id="8" dur="1" fill="hold">
                                          <p:stCondLst>
                                            <p:cond delay="0"/>
                                          </p:stCondLst>
                                        </p:cTn>
                                        <p:tgtEl>
                                          <p:spTgt spid="13314">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fill="hold" nodeType="clickEffect">
                                  <p:stCondLst>
                                    <p:cond delay="0"/>
                                  </p:stCondLst>
                                  <p:childTnLst>
                                    <p:set>
                                      <p:cBhvr additive="repl">
                                        <p:cTn id="12" dur="1" fill="hold">
                                          <p:stCondLst>
                                            <p:cond delay="0"/>
                                          </p:stCondLst>
                                        </p:cTn>
                                        <p:tgtEl>
                                          <p:spTgt spid="13314">
                                            <p:txEl>
                                              <p:pRg st="2" end="2"/>
                                            </p:txEl>
                                          </p:spTgt>
                                        </p:tgtEl>
                                        <p:attrNameLst>
                                          <p:attrName>style.visibility</p:attrName>
                                        </p:attrNameLst>
                                      </p:cBhvr>
                                      <p:to>
                                        <p:strVal val="visible"/>
                                      </p:to>
                                    </p:set>
                                  </p:childTnLst>
                                </p:cTn>
                              </p:par>
                              <p:par>
                                <p:cTn id="13" presetID="1" presetClass="entr" fill="hold" nodeType="withEffect">
                                  <p:stCondLst>
                                    <p:cond delay="0"/>
                                  </p:stCondLst>
                                  <p:childTnLst>
                                    <p:set>
                                      <p:cBhvr additive="repl">
                                        <p:cTn id="14" dur="1" fill="hold">
                                          <p:stCondLst>
                                            <p:cond delay="0"/>
                                          </p:stCondLst>
                                        </p:cTn>
                                        <p:tgtEl>
                                          <p:spTgt spid="133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18433" name="Text Box 1">
            <a:extLst>
              <a:ext uri="{FF2B5EF4-FFF2-40B4-BE49-F238E27FC236}">
                <a16:creationId xmlns:a16="http://schemas.microsoft.com/office/drawing/2014/main" id="{FBC714CB-E1B5-0189-C39B-B0E154E9CBD3}"/>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Brute Force Search</a:t>
            </a:r>
          </a:p>
        </p:txBody>
      </p:sp>
      <p:sp>
        <p:nvSpPr>
          <p:cNvPr id="18434" name="Text Box 2">
            <a:extLst>
              <a:ext uri="{FF2B5EF4-FFF2-40B4-BE49-F238E27FC236}">
                <a16:creationId xmlns:a16="http://schemas.microsoft.com/office/drawing/2014/main" id="{1AAB8A01-57D7-2425-99AE-65EA6E989B78}"/>
              </a:ext>
            </a:extLst>
          </p:cNvPr>
          <p:cNvSpPr txBox="1">
            <a:spLocks noChangeArrowheads="1"/>
          </p:cNvSpPr>
          <p:nvPr/>
        </p:nvSpPr>
        <p:spPr bwMode="auto">
          <a:xfrm>
            <a:off x="457200" y="1676400"/>
            <a:ext cx="8229600" cy="425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always possible to simply try every key </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most basic attack, exponential in key length </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assume either know / recognise plaintext</a:t>
            </a:r>
          </a:p>
          <a:p>
            <a:pPr algn="ctr">
              <a:lnSpc>
                <a:spcPct val="90000"/>
              </a:lnSpc>
              <a:spcBef>
                <a:spcPts val="700"/>
              </a:spcBef>
              <a:buClrTx/>
              <a:buSzPct val="80000"/>
              <a:buFontTx/>
              <a:buNone/>
            </a:pPr>
            <a:endParaRPr lang="en-US" altLang="en-US" sz="2800" b="1">
              <a:latin typeface="Times New Roman" panose="02020603050405020304" pitchFamily="18" charset="0"/>
            </a:endParaRPr>
          </a:p>
          <a:p>
            <a:pPr>
              <a:lnSpc>
                <a:spcPct val="90000"/>
              </a:lnSpc>
              <a:spcBef>
                <a:spcPts val="700"/>
              </a:spcBef>
              <a:buClrTx/>
              <a:buSzPct val="80000"/>
              <a:buFontTx/>
              <a:buNone/>
            </a:pPr>
            <a:endParaRPr lang="en-US" altLang="en-US" sz="2800">
              <a:latin typeface="Times New Roman" panose="02020603050405020304" pitchFamily="18" charset="0"/>
            </a:endParaRPr>
          </a:p>
          <a:p>
            <a:pPr>
              <a:lnSpc>
                <a:spcPct val="90000"/>
              </a:lnSpc>
              <a:spcBef>
                <a:spcPts val="700"/>
              </a:spcBef>
              <a:buClrTx/>
              <a:buSzPct val="80000"/>
              <a:buFontTx/>
              <a:buNone/>
            </a:pPr>
            <a:endParaRPr lang="en-AU" altLang="en-US" sz="2800">
              <a:effectLst>
                <a:outerShdw blurRad="38100" dist="38100" dir="2700000" algn="tl">
                  <a:srgbClr val="000000"/>
                </a:outerShdw>
              </a:effectLst>
            </a:endParaRPr>
          </a:p>
          <a:p>
            <a:pPr>
              <a:lnSpc>
                <a:spcPct val="90000"/>
              </a:lnSpc>
              <a:spcBef>
                <a:spcPts val="700"/>
              </a:spcBef>
              <a:buClrTx/>
              <a:buSzPct val="80000"/>
              <a:buFontTx/>
              <a:buNone/>
            </a:pPr>
            <a:endParaRPr lang="en-AU" altLang="en-US" sz="2800">
              <a:effectLst>
                <a:outerShdw blurRad="38100" dist="38100" dir="2700000" algn="tl">
                  <a:srgbClr val="000000"/>
                </a:outerShdw>
              </a:effectLst>
            </a:endParaRPr>
          </a:p>
          <a:p>
            <a:pPr>
              <a:lnSpc>
                <a:spcPct val="90000"/>
              </a:lnSpc>
              <a:spcBef>
                <a:spcPts val="700"/>
              </a:spcBef>
              <a:buClrTx/>
              <a:buSzPct val="80000"/>
              <a:buFontTx/>
              <a:buNone/>
            </a:pPr>
            <a:endParaRPr lang="en-AU" altLang="en-US" sz="2800">
              <a:effectLst>
                <a:outerShdw blurRad="38100" dist="38100" dir="2700000" algn="tl">
                  <a:srgbClr val="000000"/>
                </a:outerShdw>
              </a:effectLst>
            </a:endParaRPr>
          </a:p>
          <a:p>
            <a:pPr>
              <a:lnSpc>
                <a:spcPct val="90000"/>
              </a:lnSpc>
              <a:spcBef>
                <a:spcPts val="700"/>
              </a:spcBef>
              <a:buClrTx/>
              <a:buSzPct val="80000"/>
              <a:buFontTx/>
              <a:buNone/>
            </a:pPr>
            <a:endParaRPr lang="en-AU" altLang="en-US" sz="2800">
              <a:effectLst>
                <a:outerShdw blurRad="38100" dist="38100" dir="2700000" algn="tl">
                  <a:srgbClr val="000000"/>
                </a:outerShdw>
              </a:effectLst>
            </a:endParaRPr>
          </a:p>
        </p:txBody>
      </p:sp>
      <p:graphicFrame>
        <p:nvGraphicFramePr>
          <p:cNvPr id="18435" name="Group 3">
            <a:extLst>
              <a:ext uri="{FF2B5EF4-FFF2-40B4-BE49-F238E27FC236}">
                <a16:creationId xmlns:a16="http://schemas.microsoft.com/office/drawing/2014/main" id="{9296D5D5-B0BF-1B87-8D79-B7DFAFA60548}"/>
              </a:ext>
            </a:extLst>
          </p:cNvPr>
          <p:cNvGraphicFramePr>
            <a:graphicFrameLocks noGrp="1"/>
          </p:cNvGraphicFramePr>
          <p:nvPr>
            <p:extLst>
              <p:ext uri="{D42A27DB-BD31-4B8C-83A1-F6EECF244321}">
                <p14:modId xmlns:p14="http://schemas.microsoft.com/office/powerpoint/2010/main" val="1403456523"/>
              </p:ext>
            </p:extLst>
          </p:nvPr>
        </p:nvGraphicFramePr>
        <p:xfrm>
          <a:off x="179512" y="3284984"/>
          <a:ext cx="8432677" cy="3196641"/>
        </p:xfrm>
        <a:graphic>
          <a:graphicData uri="http://schemas.openxmlformats.org/drawingml/2006/table">
            <a:tbl>
              <a:tblPr/>
              <a:tblGrid>
                <a:gridCol w="1570874">
                  <a:extLst>
                    <a:ext uri="{9D8B030D-6E8A-4147-A177-3AD203B41FA5}">
                      <a16:colId xmlns:a16="http://schemas.microsoft.com/office/drawing/2014/main" val="766586814"/>
                    </a:ext>
                  </a:extLst>
                </a:gridCol>
                <a:gridCol w="2021589">
                  <a:extLst>
                    <a:ext uri="{9D8B030D-6E8A-4147-A177-3AD203B41FA5}">
                      <a16:colId xmlns:a16="http://schemas.microsoft.com/office/drawing/2014/main" val="2776104677"/>
                    </a:ext>
                  </a:extLst>
                </a:gridCol>
                <a:gridCol w="2526986">
                  <a:extLst>
                    <a:ext uri="{9D8B030D-6E8A-4147-A177-3AD203B41FA5}">
                      <a16:colId xmlns:a16="http://schemas.microsoft.com/office/drawing/2014/main" val="379137306"/>
                    </a:ext>
                  </a:extLst>
                </a:gridCol>
                <a:gridCol w="2313228">
                  <a:extLst>
                    <a:ext uri="{9D8B030D-6E8A-4147-A177-3AD203B41FA5}">
                      <a16:colId xmlns:a16="http://schemas.microsoft.com/office/drawing/2014/main" val="3908921333"/>
                    </a:ext>
                  </a:extLst>
                </a:gridCol>
              </a:tblGrid>
              <a:tr h="576067">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ctr"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1"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Key Size (bits)</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ctr"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1"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Number of Alternative Keys</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ctr"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1"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Time required at 1 decryption/µs</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ctr"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1"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Time required at 10</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6</a:t>
                      </a:r>
                      <a:r>
                        <a:rPr kumimoji="0" lang="en-US" altLang="en-US" sz="1800" b="1"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decryptions/µs</a:t>
                      </a:r>
                    </a:p>
                  </a:txBody>
                  <a:tcPr marL="90000" marR="90000" marT="11916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2102866021"/>
                  </a:ext>
                </a:extLst>
              </a:tr>
              <a:tr h="377605">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32</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2</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32</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 4.3 </a:t>
                      </a:r>
                      <a:r>
                        <a:rPr kumimoji="0" lang="en-US" altLang="en-US" sz="1800" b="0" i="0" u="none" strike="noStrike" cap="none" normalizeH="0" baseline="0">
                          <a:ln>
                            <a:noFill/>
                          </a:ln>
                          <a:solidFill>
                            <a:srgbClr val="FFFFFF"/>
                          </a:solidFill>
                          <a:effectLst/>
                          <a:latin typeface="Symbol" pitchFamily="2" charset="2"/>
                          <a:ea typeface="ＭＳ Ｐゴシック" panose="020B0600070205080204" pitchFamily="34" charset="-128"/>
                        </a:rPr>
                        <a:t></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10</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9</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2</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31</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µs	= 35.8 minutes</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2.15 milliseconds</a:t>
                      </a:r>
                    </a:p>
                  </a:txBody>
                  <a:tcPr marL="90000" marR="90000" marT="11916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3352758400"/>
                  </a:ext>
                </a:extLst>
              </a:tr>
              <a:tr h="377605">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56</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2</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56</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 7.2 </a:t>
                      </a:r>
                      <a:r>
                        <a:rPr kumimoji="0" lang="en-US" altLang="en-US" sz="1800" b="0" i="0" u="none" strike="noStrike" cap="none" normalizeH="0" baseline="0">
                          <a:ln>
                            <a:noFill/>
                          </a:ln>
                          <a:solidFill>
                            <a:srgbClr val="FFFFFF"/>
                          </a:solidFill>
                          <a:effectLst/>
                          <a:latin typeface="Symbol" pitchFamily="2" charset="2"/>
                          <a:ea typeface="ＭＳ Ｐゴシック" panose="020B0600070205080204" pitchFamily="34" charset="-128"/>
                        </a:rPr>
                        <a:t></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10</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16</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2</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55</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µs	= 1142 years</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10.01 hours</a:t>
                      </a:r>
                    </a:p>
                  </a:txBody>
                  <a:tcPr marL="90000" marR="90000" marT="11916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3380649177"/>
                  </a:ext>
                </a:extLst>
              </a:tr>
              <a:tr h="570799">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dirty="0">
                          <a:ln>
                            <a:noFill/>
                          </a:ln>
                          <a:solidFill>
                            <a:srgbClr val="FFFFFF"/>
                          </a:solidFill>
                          <a:effectLst/>
                          <a:latin typeface="Times New Roman" panose="02020603050405020304" pitchFamily="18" charset="0"/>
                          <a:ea typeface="ＭＳ Ｐゴシック" panose="020B0600070205080204" pitchFamily="34" charset="-128"/>
                        </a:rPr>
                        <a:t>128</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2</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128</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 3.4 </a:t>
                      </a:r>
                      <a:r>
                        <a:rPr kumimoji="0" lang="en-US" altLang="en-US" sz="1800" b="0" i="0" u="none" strike="noStrike" cap="none" normalizeH="0" baseline="0">
                          <a:ln>
                            <a:noFill/>
                          </a:ln>
                          <a:solidFill>
                            <a:srgbClr val="FFFFFF"/>
                          </a:solidFill>
                          <a:effectLst/>
                          <a:latin typeface="Symbol" pitchFamily="2" charset="2"/>
                          <a:ea typeface="ＭＳ Ｐゴシック" panose="020B0600070205080204" pitchFamily="34" charset="-128"/>
                        </a:rPr>
                        <a:t></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10</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38</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2</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127</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µs	= 5.4 </a:t>
                      </a:r>
                      <a:r>
                        <a:rPr kumimoji="0" lang="en-US" altLang="en-US" sz="1800" b="0" i="0" u="none" strike="noStrike" cap="none" normalizeH="0" baseline="0">
                          <a:ln>
                            <a:noFill/>
                          </a:ln>
                          <a:solidFill>
                            <a:srgbClr val="FFFFFF"/>
                          </a:solidFill>
                          <a:effectLst/>
                          <a:latin typeface="Symbol" pitchFamily="2" charset="2"/>
                          <a:ea typeface="ＭＳ Ｐゴシック" panose="020B0600070205080204" pitchFamily="34" charset="-128"/>
                        </a:rPr>
                        <a:t></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10</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24</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years</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5.4 </a:t>
                      </a:r>
                      <a:r>
                        <a:rPr kumimoji="0" lang="en-US" altLang="en-US" sz="1800" b="0" i="0" u="none" strike="noStrike" cap="none" normalizeH="0" baseline="0">
                          <a:ln>
                            <a:noFill/>
                          </a:ln>
                          <a:solidFill>
                            <a:srgbClr val="FFFFFF"/>
                          </a:solidFill>
                          <a:effectLst/>
                          <a:latin typeface="Symbol" pitchFamily="2" charset="2"/>
                          <a:ea typeface="ＭＳ Ｐゴシック" panose="020B0600070205080204" pitchFamily="34" charset="-128"/>
                        </a:rPr>
                        <a:t></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10</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18</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years</a:t>
                      </a:r>
                    </a:p>
                  </a:txBody>
                  <a:tcPr marL="90000" marR="90000" marT="11916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4167932564"/>
                  </a:ext>
                </a:extLst>
              </a:tr>
              <a:tr h="570799">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168</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2</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168</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 3.7 </a:t>
                      </a:r>
                      <a:r>
                        <a:rPr kumimoji="0" lang="en-US" altLang="en-US" sz="1800" b="0" i="0" u="none" strike="noStrike" cap="none" normalizeH="0" baseline="0">
                          <a:ln>
                            <a:noFill/>
                          </a:ln>
                          <a:solidFill>
                            <a:srgbClr val="FFFFFF"/>
                          </a:solidFill>
                          <a:effectLst/>
                          <a:latin typeface="Symbol" pitchFamily="2" charset="2"/>
                          <a:ea typeface="ＭＳ Ｐゴシック" panose="020B0600070205080204" pitchFamily="34" charset="-128"/>
                        </a:rPr>
                        <a:t></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10</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50</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2</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167</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µs	= 5.9 </a:t>
                      </a:r>
                      <a:r>
                        <a:rPr kumimoji="0" lang="en-US" altLang="en-US" sz="1800" b="0" i="0" u="none" strike="noStrike" cap="none" normalizeH="0" baseline="0">
                          <a:ln>
                            <a:noFill/>
                          </a:ln>
                          <a:solidFill>
                            <a:srgbClr val="FFFFFF"/>
                          </a:solidFill>
                          <a:effectLst/>
                          <a:latin typeface="Symbol" pitchFamily="2" charset="2"/>
                          <a:ea typeface="ＭＳ Ｐゴシック" panose="020B0600070205080204" pitchFamily="34" charset="-128"/>
                        </a:rPr>
                        <a:t></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10</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36</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years</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5.9 </a:t>
                      </a:r>
                      <a:r>
                        <a:rPr kumimoji="0" lang="en-US" altLang="en-US" sz="1800" b="0" i="0" u="none" strike="noStrike" cap="none" normalizeH="0" baseline="0">
                          <a:ln>
                            <a:noFill/>
                          </a:ln>
                          <a:solidFill>
                            <a:srgbClr val="FFFFFF"/>
                          </a:solidFill>
                          <a:effectLst/>
                          <a:latin typeface="Symbol" pitchFamily="2" charset="2"/>
                          <a:ea typeface="ＭＳ Ｐゴシック" panose="020B0600070205080204" pitchFamily="34" charset="-128"/>
                        </a:rPr>
                        <a:t></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10</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30</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years</a:t>
                      </a:r>
                    </a:p>
                  </a:txBody>
                  <a:tcPr marL="90000" marR="90000" marT="11916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590268892"/>
                  </a:ext>
                </a:extLst>
              </a:tr>
              <a:tr h="611193">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ctr"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26 characters (permutation)</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26! = 4 </a:t>
                      </a:r>
                      <a:r>
                        <a:rPr kumimoji="0" lang="en-US" altLang="en-US" sz="1800" b="0" i="0" u="none" strike="noStrike" cap="none" normalizeH="0" baseline="0">
                          <a:ln>
                            <a:noFill/>
                          </a:ln>
                          <a:solidFill>
                            <a:srgbClr val="FFFFFF"/>
                          </a:solidFill>
                          <a:effectLst/>
                          <a:latin typeface="Symbol" pitchFamily="2" charset="2"/>
                          <a:ea typeface="ＭＳ Ｐゴシック" panose="020B0600070205080204" pitchFamily="34" charset="-128"/>
                        </a:rPr>
                        <a:t></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10</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26</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2 </a:t>
                      </a:r>
                      <a:r>
                        <a:rPr kumimoji="0" lang="en-US" altLang="en-US" sz="1800" b="0" i="0" u="none" strike="noStrike" cap="none" normalizeH="0" baseline="0">
                          <a:ln>
                            <a:noFill/>
                          </a:ln>
                          <a:solidFill>
                            <a:srgbClr val="FFFFFF"/>
                          </a:solidFill>
                          <a:effectLst/>
                          <a:latin typeface="Symbol" pitchFamily="2" charset="2"/>
                          <a:ea typeface="ＭＳ Ｐゴシック" panose="020B0600070205080204" pitchFamily="34" charset="-128"/>
                        </a:rPr>
                        <a:t></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10</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26</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µs	= 6.4 </a:t>
                      </a:r>
                      <a:r>
                        <a:rPr kumimoji="0" lang="en-US" altLang="en-US" sz="1800" b="0" i="0" u="none" strike="noStrike" cap="none" normalizeH="0" baseline="0">
                          <a:ln>
                            <a:noFill/>
                          </a:ln>
                          <a:solidFill>
                            <a:srgbClr val="FFFFFF"/>
                          </a:solidFill>
                          <a:effectLst/>
                          <a:latin typeface="Symbol" pitchFamily="2" charset="2"/>
                          <a:ea typeface="ＭＳ Ｐゴシック" panose="020B0600070205080204" pitchFamily="34" charset="-128"/>
                        </a:rPr>
                        <a:t></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10</a:t>
                      </a:r>
                      <a:r>
                        <a:rPr kumimoji="0" lang="en-US" altLang="en-US" sz="1800" b="0" i="0" u="none" strike="noStrike" cap="none" normalizeH="0" baseline="30000">
                          <a:ln>
                            <a:noFill/>
                          </a:ln>
                          <a:solidFill>
                            <a:srgbClr val="FFFFFF"/>
                          </a:solidFill>
                          <a:effectLst/>
                          <a:latin typeface="Times New Roman" panose="02020603050405020304" pitchFamily="18" charset="0"/>
                          <a:ea typeface="ＭＳ Ｐゴシック" panose="020B0600070205080204" pitchFamily="34" charset="-128"/>
                        </a:rPr>
                        <a:t>12</a:t>
                      </a:r>
                      <a:r>
                        <a:rPr kumimoji="0" lang="en-US" altLang="en-US" sz="1800" b="0" i="0" u="none" strike="noStrike" cap="none" normalizeH="0" baseline="0">
                          <a:ln>
                            <a:noFill/>
                          </a:ln>
                          <a:solidFill>
                            <a:srgbClr val="FFFFFF"/>
                          </a:solidFill>
                          <a:effectLst/>
                          <a:latin typeface="Times New Roman" panose="02020603050405020304" pitchFamily="18" charset="0"/>
                          <a:ea typeface="ＭＳ Ｐゴシック" panose="020B0600070205080204" pitchFamily="34" charset="-128"/>
                        </a:rPr>
                        <a:t> years</a:t>
                      </a:r>
                    </a:p>
                  </a:txBody>
                  <a:tcPr marL="90000" marR="90000" marT="11916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0000"/>
                        </a:lnSpc>
                        <a:spcBef>
                          <a:spcPts val="300"/>
                        </a:spcBef>
                        <a:spcAft>
                          <a:spcPts val="30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1800" b="0" i="0" u="none" strike="noStrike" cap="none" normalizeH="0" baseline="0" dirty="0">
                          <a:ln>
                            <a:noFill/>
                          </a:ln>
                          <a:solidFill>
                            <a:srgbClr val="FFFFFF"/>
                          </a:solidFill>
                          <a:effectLst/>
                          <a:latin typeface="Times New Roman" panose="02020603050405020304" pitchFamily="18" charset="0"/>
                          <a:ea typeface="ＭＳ Ｐゴシック" panose="020B0600070205080204" pitchFamily="34" charset="-128"/>
                        </a:rPr>
                        <a:t>6.4 </a:t>
                      </a:r>
                      <a:r>
                        <a:rPr kumimoji="0" lang="en-US" altLang="en-US" sz="1800" b="0" i="0" u="none" strike="noStrike" cap="none" normalizeH="0" baseline="0" dirty="0">
                          <a:ln>
                            <a:noFill/>
                          </a:ln>
                          <a:solidFill>
                            <a:srgbClr val="FFFFFF"/>
                          </a:solidFill>
                          <a:effectLst/>
                          <a:latin typeface="Symbol" pitchFamily="2" charset="2"/>
                          <a:ea typeface="ＭＳ Ｐゴシック" panose="020B0600070205080204" pitchFamily="34" charset="-128"/>
                        </a:rPr>
                        <a:t></a:t>
                      </a:r>
                      <a:r>
                        <a:rPr kumimoji="0" lang="en-US" altLang="en-US" sz="1800" b="0" i="0" u="none" strike="noStrike" cap="none" normalizeH="0" baseline="0" dirty="0">
                          <a:ln>
                            <a:noFill/>
                          </a:ln>
                          <a:solidFill>
                            <a:srgbClr val="FFFFFF"/>
                          </a:solidFill>
                          <a:effectLst/>
                          <a:latin typeface="Times New Roman" panose="02020603050405020304" pitchFamily="18" charset="0"/>
                          <a:ea typeface="ＭＳ Ｐゴシック" panose="020B0600070205080204" pitchFamily="34" charset="-128"/>
                        </a:rPr>
                        <a:t> 10</a:t>
                      </a:r>
                      <a:r>
                        <a:rPr kumimoji="0" lang="en-US" altLang="en-US" sz="1800" b="0" i="0" u="none" strike="noStrike" cap="none" normalizeH="0" baseline="30000" dirty="0">
                          <a:ln>
                            <a:noFill/>
                          </a:ln>
                          <a:solidFill>
                            <a:srgbClr val="FFFFFF"/>
                          </a:solidFill>
                          <a:effectLst/>
                          <a:latin typeface="Times New Roman" panose="02020603050405020304" pitchFamily="18" charset="0"/>
                          <a:ea typeface="ＭＳ Ｐゴシック" panose="020B0600070205080204" pitchFamily="34" charset="-128"/>
                        </a:rPr>
                        <a:t>6</a:t>
                      </a:r>
                      <a:r>
                        <a:rPr kumimoji="0" lang="en-US" altLang="en-US" sz="1800" b="0" i="0" u="none" strike="noStrike" cap="none" normalizeH="0" baseline="0" dirty="0">
                          <a:ln>
                            <a:noFill/>
                          </a:ln>
                          <a:solidFill>
                            <a:srgbClr val="FFFFFF"/>
                          </a:solidFill>
                          <a:effectLst/>
                          <a:latin typeface="Times New Roman" panose="02020603050405020304" pitchFamily="18" charset="0"/>
                          <a:ea typeface="ＭＳ Ｐゴシック" panose="020B0600070205080204" pitchFamily="34" charset="-128"/>
                        </a:rPr>
                        <a:t> years</a:t>
                      </a:r>
                    </a:p>
                  </a:txBody>
                  <a:tcPr marL="90000" marR="90000" marT="11916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995777819"/>
                  </a:ext>
                </a:extLst>
              </a:tr>
            </a:tbl>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19457" name="Text Box 1">
            <a:extLst>
              <a:ext uri="{FF2B5EF4-FFF2-40B4-BE49-F238E27FC236}">
                <a16:creationId xmlns:a16="http://schemas.microsoft.com/office/drawing/2014/main" id="{A7DB1D51-F48C-82E1-6616-357A0C11486C}"/>
              </a:ext>
            </a:extLst>
          </p:cNvPr>
          <p:cNvSpPr txBox="1">
            <a:spLocks noChangeArrowheads="1"/>
          </p:cNvSpPr>
          <p:nvPr/>
        </p:nvSpPr>
        <p:spPr bwMode="auto">
          <a:xfrm>
            <a:off x="457200" y="131763"/>
            <a:ext cx="8229600" cy="1431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Classical Substitution Ciphers</a:t>
            </a:r>
          </a:p>
        </p:txBody>
      </p:sp>
      <p:sp>
        <p:nvSpPr>
          <p:cNvPr id="19458" name="Text Box 2">
            <a:extLst>
              <a:ext uri="{FF2B5EF4-FFF2-40B4-BE49-F238E27FC236}">
                <a16:creationId xmlns:a16="http://schemas.microsoft.com/office/drawing/2014/main" id="{7BED8104-18F5-84B1-7B3F-217F3F90DDAB}"/>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US" altLang="en-US" sz="3200" dirty="0">
                <a:effectLst>
                  <a:outerShdw blurRad="38100" dist="38100" dir="2700000" algn="tl">
                    <a:srgbClr val="000000"/>
                  </a:outerShdw>
                </a:effectLst>
              </a:rPr>
              <a:t>where </a:t>
            </a:r>
            <a:r>
              <a:rPr lang="en-AU" altLang="en-US" sz="3200" dirty="0">
                <a:effectLst>
                  <a:outerShdw blurRad="38100" dist="38100" dir="2700000" algn="tl">
                    <a:srgbClr val="000000"/>
                  </a:outerShdw>
                </a:effectLst>
              </a:rPr>
              <a:t>letters of plaintext are replaced by other letters or by numbers or symbols</a:t>
            </a:r>
          </a:p>
          <a:p>
            <a:pPr>
              <a:spcBef>
                <a:spcPts val="800"/>
              </a:spcBef>
              <a:buClr>
                <a:srgbClr val="5FAFFF"/>
              </a:buClr>
              <a:buSzPct val="80000"/>
              <a:buFont typeface="Wingdings" pitchFamily="2" charset="2"/>
              <a:buChar char=""/>
            </a:pPr>
            <a:r>
              <a:rPr lang="en-US" altLang="en-US" sz="3200" dirty="0">
                <a:effectLst>
                  <a:outerShdw blurRad="38100" dist="38100" dir="2700000" algn="tl">
                    <a:srgbClr val="000000"/>
                  </a:outerShdw>
                </a:effectLst>
              </a:rPr>
              <a:t>or if plaintext is </a:t>
            </a:r>
            <a:r>
              <a:rPr lang="en-AU" altLang="en-US" sz="3200" dirty="0">
                <a:effectLst>
                  <a:outerShdw blurRad="38100" dist="38100" dir="2700000" algn="tl">
                    <a:srgbClr val="000000"/>
                  </a:outerShdw>
                </a:effectLst>
              </a:rPr>
              <a:t>viewed as a sequence of bits, then substitution involves replacing plaintext bit patterns with ciphertext bit patterns</a:t>
            </a:r>
          </a:p>
          <a:p>
            <a:pPr>
              <a:spcBef>
                <a:spcPts val="800"/>
              </a:spcBef>
              <a:buClrTx/>
              <a:buSzPct val="80000"/>
              <a:buFontTx/>
              <a:buNone/>
            </a:pPr>
            <a:endParaRPr lang="en-AU" altLang="en-US" sz="3200" dirty="0">
              <a:effectLst>
                <a:outerShdw blurRad="38100" dist="38100" dir="2700000" algn="tl">
                  <a:srgbClr val="000000"/>
                </a:outerShdw>
              </a:effectLst>
            </a:endParaRPr>
          </a:p>
          <a:p>
            <a:pPr>
              <a:spcBef>
                <a:spcPts val="800"/>
              </a:spcBef>
              <a:buClrTx/>
              <a:buSzPct val="80000"/>
              <a:buFontTx/>
              <a:buNone/>
            </a:pPr>
            <a:endParaRPr lang="en-AU" altLang="en-US" sz="3200" dirty="0">
              <a:effectLst>
                <a:outerShdw blurRad="38100" dist="38100" dir="2700000" algn="tl">
                  <a:srgbClr val="000000"/>
                </a:outerShdw>
              </a:effectLst>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20481" name="Text Box 1">
            <a:extLst>
              <a:ext uri="{FF2B5EF4-FFF2-40B4-BE49-F238E27FC236}">
                <a16:creationId xmlns:a16="http://schemas.microsoft.com/office/drawing/2014/main" id="{9DF33A77-A944-37AD-0115-DDBD3F62855B}"/>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Caesar Cipher</a:t>
            </a:r>
          </a:p>
        </p:txBody>
      </p:sp>
      <p:sp>
        <p:nvSpPr>
          <p:cNvPr id="20482" name="Text Box 2">
            <a:extLst>
              <a:ext uri="{FF2B5EF4-FFF2-40B4-BE49-F238E27FC236}">
                <a16:creationId xmlns:a16="http://schemas.microsoft.com/office/drawing/2014/main" id="{A7AEF612-94F3-5365-DE47-A26A90FB3E76}"/>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800"/>
              </a:spcBef>
              <a:buClr>
                <a:srgbClr val="5FAFFF"/>
              </a:buClr>
              <a:buSzPct val="80000"/>
              <a:buFont typeface="Wingdings" pitchFamily="2" charset="2"/>
              <a:buChar char=""/>
            </a:pPr>
            <a:r>
              <a:rPr lang="en-AU" altLang="en-US" sz="3200" dirty="0">
                <a:effectLst>
                  <a:outerShdw blurRad="38100" dist="38100" dir="2700000" algn="tl">
                    <a:srgbClr val="000000"/>
                  </a:outerShdw>
                </a:effectLst>
              </a:rPr>
              <a:t>earliest known substitution cipher</a:t>
            </a:r>
          </a:p>
          <a:p>
            <a:pPr>
              <a:lnSpc>
                <a:spcPct val="90000"/>
              </a:lnSpc>
              <a:spcBef>
                <a:spcPts val="800"/>
              </a:spcBef>
              <a:buClr>
                <a:srgbClr val="5FAFFF"/>
              </a:buClr>
              <a:buSzPct val="80000"/>
              <a:buFont typeface="Wingdings" pitchFamily="2" charset="2"/>
              <a:buChar char=""/>
            </a:pPr>
            <a:r>
              <a:rPr lang="en-AU" altLang="en-US" sz="3200" dirty="0">
                <a:effectLst>
                  <a:outerShdw blurRad="38100" dist="38100" dir="2700000" algn="tl">
                    <a:srgbClr val="000000"/>
                  </a:outerShdw>
                </a:effectLst>
              </a:rPr>
              <a:t>by Julius Caesar </a:t>
            </a:r>
          </a:p>
          <a:p>
            <a:pPr>
              <a:lnSpc>
                <a:spcPct val="90000"/>
              </a:lnSpc>
              <a:spcBef>
                <a:spcPts val="800"/>
              </a:spcBef>
              <a:buClr>
                <a:srgbClr val="5FAFFF"/>
              </a:buClr>
              <a:buSzPct val="80000"/>
              <a:buFont typeface="Wingdings" pitchFamily="2" charset="2"/>
              <a:buChar char=""/>
            </a:pPr>
            <a:r>
              <a:rPr lang="en-AU" altLang="en-US" sz="3200" dirty="0">
                <a:effectLst>
                  <a:outerShdw blurRad="38100" dist="38100" dir="2700000" algn="tl">
                    <a:srgbClr val="000000"/>
                  </a:outerShdw>
                </a:effectLst>
              </a:rPr>
              <a:t>first attested use in military affairs</a:t>
            </a:r>
          </a:p>
          <a:p>
            <a:pPr>
              <a:lnSpc>
                <a:spcPct val="90000"/>
              </a:lnSpc>
              <a:spcBef>
                <a:spcPts val="800"/>
              </a:spcBef>
              <a:buClr>
                <a:srgbClr val="5FAFFF"/>
              </a:buClr>
              <a:buSzPct val="80000"/>
              <a:buFont typeface="Wingdings" pitchFamily="2" charset="2"/>
              <a:buChar char=""/>
            </a:pPr>
            <a:r>
              <a:rPr lang="en-AU" altLang="en-US" sz="3200" dirty="0">
                <a:effectLst>
                  <a:outerShdw blurRad="38100" dist="38100" dir="2700000" algn="tl">
                    <a:srgbClr val="000000"/>
                  </a:outerShdw>
                </a:effectLst>
              </a:rPr>
              <a:t>replaces each letter by 3rd letter on</a:t>
            </a:r>
          </a:p>
          <a:p>
            <a:pPr>
              <a:lnSpc>
                <a:spcPct val="90000"/>
              </a:lnSpc>
              <a:spcBef>
                <a:spcPts val="800"/>
              </a:spcBef>
              <a:buClr>
                <a:srgbClr val="5FAFFF"/>
              </a:buClr>
              <a:buSzPct val="80000"/>
              <a:buFont typeface="Wingdings" pitchFamily="2" charset="2"/>
              <a:buChar char=""/>
            </a:pPr>
            <a:r>
              <a:rPr lang="en-US" altLang="en-US" sz="3200" dirty="0">
                <a:effectLst>
                  <a:outerShdw blurRad="38100" dist="38100" dir="2700000" algn="tl">
                    <a:srgbClr val="000000"/>
                  </a:outerShdw>
                </a:effectLst>
              </a:rPr>
              <a:t>example:</a:t>
            </a:r>
          </a:p>
          <a:p>
            <a:pPr lvl="1">
              <a:lnSpc>
                <a:spcPct val="90000"/>
              </a:lnSpc>
              <a:spcBef>
                <a:spcPts val="700"/>
              </a:spcBef>
              <a:buClrTx/>
              <a:buSzPct val="50000"/>
              <a:buFontTx/>
              <a:buNone/>
            </a:pPr>
            <a:r>
              <a:rPr lang="en-AU" altLang="en-US" sz="3200" dirty="0">
                <a:effectLst>
                  <a:outerShdw blurRad="38100" dist="38100" dir="2700000" algn="tl">
                    <a:srgbClr val="000000"/>
                  </a:outerShdw>
                </a:effectLst>
                <a:latin typeface="Lucida Console" panose="020B0609040504020204" pitchFamily="49" charset="0"/>
              </a:rPr>
              <a:t>meet me after the toga party</a:t>
            </a:r>
          </a:p>
          <a:p>
            <a:pPr lvl="1">
              <a:lnSpc>
                <a:spcPct val="90000"/>
              </a:lnSpc>
              <a:spcBef>
                <a:spcPts val="700"/>
              </a:spcBef>
              <a:buClrTx/>
              <a:buSzPct val="50000"/>
              <a:buFontTx/>
              <a:buNone/>
            </a:pPr>
            <a:r>
              <a:rPr lang="en-AU" altLang="en-US" sz="3200" dirty="0">
                <a:effectLst>
                  <a:outerShdw blurRad="38100" dist="38100" dir="2700000" algn="tl">
                    <a:srgbClr val="000000"/>
                  </a:outerShdw>
                </a:effectLst>
                <a:highlight>
                  <a:srgbClr val="FFFF00"/>
                </a:highlight>
                <a:latin typeface="Lucida Console" panose="020B0609040504020204" pitchFamily="49" charset="0"/>
              </a:rPr>
              <a:t>PHHW PH DIWHU WKH WRJD SDUWB</a:t>
            </a:r>
          </a:p>
          <a:p>
            <a:pPr>
              <a:lnSpc>
                <a:spcPct val="90000"/>
              </a:lnSpc>
              <a:spcBef>
                <a:spcPts val="800"/>
              </a:spcBef>
              <a:buClrTx/>
              <a:buSzPct val="80000"/>
              <a:buFontTx/>
              <a:buNone/>
            </a:pPr>
            <a:endParaRPr lang="en-AU" altLang="en-US" sz="4000" dirty="0">
              <a:effectLst>
                <a:outerShdw blurRad="38100" dist="38100" dir="2700000" algn="tl">
                  <a:srgbClr val="000000"/>
                </a:outerShdw>
              </a:effectLst>
              <a:latin typeface="Lucida Console" panose="020B0609040504020204" pitchFamily="49"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21505" name="Text Box 1">
            <a:extLst>
              <a:ext uri="{FF2B5EF4-FFF2-40B4-BE49-F238E27FC236}">
                <a16:creationId xmlns:a16="http://schemas.microsoft.com/office/drawing/2014/main" id="{9D17DB07-1BAA-E74E-C5A4-2754543D950F}"/>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Caesar Cipher</a:t>
            </a:r>
          </a:p>
        </p:txBody>
      </p:sp>
      <p:sp>
        <p:nvSpPr>
          <p:cNvPr id="21506" name="Text Box 2">
            <a:extLst>
              <a:ext uri="{FF2B5EF4-FFF2-40B4-BE49-F238E27FC236}">
                <a16:creationId xmlns:a16="http://schemas.microsoft.com/office/drawing/2014/main" id="{80DD44D6-8BC4-1F70-0B5D-E13D2B2AE4C2}"/>
              </a:ext>
            </a:extLst>
          </p:cNvPr>
          <p:cNvSpPr txBox="1">
            <a:spLocks noChangeArrowheads="1"/>
          </p:cNvSpPr>
          <p:nvPr/>
        </p:nvSpPr>
        <p:spPr bwMode="auto">
          <a:xfrm>
            <a:off x="457200" y="1196752"/>
            <a:ext cx="8229600" cy="5102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US" altLang="en-US" sz="3600" dirty="0">
                <a:effectLst>
                  <a:outerShdw blurRad="38100" dist="38100" dir="2700000" algn="tl">
                    <a:srgbClr val="000000"/>
                  </a:outerShdw>
                </a:effectLst>
              </a:rPr>
              <a:t>can define transformation as:</a:t>
            </a:r>
          </a:p>
          <a:p>
            <a:pPr lvl="1">
              <a:spcBef>
                <a:spcPts val="450"/>
              </a:spcBef>
              <a:buClrTx/>
              <a:buSzPct val="50000"/>
              <a:buFontTx/>
              <a:buNone/>
            </a:pPr>
            <a:r>
              <a:rPr lang="en-AU" altLang="en-US" sz="2000" dirty="0">
                <a:effectLst>
                  <a:outerShdw blurRad="38100" dist="38100" dir="2700000" algn="tl">
                    <a:srgbClr val="000000"/>
                  </a:outerShdw>
                </a:effectLst>
                <a:latin typeface="Courier New" panose="02070309020205020404" pitchFamily="49" charset="0"/>
              </a:rPr>
              <a:t>a b c d e f g h </a:t>
            </a:r>
            <a:r>
              <a:rPr lang="en-AU" altLang="en-US" sz="2000" dirty="0" err="1">
                <a:effectLst>
                  <a:outerShdw blurRad="38100" dist="38100" dir="2700000" algn="tl">
                    <a:srgbClr val="000000"/>
                  </a:outerShdw>
                </a:effectLst>
                <a:latin typeface="Courier New" panose="02070309020205020404" pitchFamily="49" charset="0"/>
              </a:rPr>
              <a:t>i</a:t>
            </a:r>
            <a:r>
              <a:rPr lang="en-AU" altLang="en-US" sz="2000" dirty="0">
                <a:effectLst>
                  <a:outerShdw blurRad="38100" dist="38100" dir="2700000" algn="tl">
                    <a:srgbClr val="000000"/>
                  </a:outerShdw>
                </a:effectLst>
                <a:latin typeface="Courier New" panose="02070309020205020404" pitchFamily="49" charset="0"/>
              </a:rPr>
              <a:t> j k l m n o p q r s t u v w x y z = IN</a:t>
            </a:r>
          </a:p>
          <a:p>
            <a:pPr lvl="1">
              <a:spcBef>
                <a:spcPts val="450"/>
              </a:spcBef>
              <a:buClrTx/>
              <a:buSzPct val="50000"/>
              <a:buFontTx/>
              <a:buNone/>
            </a:pPr>
            <a:r>
              <a:rPr lang="en-AU" altLang="en-US" sz="2000" dirty="0">
                <a:effectLst>
                  <a:outerShdw blurRad="38100" dist="38100" dir="2700000" algn="tl">
                    <a:srgbClr val="000000"/>
                  </a:outerShdw>
                </a:effectLst>
                <a:latin typeface="Courier New" panose="02070309020205020404" pitchFamily="49" charset="0"/>
              </a:rPr>
              <a:t>D E F G H I J K L M N O P Q R S T U V W X Y Z A B C = OUT</a:t>
            </a:r>
          </a:p>
          <a:p>
            <a:pPr>
              <a:spcBef>
                <a:spcPts val="800"/>
              </a:spcBef>
              <a:buClr>
                <a:srgbClr val="5FAFFF"/>
              </a:buClr>
              <a:buSzPct val="80000"/>
              <a:buFont typeface="Wingdings" pitchFamily="2" charset="2"/>
              <a:buChar char=""/>
            </a:pPr>
            <a:r>
              <a:rPr lang="en-US" altLang="en-US" sz="3600" dirty="0">
                <a:effectLst>
                  <a:outerShdw blurRad="38100" dist="38100" dir="2700000" algn="tl">
                    <a:srgbClr val="000000"/>
                  </a:outerShdw>
                </a:effectLst>
              </a:rPr>
              <a:t>mathematically give each letter a number</a:t>
            </a:r>
          </a:p>
          <a:p>
            <a:pPr lvl="1">
              <a:spcBef>
                <a:spcPts val="350"/>
              </a:spcBef>
              <a:buClrTx/>
              <a:buSzPct val="50000"/>
              <a:buFontTx/>
              <a:buNone/>
            </a:pPr>
            <a:r>
              <a:rPr lang="en-AU" altLang="en-US" sz="1600" dirty="0">
                <a:effectLst>
                  <a:outerShdw blurRad="38100" dist="38100" dir="2700000" algn="tl">
                    <a:srgbClr val="000000"/>
                  </a:outerShdw>
                </a:effectLst>
                <a:latin typeface="Courier New" panose="02070309020205020404" pitchFamily="49" charset="0"/>
              </a:rPr>
              <a:t>a b c d e f g h </a:t>
            </a:r>
            <a:r>
              <a:rPr lang="en-AU" altLang="en-US" sz="1600" dirty="0" err="1">
                <a:effectLst>
                  <a:outerShdw blurRad="38100" dist="38100" dir="2700000" algn="tl">
                    <a:srgbClr val="000000"/>
                  </a:outerShdw>
                </a:effectLst>
                <a:latin typeface="Courier New" panose="02070309020205020404" pitchFamily="49" charset="0"/>
              </a:rPr>
              <a:t>i</a:t>
            </a:r>
            <a:r>
              <a:rPr lang="en-AU" altLang="en-US" sz="1600" dirty="0">
                <a:effectLst>
                  <a:outerShdw blurRad="38100" dist="38100" dir="2700000" algn="tl">
                    <a:srgbClr val="000000"/>
                  </a:outerShdw>
                </a:effectLst>
                <a:latin typeface="Courier New" panose="02070309020205020404" pitchFamily="49" charset="0"/>
              </a:rPr>
              <a:t> j  k  l  m  n  o  p  q  r  s  t  u  v  w  x  y  z</a:t>
            </a:r>
          </a:p>
          <a:p>
            <a:pPr lvl="1">
              <a:spcBef>
                <a:spcPts val="350"/>
              </a:spcBef>
              <a:buClrTx/>
              <a:buSzPct val="50000"/>
              <a:buFontTx/>
              <a:buNone/>
            </a:pPr>
            <a:r>
              <a:rPr lang="en-AU" altLang="en-US" sz="1600" dirty="0">
                <a:effectLst>
                  <a:outerShdw blurRad="38100" dist="38100" dir="2700000" algn="tl">
                    <a:srgbClr val="000000"/>
                  </a:outerShdw>
                </a:effectLst>
                <a:latin typeface="Courier New" panose="02070309020205020404" pitchFamily="49" charset="0"/>
              </a:rPr>
              <a:t>0 1 2 3 4 5 6 7 8 9 10 11 12 13 14 15 16 17 18 19 20 21 22 23 24 25</a:t>
            </a:r>
          </a:p>
          <a:p>
            <a:pPr>
              <a:spcBef>
                <a:spcPts val="800"/>
              </a:spcBef>
              <a:buClr>
                <a:srgbClr val="5FAFFF"/>
              </a:buClr>
              <a:buSzPct val="80000"/>
              <a:buFont typeface="Wingdings" pitchFamily="2" charset="2"/>
              <a:buChar char=""/>
            </a:pPr>
            <a:r>
              <a:rPr lang="en-US" altLang="en-US" sz="2800" dirty="0">
                <a:effectLst>
                  <a:outerShdw blurRad="38100" dist="38100" dir="2700000" algn="tl">
                    <a:srgbClr val="000000"/>
                  </a:outerShdw>
                </a:effectLst>
              </a:rPr>
              <a:t>then have Caesar (rotation) cipher as:</a:t>
            </a:r>
          </a:p>
          <a:p>
            <a:pPr lvl="1">
              <a:spcBef>
                <a:spcPts val="700"/>
              </a:spcBef>
              <a:buClrTx/>
              <a:buSzPct val="50000"/>
              <a:buFontTx/>
              <a:buNone/>
            </a:pPr>
            <a:r>
              <a:rPr lang="en-AU" altLang="en-US" i="1" dirty="0">
                <a:effectLst>
                  <a:outerShdw blurRad="38100" dist="38100" dir="2700000" algn="tl">
                    <a:srgbClr val="000000"/>
                  </a:outerShdw>
                </a:effectLst>
              </a:rPr>
              <a:t>c </a:t>
            </a:r>
            <a:r>
              <a:rPr lang="en-AU" altLang="en-US" dirty="0">
                <a:effectLst>
                  <a:outerShdw blurRad="38100" dist="38100" dir="2700000" algn="tl">
                    <a:srgbClr val="000000"/>
                  </a:outerShdw>
                </a:effectLst>
              </a:rPr>
              <a:t>= E(k, </a:t>
            </a:r>
            <a:r>
              <a:rPr lang="en-AU" altLang="en-US" i="1" dirty="0">
                <a:effectLst>
                  <a:outerShdw blurRad="38100" dist="38100" dir="2700000" algn="tl">
                    <a:srgbClr val="000000"/>
                  </a:outerShdw>
                </a:effectLst>
              </a:rPr>
              <a:t>p</a:t>
            </a:r>
            <a:r>
              <a:rPr lang="en-AU" altLang="en-US" dirty="0">
                <a:effectLst>
                  <a:outerShdw blurRad="38100" dist="38100" dir="2700000" algn="tl">
                    <a:srgbClr val="000000"/>
                  </a:outerShdw>
                </a:effectLst>
              </a:rPr>
              <a:t>) = (</a:t>
            </a:r>
            <a:r>
              <a:rPr lang="en-AU" altLang="en-US" i="1" dirty="0">
                <a:effectLst>
                  <a:outerShdw blurRad="38100" dist="38100" dir="2700000" algn="tl">
                    <a:srgbClr val="000000"/>
                  </a:outerShdw>
                </a:effectLst>
              </a:rPr>
              <a:t>p </a:t>
            </a:r>
            <a:r>
              <a:rPr lang="en-AU" altLang="en-US" dirty="0">
                <a:effectLst>
                  <a:outerShdw blurRad="38100" dist="38100" dir="2700000" algn="tl">
                    <a:srgbClr val="000000"/>
                  </a:outerShdw>
                </a:effectLst>
              </a:rPr>
              <a:t>+ </a:t>
            </a:r>
            <a:r>
              <a:rPr lang="en-AU" altLang="en-US" i="1" dirty="0">
                <a:effectLst>
                  <a:outerShdw blurRad="38100" dist="38100" dir="2700000" algn="tl">
                    <a:srgbClr val="000000"/>
                  </a:outerShdw>
                </a:effectLst>
              </a:rPr>
              <a:t>k</a:t>
            </a:r>
            <a:r>
              <a:rPr lang="en-AU" altLang="en-US" dirty="0">
                <a:effectLst>
                  <a:outerShdw blurRad="38100" dist="38100" dir="2700000" algn="tl">
                    <a:srgbClr val="000000"/>
                  </a:outerShdw>
                </a:effectLst>
              </a:rPr>
              <a:t>) mod (26)</a:t>
            </a:r>
          </a:p>
          <a:p>
            <a:pPr lvl="1">
              <a:spcBef>
                <a:spcPts val="700"/>
              </a:spcBef>
              <a:buClrTx/>
              <a:buSzPct val="50000"/>
              <a:buFontTx/>
              <a:buNone/>
            </a:pPr>
            <a:r>
              <a:rPr lang="en-AU" altLang="en-US" i="1" dirty="0">
                <a:effectLst>
                  <a:outerShdw blurRad="38100" dist="38100" dir="2700000" algn="tl">
                    <a:srgbClr val="000000"/>
                  </a:outerShdw>
                </a:effectLst>
              </a:rPr>
              <a:t>p </a:t>
            </a:r>
            <a:r>
              <a:rPr lang="en-AU" altLang="en-US" dirty="0">
                <a:effectLst>
                  <a:outerShdw blurRad="38100" dist="38100" dir="2700000" algn="tl">
                    <a:srgbClr val="000000"/>
                  </a:outerShdw>
                </a:effectLst>
              </a:rPr>
              <a:t>= D(k, c) = (c – </a:t>
            </a:r>
            <a:r>
              <a:rPr lang="en-AU" altLang="en-US" i="1" dirty="0">
                <a:effectLst>
                  <a:outerShdw blurRad="38100" dist="38100" dir="2700000" algn="tl">
                    <a:srgbClr val="000000"/>
                  </a:outerShdw>
                </a:effectLst>
              </a:rPr>
              <a:t>k</a:t>
            </a:r>
            <a:r>
              <a:rPr lang="en-AU" altLang="en-US" dirty="0">
                <a:effectLst>
                  <a:outerShdw blurRad="38100" dist="38100" dir="2700000" algn="tl">
                    <a:srgbClr val="000000"/>
                  </a:outerShdw>
                </a:effectLst>
              </a:rPr>
              <a:t>) mod (26)</a:t>
            </a:r>
          </a:p>
          <a:p>
            <a:pPr>
              <a:spcBef>
                <a:spcPts val="800"/>
              </a:spcBef>
              <a:buClrTx/>
              <a:buSzPct val="80000"/>
              <a:buFontTx/>
              <a:buNone/>
            </a:pPr>
            <a:endParaRPr lang="en-AU" altLang="en-US" sz="3200" dirty="0">
              <a:effectLst>
                <a:outerShdw blurRad="38100" dist="38100" dir="2700000" algn="tl">
                  <a:srgbClr val="000000"/>
                </a:outerShdw>
              </a:effectLst>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22529" name="Text Box 1">
            <a:extLst>
              <a:ext uri="{FF2B5EF4-FFF2-40B4-BE49-F238E27FC236}">
                <a16:creationId xmlns:a16="http://schemas.microsoft.com/office/drawing/2014/main" id="{1326D226-2B9D-C8E5-4EBF-472F46C313F9}"/>
              </a:ext>
            </a:extLst>
          </p:cNvPr>
          <p:cNvSpPr txBox="1">
            <a:spLocks noChangeArrowheads="1"/>
          </p:cNvSpPr>
          <p:nvPr/>
        </p:nvSpPr>
        <p:spPr bwMode="auto">
          <a:xfrm>
            <a:off x="457200" y="131763"/>
            <a:ext cx="8229600" cy="1431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Cryptanalysis of Caesar Cipher </a:t>
            </a:r>
          </a:p>
        </p:txBody>
      </p:sp>
      <p:sp>
        <p:nvSpPr>
          <p:cNvPr id="22530" name="Text Box 2">
            <a:extLst>
              <a:ext uri="{FF2B5EF4-FFF2-40B4-BE49-F238E27FC236}">
                <a16:creationId xmlns:a16="http://schemas.microsoft.com/office/drawing/2014/main" id="{07CD038B-71AD-08BC-2229-20C5ED83D4D9}"/>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only have 26 possible ciphers </a:t>
            </a:r>
          </a:p>
          <a:p>
            <a:pPr lvl="1">
              <a:spcBef>
                <a:spcPts val="700"/>
              </a:spcBef>
              <a:buClr>
                <a:srgbClr val="D9D9FF"/>
              </a:buClr>
              <a:buSzPct val="50000"/>
              <a:buFont typeface="Wingdings" pitchFamily="2" charset="2"/>
              <a:buChar char=""/>
            </a:pPr>
            <a:r>
              <a:rPr lang="en-AU" altLang="en-US" sz="2800">
                <a:effectLst>
                  <a:outerShdw blurRad="38100" dist="38100" dir="2700000" algn="tl">
                    <a:srgbClr val="000000"/>
                  </a:outerShdw>
                </a:effectLst>
              </a:rPr>
              <a:t>A maps to A,B,..Z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could simply try each in turn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a </a:t>
            </a:r>
            <a:r>
              <a:rPr lang="en-AU" altLang="en-US" sz="3200" b="1">
                <a:effectLst>
                  <a:outerShdw blurRad="38100" dist="38100" dir="2700000" algn="tl">
                    <a:srgbClr val="000000"/>
                  </a:outerShdw>
                </a:effectLst>
              </a:rPr>
              <a:t>brute force search</a:t>
            </a:r>
            <a:r>
              <a:rPr lang="en-AU" altLang="en-US" sz="3200">
                <a:effectLst>
                  <a:outerShdw blurRad="38100" dist="38100" dir="2700000" algn="tl">
                    <a:srgbClr val="000000"/>
                  </a:outerShdw>
                </a:effectLst>
              </a:rPr>
              <a:t>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given ciphertext, just try all shifts of letters</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do need to recognize when have plaintext</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eg. break ciphertext "GCUA VQ DTGCM"</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E1B65B-1CDE-29F2-2F25-97E8F2FF4C54}"/>
              </a:ext>
            </a:extLst>
          </p:cNvPr>
          <p:cNvPicPr>
            <a:picLocks noChangeAspect="1"/>
          </p:cNvPicPr>
          <p:nvPr/>
        </p:nvPicPr>
        <p:blipFill>
          <a:blip r:embed="rId3"/>
          <a:stretch>
            <a:fillRect/>
          </a:stretch>
        </p:blipFill>
        <p:spPr>
          <a:xfrm>
            <a:off x="1735331" y="0"/>
            <a:ext cx="5673338" cy="6858000"/>
          </a:xfrm>
          <a:prstGeom prst="rect">
            <a:avLst/>
          </a:prstGeom>
        </p:spPr>
      </p:pic>
    </p:spTree>
    <p:extLst>
      <p:ext uri="{BB962C8B-B14F-4D97-AF65-F5344CB8AC3E}">
        <p14:creationId xmlns:p14="http://schemas.microsoft.com/office/powerpoint/2010/main" val="3371573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25601" name="Text Box 1">
            <a:extLst>
              <a:ext uri="{FF2B5EF4-FFF2-40B4-BE49-F238E27FC236}">
                <a16:creationId xmlns:a16="http://schemas.microsoft.com/office/drawing/2014/main" id="{764B8D29-E0E1-95C4-F758-00B832983914}"/>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AU" altLang="en-US" sz="4400" b="1">
                <a:solidFill>
                  <a:srgbClr val="D9D9FF"/>
                </a:solidFill>
                <a:effectLst>
                  <a:outerShdw blurRad="38100" dist="38100" dir="2700000" algn="tl">
                    <a:srgbClr val="000000"/>
                  </a:outerShdw>
                </a:effectLst>
              </a:rPr>
              <a:t>Monoalphabetic Cipher</a:t>
            </a:r>
          </a:p>
        </p:txBody>
      </p:sp>
      <p:sp>
        <p:nvSpPr>
          <p:cNvPr id="25602" name="Text Box 2">
            <a:extLst>
              <a:ext uri="{FF2B5EF4-FFF2-40B4-BE49-F238E27FC236}">
                <a16:creationId xmlns:a16="http://schemas.microsoft.com/office/drawing/2014/main" id="{B4FE70AF-55C9-3A7C-3638-625F3AAE0D25}"/>
              </a:ext>
            </a:extLst>
          </p:cNvPr>
          <p:cNvSpPr txBox="1">
            <a:spLocks noChangeArrowheads="1"/>
          </p:cNvSpPr>
          <p:nvPr/>
        </p:nvSpPr>
        <p:spPr bwMode="auto">
          <a:xfrm>
            <a:off x="457200" y="1676400"/>
            <a:ext cx="8229600" cy="5111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rather than just shifting the alphabet </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could shuffle (permute) the letters arbitrarily </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each plaintext letter maps to a different random ciphertext letter </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hence key is 26 letters long </a:t>
            </a:r>
          </a:p>
          <a:p>
            <a:pPr lvl="1">
              <a:lnSpc>
                <a:spcPct val="90000"/>
              </a:lnSpc>
              <a:spcBef>
                <a:spcPts val="600"/>
              </a:spcBef>
              <a:buClrTx/>
              <a:buSzPct val="50000"/>
              <a:buFontTx/>
              <a:buNone/>
            </a:pPr>
            <a:endParaRPr lang="en-AU" altLang="en-US">
              <a:effectLst>
                <a:outerShdw blurRad="38100" dist="38100" dir="2700000" algn="tl">
                  <a:srgbClr val="000000"/>
                </a:outerShdw>
              </a:effectLst>
              <a:latin typeface="Courier New" panose="02070309020205020404" pitchFamily="49" charset="0"/>
            </a:endParaRPr>
          </a:p>
          <a:p>
            <a:pPr lvl="1">
              <a:lnSpc>
                <a:spcPct val="90000"/>
              </a:lnSpc>
              <a:spcBef>
                <a:spcPts val="600"/>
              </a:spcBef>
              <a:buClrTx/>
              <a:buSzPct val="50000"/>
              <a:buFontTx/>
              <a:buNone/>
            </a:pPr>
            <a:r>
              <a:rPr lang="en-AU" altLang="en-US">
                <a:effectLst>
                  <a:outerShdw blurRad="38100" dist="38100" dir="2700000" algn="tl">
                    <a:srgbClr val="000000"/>
                  </a:outerShdw>
                </a:effectLst>
                <a:latin typeface="Lucida Console" panose="020B0609040504020204" pitchFamily="49" charset="0"/>
              </a:rPr>
              <a:t>Plain:  abcdefghijklmnopqrstuvwxyz</a:t>
            </a:r>
          </a:p>
          <a:p>
            <a:pPr lvl="1">
              <a:lnSpc>
                <a:spcPct val="90000"/>
              </a:lnSpc>
              <a:spcBef>
                <a:spcPts val="600"/>
              </a:spcBef>
              <a:buClrTx/>
              <a:buSzPct val="50000"/>
              <a:buFontTx/>
              <a:buNone/>
            </a:pPr>
            <a:r>
              <a:rPr lang="en-AU" altLang="en-US">
                <a:effectLst>
                  <a:outerShdw blurRad="38100" dist="38100" dir="2700000" algn="tl">
                    <a:srgbClr val="000000"/>
                  </a:outerShdw>
                </a:effectLst>
                <a:latin typeface="Lucida Console" panose="020B0609040504020204" pitchFamily="49" charset="0"/>
              </a:rPr>
              <a:t>Cipher: DKVQFIBJWPESCXHTMYAUOLRGZN</a:t>
            </a:r>
          </a:p>
          <a:p>
            <a:pPr lvl="1">
              <a:lnSpc>
                <a:spcPct val="90000"/>
              </a:lnSpc>
              <a:spcBef>
                <a:spcPts val="600"/>
              </a:spcBef>
              <a:buClrTx/>
              <a:buSzPct val="50000"/>
              <a:buFontTx/>
              <a:buNone/>
            </a:pPr>
            <a:endParaRPr lang="en-AU" altLang="en-US">
              <a:effectLst>
                <a:outerShdw blurRad="38100" dist="38100" dir="2700000" algn="tl">
                  <a:srgbClr val="000000"/>
                </a:outerShdw>
              </a:effectLst>
              <a:latin typeface="Lucida Console" panose="020B0609040504020204" pitchFamily="49" charset="0"/>
            </a:endParaRPr>
          </a:p>
          <a:p>
            <a:pPr lvl="1">
              <a:lnSpc>
                <a:spcPct val="90000"/>
              </a:lnSpc>
              <a:spcBef>
                <a:spcPts val="600"/>
              </a:spcBef>
              <a:buClrTx/>
              <a:buSzPct val="50000"/>
              <a:buFontTx/>
              <a:buNone/>
            </a:pPr>
            <a:r>
              <a:rPr lang="en-AU" altLang="en-US">
                <a:effectLst>
                  <a:outerShdw blurRad="38100" dist="38100" dir="2700000" algn="tl">
                    <a:srgbClr val="000000"/>
                  </a:outerShdw>
                </a:effectLst>
                <a:latin typeface="Lucida Console" panose="020B0609040504020204" pitchFamily="49" charset="0"/>
              </a:rPr>
              <a:t>Plaintext:  ifwewishtoreplaceletters</a:t>
            </a:r>
          </a:p>
          <a:p>
            <a:pPr lvl="1">
              <a:lnSpc>
                <a:spcPct val="90000"/>
              </a:lnSpc>
              <a:spcBef>
                <a:spcPts val="600"/>
              </a:spcBef>
              <a:buClrTx/>
              <a:buSzPct val="50000"/>
              <a:buFontTx/>
              <a:buNone/>
            </a:pPr>
            <a:r>
              <a:rPr lang="en-AU" altLang="en-US">
                <a:effectLst>
                  <a:outerShdw blurRad="38100" dist="38100" dir="2700000" algn="tl">
                    <a:srgbClr val="000000"/>
                  </a:outerShdw>
                </a:effectLst>
                <a:latin typeface="Lucida Console" panose="020B0609040504020204" pitchFamily="49" charset="0"/>
              </a:rPr>
              <a:t>Ciphertext: WIRFRWAJUHYFTSDVFSFUUFYA</a:t>
            </a:r>
            <a:r>
              <a:rPr lang="en-AU" altLang="en-US">
                <a:effectLst>
                  <a:outerShdw blurRad="38100" dist="38100" dir="2700000" algn="tl">
                    <a:srgbClr val="000000"/>
                  </a:outerShdw>
                </a:effectLst>
                <a:latin typeface="Courier New" panose="02070309020205020404" pitchFamily="49" charset="0"/>
              </a:rPr>
              <a:t> </a:t>
            </a:r>
          </a:p>
          <a:p>
            <a:pPr>
              <a:lnSpc>
                <a:spcPct val="90000"/>
              </a:lnSpc>
              <a:spcBef>
                <a:spcPts val="600"/>
              </a:spcBef>
              <a:buClrTx/>
              <a:buSzPct val="80000"/>
              <a:buFontTx/>
              <a:buNone/>
            </a:pPr>
            <a:endParaRPr lang="en-AU" altLang="en-US">
              <a:effectLst>
                <a:outerShdw blurRad="38100" dist="38100" dir="2700000" algn="tl">
                  <a:srgbClr val="000000"/>
                </a:outerShdw>
              </a:effectLst>
              <a:latin typeface="Courier New" panose="02070309020205020404" pitchFamily="49"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26625" name="Text Box 1">
            <a:extLst>
              <a:ext uri="{FF2B5EF4-FFF2-40B4-BE49-F238E27FC236}">
                <a16:creationId xmlns:a16="http://schemas.microsoft.com/office/drawing/2014/main" id="{C16D9EA8-866C-9BF1-B2E1-602850220346}"/>
              </a:ext>
            </a:extLst>
          </p:cNvPr>
          <p:cNvSpPr txBox="1">
            <a:spLocks noChangeArrowheads="1"/>
          </p:cNvSpPr>
          <p:nvPr/>
        </p:nvSpPr>
        <p:spPr bwMode="auto">
          <a:xfrm>
            <a:off x="457200" y="131763"/>
            <a:ext cx="8229600" cy="1431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AU" altLang="en-US" sz="4400" b="1">
                <a:solidFill>
                  <a:srgbClr val="D9D9FF"/>
                </a:solidFill>
                <a:effectLst>
                  <a:outerShdw blurRad="38100" dist="38100" dir="2700000" algn="tl">
                    <a:srgbClr val="000000"/>
                  </a:outerShdw>
                </a:effectLst>
              </a:rPr>
              <a:t>Monoalphabetic Cipher Security</a:t>
            </a:r>
          </a:p>
        </p:txBody>
      </p:sp>
      <p:sp>
        <p:nvSpPr>
          <p:cNvPr id="26626" name="Text Box 2">
            <a:extLst>
              <a:ext uri="{FF2B5EF4-FFF2-40B4-BE49-F238E27FC236}">
                <a16:creationId xmlns:a16="http://schemas.microsoft.com/office/drawing/2014/main" id="{399CAD95-151C-A24B-4DEC-B7636F91D91B}"/>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key size is now 25 characters…</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now have a total of 26! = 4 x 10</a:t>
            </a:r>
            <a:r>
              <a:rPr lang="en-AU" altLang="en-US" sz="3200" baseline="30000">
                <a:effectLst>
                  <a:outerShdw blurRad="38100" dist="38100" dir="2700000" algn="tl">
                    <a:srgbClr val="000000"/>
                  </a:outerShdw>
                </a:effectLst>
              </a:rPr>
              <a:t>26</a:t>
            </a:r>
            <a:r>
              <a:rPr lang="en-AU" altLang="en-US" sz="3200">
                <a:effectLst>
                  <a:outerShdw blurRad="38100" dist="38100" dir="2700000" algn="tl">
                    <a:srgbClr val="000000"/>
                  </a:outerShdw>
                </a:effectLst>
              </a:rPr>
              <a:t> keys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with so many keys, might think is secure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but would be </a:t>
            </a:r>
            <a:r>
              <a:rPr lang="en-AU" altLang="en-US" sz="3200" b="1">
                <a:effectLst>
                  <a:outerShdw blurRad="38100" dist="38100" dir="2700000" algn="tl">
                    <a:srgbClr val="000000"/>
                  </a:outerShdw>
                </a:effectLst>
              </a:rPr>
              <a:t>!!!WRONG!!!</a:t>
            </a:r>
            <a:r>
              <a:rPr lang="en-AU" altLang="en-US" sz="3200">
                <a:effectLst>
                  <a:outerShdw blurRad="38100" dist="38100" dir="2700000" algn="tl">
                    <a:srgbClr val="000000"/>
                  </a:outerShdw>
                </a:effectLst>
              </a:rPr>
              <a:t> </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problem is language characteristics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2662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2662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2662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fill="hold" nodeType="clickEffect">
                                  <p:stCondLst>
                                    <p:cond delay="0"/>
                                  </p:stCondLst>
                                  <p:childTnLst>
                                    <p:set>
                                      <p:cBhvr additive="repl">
                                        <p:cTn id="18" dur="1" fill="hold">
                                          <p:stCondLst>
                                            <p:cond delay="0"/>
                                          </p:stCondLst>
                                        </p:cTn>
                                        <p:tgtEl>
                                          <p:spTgt spid="26626">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fill="hold" nodeType="clickEffect">
                                  <p:stCondLst>
                                    <p:cond delay="0"/>
                                  </p:stCondLst>
                                  <p:childTnLst>
                                    <p:set>
                                      <p:cBhvr additive="repl">
                                        <p:cTn id="22" dur="1" fill="hold">
                                          <p:stCondLst>
                                            <p:cond delay="0"/>
                                          </p:stCondLst>
                                        </p:cTn>
                                        <p:tgtEl>
                                          <p:spTgt spid="26626">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fill="hold" nodeType="clickEffect">
                                  <p:stCondLst>
                                    <p:cond delay="0"/>
                                  </p:stCondLst>
                                  <p:childTnLst>
                                    <p:set>
                                      <p:cBhvr additive="repl">
                                        <p:cTn id="26" dur="1" fill="hold">
                                          <p:stCondLst>
                                            <p:cond delay="0"/>
                                          </p:stCondLst>
                                        </p:cTn>
                                        <p:tgtEl>
                                          <p:spTgt spid="26626">
                                            <p:txEl>
                                              <p:pRg st="3" end="3"/>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fill="hold" nodeType="clickEffect">
                                  <p:stCondLst>
                                    <p:cond delay="0"/>
                                  </p:stCondLst>
                                  <p:childTnLst>
                                    <p:set>
                                      <p:cBhvr additive="repl">
                                        <p:cTn id="30" dur="1" fill="hold">
                                          <p:stCondLst>
                                            <p:cond delay="0"/>
                                          </p:stCondLst>
                                        </p:cTn>
                                        <p:tgtEl>
                                          <p:spTgt spid="2662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27649" name="Text Box 1">
            <a:extLst>
              <a:ext uri="{FF2B5EF4-FFF2-40B4-BE49-F238E27FC236}">
                <a16:creationId xmlns:a16="http://schemas.microsoft.com/office/drawing/2014/main" id="{77331324-8595-5C42-1DA8-2D4AF51C8B04}"/>
              </a:ext>
            </a:extLst>
          </p:cNvPr>
          <p:cNvSpPr txBox="1">
            <a:spLocks noChangeArrowheads="1"/>
          </p:cNvSpPr>
          <p:nvPr/>
        </p:nvSpPr>
        <p:spPr bwMode="auto">
          <a:xfrm>
            <a:off x="457200" y="192088"/>
            <a:ext cx="8229600"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000" b="1">
                <a:solidFill>
                  <a:srgbClr val="D9D9FF"/>
                </a:solidFill>
                <a:effectLst>
                  <a:outerShdw blurRad="38100" dist="38100" dir="2700000" algn="tl">
                    <a:srgbClr val="000000"/>
                  </a:outerShdw>
                </a:effectLst>
              </a:rPr>
              <a:t>Language Redundancy and Cryptanalysis</a:t>
            </a:r>
          </a:p>
        </p:txBody>
      </p:sp>
      <p:sp>
        <p:nvSpPr>
          <p:cNvPr id="27650" name="Text Box 2">
            <a:extLst>
              <a:ext uri="{FF2B5EF4-FFF2-40B4-BE49-F238E27FC236}">
                <a16:creationId xmlns:a16="http://schemas.microsoft.com/office/drawing/2014/main" id="{D03B2E68-D636-B8D3-954E-2B23431042F7}"/>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human languages are </a:t>
            </a:r>
            <a:r>
              <a:rPr lang="en-AU" altLang="en-US" sz="2800" b="1">
                <a:solidFill>
                  <a:srgbClr val="FFFF00"/>
                </a:solidFill>
                <a:effectLst>
                  <a:outerShdw blurRad="38100" dist="38100" dir="2700000" algn="tl">
                    <a:srgbClr val="000000"/>
                  </a:outerShdw>
                </a:effectLst>
              </a:rPr>
              <a:t>redundant</a:t>
            </a:r>
            <a:r>
              <a:rPr lang="en-AU" altLang="en-US" sz="2800">
                <a:solidFill>
                  <a:srgbClr val="FFFF00"/>
                </a:solidFill>
                <a:effectLst>
                  <a:outerShdw blurRad="38100" dist="38100" dir="2700000" algn="tl">
                    <a:srgbClr val="000000"/>
                  </a:outerShdw>
                </a:effectLst>
              </a:rPr>
              <a:t>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e.g., "th lrd s m shphrd shll nt wnt"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letters are not equally commonly used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in English E is by far the most common letter </a:t>
            </a:r>
          </a:p>
          <a:p>
            <a:pPr lvl="1">
              <a:spcBef>
                <a:spcPts val="600"/>
              </a:spcBef>
              <a:buClr>
                <a:srgbClr val="D9D9FF"/>
              </a:buClr>
              <a:buSzPct val="50000"/>
              <a:buFont typeface="Wingdings" pitchFamily="2" charset="2"/>
              <a:buChar char=""/>
            </a:pPr>
            <a:r>
              <a:rPr lang="en-AU" altLang="en-US">
                <a:effectLst>
                  <a:outerShdw blurRad="38100" dist="38100" dir="2700000" algn="tl">
                    <a:srgbClr val="000000"/>
                  </a:outerShdw>
                </a:effectLst>
              </a:rPr>
              <a:t>followed by T,R,N,I,O,A,S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other letters like Z,J,K,Q,X are fairly rare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have tables of single, double &amp; triple letter frequencies for various languages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28673" name="Text Box 1">
            <a:extLst>
              <a:ext uri="{FF2B5EF4-FFF2-40B4-BE49-F238E27FC236}">
                <a16:creationId xmlns:a16="http://schemas.microsoft.com/office/drawing/2014/main" id="{51DB1B60-7C80-1E22-8D1E-EF39C27320E0}"/>
              </a:ext>
            </a:extLst>
          </p:cNvPr>
          <p:cNvSpPr txBox="1">
            <a:spLocks noChangeArrowheads="1"/>
          </p:cNvSpPr>
          <p:nvPr/>
        </p:nvSpPr>
        <p:spPr bwMode="auto">
          <a:xfrm>
            <a:off x="457200" y="0"/>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English Letter Frequencies</a:t>
            </a:r>
          </a:p>
        </p:txBody>
      </p:sp>
      <p:pic>
        <p:nvPicPr>
          <p:cNvPr id="28674" name="Picture 2">
            <a:extLst>
              <a:ext uri="{FF2B5EF4-FFF2-40B4-BE49-F238E27FC236}">
                <a16:creationId xmlns:a16="http://schemas.microsoft.com/office/drawing/2014/main" id="{2741B7C4-2BD0-0E94-B9A7-A8956D85E2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7759700" cy="55499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29697" name="Text Box 1">
            <a:extLst>
              <a:ext uri="{FF2B5EF4-FFF2-40B4-BE49-F238E27FC236}">
                <a16:creationId xmlns:a16="http://schemas.microsoft.com/office/drawing/2014/main" id="{71D2F65A-62A3-1542-CB8D-374B494ACA74}"/>
              </a:ext>
            </a:extLst>
          </p:cNvPr>
          <p:cNvSpPr txBox="1">
            <a:spLocks noChangeArrowheads="1"/>
          </p:cNvSpPr>
          <p:nvPr/>
        </p:nvSpPr>
        <p:spPr bwMode="auto">
          <a:xfrm>
            <a:off x="457200" y="0"/>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English Letter Frequencies</a:t>
            </a:r>
          </a:p>
        </p:txBody>
      </p:sp>
      <p:graphicFrame>
        <p:nvGraphicFramePr>
          <p:cNvPr id="29698" name="Object 2">
            <a:extLst>
              <a:ext uri="{FF2B5EF4-FFF2-40B4-BE49-F238E27FC236}">
                <a16:creationId xmlns:a16="http://schemas.microsoft.com/office/drawing/2014/main" id="{6BA0AE2B-3E0D-1251-A4C7-9F84646E8B13}"/>
              </a:ext>
            </a:extLst>
          </p:cNvPr>
          <p:cNvGraphicFramePr>
            <a:graphicFrameLocks noChangeAspect="1"/>
          </p:cNvGraphicFramePr>
          <p:nvPr/>
        </p:nvGraphicFramePr>
        <p:xfrm>
          <a:off x="323850" y="981075"/>
          <a:ext cx="8569325" cy="4895850"/>
        </p:xfrm>
        <a:graphic>
          <a:graphicData uri="http://schemas.openxmlformats.org/presentationml/2006/ole">
            <mc:AlternateContent xmlns:mc="http://schemas.openxmlformats.org/markup-compatibility/2006">
              <mc:Choice xmlns:v="urn:schemas-microsoft-com:vml" Requires="v">
                <p:oleObj r:id="rId3" imgW="6502400" imgH="2870200" progId="">
                  <p:embed/>
                </p:oleObj>
              </mc:Choice>
              <mc:Fallback>
                <p:oleObj r:id="rId3" imgW="6502400" imgH="2870200" progId="">
                  <p:embed/>
                  <p:pic>
                    <p:nvPicPr>
                      <p:cNvPr id="29698" name="Object 2">
                        <a:extLst>
                          <a:ext uri="{FF2B5EF4-FFF2-40B4-BE49-F238E27FC236}">
                            <a16:creationId xmlns:a16="http://schemas.microsoft.com/office/drawing/2014/main" id="{6BA0AE2B-3E0D-1251-A4C7-9F84646E8B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981075"/>
                        <a:ext cx="8569325" cy="4895850"/>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graphicFrame>
        <p:nvGraphicFramePr>
          <p:cNvPr id="30721" name="Object 1">
            <a:extLst>
              <a:ext uri="{FF2B5EF4-FFF2-40B4-BE49-F238E27FC236}">
                <a16:creationId xmlns:a16="http://schemas.microsoft.com/office/drawing/2014/main" id="{1F9315A5-D979-B792-CE34-B9DF9D597124}"/>
              </a:ext>
            </a:extLst>
          </p:cNvPr>
          <p:cNvGraphicFramePr>
            <a:graphicFrameLocks noChangeAspect="1"/>
          </p:cNvGraphicFramePr>
          <p:nvPr/>
        </p:nvGraphicFramePr>
        <p:xfrm>
          <a:off x="900113" y="620713"/>
          <a:ext cx="7315200" cy="2708275"/>
        </p:xfrm>
        <a:graphic>
          <a:graphicData uri="http://schemas.openxmlformats.org/presentationml/2006/ole">
            <mc:AlternateContent xmlns:mc="http://schemas.openxmlformats.org/markup-compatibility/2006">
              <mc:Choice xmlns:v="urn:schemas-microsoft-com:vml" Requires="v">
                <p:oleObj r:id="rId3" imgW="7327900" imgH="3048000" progId="">
                  <p:embed/>
                </p:oleObj>
              </mc:Choice>
              <mc:Fallback>
                <p:oleObj r:id="rId3" imgW="7327900" imgH="3048000" progId="">
                  <p:embed/>
                  <p:pic>
                    <p:nvPicPr>
                      <p:cNvPr id="30721" name="Object 1">
                        <a:extLst>
                          <a:ext uri="{FF2B5EF4-FFF2-40B4-BE49-F238E27FC236}">
                            <a16:creationId xmlns:a16="http://schemas.microsoft.com/office/drawing/2014/main" id="{1F9315A5-D979-B792-CE34-B9DF9D5971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620713"/>
                        <a:ext cx="7315200" cy="2708275"/>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2" name="Object 2">
            <a:extLst>
              <a:ext uri="{FF2B5EF4-FFF2-40B4-BE49-F238E27FC236}">
                <a16:creationId xmlns:a16="http://schemas.microsoft.com/office/drawing/2014/main" id="{43AE988B-9627-A472-A237-A6B93E8E1009}"/>
              </a:ext>
            </a:extLst>
          </p:cNvPr>
          <p:cNvGraphicFramePr>
            <a:graphicFrameLocks noChangeAspect="1"/>
          </p:cNvGraphicFramePr>
          <p:nvPr/>
        </p:nvGraphicFramePr>
        <p:xfrm>
          <a:off x="971550" y="3500438"/>
          <a:ext cx="7296150" cy="2800350"/>
        </p:xfrm>
        <a:graphic>
          <a:graphicData uri="http://schemas.openxmlformats.org/presentationml/2006/ole">
            <mc:AlternateContent xmlns:mc="http://schemas.openxmlformats.org/markup-compatibility/2006">
              <mc:Choice xmlns:v="urn:schemas-microsoft-com:vml" Requires="v">
                <p:oleObj r:id="rId5" imgW="7327900" imgH="2692400" progId="">
                  <p:embed/>
                </p:oleObj>
              </mc:Choice>
              <mc:Fallback>
                <p:oleObj r:id="rId5" imgW="7327900" imgH="2692400" progId="">
                  <p:embed/>
                  <p:pic>
                    <p:nvPicPr>
                      <p:cNvPr id="30722" name="Object 2">
                        <a:extLst>
                          <a:ext uri="{FF2B5EF4-FFF2-40B4-BE49-F238E27FC236}">
                            <a16:creationId xmlns:a16="http://schemas.microsoft.com/office/drawing/2014/main" id="{43AE988B-9627-A472-A237-A6B93E8E10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3500438"/>
                        <a:ext cx="7296150" cy="2800350"/>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3" name="Rectangle 3">
            <a:extLst>
              <a:ext uri="{FF2B5EF4-FFF2-40B4-BE49-F238E27FC236}">
                <a16:creationId xmlns:a16="http://schemas.microsoft.com/office/drawing/2014/main" id="{D96CDD6A-767A-51E3-E643-14104C2CA4D3}"/>
              </a:ext>
            </a:extLst>
          </p:cNvPr>
          <p:cNvSpPr>
            <a:spLocks noChangeArrowheads="1"/>
          </p:cNvSpPr>
          <p:nvPr/>
        </p:nvSpPr>
        <p:spPr bwMode="auto">
          <a:xfrm>
            <a:off x="457200" y="115888"/>
            <a:ext cx="8229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42900" indent="-338138">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700"/>
              </a:spcBef>
              <a:buClrTx/>
              <a:buSzPct val="80000"/>
              <a:buFontTx/>
              <a:buNone/>
            </a:pPr>
            <a:r>
              <a:rPr lang="en-US" altLang="en-US" sz="2800">
                <a:effectLst>
                  <a:outerShdw blurRad="38100" dist="38100" dir="2700000" algn="tl">
                    <a:srgbClr val="000000"/>
                  </a:outerShdw>
                </a:effectLst>
              </a:rPr>
              <a:t>What kind of cipher is this?</a:t>
            </a:r>
          </a:p>
        </p:txBody>
      </p:sp>
      <p:sp>
        <p:nvSpPr>
          <p:cNvPr id="30724" name="Freeform 4">
            <a:extLst>
              <a:ext uri="{FF2B5EF4-FFF2-40B4-BE49-F238E27FC236}">
                <a16:creationId xmlns:a16="http://schemas.microsoft.com/office/drawing/2014/main" id="{D24DB6ED-ADC2-05DA-3599-BCB108504A14}"/>
              </a:ext>
            </a:extLst>
          </p:cNvPr>
          <p:cNvSpPr>
            <a:spLocks/>
          </p:cNvSpPr>
          <p:nvPr/>
        </p:nvSpPr>
        <p:spPr bwMode="auto">
          <a:xfrm>
            <a:off x="5795963" y="1844675"/>
            <a:ext cx="430212" cy="219075"/>
          </a:xfrm>
          <a:custGeom>
            <a:avLst/>
            <a:gdLst>
              <a:gd name="T0" fmla="*/ 0 w 1196"/>
              <a:gd name="T1" fmla="*/ 0 h 610"/>
              <a:gd name="T2" fmla="*/ 1195 w 1196"/>
              <a:gd name="T3" fmla="*/ 609 h 610"/>
            </a:gdLst>
            <a:ahLst/>
            <a:cxnLst>
              <a:cxn ang="0">
                <a:pos x="T0" y="T1"/>
              </a:cxn>
              <a:cxn ang="0">
                <a:pos x="T2" y="T3"/>
              </a:cxn>
            </a:cxnLst>
            <a:rect l="0" t="0" r="r" b="b"/>
            <a:pathLst>
              <a:path w="1196" h="610">
                <a:moveTo>
                  <a:pt x="0" y="0"/>
                </a:moveTo>
                <a:lnTo>
                  <a:pt x="1195" y="609"/>
                </a:lnTo>
              </a:path>
            </a:pathLst>
          </a:custGeom>
          <a:noFill/>
          <a:ln w="57240">
            <a:solidFill>
              <a:srgbClr val="FFFF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25" name="Freeform 5">
            <a:extLst>
              <a:ext uri="{FF2B5EF4-FFF2-40B4-BE49-F238E27FC236}">
                <a16:creationId xmlns:a16="http://schemas.microsoft.com/office/drawing/2014/main" id="{DF7925F7-8582-B313-0403-32D669106DC4}"/>
              </a:ext>
            </a:extLst>
          </p:cNvPr>
          <p:cNvSpPr>
            <a:spLocks/>
          </p:cNvSpPr>
          <p:nvPr/>
        </p:nvSpPr>
        <p:spPr bwMode="auto">
          <a:xfrm>
            <a:off x="2339975" y="1125538"/>
            <a:ext cx="430213" cy="219075"/>
          </a:xfrm>
          <a:custGeom>
            <a:avLst/>
            <a:gdLst>
              <a:gd name="T0" fmla="*/ 0 w 1196"/>
              <a:gd name="T1" fmla="*/ 0 h 610"/>
              <a:gd name="T2" fmla="*/ 1195 w 1196"/>
              <a:gd name="T3" fmla="*/ 609 h 610"/>
            </a:gdLst>
            <a:ahLst/>
            <a:cxnLst>
              <a:cxn ang="0">
                <a:pos x="T0" y="T1"/>
              </a:cxn>
              <a:cxn ang="0">
                <a:pos x="T2" y="T3"/>
              </a:cxn>
            </a:cxnLst>
            <a:rect l="0" t="0" r="r" b="b"/>
            <a:pathLst>
              <a:path w="1196" h="610">
                <a:moveTo>
                  <a:pt x="0" y="0"/>
                </a:moveTo>
                <a:lnTo>
                  <a:pt x="1195" y="609"/>
                </a:lnTo>
              </a:path>
            </a:pathLst>
          </a:custGeom>
          <a:noFill/>
          <a:ln w="57240">
            <a:solidFill>
              <a:srgbClr val="FFFF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26" name="Freeform 6">
            <a:extLst>
              <a:ext uri="{FF2B5EF4-FFF2-40B4-BE49-F238E27FC236}">
                <a16:creationId xmlns:a16="http://schemas.microsoft.com/office/drawing/2014/main" id="{819F463E-1D7C-10D9-D29B-545D20AD3C2B}"/>
              </a:ext>
            </a:extLst>
          </p:cNvPr>
          <p:cNvSpPr>
            <a:spLocks/>
          </p:cNvSpPr>
          <p:nvPr/>
        </p:nvSpPr>
        <p:spPr bwMode="auto">
          <a:xfrm>
            <a:off x="4643438" y="1844675"/>
            <a:ext cx="430212" cy="219075"/>
          </a:xfrm>
          <a:custGeom>
            <a:avLst/>
            <a:gdLst>
              <a:gd name="T0" fmla="*/ 0 w 1196"/>
              <a:gd name="T1" fmla="*/ 0 h 610"/>
              <a:gd name="T2" fmla="*/ 1195 w 1196"/>
              <a:gd name="T3" fmla="*/ 609 h 610"/>
            </a:gdLst>
            <a:ahLst/>
            <a:cxnLst>
              <a:cxn ang="0">
                <a:pos x="T0" y="T1"/>
              </a:cxn>
              <a:cxn ang="0">
                <a:pos x="T2" y="T3"/>
              </a:cxn>
            </a:cxnLst>
            <a:rect l="0" t="0" r="r" b="b"/>
            <a:pathLst>
              <a:path w="1196" h="610">
                <a:moveTo>
                  <a:pt x="0" y="0"/>
                </a:moveTo>
                <a:lnTo>
                  <a:pt x="1195" y="609"/>
                </a:lnTo>
              </a:path>
            </a:pathLst>
          </a:custGeom>
          <a:noFill/>
          <a:ln w="57240">
            <a:solidFill>
              <a:srgbClr val="FFFF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27" name="Freeform 7">
            <a:extLst>
              <a:ext uri="{FF2B5EF4-FFF2-40B4-BE49-F238E27FC236}">
                <a16:creationId xmlns:a16="http://schemas.microsoft.com/office/drawing/2014/main" id="{4980D0BA-8603-5D2E-DEA8-107EE87551E9}"/>
              </a:ext>
            </a:extLst>
          </p:cNvPr>
          <p:cNvSpPr>
            <a:spLocks/>
          </p:cNvSpPr>
          <p:nvPr/>
        </p:nvSpPr>
        <p:spPr bwMode="auto">
          <a:xfrm>
            <a:off x="7019925" y="4076700"/>
            <a:ext cx="430213" cy="219075"/>
          </a:xfrm>
          <a:custGeom>
            <a:avLst/>
            <a:gdLst>
              <a:gd name="T0" fmla="*/ 0 w 1196"/>
              <a:gd name="T1" fmla="*/ 0 h 610"/>
              <a:gd name="T2" fmla="*/ 1195 w 1196"/>
              <a:gd name="T3" fmla="*/ 609 h 610"/>
            </a:gdLst>
            <a:ahLst/>
            <a:cxnLst>
              <a:cxn ang="0">
                <a:pos x="T0" y="T1"/>
              </a:cxn>
              <a:cxn ang="0">
                <a:pos x="T2" y="T3"/>
              </a:cxn>
            </a:cxnLst>
            <a:rect l="0" t="0" r="r" b="b"/>
            <a:pathLst>
              <a:path w="1196" h="610">
                <a:moveTo>
                  <a:pt x="0" y="0"/>
                </a:moveTo>
                <a:lnTo>
                  <a:pt x="1195" y="609"/>
                </a:lnTo>
              </a:path>
            </a:pathLst>
          </a:custGeom>
          <a:noFill/>
          <a:ln w="57240">
            <a:solidFill>
              <a:srgbClr val="FFFF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28" name="Freeform 8">
            <a:extLst>
              <a:ext uri="{FF2B5EF4-FFF2-40B4-BE49-F238E27FC236}">
                <a16:creationId xmlns:a16="http://schemas.microsoft.com/office/drawing/2014/main" id="{10C59076-16EE-062C-3E1C-7A16DB0C90FF}"/>
              </a:ext>
            </a:extLst>
          </p:cNvPr>
          <p:cNvSpPr>
            <a:spLocks/>
          </p:cNvSpPr>
          <p:nvPr/>
        </p:nvSpPr>
        <p:spPr bwMode="auto">
          <a:xfrm>
            <a:off x="4140200" y="4724400"/>
            <a:ext cx="430213" cy="219075"/>
          </a:xfrm>
          <a:custGeom>
            <a:avLst/>
            <a:gdLst>
              <a:gd name="T0" fmla="*/ 0 w 1196"/>
              <a:gd name="T1" fmla="*/ 0 h 610"/>
              <a:gd name="T2" fmla="*/ 1195 w 1196"/>
              <a:gd name="T3" fmla="*/ 609 h 610"/>
            </a:gdLst>
            <a:ahLst/>
            <a:cxnLst>
              <a:cxn ang="0">
                <a:pos x="T0" y="T1"/>
              </a:cxn>
              <a:cxn ang="0">
                <a:pos x="T2" y="T3"/>
              </a:cxn>
            </a:cxnLst>
            <a:rect l="0" t="0" r="r" b="b"/>
            <a:pathLst>
              <a:path w="1196" h="610">
                <a:moveTo>
                  <a:pt x="0" y="0"/>
                </a:moveTo>
                <a:lnTo>
                  <a:pt x="1195" y="609"/>
                </a:lnTo>
              </a:path>
            </a:pathLst>
          </a:custGeom>
          <a:noFill/>
          <a:ln w="57240">
            <a:solidFill>
              <a:srgbClr val="FFFF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29" name="Freeform 9">
            <a:extLst>
              <a:ext uri="{FF2B5EF4-FFF2-40B4-BE49-F238E27FC236}">
                <a16:creationId xmlns:a16="http://schemas.microsoft.com/office/drawing/2014/main" id="{C5B5DBDD-5872-0063-0CAD-29F13A2E0EA1}"/>
              </a:ext>
            </a:extLst>
          </p:cNvPr>
          <p:cNvSpPr>
            <a:spLocks/>
          </p:cNvSpPr>
          <p:nvPr/>
        </p:nvSpPr>
        <p:spPr bwMode="auto">
          <a:xfrm>
            <a:off x="2987675" y="4724400"/>
            <a:ext cx="430213" cy="219075"/>
          </a:xfrm>
          <a:custGeom>
            <a:avLst/>
            <a:gdLst>
              <a:gd name="T0" fmla="*/ 0 w 1196"/>
              <a:gd name="T1" fmla="*/ 0 h 610"/>
              <a:gd name="T2" fmla="*/ 1195 w 1196"/>
              <a:gd name="T3" fmla="*/ 609 h 610"/>
            </a:gdLst>
            <a:ahLst/>
            <a:cxnLst>
              <a:cxn ang="0">
                <a:pos x="T0" y="T1"/>
              </a:cxn>
              <a:cxn ang="0">
                <a:pos x="T2" y="T3"/>
              </a:cxn>
            </a:cxnLst>
            <a:rect l="0" t="0" r="r" b="b"/>
            <a:pathLst>
              <a:path w="1196" h="610">
                <a:moveTo>
                  <a:pt x="0" y="0"/>
                </a:moveTo>
                <a:lnTo>
                  <a:pt x="1195" y="609"/>
                </a:lnTo>
              </a:path>
            </a:pathLst>
          </a:custGeom>
          <a:noFill/>
          <a:ln w="57240">
            <a:solidFill>
              <a:srgbClr val="FFFF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nodeType="clickEffect">
                                  <p:stCondLst>
                                    <p:cond delay="0"/>
                                  </p:stCondLst>
                                  <p:childTnLst>
                                    <p:set>
                                      <p:cBhvr additive="repl">
                                        <p:cTn id="6" dur="1" fill="hold">
                                          <p:stCondLst>
                                            <p:cond delay="0"/>
                                          </p:stCondLst>
                                        </p:cTn>
                                        <p:tgtEl>
                                          <p:spTgt spid="30725"/>
                                        </p:tgtEl>
                                        <p:attrNameLst>
                                          <p:attrName>style.visibility</p:attrName>
                                        </p:attrNameLst>
                                      </p:cBhvr>
                                      <p:to>
                                        <p:strVal val="visible"/>
                                      </p:to>
                                    </p:set>
                                    <p:anim calcmode="lin" valueType="num">
                                      <p:cBhvr additive="repl">
                                        <p:cTn id="7" dur="500" fill="hold"/>
                                        <p:tgtEl>
                                          <p:spTgt spid="30725"/>
                                        </p:tgtEl>
                                        <p:attrNameLst>
                                          <p:attrName>ppt_x</p:attrName>
                                        </p:attrNameLst>
                                      </p:cBhvr>
                                      <p:tavLst>
                                        <p:tav tm="100000">
                                          <p:val>
                                            <p:strVal val="0-#ppt_w/2"/>
                                          </p:val>
                                        </p:tav>
                                        <p:tav>
                                          <p:val>
                                            <p:strVal val="#ppt_x"/>
                                          </p:val>
                                        </p:tav>
                                      </p:tavLst>
                                    </p:anim>
                                    <p:anim calcmode="lin" valueType="num">
                                      <p:cBhvr additive="repl">
                                        <p:cTn id="8" dur="500" fill="hold"/>
                                        <p:tgtEl>
                                          <p:spTgt spid="30725"/>
                                        </p:tgtEl>
                                        <p:attrNameLst>
                                          <p:attrName>ppt_y</p:attrName>
                                        </p:attrNameLst>
                                      </p:cBhvr>
                                      <p:tavLst>
                                        <p:tav tm="100000">
                                          <p:val>
                                            <p:strVal val="0-#ppt_h/2"/>
                                          </p:val>
                                        </p:tav>
                                        <p:tav>
                                          <p:val>
                                            <p:strVal val="#ppt_y"/>
                                          </p:val>
                                        </p:tav>
                                      </p:tavLst>
                                    </p:anim>
                                  </p:childTnLst>
                                </p:cTn>
                              </p:par>
                              <p:par>
                                <p:cTn id="9" presetID="2" presetClass="entr" presetSubtype="9" fill="hold" nodeType="withEffect">
                                  <p:stCondLst>
                                    <p:cond delay="0"/>
                                  </p:stCondLst>
                                  <p:childTnLst>
                                    <p:set>
                                      <p:cBhvr additive="repl">
                                        <p:cTn id="10" dur="1" fill="hold">
                                          <p:stCondLst>
                                            <p:cond delay="0"/>
                                          </p:stCondLst>
                                        </p:cTn>
                                        <p:tgtEl>
                                          <p:spTgt spid="30726"/>
                                        </p:tgtEl>
                                        <p:attrNameLst>
                                          <p:attrName>style.visibility</p:attrName>
                                        </p:attrNameLst>
                                      </p:cBhvr>
                                      <p:to>
                                        <p:strVal val="visible"/>
                                      </p:to>
                                    </p:set>
                                    <p:anim calcmode="lin" valueType="num">
                                      <p:cBhvr additive="repl">
                                        <p:cTn id="11" dur="500" fill="hold"/>
                                        <p:tgtEl>
                                          <p:spTgt spid="30726"/>
                                        </p:tgtEl>
                                        <p:attrNameLst>
                                          <p:attrName>ppt_x</p:attrName>
                                        </p:attrNameLst>
                                      </p:cBhvr>
                                      <p:tavLst>
                                        <p:tav tm="100000">
                                          <p:val>
                                            <p:strVal val="0-#ppt_w/2"/>
                                          </p:val>
                                        </p:tav>
                                        <p:tav>
                                          <p:val>
                                            <p:strVal val="#ppt_x"/>
                                          </p:val>
                                        </p:tav>
                                      </p:tavLst>
                                    </p:anim>
                                    <p:anim calcmode="lin" valueType="num">
                                      <p:cBhvr additive="repl">
                                        <p:cTn id="12" dur="500" fill="hold"/>
                                        <p:tgtEl>
                                          <p:spTgt spid="30726"/>
                                        </p:tgtEl>
                                        <p:attrNameLst>
                                          <p:attrName>ppt_y</p:attrName>
                                        </p:attrNameLst>
                                      </p:cBhvr>
                                      <p:tavLst>
                                        <p:tav tm="100000">
                                          <p:val>
                                            <p:strVal val="0-#ppt_h/2"/>
                                          </p:val>
                                        </p:tav>
                                        <p:tav>
                                          <p:val>
                                            <p:strVal val="#ppt_y"/>
                                          </p:val>
                                        </p:tav>
                                      </p:tavLst>
                                    </p:anim>
                                  </p:childTnLst>
                                </p:cTn>
                              </p:par>
                              <p:par>
                                <p:cTn id="13" presetID="2" presetClass="entr" presetSubtype="9" fill="hold" nodeType="withEffect">
                                  <p:stCondLst>
                                    <p:cond delay="0"/>
                                  </p:stCondLst>
                                  <p:childTnLst>
                                    <p:set>
                                      <p:cBhvr additive="repl">
                                        <p:cTn id="14" dur="1" fill="hold">
                                          <p:stCondLst>
                                            <p:cond delay="0"/>
                                          </p:stCondLst>
                                        </p:cTn>
                                        <p:tgtEl>
                                          <p:spTgt spid="30724"/>
                                        </p:tgtEl>
                                        <p:attrNameLst>
                                          <p:attrName>style.visibility</p:attrName>
                                        </p:attrNameLst>
                                      </p:cBhvr>
                                      <p:to>
                                        <p:strVal val="visible"/>
                                      </p:to>
                                    </p:set>
                                    <p:anim calcmode="lin" valueType="num">
                                      <p:cBhvr additive="repl">
                                        <p:cTn id="15" dur="500" fill="hold"/>
                                        <p:tgtEl>
                                          <p:spTgt spid="30724"/>
                                        </p:tgtEl>
                                        <p:attrNameLst>
                                          <p:attrName>ppt_x</p:attrName>
                                        </p:attrNameLst>
                                      </p:cBhvr>
                                      <p:tavLst>
                                        <p:tav tm="100000">
                                          <p:val>
                                            <p:strVal val="0-#ppt_w/2"/>
                                          </p:val>
                                        </p:tav>
                                        <p:tav>
                                          <p:val>
                                            <p:strVal val="#ppt_x"/>
                                          </p:val>
                                        </p:tav>
                                      </p:tavLst>
                                    </p:anim>
                                    <p:anim calcmode="lin" valueType="num">
                                      <p:cBhvr additive="repl">
                                        <p:cTn id="16" dur="500" fill="hold"/>
                                        <p:tgtEl>
                                          <p:spTgt spid="30724"/>
                                        </p:tgtEl>
                                        <p:attrNameLst>
                                          <p:attrName>ppt_y</p:attrName>
                                        </p:attrNameLst>
                                      </p:cBhvr>
                                      <p:tavLst>
                                        <p:tav tm="100000">
                                          <p:val>
                                            <p:strVal val="0-#ppt_h/2"/>
                                          </p:val>
                                        </p:tav>
                                        <p:tav>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9" fill="hold" nodeType="clickEffect">
                                  <p:stCondLst>
                                    <p:cond delay="0"/>
                                  </p:stCondLst>
                                  <p:childTnLst>
                                    <p:set>
                                      <p:cBhvr additive="repl">
                                        <p:cTn id="20" dur="1" fill="hold">
                                          <p:stCondLst>
                                            <p:cond delay="0"/>
                                          </p:stCondLst>
                                        </p:cTn>
                                        <p:tgtEl>
                                          <p:spTgt spid="30729"/>
                                        </p:tgtEl>
                                        <p:attrNameLst>
                                          <p:attrName>style.visibility</p:attrName>
                                        </p:attrNameLst>
                                      </p:cBhvr>
                                      <p:to>
                                        <p:strVal val="visible"/>
                                      </p:to>
                                    </p:set>
                                    <p:anim calcmode="lin" valueType="num">
                                      <p:cBhvr additive="repl">
                                        <p:cTn id="21" dur="500" fill="hold"/>
                                        <p:tgtEl>
                                          <p:spTgt spid="30729"/>
                                        </p:tgtEl>
                                        <p:attrNameLst>
                                          <p:attrName>ppt_x</p:attrName>
                                        </p:attrNameLst>
                                      </p:cBhvr>
                                      <p:tavLst>
                                        <p:tav tm="100000">
                                          <p:val>
                                            <p:strVal val="0-#ppt_w/2"/>
                                          </p:val>
                                        </p:tav>
                                        <p:tav>
                                          <p:val>
                                            <p:strVal val="#ppt_x"/>
                                          </p:val>
                                        </p:tav>
                                      </p:tavLst>
                                    </p:anim>
                                    <p:anim calcmode="lin" valueType="num">
                                      <p:cBhvr additive="repl">
                                        <p:cTn id="22" dur="500" fill="hold"/>
                                        <p:tgtEl>
                                          <p:spTgt spid="30729"/>
                                        </p:tgtEl>
                                        <p:attrNameLst>
                                          <p:attrName>ppt_y</p:attrName>
                                        </p:attrNameLst>
                                      </p:cBhvr>
                                      <p:tavLst>
                                        <p:tav tm="100000">
                                          <p:val>
                                            <p:strVal val="0-#ppt_h/2"/>
                                          </p:val>
                                        </p:tav>
                                        <p:tav>
                                          <p:val>
                                            <p:strVal val="#ppt_y"/>
                                          </p:val>
                                        </p:tav>
                                      </p:tavLst>
                                    </p:anim>
                                  </p:childTnLst>
                                </p:cTn>
                              </p:par>
                              <p:par>
                                <p:cTn id="23" presetID="2" presetClass="entr" presetSubtype="9" fill="hold" nodeType="withEffect">
                                  <p:stCondLst>
                                    <p:cond delay="0"/>
                                  </p:stCondLst>
                                  <p:childTnLst>
                                    <p:set>
                                      <p:cBhvr additive="repl">
                                        <p:cTn id="24" dur="1" fill="hold">
                                          <p:stCondLst>
                                            <p:cond delay="0"/>
                                          </p:stCondLst>
                                        </p:cTn>
                                        <p:tgtEl>
                                          <p:spTgt spid="30728"/>
                                        </p:tgtEl>
                                        <p:attrNameLst>
                                          <p:attrName>style.visibility</p:attrName>
                                        </p:attrNameLst>
                                      </p:cBhvr>
                                      <p:to>
                                        <p:strVal val="visible"/>
                                      </p:to>
                                    </p:set>
                                    <p:anim calcmode="lin" valueType="num">
                                      <p:cBhvr additive="repl">
                                        <p:cTn id="25" dur="500" fill="hold"/>
                                        <p:tgtEl>
                                          <p:spTgt spid="30728"/>
                                        </p:tgtEl>
                                        <p:attrNameLst>
                                          <p:attrName>ppt_x</p:attrName>
                                        </p:attrNameLst>
                                      </p:cBhvr>
                                      <p:tavLst>
                                        <p:tav tm="100000">
                                          <p:val>
                                            <p:strVal val="0-#ppt_w/2"/>
                                          </p:val>
                                        </p:tav>
                                        <p:tav>
                                          <p:val>
                                            <p:strVal val="#ppt_x"/>
                                          </p:val>
                                        </p:tav>
                                      </p:tavLst>
                                    </p:anim>
                                    <p:anim calcmode="lin" valueType="num">
                                      <p:cBhvr additive="repl">
                                        <p:cTn id="26" dur="500" fill="hold"/>
                                        <p:tgtEl>
                                          <p:spTgt spid="30728"/>
                                        </p:tgtEl>
                                        <p:attrNameLst>
                                          <p:attrName>ppt_y</p:attrName>
                                        </p:attrNameLst>
                                      </p:cBhvr>
                                      <p:tavLst>
                                        <p:tav tm="100000">
                                          <p:val>
                                            <p:strVal val="0-#ppt_h/2"/>
                                          </p:val>
                                        </p:tav>
                                        <p:tav>
                                          <p:val>
                                            <p:strVal val="#ppt_y"/>
                                          </p:val>
                                        </p:tav>
                                      </p:tavLst>
                                    </p:anim>
                                  </p:childTnLst>
                                </p:cTn>
                              </p:par>
                              <p:par>
                                <p:cTn id="27" presetID="2" presetClass="entr" presetSubtype="9" fill="hold" nodeType="withEffect">
                                  <p:stCondLst>
                                    <p:cond delay="0"/>
                                  </p:stCondLst>
                                  <p:childTnLst>
                                    <p:set>
                                      <p:cBhvr additive="repl">
                                        <p:cTn id="28" dur="1" fill="hold">
                                          <p:stCondLst>
                                            <p:cond delay="0"/>
                                          </p:stCondLst>
                                        </p:cTn>
                                        <p:tgtEl>
                                          <p:spTgt spid="30727"/>
                                        </p:tgtEl>
                                        <p:attrNameLst>
                                          <p:attrName>style.visibility</p:attrName>
                                        </p:attrNameLst>
                                      </p:cBhvr>
                                      <p:to>
                                        <p:strVal val="visible"/>
                                      </p:to>
                                    </p:set>
                                    <p:anim calcmode="lin" valueType="num">
                                      <p:cBhvr additive="repl">
                                        <p:cTn id="29" dur="500" fill="hold"/>
                                        <p:tgtEl>
                                          <p:spTgt spid="30727"/>
                                        </p:tgtEl>
                                        <p:attrNameLst>
                                          <p:attrName>ppt_x</p:attrName>
                                        </p:attrNameLst>
                                      </p:cBhvr>
                                      <p:tavLst>
                                        <p:tav tm="100000">
                                          <p:val>
                                            <p:strVal val="0-#ppt_w/2"/>
                                          </p:val>
                                        </p:tav>
                                        <p:tav>
                                          <p:val>
                                            <p:strVal val="#ppt_x"/>
                                          </p:val>
                                        </p:tav>
                                      </p:tavLst>
                                    </p:anim>
                                    <p:anim calcmode="lin" valueType="num">
                                      <p:cBhvr additive="repl">
                                        <p:cTn id="30" dur="500" fill="hold"/>
                                        <p:tgtEl>
                                          <p:spTgt spid="30727"/>
                                        </p:tgtEl>
                                        <p:attrNameLst>
                                          <p:attrName>ppt_y</p:attrName>
                                        </p:attrNameLst>
                                      </p:cBhvr>
                                      <p:tavLst>
                                        <p:tav tm="100000">
                                          <p:val>
                                            <p:strVal val="0-#ppt_h/2"/>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graphicFrame>
        <p:nvGraphicFramePr>
          <p:cNvPr id="31745" name="Object 1">
            <a:extLst>
              <a:ext uri="{FF2B5EF4-FFF2-40B4-BE49-F238E27FC236}">
                <a16:creationId xmlns:a16="http://schemas.microsoft.com/office/drawing/2014/main" id="{42EAE647-8162-6A82-70C4-48C0128AD596}"/>
              </a:ext>
            </a:extLst>
          </p:cNvPr>
          <p:cNvGraphicFramePr>
            <a:graphicFrameLocks noChangeAspect="1"/>
          </p:cNvGraphicFramePr>
          <p:nvPr/>
        </p:nvGraphicFramePr>
        <p:xfrm>
          <a:off x="928688" y="609600"/>
          <a:ext cx="7315200" cy="2708275"/>
        </p:xfrm>
        <a:graphic>
          <a:graphicData uri="http://schemas.openxmlformats.org/presentationml/2006/ole">
            <mc:AlternateContent xmlns:mc="http://schemas.openxmlformats.org/markup-compatibility/2006">
              <mc:Choice xmlns:v="urn:schemas-microsoft-com:vml" Requires="v">
                <p:oleObj r:id="rId3" imgW="7327900" imgH="3048000" progId="">
                  <p:embed/>
                </p:oleObj>
              </mc:Choice>
              <mc:Fallback>
                <p:oleObj r:id="rId3" imgW="7327900" imgH="3048000" progId="">
                  <p:embed/>
                  <p:pic>
                    <p:nvPicPr>
                      <p:cNvPr id="31745" name="Object 1">
                        <a:extLst>
                          <a:ext uri="{FF2B5EF4-FFF2-40B4-BE49-F238E27FC236}">
                            <a16:creationId xmlns:a16="http://schemas.microsoft.com/office/drawing/2014/main" id="{42EAE647-8162-6A82-70C4-48C0128AD5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688" y="609600"/>
                        <a:ext cx="7315200" cy="2708275"/>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6" name="Object 2">
            <a:extLst>
              <a:ext uri="{FF2B5EF4-FFF2-40B4-BE49-F238E27FC236}">
                <a16:creationId xmlns:a16="http://schemas.microsoft.com/office/drawing/2014/main" id="{2E7C8A07-F43B-5E41-7096-7E2CD330E850}"/>
              </a:ext>
            </a:extLst>
          </p:cNvPr>
          <p:cNvGraphicFramePr>
            <a:graphicFrameLocks noChangeAspect="1"/>
          </p:cNvGraphicFramePr>
          <p:nvPr/>
        </p:nvGraphicFramePr>
        <p:xfrm>
          <a:off x="971550" y="3676650"/>
          <a:ext cx="7248525" cy="2847975"/>
        </p:xfrm>
        <a:graphic>
          <a:graphicData uri="http://schemas.openxmlformats.org/presentationml/2006/ole">
            <mc:AlternateContent xmlns:mc="http://schemas.openxmlformats.org/markup-compatibility/2006">
              <mc:Choice xmlns:v="urn:schemas-microsoft-com:vml" Requires="v">
                <p:oleObj r:id="rId5" imgW="7327900" imgH="2870200" progId="">
                  <p:embed/>
                </p:oleObj>
              </mc:Choice>
              <mc:Fallback>
                <p:oleObj r:id="rId5" imgW="7327900" imgH="2870200" progId="">
                  <p:embed/>
                  <p:pic>
                    <p:nvPicPr>
                      <p:cNvPr id="31746" name="Object 2">
                        <a:extLst>
                          <a:ext uri="{FF2B5EF4-FFF2-40B4-BE49-F238E27FC236}">
                            <a16:creationId xmlns:a16="http://schemas.microsoft.com/office/drawing/2014/main" id="{2E7C8A07-F43B-5E41-7096-7E2CD330E8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3676650"/>
                        <a:ext cx="7248525" cy="2847975"/>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47" name="Rectangle 3">
            <a:extLst>
              <a:ext uri="{FF2B5EF4-FFF2-40B4-BE49-F238E27FC236}">
                <a16:creationId xmlns:a16="http://schemas.microsoft.com/office/drawing/2014/main" id="{80B4AEB1-1108-6CD2-6DCF-A814B40A1748}"/>
              </a:ext>
            </a:extLst>
          </p:cNvPr>
          <p:cNvSpPr>
            <a:spLocks noChangeArrowheads="1"/>
          </p:cNvSpPr>
          <p:nvPr/>
        </p:nvSpPr>
        <p:spPr bwMode="auto">
          <a:xfrm>
            <a:off x="457200" y="115888"/>
            <a:ext cx="8229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42900" indent="-338138">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700"/>
              </a:spcBef>
              <a:buClrTx/>
              <a:buSzPct val="80000"/>
              <a:buFontTx/>
              <a:buNone/>
            </a:pPr>
            <a:r>
              <a:rPr lang="en-US" altLang="en-US" sz="2800">
                <a:effectLst>
                  <a:outerShdw blurRad="38100" dist="38100" dir="2700000" algn="tl">
                    <a:srgbClr val="000000"/>
                  </a:outerShdw>
                </a:effectLst>
              </a:rPr>
              <a:t>What kind of cipher is this?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graphicFrame>
        <p:nvGraphicFramePr>
          <p:cNvPr id="32769" name="Object 1">
            <a:extLst>
              <a:ext uri="{FF2B5EF4-FFF2-40B4-BE49-F238E27FC236}">
                <a16:creationId xmlns:a16="http://schemas.microsoft.com/office/drawing/2014/main" id="{499EB94D-2231-41A1-23EC-DBE385585331}"/>
              </a:ext>
            </a:extLst>
          </p:cNvPr>
          <p:cNvGraphicFramePr>
            <a:graphicFrameLocks noChangeAspect="1"/>
          </p:cNvGraphicFramePr>
          <p:nvPr/>
        </p:nvGraphicFramePr>
        <p:xfrm>
          <a:off x="1187450" y="476250"/>
          <a:ext cx="7267575" cy="2838450"/>
        </p:xfrm>
        <a:graphic>
          <a:graphicData uri="http://schemas.openxmlformats.org/presentationml/2006/ole">
            <mc:AlternateContent xmlns:mc="http://schemas.openxmlformats.org/markup-compatibility/2006">
              <mc:Choice xmlns:v="urn:schemas-microsoft-com:vml" Requires="v">
                <p:oleObj r:id="rId3" imgW="7327900" imgH="2768600" progId="">
                  <p:embed/>
                </p:oleObj>
              </mc:Choice>
              <mc:Fallback>
                <p:oleObj r:id="rId3" imgW="7327900" imgH="2768600" progId="">
                  <p:embed/>
                  <p:pic>
                    <p:nvPicPr>
                      <p:cNvPr id="32769" name="Object 1">
                        <a:extLst>
                          <a:ext uri="{FF2B5EF4-FFF2-40B4-BE49-F238E27FC236}">
                            <a16:creationId xmlns:a16="http://schemas.microsoft.com/office/drawing/2014/main" id="{499EB94D-2231-41A1-23EC-DBE3855853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476250"/>
                        <a:ext cx="7267575" cy="2838450"/>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0" name="Object 2">
            <a:extLst>
              <a:ext uri="{FF2B5EF4-FFF2-40B4-BE49-F238E27FC236}">
                <a16:creationId xmlns:a16="http://schemas.microsoft.com/office/drawing/2014/main" id="{08CF0CD2-6624-3E6E-CDB6-CF9FD8C7A5B6}"/>
              </a:ext>
            </a:extLst>
          </p:cNvPr>
          <p:cNvGraphicFramePr>
            <a:graphicFrameLocks noChangeAspect="1"/>
          </p:cNvGraphicFramePr>
          <p:nvPr/>
        </p:nvGraphicFramePr>
        <p:xfrm>
          <a:off x="1187450" y="3605213"/>
          <a:ext cx="7258050" cy="2847975"/>
        </p:xfrm>
        <a:graphic>
          <a:graphicData uri="http://schemas.openxmlformats.org/presentationml/2006/ole">
            <mc:AlternateContent xmlns:mc="http://schemas.openxmlformats.org/markup-compatibility/2006">
              <mc:Choice xmlns:v="urn:schemas-microsoft-com:vml" Requires="v">
                <p:oleObj r:id="rId5" imgW="7327900" imgH="2870200" progId="">
                  <p:embed/>
                </p:oleObj>
              </mc:Choice>
              <mc:Fallback>
                <p:oleObj r:id="rId5" imgW="7327900" imgH="2870200" progId="">
                  <p:embed/>
                  <p:pic>
                    <p:nvPicPr>
                      <p:cNvPr id="32770" name="Object 2">
                        <a:extLst>
                          <a:ext uri="{FF2B5EF4-FFF2-40B4-BE49-F238E27FC236}">
                            <a16:creationId xmlns:a16="http://schemas.microsoft.com/office/drawing/2014/main" id="{08CF0CD2-6624-3E6E-CDB6-CF9FD8C7A5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3605213"/>
                        <a:ext cx="7258050" cy="2847975"/>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33793" name="Text Box 1">
            <a:extLst>
              <a:ext uri="{FF2B5EF4-FFF2-40B4-BE49-F238E27FC236}">
                <a16:creationId xmlns:a16="http://schemas.microsoft.com/office/drawing/2014/main" id="{569856CF-935D-3B33-AA1F-38F9730A0B75}"/>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Use in Cryptanalysis</a:t>
            </a:r>
          </a:p>
        </p:txBody>
      </p:sp>
      <p:sp>
        <p:nvSpPr>
          <p:cNvPr id="33794" name="Text Box 2">
            <a:extLst>
              <a:ext uri="{FF2B5EF4-FFF2-40B4-BE49-F238E27FC236}">
                <a16:creationId xmlns:a16="http://schemas.microsoft.com/office/drawing/2014/main" id="{E13FD988-1CA8-1743-4D18-DD3B6D61D26E}"/>
              </a:ext>
            </a:extLst>
          </p:cNvPr>
          <p:cNvSpPr txBox="1">
            <a:spLocks noChangeArrowheads="1"/>
          </p:cNvSpPr>
          <p:nvPr/>
        </p:nvSpPr>
        <p:spPr bwMode="auto">
          <a:xfrm>
            <a:off x="457200" y="1341438"/>
            <a:ext cx="8229600" cy="5040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8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key concept - monoalphabetic substitution ciphers do not change relative letter frequencies </a:t>
            </a:r>
          </a:p>
          <a:p>
            <a:pPr>
              <a:lnSpc>
                <a:spcPct val="8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discovered by Arabian scientists in 9</a:t>
            </a:r>
            <a:r>
              <a:rPr lang="en-AU" altLang="en-US" sz="2800" baseline="30000">
                <a:effectLst>
                  <a:outerShdw blurRad="38100" dist="38100" dir="2700000" algn="tl">
                    <a:srgbClr val="000000"/>
                  </a:outerShdw>
                </a:effectLst>
              </a:rPr>
              <a:t>th</a:t>
            </a:r>
            <a:r>
              <a:rPr lang="en-AU" altLang="en-US" sz="2800">
                <a:effectLst>
                  <a:outerShdw blurRad="38100" dist="38100" dir="2700000" algn="tl">
                    <a:srgbClr val="000000"/>
                  </a:outerShdw>
                </a:effectLst>
              </a:rPr>
              <a:t> century</a:t>
            </a:r>
          </a:p>
          <a:p>
            <a:pPr>
              <a:lnSpc>
                <a:spcPct val="8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calculate letter frequencies for ciphertext</a:t>
            </a:r>
          </a:p>
          <a:p>
            <a:pPr>
              <a:lnSpc>
                <a:spcPct val="8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compare counts/plots against known values </a:t>
            </a:r>
          </a:p>
          <a:p>
            <a:pPr>
              <a:lnSpc>
                <a:spcPct val="8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if caesar cipher look for common peaks/troughs </a:t>
            </a:r>
          </a:p>
          <a:p>
            <a:pPr lvl="1">
              <a:lnSpc>
                <a:spcPct val="80000"/>
              </a:lnSpc>
              <a:spcBef>
                <a:spcPts val="600"/>
              </a:spcBef>
              <a:buClr>
                <a:srgbClr val="D9D9FF"/>
              </a:buClr>
              <a:buSzPct val="50000"/>
              <a:buFont typeface="Wingdings" pitchFamily="2" charset="2"/>
              <a:buChar char=""/>
            </a:pPr>
            <a:r>
              <a:rPr lang="en-AU" altLang="en-US">
                <a:effectLst>
                  <a:outerShdw blurRad="38100" dist="38100" dir="2700000" algn="tl">
                    <a:srgbClr val="000000"/>
                  </a:outerShdw>
                </a:effectLst>
              </a:rPr>
              <a:t>peaks at: A-E-I triple, N-O pair, R-S-T triple</a:t>
            </a:r>
          </a:p>
          <a:p>
            <a:pPr lvl="1">
              <a:lnSpc>
                <a:spcPct val="80000"/>
              </a:lnSpc>
              <a:spcBef>
                <a:spcPts val="600"/>
              </a:spcBef>
              <a:buClr>
                <a:srgbClr val="D9D9FF"/>
              </a:buClr>
              <a:buSzPct val="50000"/>
              <a:buFont typeface="Wingdings" pitchFamily="2" charset="2"/>
              <a:buChar char=""/>
            </a:pPr>
            <a:r>
              <a:rPr lang="en-AU" altLang="en-US">
                <a:effectLst>
                  <a:outerShdw blurRad="38100" dist="38100" dir="2700000" algn="tl">
                    <a:srgbClr val="000000"/>
                  </a:outerShdw>
                </a:effectLst>
              </a:rPr>
              <a:t>troughs at: J-K, U-V-W-X-Y-Z</a:t>
            </a:r>
          </a:p>
          <a:p>
            <a:pPr>
              <a:lnSpc>
                <a:spcPct val="80000"/>
              </a:lnSpc>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for </a:t>
            </a:r>
            <a:r>
              <a:rPr lang="en-AU" altLang="en-US" sz="2800">
                <a:effectLst>
                  <a:outerShdw blurRad="38100" dist="38100" dir="2700000" algn="tl">
                    <a:srgbClr val="000000"/>
                  </a:outerShdw>
                </a:effectLst>
              </a:rPr>
              <a:t>monoalphabetic must identify each letter</a:t>
            </a:r>
          </a:p>
          <a:p>
            <a:pPr lvl="1">
              <a:lnSpc>
                <a:spcPct val="80000"/>
              </a:lnSpc>
              <a:spcBef>
                <a:spcPts val="600"/>
              </a:spcBef>
              <a:buClr>
                <a:srgbClr val="D9D9FF"/>
              </a:buClr>
              <a:buSzPct val="50000"/>
              <a:buFont typeface="Wingdings" pitchFamily="2" charset="2"/>
              <a:buChar char=""/>
            </a:pPr>
            <a:r>
              <a:rPr lang="en-US" altLang="en-US">
                <a:effectLst>
                  <a:outerShdw blurRad="38100" dist="38100" dir="2700000" algn="tl">
                    <a:srgbClr val="000000"/>
                  </a:outerShdw>
                </a:effectLst>
              </a:rPr>
              <a:t>tables of common double/triple letters help</a:t>
            </a:r>
          </a:p>
          <a:p>
            <a:pPr lvl="1">
              <a:lnSpc>
                <a:spcPct val="80000"/>
              </a:lnSpc>
              <a:spcBef>
                <a:spcPts val="600"/>
              </a:spcBef>
              <a:buClrTx/>
              <a:buSzPct val="50000"/>
              <a:buFontTx/>
              <a:buNone/>
            </a:pPr>
            <a:r>
              <a:rPr lang="en-AU" altLang="en-US">
                <a:effectLst>
                  <a:outerShdw blurRad="38100" dist="38100" dir="2700000" algn="tl">
                    <a:srgbClr val="000000"/>
                  </a:outerShdw>
                </a:effectLst>
              </a:rPr>
              <a:t>	(digrams and trigrams)</a:t>
            </a:r>
          </a:p>
          <a:p>
            <a:pPr>
              <a:lnSpc>
                <a:spcPct val="8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amount of ciphertext is important – statistics!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33794">
                                            <p:txEl>
                                              <p:pRg st="4" end="4"/>
                                            </p:txEl>
                                          </p:spTgt>
                                        </p:tgtEl>
                                        <p:attrNameLst>
                                          <p:attrName>style.visibility</p:attrName>
                                        </p:attrNameLst>
                                      </p:cBhvr>
                                      <p:to>
                                        <p:strVal val="visible"/>
                                      </p:to>
                                    </p:set>
                                  </p:childTnLst>
                                </p:cTn>
                              </p:par>
                              <p:par>
                                <p:cTn id="7" presetID="1" presetClass="entr" fill="hold" nodeType="withEffect">
                                  <p:stCondLst>
                                    <p:cond delay="0"/>
                                  </p:stCondLst>
                                  <p:childTnLst>
                                    <p:set>
                                      <p:cBhvr additive="repl">
                                        <p:cTn id="8" dur="1" fill="hold">
                                          <p:stCondLst>
                                            <p:cond delay="0"/>
                                          </p:stCondLst>
                                        </p:cTn>
                                        <p:tgtEl>
                                          <p:spTgt spid="33794">
                                            <p:txEl>
                                              <p:pRg st="5" end="5"/>
                                            </p:txEl>
                                          </p:spTgt>
                                        </p:tgtEl>
                                        <p:attrNameLst>
                                          <p:attrName>style.visibility</p:attrName>
                                        </p:attrNameLst>
                                      </p:cBhvr>
                                      <p:to>
                                        <p:strVal val="visible"/>
                                      </p:to>
                                    </p:set>
                                  </p:childTnLst>
                                </p:cTn>
                              </p:par>
                              <p:par>
                                <p:cTn id="9" presetID="1" presetClass="entr" fill="hold" nodeType="withEffect">
                                  <p:stCondLst>
                                    <p:cond delay="0"/>
                                  </p:stCondLst>
                                  <p:childTnLst>
                                    <p:set>
                                      <p:cBhvr additive="repl">
                                        <p:cTn id="10" dur="1" fill="hold">
                                          <p:stCondLst>
                                            <p:cond delay="0"/>
                                          </p:stCondLst>
                                        </p:cTn>
                                        <p:tgtEl>
                                          <p:spTgt spid="33794">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33794">
                                            <p:txEl>
                                              <p:pRg st="7" end="7"/>
                                            </p:txEl>
                                          </p:spTgt>
                                        </p:tgtEl>
                                        <p:attrNameLst>
                                          <p:attrName>style.visibility</p:attrName>
                                        </p:attrNameLst>
                                      </p:cBhvr>
                                      <p:to>
                                        <p:strVal val="visible"/>
                                      </p:to>
                                    </p:set>
                                  </p:childTnLst>
                                </p:cTn>
                              </p:par>
                              <p:par>
                                <p:cTn id="15" presetID="1" presetClass="entr" fill="hold" nodeType="withEffect">
                                  <p:stCondLst>
                                    <p:cond delay="0"/>
                                  </p:stCondLst>
                                  <p:childTnLst>
                                    <p:set>
                                      <p:cBhvr additive="repl">
                                        <p:cTn id="16" dur="1" fill="hold">
                                          <p:stCondLst>
                                            <p:cond delay="0"/>
                                          </p:stCondLst>
                                        </p:cTn>
                                        <p:tgtEl>
                                          <p:spTgt spid="33794">
                                            <p:txEl>
                                              <p:pRg st="8" end="8"/>
                                            </p:txEl>
                                          </p:spTgt>
                                        </p:tgtEl>
                                        <p:attrNameLst>
                                          <p:attrName>style.visibility</p:attrName>
                                        </p:attrNameLst>
                                      </p:cBhvr>
                                      <p:to>
                                        <p:strVal val="visible"/>
                                      </p:to>
                                    </p:set>
                                  </p:childTnLst>
                                </p:cTn>
                              </p:par>
                              <p:par>
                                <p:cTn id="17" presetID="1" presetClass="entr" fill="hold" nodeType="withEffect">
                                  <p:stCondLst>
                                    <p:cond delay="0"/>
                                  </p:stCondLst>
                                  <p:childTnLst>
                                    <p:set>
                                      <p:cBhvr additive="repl">
                                        <p:cTn id="18" dur="1" fill="hold">
                                          <p:stCondLst>
                                            <p:cond delay="0"/>
                                          </p:stCondLst>
                                        </p:cTn>
                                        <p:tgtEl>
                                          <p:spTgt spid="33794">
                                            <p:txEl>
                                              <p:pRg st="9" end="9"/>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additive="repl">
                                        <p:cTn id="22" dur="1" fill="hold">
                                          <p:stCondLst>
                                            <p:cond delay="0"/>
                                          </p:stCondLst>
                                        </p:cTn>
                                        <p:tgtEl>
                                          <p:spTgt spid="33794">
                                            <p:txEl>
                                              <p:pRg st="10" end="10"/>
                                            </p:txEl>
                                          </p:spTgt>
                                        </p:tgtEl>
                                        <p:attrNameLst>
                                          <p:attrName>style.visibility</p:attrName>
                                        </p:attrNameLst>
                                      </p:cBhvr>
                                      <p:to>
                                        <p:strVal val="visible"/>
                                      </p:to>
                                    </p:set>
                                    <p:animEffect transition="in" filter="blinds(horizontal)">
                                      <p:cBhvr additive="repl">
                                        <p:cTn id="23" dur="500"/>
                                        <p:tgtEl>
                                          <p:spTgt spid="3379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34817" name="Text Box 1">
            <a:extLst>
              <a:ext uri="{FF2B5EF4-FFF2-40B4-BE49-F238E27FC236}">
                <a16:creationId xmlns:a16="http://schemas.microsoft.com/office/drawing/2014/main" id="{D211DDE3-1C86-0107-A447-A169ADE8CB55}"/>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Example Cryptanalysis</a:t>
            </a:r>
          </a:p>
        </p:txBody>
      </p:sp>
      <p:sp>
        <p:nvSpPr>
          <p:cNvPr id="34818" name="Text Box 2">
            <a:extLst>
              <a:ext uri="{FF2B5EF4-FFF2-40B4-BE49-F238E27FC236}">
                <a16:creationId xmlns:a16="http://schemas.microsoft.com/office/drawing/2014/main" id="{AE478B71-7A38-2EA9-A754-D12ECD65883E}"/>
              </a:ext>
            </a:extLst>
          </p:cNvPr>
          <p:cNvSpPr txBox="1">
            <a:spLocks noChangeArrowheads="1"/>
          </p:cNvSpPr>
          <p:nvPr/>
        </p:nvSpPr>
        <p:spPr bwMode="auto">
          <a:xfrm>
            <a:off x="457200" y="1676400"/>
            <a:ext cx="8229600" cy="304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given ciphertext:</a:t>
            </a:r>
          </a:p>
          <a:p>
            <a:pPr lvl="1">
              <a:spcBef>
                <a:spcPts val="500"/>
              </a:spcBef>
              <a:buClrTx/>
              <a:buSzPct val="50000"/>
              <a:buFontTx/>
              <a:buNone/>
            </a:pPr>
            <a:r>
              <a:rPr lang="en-AU" altLang="en-US" sz="2000">
                <a:effectLst>
                  <a:outerShdw blurRad="38100" dist="38100" dir="2700000" algn="tl">
                    <a:srgbClr val="000000"/>
                  </a:outerShdw>
                </a:effectLst>
                <a:latin typeface="Courier New" panose="02070309020205020404" pitchFamily="49" charset="0"/>
              </a:rPr>
              <a:t>UZQSOVUOHXMOPVGPOZPEVSGZWSZOPFPESXUDBMETSXAIZ</a:t>
            </a:r>
          </a:p>
          <a:p>
            <a:pPr lvl="1">
              <a:spcBef>
                <a:spcPts val="500"/>
              </a:spcBef>
              <a:buClrTx/>
              <a:buSzPct val="50000"/>
              <a:buFontTx/>
              <a:buNone/>
            </a:pPr>
            <a:r>
              <a:rPr lang="en-AU" altLang="en-US" sz="2000">
                <a:effectLst>
                  <a:outerShdw blurRad="38100" dist="38100" dir="2700000" algn="tl">
                    <a:srgbClr val="000000"/>
                  </a:outerShdw>
                </a:effectLst>
                <a:latin typeface="Courier New" panose="02070309020205020404" pitchFamily="49" charset="0"/>
              </a:rPr>
              <a:t>VUEPHZHMDZSHZOWSFPAPPDTSVPQUZWYMXUZUHSX</a:t>
            </a:r>
          </a:p>
          <a:p>
            <a:pPr lvl="1">
              <a:spcBef>
                <a:spcPts val="500"/>
              </a:spcBef>
              <a:buClrTx/>
              <a:buSzPct val="50000"/>
              <a:buFontTx/>
              <a:buNone/>
            </a:pPr>
            <a:r>
              <a:rPr lang="en-AU" altLang="en-US" sz="2000">
                <a:effectLst>
                  <a:outerShdw blurRad="38100" dist="38100" dir="2700000" algn="tl">
                    <a:srgbClr val="000000"/>
                  </a:outerShdw>
                </a:effectLst>
                <a:latin typeface="Courier New" panose="02070309020205020404" pitchFamily="49" charset="0"/>
              </a:rPr>
              <a:t>EPYEPOPDZSZUFPOMBZWPFUPZHMDJUDTMOHMQ</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count relative letter frequencies (see text)</a:t>
            </a:r>
          </a:p>
          <a:p>
            <a:pPr lvl="1">
              <a:spcBef>
                <a:spcPts val="700"/>
              </a:spcBef>
              <a:buClrTx/>
              <a:buSzPct val="50000"/>
              <a:buFontTx/>
              <a:buNone/>
            </a:pPr>
            <a:endParaRPr lang="en-US" altLang="en-US" sz="3200">
              <a:effectLst>
                <a:outerShdw blurRad="38100" dist="38100" dir="2700000" algn="tl">
                  <a:srgbClr val="000000"/>
                </a:outerShdw>
              </a:effectLst>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35841" name="Text Box 1">
            <a:extLst>
              <a:ext uri="{FF2B5EF4-FFF2-40B4-BE49-F238E27FC236}">
                <a16:creationId xmlns:a16="http://schemas.microsoft.com/office/drawing/2014/main" id="{13EAF9DA-630A-6820-5F0B-596967A1540D}"/>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Example Cryptanalysis</a:t>
            </a:r>
          </a:p>
        </p:txBody>
      </p:sp>
      <p:sp>
        <p:nvSpPr>
          <p:cNvPr id="35842" name="Text Box 2">
            <a:extLst>
              <a:ext uri="{FF2B5EF4-FFF2-40B4-BE49-F238E27FC236}">
                <a16:creationId xmlns:a16="http://schemas.microsoft.com/office/drawing/2014/main" id="{EC1D778E-B8A7-C290-7875-D537BE9776BC}"/>
              </a:ext>
            </a:extLst>
          </p:cNvPr>
          <p:cNvSpPr txBox="1">
            <a:spLocks noChangeArrowheads="1"/>
          </p:cNvSpPr>
          <p:nvPr/>
        </p:nvSpPr>
        <p:spPr bwMode="auto">
          <a:xfrm>
            <a:off x="323850" y="1676400"/>
            <a:ext cx="8578850" cy="478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given ciphertext:</a:t>
            </a:r>
          </a:p>
          <a:p>
            <a:pPr lvl="1">
              <a:lnSpc>
                <a:spcPct val="9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U</a:t>
            </a:r>
            <a:r>
              <a:rPr lang="en-AU" altLang="en-US" sz="2000">
                <a:solidFill>
                  <a:srgbClr val="FF0000"/>
                </a:solidFill>
                <a:effectLst>
                  <a:outerShdw blurRad="38100" dist="38100" dir="2700000" algn="tl">
                    <a:srgbClr val="000000"/>
                  </a:outerShdw>
                </a:effectLst>
                <a:latin typeface="Lucida Console" panose="020B0609040504020204" pitchFamily="49" charset="0"/>
              </a:rPr>
              <a:t>Z</a:t>
            </a:r>
            <a:r>
              <a:rPr lang="en-AU" altLang="en-US" sz="2000">
                <a:effectLst>
                  <a:outerShdw blurRad="38100" dist="38100" dir="2700000" algn="tl">
                    <a:srgbClr val="000000"/>
                  </a:outerShdw>
                </a:effectLst>
                <a:latin typeface="Lucida Console" panose="020B0609040504020204" pitchFamily="49" charset="0"/>
              </a:rPr>
              <a:t>QSOVUOHXMO</a:t>
            </a:r>
            <a:r>
              <a:rPr lang="en-AU" altLang="en-US" sz="2000">
                <a:solidFill>
                  <a:srgbClr val="FF0000"/>
                </a:solidFill>
                <a:effectLst>
                  <a:outerShdw blurRad="38100" dist="38100" dir="2700000" algn="tl">
                    <a:srgbClr val="000000"/>
                  </a:outerShdw>
                </a:effectLst>
                <a:latin typeface="Lucida Console" panose="020B0609040504020204" pitchFamily="49" charset="0"/>
              </a:rPr>
              <a:t>P</a:t>
            </a:r>
            <a:r>
              <a:rPr lang="en-AU" altLang="en-US" sz="2000">
                <a:effectLst>
                  <a:outerShdw blurRad="38100" dist="38100" dir="2700000" algn="tl">
                    <a:srgbClr val="000000"/>
                  </a:outerShdw>
                </a:effectLst>
                <a:latin typeface="Lucida Console" panose="020B0609040504020204" pitchFamily="49" charset="0"/>
              </a:rPr>
              <a:t>VG</a:t>
            </a:r>
            <a:r>
              <a:rPr lang="en-AU" altLang="en-US" sz="2000">
                <a:solidFill>
                  <a:srgbClr val="FF0000"/>
                </a:solidFill>
                <a:effectLst>
                  <a:outerShdw blurRad="38100" dist="38100" dir="2700000" algn="tl">
                    <a:srgbClr val="000000"/>
                  </a:outerShdw>
                </a:effectLst>
                <a:latin typeface="Lucida Console" panose="020B0609040504020204" pitchFamily="49" charset="0"/>
              </a:rPr>
              <a:t>P</a:t>
            </a:r>
            <a:r>
              <a:rPr lang="en-AU" altLang="en-US" sz="2000">
                <a:effectLst>
                  <a:outerShdw blurRad="38100" dist="38100" dir="2700000" algn="tl">
                    <a:srgbClr val="000000"/>
                  </a:outerShdw>
                </a:effectLst>
                <a:latin typeface="Lucida Console" panose="020B0609040504020204" pitchFamily="49" charset="0"/>
              </a:rPr>
              <a:t>O</a:t>
            </a:r>
            <a:r>
              <a:rPr lang="en-AU" altLang="en-US" sz="2000">
                <a:solidFill>
                  <a:srgbClr val="FF0000"/>
                </a:solidFill>
                <a:effectLst>
                  <a:outerShdw blurRad="38100" dist="38100" dir="2700000" algn="tl">
                    <a:srgbClr val="000000"/>
                  </a:outerShdw>
                </a:effectLst>
                <a:latin typeface="Lucida Console" panose="020B0609040504020204" pitchFamily="49" charset="0"/>
              </a:rPr>
              <a:t>ZP</a:t>
            </a:r>
            <a:r>
              <a:rPr lang="en-AU" altLang="en-US" sz="2000">
                <a:effectLst>
                  <a:outerShdw blurRad="38100" dist="38100" dir="2700000" algn="tl">
                    <a:srgbClr val="000000"/>
                  </a:outerShdw>
                </a:effectLst>
                <a:latin typeface="Lucida Console" panose="020B0609040504020204" pitchFamily="49" charset="0"/>
              </a:rPr>
              <a:t>EVSG</a:t>
            </a:r>
            <a:r>
              <a:rPr lang="en-AU" altLang="en-US" sz="2000">
                <a:solidFill>
                  <a:srgbClr val="FF0000"/>
                </a:solidFill>
                <a:effectLst>
                  <a:outerShdw blurRad="38100" dist="38100" dir="2700000" algn="tl">
                    <a:srgbClr val="000000"/>
                  </a:outerShdw>
                </a:effectLst>
                <a:latin typeface="Lucida Console" panose="020B0609040504020204" pitchFamily="49" charset="0"/>
              </a:rPr>
              <a:t>Z</a:t>
            </a:r>
            <a:r>
              <a:rPr lang="en-AU" altLang="en-US" sz="2000">
                <a:effectLst>
                  <a:outerShdw blurRad="38100" dist="38100" dir="2700000" algn="tl">
                    <a:srgbClr val="000000"/>
                  </a:outerShdw>
                </a:effectLst>
                <a:latin typeface="Lucida Console" panose="020B0609040504020204" pitchFamily="49" charset="0"/>
              </a:rPr>
              <a:t>WS</a:t>
            </a:r>
            <a:r>
              <a:rPr lang="en-AU" altLang="en-US" sz="2000">
                <a:solidFill>
                  <a:srgbClr val="FF0000"/>
                </a:solidFill>
                <a:effectLst>
                  <a:outerShdw blurRad="38100" dist="38100" dir="2700000" algn="tl">
                    <a:srgbClr val="000000"/>
                  </a:outerShdw>
                </a:effectLst>
                <a:latin typeface="Lucida Console" panose="020B0609040504020204" pitchFamily="49" charset="0"/>
              </a:rPr>
              <a:t>Z</a:t>
            </a:r>
            <a:r>
              <a:rPr lang="en-AU" altLang="en-US" sz="2000">
                <a:effectLst>
                  <a:outerShdw blurRad="38100" dist="38100" dir="2700000" algn="tl">
                    <a:srgbClr val="000000"/>
                  </a:outerShdw>
                </a:effectLst>
                <a:latin typeface="Lucida Console" panose="020B0609040504020204" pitchFamily="49" charset="0"/>
              </a:rPr>
              <a:t>O</a:t>
            </a:r>
            <a:r>
              <a:rPr lang="en-AU" altLang="en-US" sz="2000">
                <a:solidFill>
                  <a:srgbClr val="FF0000"/>
                </a:solidFill>
                <a:effectLst>
                  <a:outerShdw blurRad="38100" dist="38100" dir="2700000" algn="tl">
                    <a:srgbClr val="000000"/>
                  </a:outerShdw>
                </a:effectLst>
                <a:latin typeface="Lucida Console" panose="020B0609040504020204" pitchFamily="49" charset="0"/>
              </a:rPr>
              <a:t>P</a:t>
            </a:r>
            <a:r>
              <a:rPr lang="en-AU" altLang="en-US" sz="2000">
                <a:effectLst>
                  <a:outerShdw blurRad="38100" dist="38100" dir="2700000" algn="tl">
                    <a:srgbClr val="000000"/>
                  </a:outerShdw>
                </a:effectLst>
                <a:latin typeface="Lucida Console" panose="020B0609040504020204" pitchFamily="49" charset="0"/>
              </a:rPr>
              <a:t>F</a:t>
            </a:r>
            <a:r>
              <a:rPr lang="en-AU" altLang="en-US" sz="2000">
                <a:solidFill>
                  <a:srgbClr val="FF0000"/>
                </a:solidFill>
                <a:effectLst>
                  <a:outerShdw blurRad="38100" dist="38100" dir="2700000" algn="tl">
                    <a:srgbClr val="000000"/>
                  </a:outerShdw>
                </a:effectLst>
                <a:latin typeface="Lucida Console" panose="020B0609040504020204" pitchFamily="49" charset="0"/>
              </a:rPr>
              <a:t>P</a:t>
            </a:r>
            <a:r>
              <a:rPr lang="en-AU" altLang="en-US" sz="2000">
                <a:effectLst>
                  <a:outerShdw blurRad="38100" dist="38100" dir="2700000" algn="tl">
                    <a:srgbClr val="000000"/>
                  </a:outerShdw>
                </a:effectLst>
                <a:latin typeface="Lucida Console" panose="020B0609040504020204" pitchFamily="49" charset="0"/>
              </a:rPr>
              <a:t>ESXUDBMETSXAI</a:t>
            </a:r>
            <a:r>
              <a:rPr lang="en-AU" altLang="en-US" sz="2000">
                <a:solidFill>
                  <a:srgbClr val="FF0000"/>
                </a:solidFill>
                <a:effectLst>
                  <a:outerShdw blurRad="38100" dist="38100" dir="2700000" algn="tl">
                    <a:srgbClr val="000000"/>
                  </a:outerShdw>
                </a:effectLst>
                <a:latin typeface="Lucida Console" panose="020B0609040504020204" pitchFamily="49" charset="0"/>
              </a:rPr>
              <a:t>Z</a:t>
            </a:r>
          </a:p>
          <a:p>
            <a:pPr lvl="1">
              <a:lnSpc>
                <a:spcPct val="9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VUE</a:t>
            </a:r>
            <a:r>
              <a:rPr lang="en-AU" altLang="en-US" sz="2000">
                <a:solidFill>
                  <a:srgbClr val="FF0000"/>
                </a:solidFill>
                <a:effectLst>
                  <a:outerShdw blurRad="38100" dist="38100" dir="2700000" algn="tl">
                    <a:srgbClr val="000000"/>
                  </a:outerShdw>
                </a:effectLst>
                <a:latin typeface="Lucida Console" panose="020B0609040504020204" pitchFamily="49" charset="0"/>
              </a:rPr>
              <a:t>P</a:t>
            </a:r>
            <a:r>
              <a:rPr lang="en-AU" altLang="en-US" sz="2000">
                <a:effectLst>
                  <a:outerShdw blurRad="38100" dist="38100" dir="2700000" algn="tl">
                    <a:srgbClr val="000000"/>
                  </a:outerShdw>
                </a:effectLst>
                <a:latin typeface="Lucida Console" panose="020B0609040504020204" pitchFamily="49" charset="0"/>
              </a:rPr>
              <a:t>H</a:t>
            </a:r>
            <a:r>
              <a:rPr lang="en-AU" altLang="en-US" sz="2000">
                <a:solidFill>
                  <a:srgbClr val="FF0000"/>
                </a:solidFill>
                <a:effectLst>
                  <a:outerShdw blurRad="38100" dist="38100" dir="2700000" algn="tl">
                    <a:srgbClr val="000000"/>
                  </a:outerShdw>
                </a:effectLst>
                <a:latin typeface="Lucida Console" panose="020B0609040504020204" pitchFamily="49" charset="0"/>
              </a:rPr>
              <a:t>Z</a:t>
            </a:r>
            <a:r>
              <a:rPr lang="en-AU" altLang="en-US" sz="2000">
                <a:effectLst>
                  <a:outerShdw blurRad="38100" dist="38100" dir="2700000" algn="tl">
                    <a:srgbClr val="000000"/>
                  </a:outerShdw>
                </a:effectLst>
                <a:latin typeface="Lucida Console" panose="020B0609040504020204" pitchFamily="49" charset="0"/>
              </a:rPr>
              <a:t>HMD</a:t>
            </a:r>
            <a:r>
              <a:rPr lang="en-AU" altLang="en-US" sz="2000">
                <a:solidFill>
                  <a:srgbClr val="FF0000"/>
                </a:solidFill>
                <a:effectLst>
                  <a:outerShdw blurRad="38100" dist="38100" dir="2700000" algn="tl">
                    <a:srgbClr val="000000"/>
                  </a:outerShdw>
                </a:effectLst>
                <a:latin typeface="Lucida Console" panose="020B0609040504020204" pitchFamily="49" charset="0"/>
              </a:rPr>
              <a:t>Z</a:t>
            </a:r>
            <a:r>
              <a:rPr lang="en-AU" altLang="en-US" sz="2000">
                <a:effectLst>
                  <a:outerShdw blurRad="38100" dist="38100" dir="2700000" algn="tl">
                    <a:srgbClr val="000000"/>
                  </a:outerShdw>
                </a:effectLst>
                <a:latin typeface="Lucida Console" panose="020B0609040504020204" pitchFamily="49" charset="0"/>
              </a:rPr>
              <a:t>SH</a:t>
            </a:r>
            <a:r>
              <a:rPr lang="en-AU" altLang="en-US" sz="2000">
                <a:solidFill>
                  <a:srgbClr val="FF0000"/>
                </a:solidFill>
                <a:effectLst>
                  <a:outerShdw blurRad="38100" dist="38100" dir="2700000" algn="tl">
                    <a:srgbClr val="000000"/>
                  </a:outerShdw>
                </a:effectLst>
                <a:latin typeface="Lucida Console" panose="020B0609040504020204" pitchFamily="49" charset="0"/>
              </a:rPr>
              <a:t>Z</a:t>
            </a:r>
            <a:r>
              <a:rPr lang="en-AU" altLang="en-US" sz="2000">
                <a:effectLst>
                  <a:outerShdw blurRad="38100" dist="38100" dir="2700000" algn="tl">
                    <a:srgbClr val="000000"/>
                  </a:outerShdw>
                </a:effectLst>
                <a:latin typeface="Lucida Console" panose="020B0609040504020204" pitchFamily="49" charset="0"/>
              </a:rPr>
              <a:t>OWSF</a:t>
            </a:r>
            <a:r>
              <a:rPr lang="en-AU" altLang="en-US" sz="2000">
                <a:solidFill>
                  <a:srgbClr val="FF0000"/>
                </a:solidFill>
                <a:effectLst>
                  <a:outerShdw blurRad="38100" dist="38100" dir="2700000" algn="tl">
                    <a:srgbClr val="000000"/>
                  </a:outerShdw>
                </a:effectLst>
                <a:latin typeface="Lucida Console" panose="020B0609040504020204" pitchFamily="49" charset="0"/>
              </a:rPr>
              <a:t>P</a:t>
            </a:r>
            <a:r>
              <a:rPr lang="en-AU" altLang="en-US" sz="2000">
                <a:effectLst>
                  <a:outerShdw blurRad="38100" dist="38100" dir="2700000" algn="tl">
                    <a:srgbClr val="000000"/>
                  </a:outerShdw>
                </a:effectLst>
                <a:latin typeface="Lucida Console" panose="020B0609040504020204" pitchFamily="49" charset="0"/>
              </a:rPr>
              <a:t>A</a:t>
            </a:r>
            <a:r>
              <a:rPr lang="en-AU" altLang="en-US" sz="2000">
                <a:solidFill>
                  <a:srgbClr val="FF0000"/>
                </a:solidFill>
                <a:effectLst>
                  <a:outerShdw blurRad="38100" dist="38100" dir="2700000" algn="tl">
                    <a:srgbClr val="000000"/>
                  </a:outerShdw>
                </a:effectLst>
                <a:latin typeface="Lucida Console" panose="020B0609040504020204" pitchFamily="49" charset="0"/>
              </a:rPr>
              <a:t>PP</a:t>
            </a:r>
            <a:r>
              <a:rPr lang="en-AU" altLang="en-US" sz="2000">
                <a:effectLst>
                  <a:outerShdw blurRad="38100" dist="38100" dir="2700000" algn="tl">
                    <a:srgbClr val="000000"/>
                  </a:outerShdw>
                </a:effectLst>
                <a:latin typeface="Lucida Console" panose="020B0609040504020204" pitchFamily="49" charset="0"/>
              </a:rPr>
              <a:t>DTSV</a:t>
            </a:r>
            <a:r>
              <a:rPr lang="en-AU" altLang="en-US" sz="2000">
                <a:solidFill>
                  <a:srgbClr val="FF0000"/>
                </a:solidFill>
                <a:effectLst>
                  <a:outerShdw blurRad="38100" dist="38100" dir="2700000" algn="tl">
                    <a:srgbClr val="000000"/>
                  </a:outerShdw>
                </a:effectLst>
                <a:latin typeface="Lucida Console" panose="020B0609040504020204" pitchFamily="49" charset="0"/>
              </a:rPr>
              <a:t>P</a:t>
            </a:r>
            <a:r>
              <a:rPr lang="en-AU" altLang="en-US" sz="2000">
                <a:effectLst>
                  <a:outerShdw blurRad="38100" dist="38100" dir="2700000" algn="tl">
                    <a:srgbClr val="000000"/>
                  </a:outerShdw>
                </a:effectLst>
                <a:latin typeface="Lucida Console" panose="020B0609040504020204" pitchFamily="49" charset="0"/>
              </a:rPr>
              <a:t>QUZWYMXU</a:t>
            </a:r>
            <a:r>
              <a:rPr lang="en-AU" altLang="en-US" sz="2000">
                <a:solidFill>
                  <a:srgbClr val="FF0000"/>
                </a:solidFill>
                <a:effectLst>
                  <a:outerShdw blurRad="38100" dist="38100" dir="2700000" algn="tl">
                    <a:srgbClr val="000000"/>
                  </a:outerShdw>
                </a:effectLst>
                <a:latin typeface="Lucida Console" panose="020B0609040504020204" pitchFamily="49" charset="0"/>
              </a:rPr>
              <a:t>Z</a:t>
            </a:r>
            <a:r>
              <a:rPr lang="en-AU" altLang="en-US" sz="2000">
                <a:effectLst>
                  <a:outerShdw blurRad="38100" dist="38100" dir="2700000" algn="tl">
                    <a:srgbClr val="000000"/>
                  </a:outerShdw>
                </a:effectLst>
                <a:latin typeface="Lucida Console" panose="020B0609040504020204" pitchFamily="49" charset="0"/>
              </a:rPr>
              <a:t>UHSX</a:t>
            </a:r>
          </a:p>
          <a:p>
            <a:pPr lvl="1">
              <a:lnSpc>
                <a:spcPct val="9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E</a:t>
            </a:r>
            <a:r>
              <a:rPr lang="en-AU" altLang="en-US" sz="2000">
                <a:solidFill>
                  <a:srgbClr val="FF0000"/>
                </a:solidFill>
                <a:effectLst>
                  <a:outerShdw blurRad="38100" dist="38100" dir="2700000" algn="tl">
                    <a:srgbClr val="000000"/>
                  </a:outerShdw>
                </a:effectLst>
                <a:latin typeface="Lucida Console" panose="020B0609040504020204" pitchFamily="49" charset="0"/>
              </a:rPr>
              <a:t>P</a:t>
            </a:r>
            <a:r>
              <a:rPr lang="en-AU" altLang="en-US" sz="2000">
                <a:effectLst>
                  <a:outerShdw blurRad="38100" dist="38100" dir="2700000" algn="tl">
                    <a:srgbClr val="000000"/>
                  </a:outerShdw>
                </a:effectLst>
                <a:latin typeface="Lucida Console" panose="020B0609040504020204" pitchFamily="49" charset="0"/>
              </a:rPr>
              <a:t>YE</a:t>
            </a:r>
            <a:r>
              <a:rPr lang="en-AU" altLang="en-US" sz="2000">
                <a:solidFill>
                  <a:srgbClr val="FF0000"/>
                </a:solidFill>
                <a:effectLst>
                  <a:outerShdw blurRad="38100" dist="38100" dir="2700000" algn="tl">
                    <a:srgbClr val="000000"/>
                  </a:outerShdw>
                </a:effectLst>
                <a:latin typeface="Lucida Console" panose="020B0609040504020204" pitchFamily="49" charset="0"/>
              </a:rPr>
              <a:t>P</a:t>
            </a:r>
            <a:r>
              <a:rPr lang="en-AU" altLang="en-US" sz="2000">
                <a:effectLst>
                  <a:outerShdw blurRad="38100" dist="38100" dir="2700000" algn="tl">
                    <a:srgbClr val="000000"/>
                  </a:outerShdw>
                </a:effectLst>
                <a:latin typeface="Lucida Console" panose="020B0609040504020204" pitchFamily="49" charset="0"/>
              </a:rPr>
              <a:t>O</a:t>
            </a:r>
            <a:r>
              <a:rPr lang="en-AU" altLang="en-US" sz="2000">
                <a:solidFill>
                  <a:srgbClr val="FF0000"/>
                </a:solidFill>
                <a:effectLst>
                  <a:outerShdw blurRad="38100" dist="38100" dir="2700000" algn="tl">
                    <a:srgbClr val="000000"/>
                  </a:outerShdw>
                </a:effectLst>
                <a:latin typeface="Lucida Console" panose="020B0609040504020204" pitchFamily="49" charset="0"/>
              </a:rPr>
              <a:t>P</a:t>
            </a:r>
            <a:r>
              <a:rPr lang="en-AU" altLang="en-US" sz="2000">
                <a:effectLst>
                  <a:outerShdw blurRad="38100" dist="38100" dir="2700000" algn="tl">
                    <a:srgbClr val="000000"/>
                  </a:outerShdw>
                </a:effectLst>
                <a:latin typeface="Lucida Console" panose="020B0609040504020204" pitchFamily="49" charset="0"/>
              </a:rPr>
              <a:t>D</a:t>
            </a:r>
            <a:r>
              <a:rPr lang="en-AU" altLang="en-US" sz="2000">
                <a:solidFill>
                  <a:srgbClr val="FF0000"/>
                </a:solidFill>
                <a:effectLst>
                  <a:outerShdw blurRad="38100" dist="38100" dir="2700000" algn="tl">
                    <a:srgbClr val="000000"/>
                  </a:outerShdw>
                </a:effectLst>
                <a:latin typeface="Lucida Console" panose="020B0609040504020204" pitchFamily="49" charset="0"/>
              </a:rPr>
              <a:t>Z</a:t>
            </a:r>
            <a:r>
              <a:rPr lang="en-AU" altLang="en-US" sz="2000">
                <a:effectLst>
                  <a:outerShdw blurRad="38100" dist="38100" dir="2700000" algn="tl">
                    <a:srgbClr val="000000"/>
                  </a:outerShdw>
                </a:effectLst>
                <a:latin typeface="Lucida Console" panose="020B0609040504020204" pitchFamily="49" charset="0"/>
              </a:rPr>
              <a:t>S</a:t>
            </a:r>
            <a:r>
              <a:rPr lang="en-AU" altLang="en-US" sz="2000">
                <a:solidFill>
                  <a:srgbClr val="FF0000"/>
                </a:solidFill>
                <a:effectLst>
                  <a:outerShdw blurRad="38100" dist="38100" dir="2700000" algn="tl">
                    <a:srgbClr val="000000"/>
                  </a:outerShdw>
                </a:effectLst>
                <a:latin typeface="Lucida Console" panose="020B0609040504020204" pitchFamily="49" charset="0"/>
              </a:rPr>
              <a:t>Z</a:t>
            </a:r>
            <a:r>
              <a:rPr lang="en-AU" altLang="en-US" sz="2000">
                <a:effectLst>
                  <a:outerShdw blurRad="38100" dist="38100" dir="2700000" algn="tl">
                    <a:srgbClr val="000000"/>
                  </a:outerShdw>
                </a:effectLst>
                <a:latin typeface="Lucida Console" panose="020B0609040504020204" pitchFamily="49" charset="0"/>
              </a:rPr>
              <a:t>UF</a:t>
            </a:r>
            <a:r>
              <a:rPr lang="en-AU" altLang="en-US" sz="2000">
                <a:solidFill>
                  <a:srgbClr val="FF0000"/>
                </a:solidFill>
                <a:effectLst>
                  <a:outerShdw blurRad="38100" dist="38100" dir="2700000" algn="tl">
                    <a:srgbClr val="000000"/>
                  </a:outerShdw>
                </a:effectLst>
                <a:latin typeface="Lucida Console" panose="020B0609040504020204" pitchFamily="49" charset="0"/>
              </a:rPr>
              <a:t>P</a:t>
            </a:r>
            <a:r>
              <a:rPr lang="en-AU" altLang="en-US" sz="2000">
                <a:effectLst>
                  <a:outerShdw blurRad="38100" dist="38100" dir="2700000" algn="tl">
                    <a:srgbClr val="000000"/>
                  </a:outerShdw>
                </a:effectLst>
                <a:latin typeface="Lucida Console" panose="020B0609040504020204" pitchFamily="49" charset="0"/>
              </a:rPr>
              <a:t>OMB</a:t>
            </a:r>
            <a:r>
              <a:rPr lang="en-AU" altLang="en-US" sz="2000">
                <a:solidFill>
                  <a:srgbClr val="FF0000"/>
                </a:solidFill>
                <a:effectLst>
                  <a:outerShdw blurRad="38100" dist="38100" dir="2700000" algn="tl">
                    <a:srgbClr val="000000"/>
                  </a:outerShdw>
                </a:effectLst>
                <a:latin typeface="Lucida Console" panose="020B0609040504020204" pitchFamily="49" charset="0"/>
              </a:rPr>
              <a:t>Z</a:t>
            </a:r>
            <a:r>
              <a:rPr lang="en-AU" altLang="en-US" sz="2000">
                <a:effectLst>
                  <a:outerShdw blurRad="38100" dist="38100" dir="2700000" algn="tl">
                    <a:srgbClr val="000000"/>
                  </a:outerShdw>
                </a:effectLst>
                <a:latin typeface="Lucida Console" panose="020B0609040504020204" pitchFamily="49" charset="0"/>
              </a:rPr>
              <a:t>W</a:t>
            </a:r>
            <a:r>
              <a:rPr lang="en-AU" altLang="en-US" sz="2000">
                <a:solidFill>
                  <a:srgbClr val="FF0000"/>
                </a:solidFill>
                <a:effectLst>
                  <a:outerShdw blurRad="38100" dist="38100" dir="2700000" algn="tl">
                    <a:srgbClr val="000000"/>
                  </a:outerShdw>
                </a:effectLst>
                <a:latin typeface="Lucida Console" panose="020B0609040504020204" pitchFamily="49" charset="0"/>
              </a:rPr>
              <a:t>P</a:t>
            </a:r>
            <a:r>
              <a:rPr lang="en-AU" altLang="en-US" sz="2000">
                <a:effectLst>
                  <a:outerShdw blurRad="38100" dist="38100" dir="2700000" algn="tl">
                    <a:srgbClr val="000000"/>
                  </a:outerShdw>
                </a:effectLst>
                <a:latin typeface="Lucida Console" panose="020B0609040504020204" pitchFamily="49" charset="0"/>
              </a:rPr>
              <a:t>FU</a:t>
            </a:r>
            <a:r>
              <a:rPr lang="en-AU" altLang="en-US" sz="2000">
                <a:solidFill>
                  <a:srgbClr val="FF0000"/>
                </a:solidFill>
                <a:effectLst>
                  <a:outerShdw blurRad="38100" dist="38100" dir="2700000" algn="tl">
                    <a:srgbClr val="000000"/>
                  </a:outerShdw>
                </a:effectLst>
                <a:latin typeface="Lucida Console" panose="020B0609040504020204" pitchFamily="49" charset="0"/>
              </a:rPr>
              <a:t>PZ</a:t>
            </a:r>
            <a:r>
              <a:rPr lang="en-AU" altLang="en-US" sz="2000">
                <a:effectLst>
                  <a:outerShdw blurRad="38100" dist="38100" dir="2700000" algn="tl">
                    <a:srgbClr val="000000"/>
                  </a:outerShdw>
                </a:effectLst>
                <a:latin typeface="Lucida Console" panose="020B0609040504020204" pitchFamily="49" charset="0"/>
              </a:rPr>
              <a:t>HMDJUDTMOHMQ</a:t>
            </a:r>
          </a:p>
          <a:p>
            <a:pPr>
              <a:lnSpc>
                <a:spcPct val="90000"/>
              </a:lnSpc>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guess P &amp; Z are e and t</a:t>
            </a:r>
          </a:p>
          <a:p>
            <a:pPr>
              <a:lnSpc>
                <a:spcPct val="90000"/>
              </a:lnSpc>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guess ZW is th and hence ZWP is “the”</a:t>
            </a:r>
          </a:p>
          <a:p>
            <a:pPr>
              <a:lnSpc>
                <a:spcPct val="90000"/>
              </a:lnSpc>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proceeding with trial and error finally get:</a:t>
            </a:r>
          </a:p>
          <a:p>
            <a:pPr lvl="1">
              <a:lnSpc>
                <a:spcPct val="9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it was disclosed yesterday that several informal but</a:t>
            </a:r>
          </a:p>
          <a:p>
            <a:pPr lvl="1">
              <a:lnSpc>
                <a:spcPct val="9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direct contacts have been made with political</a:t>
            </a:r>
          </a:p>
          <a:p>
            <a:pPr lvl="1">
              <a:lnSpc>
                <a:spcPct val="9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representatives of the viet cong in moscow</a:t>
            </a:r>
          </a:p>
          <a:p>
            <a:pPr lvl="1">
              <a:lnSpc>
                <a:spcPct val="90000"/>
              </a:lnSpc>
              <a:spcBef>
                <a:spcPts val="500"/>
              </a:spcBef>
              <a:buClrTx/>
              <a:buSzPct val="50000"/>
              <a:buFontTx/>
              <a:buNone/>
            </a:pPr>
            <a:endParaRPr lang="en-AU" altLang="en-US" sz="2000">
              <a:effectLst>
                <a:outerShdw blurRad="38100" dist="38100" dir="2700000" algn="tl">
                  <a:srgbClr val="000000"/>
                </a:outerShdw>
              </a:effectLst>
              <a:latin typeface="Lucida Console" panose="020B0609040504020204" pitchFamily="49"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35842">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35842">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35842">
                                            <p:txEl>
                                              <p:pRg st="6" end="6"/>
                                            </p:txEl>
                                          </p:spTgt>
                                        </p:tgtEl>
                                        <p:attrNameLst>
                                          <p:attrName>style.visibility</p:attrName>
                                        </p:attrNameLst>
                                      </p:cBhvr>
                                      <p:to>
                                        <p:strVal val="visible"/>
                                      </p:to>
                                    </p:set>
                                  </p:childTnLst>
                                </p:cTn>
                              </p:par>
                              <p:par>
                                <p:cTn id="15" presetID="1" presetClass="entr" fill="hold" nodeType="withEffect">
                                  <p:stCondLst>
                                    <p:cond delay="0"/>
                                  </p:stCondLst>
                                  <p:childTnLst>
                                    <p:set>
                                      <p:cBhvr additive="repl">
                                        <p:cTn id="16" dur="1" fill="hold">
                                          <p:stCondLst>
                                            <p:cond delay="0"/>
                                          </p:stCondLst>
                                        </p:cTn>
                                        <p:tgtEl>
                                          <p:spTgt spid="35842">
                                            <p:txEl>
                                              <p:pRg st="7" end="7"/>
                                            </p:txEl>
                                          </p:spTgt>
                                        </p:tgtEl>
                                        <p:attrNameLst>
                                          <p:attrName>style.visibility</p:attrName>
                                        </p:attrNameLst>
                                      </p:cBhvr>
                                      <p:to>
                                        <p:strVal val="visible"/>
                                      </p:to>
                                    </p:set>
                                  </p:childTnLst>
                                </p:cTn>
                              </p:par>
                              <p:par>
                                <p:cTn id="17" presetID="1" presetClass="entr" fill="hold" nodeType="withEffect">
                                  <p:stCondLst>
                                    <p:cond delay="0"/>
                                  </p:stCondLst>
                                  <p:childTnLst>
                                    <p:set>
                                      <p:cBhvr additive="repl">
                                        <p:cTn id="18" dur="1" fill="hold">
                                          <p:stCondLst>
                                            <p:cond delay="0"/>
                                          </p:stCondLst>
                                        </p:cTn>
                                        <p:tgtEl>
                                          <p:spTgt spid="35842">
                                            <p:txEl>
                                              <p:pRg st="8" end="8"/>
                                            </p:txEl>
                                          </p:spTgt>
                                        </p:tgtEl>
                                        <p:attrNameLst>
                                          <p:attrName>style.visibility</p:attrName>
                                        </p:attrNameLst>
                                      </p:cBhvr>
                                      <p:to>
                                        <p:strVal val="visible"/>
                                      </p:to>
                                    </p:set>
                                  </p:childTnLst>
                                </p:cTn>
                              </p:par>
                              <p:par>
                                <p:cTn id="19" presetID="1" presetClass="entr" fill="hold" nodeType="withEffect">
                                  <p:stCondLst>
                                    <p:cond delay="0"/>
                                  </p:stCondLst>
                                  <p:childTnLst>
                                    <p:set>
                                      <p:cBhvr additive="repl">
                                        <p:cTn id="20" dur="1" fill="hold">
                                          <p:stCondLst>
                                            <p:cond delay="0"/>
                                          </p:stCondLst>
                                        </p:cTn>
                                        <p:tgtEl>
                                          <p:spTgt spid="3584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ext Box 1">
            <a:extLst>
              <a:ext uri="{FF2B5EF4-FFF2-40B4-BE49-F238E27FC236}">
                <a16:creationId xmlns:a16="http://schemas.microsoft.com/office/drawing/2014/main" id="{20CC18F3-60DE-9C85-1D2F-2A9D620CF135}"/>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Affine Cipher</a:t>
            </a:r>
          </a:p>
        </p:txBody>
      </p:sp>
      <p:sp>
        <p:nvSpPr>
          <p:cNvPr id="23554" name="Text Box 2">
            <a:extLst>
              <a:ext uri="{FF2B5EF4-FFF2-40B4-BE49-F238E27FC236}">
                <a16:creationId xmlns:a16="http://schemas.microsoft.com/office/drawing/2014/main" id="{9BA2B52F-93F6-54A9-A3A7-68599224637B}"/>
              </a:ext>
            </a:extLst>
          </p:cNvPr>
          <p:cNvSpPr txBox="1">
            <a:spLocks noChangeArrowheads="1"/>
          </p:cNvSpPr>
          <p:nvPr/>
        </p:nvSpPr>
        <p:spPr bwMode="auto">
          <a:xfrm>
            <a:off x="468313" y="1341438"/>
            <a:ext cx="8229600" cy="498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900"/>
              </a:spcBef>
              <a:buClr>
                <a:srgbClr val="5FAFFF"/>
              </a:buClr>
              <a:buSzPct val="80000"/>
              <a:buFont typeface="Wingdings" pitchFamily="2" charset="2"/>
              <a:buChar char=""/>
            </a:pPr>
            <a:r>
              <a:rPr lang="en-US" altLang="en-US" sz="3600" dirty="0">
                <a:solidFill>
                  <a:schemeClr val="tx1"/>
                </a:solidFill>
                <a:effectLst>
                  <a:outerShdw blurRad="38100" dist="38100" dir="2700000" algn="tl">
                    <a:srgbClr val="000000"/>
                  </a:outerShdw>
                </a:effectLst>
              </a:rPr>
              <a:t>broaden to include multiplication</a:t>
            </a:r>
          </a:p>
          <a:p>
            <a:pPr>
              <a:spcBef>
                <a:spcPts val="900"/>
              </a:spcBef>
              <a:buClr>
                <a:srgbClr val="5FAFFF"/>
              </a:buClr>
              <a:buSzPct val="80000"/>
              <a:buFont typeface="Wingdings" pitchFamily="2" charset="2"/>
              <a:buChar char=""/>
            </a:pPr>
            <a:r>
              <a:rPr lang="en-US" altLang="en-US" sz="3600" dirty="0">
                <a:solidFill>
                  <a:schemeClr val="tx1"/>
                </a:solidFill>
                <a:effectLst>
                  <a:outerShdw blurRad="38100" dist="38100" dir="2700000" algn="tl">
                    <a:srgbClr val="000000"/>
                  </a:outerShdw>
                </a:effectLst>
              </a:rPr>
              <a:t>can define affine transformation as:</a:t>
            </a:r>
          </a:p>
          <a:p>
            <a:pPr lvl="1">
              <a:spcBef>
                <a:spcPts val="800"/>
              </a:spcBef>
              <a:buClrTx/>
              <a:buSzPct val="50000"/>
              <a:buFontTx/>
              <a:buNone/>
            </a:pPr>
            <a:r>
              <a:rPr lang="en-AU" altLang="en-US" sz="3200" i="1" dirty="0">
                <a:solidFill>
                  <a:schemeClr val="tx1"/>
                </a:solidFill>
                <a:effectLst>
                  <a:outerShdw blurRad="38100" dist="38100" dir="2700000" algn="tl">
                    <a:srgbClr val="000000"/>
                  </a:outerShdw>
                </a:effectLst>
              </a:rPr>
              <a:t>c </a:t>
            </a:r>
            <a:r>
              <a:rPr lang="en-AU" altLang="en-US" sz="3200" dirty="0">
                <a:solidFill>
                  <a:schemeClr val="tx1"/>
                </a:solidFill>
                <a:effectLst>
                  <a:outerShdw blurRad="38100" dist="38100" dir="2700000" algn="tl">
                    <a:srgbClr val="000000"/>
                  </a:outerShdw>
                </a:effectLst>
              </a:rPr>
              <a:t>= E(k, </a:t>
            </a:r>
            <a:r>
              <a:rPr lang="en-AU" altLang="en-US" sz="3200" i="1" dirty="0">
                <a:solidFill>
                  <a:schemeClr val="tx1"/>
                </a:solidFill>
                <a:effectLst>
                  <a:outerShdw blurRad="38100" dist="38100" dir="2700000" algn="tl">
                    <a:srgbClr val="000000"/>
                  </a:outerShdw>
                </a:effectLst>
              </a:rPr>
              <a:t>p</a:t>
            </a:r>
            <a:r>
              <a:rPr lang="en-AU" altLang="en-US" sz="3200" dirty="0">
                <a:solidFill>
                  <a:schemeClr val="tx1"/>
                </a:solidFill>
                <a:effectLst>
                  <a:outerShdw blurRad="38100" dist="38100" dir="2700000" algn="tl">
                    <a:srgbClr val="000000"/>
                  </a:outerShdw>
                </a:effectLst>
              </a:rPr>
              <a:t>) = (a</a:t>
            </a:r>
            <a:r>
              <a:rPr lang="en-AU" altLang="en-US" sz="3200" i="1" dirty="0">
                <a:solidFill>
                  <a:schemeClr val="tx1"/>
                </a:solidFill>
                <a:effectLst>
                  <a:outerShdw blurRad="38100" dist="38100" dir="2700000" algn="tl">
                    <a:srgbClr val="000000"/>
                  </a:outerShdw>
                </a:effectLst>
              </a:rPr>
              <a:t>p </a:t>
            </a:r>
            <a:r>
              <a:rPr lang="en-AU" altLang="en-US" sz="3200" dirty="0">
                <a:solidFill>
                  <a:schemeClr val="tx1"/>
                </a:solidFill>
                <a:effectLst>
                  <a:outerShdw blurRad="38100" dist="38100" dir="2700000" algn="tl">
                    <a:srgbClr val="000000"/>
                  </a:outerShdw>
                </a:effectLst>
              </a:rPr>
              <a:t>+ </a:t>
            </a:r>
            <a:r>
              <a:rPr lang="en-AU" altLang="en-US" sz="3200" i="1" dirty="0">
                <a:solidFill>
                  <a:schemeClr val="tx1"/>
                </a:solidFill>
                <a:effectLst>
                  <a:outerShdw blurRad="38100" dist="38100" dir="2700000" algn="tl">
                    <a:srgbClr val="000000"/>
                  </a:outerShdw>
                </a:effectLst>
              </a:rPr>
              <a:t>b</a:t>
            </a:r>
            <a:r>
              <a:rPr lang="en-AU" altLang="en-US" sz="3200" dirty="0">
                <a:solidFill>
                  <a:schemeClr val="tx1"/>
                </a:solidFill>
                <a:effectLst>
                  <a:outerShdw blurRad="38100" dist="38100" dir="2700000" algn="tl">
                    <a:srgbClr val="000000"/>
                  </a:outerShdw>
                </a:effectLst>
              </a:rPr>
              <a:t>) mod (26)</a:t>
            </a:r>
          </a:p>
          <a:p>
            <a:pPr lvl="1">
              <a:spcBef>
                <a:spcPts val="800"/>
              </a:spcBef>
              <a:buClrTx/>
              <a:buSzPct val="50000"/>
              <a:buFontTx/>
              <a:buNone/>
            </a:pPr>
            <a:r>
              <a:rPr lang="en-AU" altLang="en-US" sz="3200" i="1" dirty="0">
                <a:solidFill>
                  <a:schemeClr val="tx1"/>
                </a:solidFill>
                <a:effectLst>
                  <a:outerShdw blurRad="38100" dist="38100" dir="2700000" algn="tl">
                    <a:srgbClr val="000000"/>
                  </a:outerShdw>
                </a:effectLst>
              </a:rPr>
              <a:t>p </a:t>
            </a:r>
            <a:r>
              <a:rPr lang="en-AU" altLang="en-US" sz="3200" dirty="0">
                <a:solidFill>
                  <a:schemeClr val="tx1"/>
                </a:solidFill>
                <a:effectLst>
                  <a:outerShdw blurRad="38100" dist="38100" dir="2700000" algn="tl">
                    <a:srgbClr val="000000"/>
                  </a:outerShdw>
                </a:effectLst>
              </a:rPr>
              <a:t>= D(k, c) = (a</a:t>
            </a:r>
            <a:r>
              <a:rPr lang="en-AU" altLang="en-US" sz="3200" baseline="30000" dirty="0">
                <a:solidFill>
                  <a:schemeClr val="tx1"/>
                </a:solidFill>
                <a:effectLst>
                  <a:outerShdw blurRad="38100" dist="38100" dir="2700000" algn="tl">
                    <a:srgbClr val="000000"/>
                  </a:outerShdw>
                </a:effectLst>
              </a:rPr>
              <a:t>-1</a:t>
            </a:r>
            <a:r>
              <a:rPr lang="en-AU" altLang="en-US" sz="3200" dirty="0">
                <a:solidFill>
                  <a:schemeClr val="tx1"/>
                </a:solidFill>
                <a:effectLst>
                  <a:outerShdw blurRad="38100" dist="38100" dir="2700000" algn="tl">
                    <a:srgbClr val="000000"/>
                  </a:outerShdw>
                </a:effectLst>
              </a:rPr>
              <a:t>c – </a:t>
            </a:r>
            <a:r>
              <a:rPr lang="en-AU" altLang="en-US" sz="3200" i="1" dirty="0">
                <a:solidFill>
                  <a:schemeClr val="tx1"/>
                </a:solidFill>
                <a:effectLst>
                  <a:outerShdw blurRad="38100" dist="38100" dir="2700000" algn="tl">
                    <a:srgbClr val="000000"/>
                  </a:outerShdw>
                </a:effectLst>
              </a:rPr>
              <a:t>b</a:t>
            </a:r>
            <a:r>
              <a:rPr lang="en-AU" altLang="en-US" sz="3200" dirty="0">
                <a:solidFill>
                  <a:schemeClr val="tx1"/>
                </a:solidFill>
                <a:effectLst>
                  <a:outerShdw blurRad="38100" dist="38100" dir="2700000" algn="tl">
                    <a:srgbClr val="000000"/>
                  </a:outerShdw>
                </a:effectLst>
              </a:rPr>
              <a:t>) mod (26)</a:t>
            </a:r>
          </a:p>
          <a:p>
            <a:pPr>
              <a:spcBef>
                <a:spcPts val="900"/>
              </a:spcBef>
              <a:buClr>
                <a:srgbClr val="5FAFFF"/>
              </a:buClr>
              <a:buSzPct val="80000"/>
              <a:buFont typeface="Wingdings" pitchFamily="2" charset="2"/>
              <a:buChar char=""/>
            </a:pPr>
            <a:r>
              <a:rPr lang="en-US" altLang="en-US" sz="3600" dirty="0">
                <a:solidFill>
                  <a:schemeClr val="tx1"/>
                </a:solidFill>
                <a:effectLst>
                  <a:outerShdw blurRad="38100" dist="38100" dir="2700000" algn="tl">
                    <a:srgbClr val="000000"/>
                  </a:outerShdw>
                </a:effectLst>
              </a:rPr>
              <a:t>key k=(</a:t>
            </a:r>
            <a:r>
              <a:rPr lang="en-US" altLang="en-US" sz="3600" dirty="0" err="1">
                <a:solidFill>
                  <a:schemeClr val="tx1"/>
                </a:solidFill>
                <a:effectLst>
                  <a:outerShdw blurRad="38100" dist="38100" dir="2700000" algn="tl">
                    <a:srgbClr val="000000"/>
                  </a:outerShdw>
                </a:effectLst>
              </a:rPr>
              <a:t>a,b</a:t>
            </a:r>
            <a:r>
              <a:rPr lang="en-US" altLang="en-US" sz="3600" dirty="0">
                <a:solidFill>
                  <a:schemeClr val="tx1"/>
                </a:solidFill>
                <a:effectLst>
                  <a:outerShdw blurRad="38100" dist="38100" dir="2700000" algn="tl">
                    <a:srgbClr val="000000"/>
                  </a:outerShdw>
                </a:effectLst>
              </a:rPr>
              <a:t>)</a:t>
            </a:r>
          </a:p>
          <a:p>
            <a:pPr>
              <a:spcBef>
                <a:spcPts val="900"/>
              </a:spcBef>
              <a:buClr>
                <a:srgbClr val="5FAFFF"/>
              </a:buClr>
              <a:buSzPct val="80000"/>
              <a:buFont typeface="Wingdings" pitchFamily="2" charset="2"/>
              <a:buChar char=""/>
            </a:pPr>
            <a:r>
              <a:rPr lang="en-US" altLang="en-US" sz="3600" dirty="0">
                <a:solidFill>
                  <a:schemeClr val="tx1"/>
                </a:solidFill>
                <a:effectLst>
                  <a:outerShdw blurRad="38100" dist="38100" dir="2700000" algn="tl">
                    <a:srgbClr val="000000"/>
                  </a:outerShdw>
                </a:effectLst>
              </a:rPr>
              <a:t>a must be relatively prime to 26</a:t>
            </a:r>
          </a:p>
          <a:p>
            <a:pPr>
              <a:spcBef>
                <a:spcPts val="800"/>
              </a:spcBef>
              <a:buClr>
                <a:srgbClr val="D9D9FF"/>
              </a:buClr>
              <a:buSzPct val="50000"/>
              <a:buFont typeface="Wingdings" pitchFamily="2" charset="2"/>
              <a:buChar char=""/>
            </a:pPr>
            <a:r>
              <a:rPr lang="en-US" altLang="en-US" sz="3200" dirty="0">
                <a:solidFill>
                  <a:schemeClr val="tx1"/>
                </a:solidFill>
                <a:effectLst>
                  <a:outerShdw blurRad="38100" dist="38100" dir="2700000" algn="tl">
                    <a:srgbClr val="000000"/>
                  </a:outerShdw>
                </a:effectLst>
              </a:rPr>
              <a:t>so there exists unique inverse </a:t>
            </a:r>
            <a:r>
              <a:rPr lang="en-AU" altLang="en-US" sz="3200" dirty="0">
                <a:solidFill>
                  <a:schemeClr val="tx1"/>
                </a:solidFill>
                <a:effectLst>
                  <a:outerShdw blurRad="38100" dist="38100" dir="2700000" algn="tl">
                    <a:srgbClr val="000000"/>
                  </a:outerShdw>
                </a:effectLst>
              </a:rPr>
              <a:t>a</a:t>
            </a:r>
            <a:r>
              <a:rPr lang="en-AU" altLang="en-US" sz="3200" baseline="30000" dirty="0">
                <a:solidFill>
                  <a:schemeClr val="tx1"/>
                </a:solidFill>
                <a:effectLst>
                  <a:outerShdw blurRad="38100" dist="38100" dir="2700000" algn="tl">
                    <a:srgbClr val="000000"/>
                  </a:outerShdw>
                </a:effectLst>
              </a:rPr>
              <a:t>-1</a:t>
            </a:r>
          </a:p>
          <a:p>
            <a:pPr>
              <a:spcBef>
                <a:spcPts val="800"/>
              </a:spcBef>
              <a:buClrTx/>
              <a:buSzPct val="80000"/>
              <a:buFontTx/>
              <a:buNone/>
            </a:pPr>
            <a:endParaRPr lang="en-AU" altLang="en-US" sz="3200" baseline="30000" dirty="0">
              <a:solidFill>
                <a:schemeClr val="tx1"/>
              </a:solidFill>
              <a:effectLst>
                <a:outerShdw blurRad="38100" dist="38100" dir="2700000" algn="tl">
                  <a:srgbClr val="000000"/>
                </a:outerShdw>
              </a:effectLst>
            </a:endParaRPr>
          </a:p>
        </p:txBody>
      </p:sp>
    </p:spTree>
    <p:extLst>
      <p:ext uri="{BB962C8B-B14F-4D97-AF65-F5344CB8AC3E}">
        <p14:creationId xmlns:p14="http://schemas.microsoft.com/office/powerpoint/2010/main" val="237546326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23D73B-DA10-F2FA-B9ED-D40B68DDBFF4}"/>
              </a:ext>
            </a:extLst>
          </p:cNvPr>
          <p:cNvSpPr txBox="1"/>
          <p:nvPr/>
        </p:nvSpPr>
        <p:spPr>
          <a:xfrm>
            <a:off x="395536" y="260648"/>
            <a:ext cx="6246440" cy="461665"/>
          </a:xfrm>
          <a:prstGeom prst="rect">
            <a:avLst/>
          </a:prstGeom>
          <a:noFill/>
        </p:spPr>
        <p:txBody>
          <a:bodyPr wrap="square">
            <a:spAutoFit/>
          </a:bodyPr>
          <a:lstStyle/>
          <a:p>
            <a:pPr algn="l"/>
            <a:r>
              <a:rPr lang="en-IN" b="1" i="0" dirty="0">
                <a:solidFill>
                  <a:srgbClr val="001D35"/>
                </a:solidFill>
                <a:effectLst/>
                <a:latin typeface="Arial" panose="020B0604020202020204" pitchFamily="34" charset="0"/>
              </a:rPr>
              <a:t>How It Works (Encryption Example)</a:t>
            </a:r>
          </a:p>
        </p:txBody>
      </p:sp>
      <p:pic>
        <p:nvPicPr>
          <p:cNvPr id="7" name="Picture 6" descr="A screenshot of a math problem&#10;&#10;Description automatically generated">
            <a:extLst>
              <a:ext uri="{FF2B5EF4-FFF2-40B4-BE49-F238E27FC236}">
                <a16:creationId xmlns:a16="http://schemas.microsoft.com/office/drawing/2014/main" id="{98FBA32F-CEED-9B56-6EAB-45F2FB6ABCBB}"/>
              </a:ext>
            </a:extLst>
          </p:cNvPr>
          <p:cNvPicPr>
            <a:picLocks noChangeAspect="1"/>
          </p:cNvPicPr>
          <p:nvPr/>
        </p:nvPicPr>
        <p:blipFill>
          <a:blip r:embed="rId3"/>
          <a:stretch>
            <a:fillRect/>
          </a:stretch>
        </p:blipFill>
        <p:spPr>
          <a:xfrm>
            <a:off x="395536" y="762000"/>
            <a:ext cx="7632848" cy="6096000"/>
          </a:xfrm>
          <a:prstGeom prst="rect">
            <a:avLst/>
          </a:prstGeom>
        </p:spPr>
      </p:pic>
    </p:spTree>
    <p:extLst>
      <p:ext uri="{BB962C8B-B14F-4D97-AF65-F5344CB8AC3E}">
        <p14:creationId xmlns:p14="http://schemas.microsoft.com/office/powerpoint/2010/main" val="1586473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8781A336-0FBB-1E19-6A24-99E9903D1ED2}"/>
              </a:ext>
            </a:extLst>
          </p:cNvPr>
          <p:cNvPicPr>
            <a:picLocks noChangeAspect="1"/>
          </p:cNvPicPr>
          <p:nvPr/>
        </p:nvPicPr>
        <p:blipFill>
          <a:blip r:embed="rId3"/>
          <a:stretch>
            <a:fillRect/>
          </a:stretch>
        </p:blipFill>
        <p:spPr>
          <a:xfrm>
            <a:off x="212878" y="116632"/>
            <a:ext cx="8031530" cy="6812852"/>
          </a:xfrm>
          <a:prstGeom prst="rect">
            <a:avLst/>
          </a:prstGeom>
        </p:spPr>
      </p:pic>
    </p:spTree>
    <p:extLst>
      <p:ext uri="{BB962C8B-B14F-4D97-AF65-F5344CB8AC3E}">
        <p14:creationId xmlns:p14="http://schemas.microsoft.com/office/powerpoint/2010/main" val="126915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ext Box 1">
            <a:extLst>
              <a:ext uri="{FF2B5EF4-FFF2-40B4-BE49-F238E27FC236}">
                <a16:creationId xmlns:a16="http://schemas.microsoft.com/office/drawing/2014/main" id="{0F319DF8-1425-A2AB-F4C9-A5DD9B8092FA}"/>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Affine Cipher - Example</a:t>
            </a:r>
          </a:p>
        </p:txBody>
      </p:sp>
      <p:sp>
        <p:nvSpPr>
          <p:cNvPr id="24578" name="Text Box 2">
            <a:extLst>
              <a:ext uri="{FF2B5EF4-FFF2-40B4-BE49-F238E27FC236}">
                <a16:creationId xmlns:a16="http://schemas.microsoft.com/office/drawing/2014/main" id="{04010195-2CF4-833D-66B6-0902439AC86E}"/>
              </a:ext>
            </a:extLst>
          </p:cNvPr>
          <p:cNvSpPr txBox="1">
            <a:spLocks noChangeArrowheads="1"/>
          </p:cNvSpPr>
          <p:nvPr/>
        </p:nvSpPr>
        <p:spPr bwMode="auto">
          <a:xfrm>
            <a:off x="468313" y="1341438"/>
            <a:ext cx="8229600" cy="601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700"/>
              </a:spcBef>
              <a:buClr>
                <a:srgbClr val="5FAFFF"/>
              </a:buClr>
              <a:buSzPct val="80000"/>
              <a:buFont typeface="Wingdings" pitchFamily="2" charset="2"/>
              <a:buChar char=""/>
            </a:pPr>
            <a:r>
              <a:rPr lang="en-US" altLang="en-US" sz="2800" dirty="0">
                <a:solidFill>
                  <a:schemeClr val="tx1"/>
                </a:solidFill>
                <a:effectLst>
                  <a:outerShdw blurRad="38100" dist="38100" dir="2700000" algn="tl">
                    <a:srgbClr val="000000"/>
                  </a:outerShdw>
                </a:effectLst>
              </a:rPr>
              <a:t>example k=(17,3):</a:t>
            </a:r>
          </a:p>
          <a:p>
            <a:pPr lvl="1">
              <a:lnSpc>
                <a:spcPct val="90000"/>
              </a:lnSpc>
              <a:spcBef>
                <a:spcPts val="500"/>
              </a:spcBef>
              <a:buClrTx/>
              <a:buSzPct val="50000"/>
              <a:buFontTx/>
              <a:buNone/>
            </a:pPr>
            <a:r>
              <a:rPr lang="en-AU" altLang="en-US" sz="2000" dirty="0">
                <a:solidFill>
                  <a:schemeClr val="tx1"/>
                </a:solidFill>
                <a:effectLst>
                  <a:outerShdw blurRad="38100" dist="38100" dir="2700000" algn="tl">
                    <a:srgbClr val="000000"/>
                  </a:outerShdw>
                </a:effectLst>
                <a:latin typeface="Courier New" panose="02070309020205020404" pitchFamily="49" charset="0"/>
              </a:rPr>
              <a:t>a b c d e f g h </a:t>
            </a:r>
            <a:r>
              <a:rPr lang="en-AU" altLang="en-US" sz="2000" dirty="0" err="1">
                <a:solidFill>
                  <a:schemeClr val="tx1"/>
                </a:solidFill>
                <a:effectLst>
                  <a:outerShdw blurRad="38100" dist="38100" dir="2700000" algn="tl">
                    <a:srgbClr val="000000"/>
                  </a:outerShdw>
                </a:effectLst>
                <a:latin typeface="Courier New" panose="02070309020205020404" pitchFamily="49" charset="0"/>
              </a:rPr>
              <a:t>i</a:t>
            </a:r>
            <a:r>
              <a:rPr lang="en-AU" altLang="en-US" sz="2000" dirty="0">
                <a:solidFill>
                  <a:schemeClr val="tx1"/>
                </a:solidFill>
                <a:effectLst>
                  <a:outerShdw blurRad="38100" dist="38100" dir="2700000" algn="tl">
                    <a:srgbClr val="000000"/>
                  </a:outerShdw>
                </a:effectLst>
                <a:latin typeface="Courier New" panose="02070309020205020404" pitchFamily="49" charset="0"/>
              </a:rPr>
              <a:t> j k l m n o p q r s t u v w x y z = IN</a:t>
            </a:r>
          </a:p>
          <a:p>
            <a:pPr lvl="1">
              <a:lnSpc>
                <a:spcPct val="90000"/>
              </a:lnSpc>
              <a:spcBef>
                <a:spcPts val="500"/>
              </a:spcBef>
              <a:buClrTx/>
              <a:buSzPct val="50000"/>
              <a:buFontTx/>
              <a:buNone/>
            </a:pPr>
            <a:r>
              <a:rPr lang="en-AU" altLang="en-US" sz="2000" dirty="0">
                <a:solidFill>
                  <a:schemeClr val="tx1"/>
                </a:solidFill>
                <a:effectLst>
                  <a:outerShdw blurRad="38100" dist="38100" dir="2700000" algn="tl">
                    <a:srgbClr val="000000"/>
                  </a:outerShdw>
                </a:effectLst>
                <a:latin typeface="Courier New" panose="02070309020205020404" pitchFamily="49" charset="0"/>
              </a:rPr>
              <a:t>D U L C T K B S J A R I Z Q H Y P G X O F W N E V M = OUT</a:t>
            </a:r>
          </a:p>
          <a:p>
            <a:pPr>
              <a:lnSpc>
                <a:spcPct val="90000"/>
              </a:lnSpc>
              <a:spcBef>
                <a:spcPts val="700"/>
              </a:spcBef>
              <a:buClr>
                <a:srgbClr val="5FAFFF"/>
              </a:buClr>
              <a:buSzPct val="80000"/>
              <a:buFont typeface="Wingdings" pitchFamily="2" charset="2"/>
              <a:buChar char=""/>
            </a:pPr>
            <a:r>
              <a:rPr lang="en-US" altLang="en-US" sz="2800" dirty="0">
                <a:solidFill>
                  <a:schemeClr val="tx1"/>
                </a:solidFill>
                <a:effectLst>
                  <a:outerShdw blurRad="38100" dist="38100" dir="2700000" algn="tl">
                    <a:srgbClr val="000000"/>
                  </a:outerShdw>
                </a:effectLst>
              </a:rPr>
              <a:t>example:</a:t>
            </a:r>
          </a:p>
          <a:p>
            <a:pPr lvl="1">
              <a:lnSpc>
                <a:spcPct val="90000"/>
              </a:lnSpc>
              <a:spcBef>
                <a:spcPts val="600"/>
              </a:spcBef>
              <a:buClrTx/>
              <a:buSzPct val="50000"/>
              <a:buFontTx/>
              <a:buNone/>
            </a:pPr>
            <a:r>
              <a:rPr lang="en-AU" altLang="en-US" dirty="0">
                <a:solidFill>
                  <a:schemeClr val="tx1"/>
                </a:solidFill>
                <a:effectLst>
                  <a:outerShdw blurRad="38100" dist="38100" dir="2700000" algn="tl">
                    <a:srgbClr val="000000"/>
                  </a:outerShdw>
                </a:effectLst>
                <a:latin typeface="Lucida Console" panose="020B0609040504020204" pitchFamily="49" charset="0"/>
              </a:rPr>
              <a:t>meet me after the toga party</a:t>
            </a:r>
          </a:p>
          <a:p>
            <a:pPr lvl="1">
              <a:lnSpc>
                <a:spcPct val="90000"/>
              </a:lnSpc>
              <a:spcBef>
                <a:spcPts val="600"/>
              </a:spcBef>
              <a:buClrTx/>
              <a:buSzPct val="50000"/>
              <a:buFontTx/>
              <a:buNone/>
            </a:pPr>
            <a:r>
              <a:rPr lang="en-AU" altLang="en-US" dirty="0">
                <a:solidFill>
                  <a:schemeClr val="tx1"/>
                </a:solidFill>
                <a:effectLst>
                  <a:outerShdw blurRad="38100" dist="38100" dir="2700000" algn="tl">
                    <a:srgbClr val="000000"/>
                  </a:outerShdw>
                </a:effectLst>
                <a:latin typeface="Lucida Console" panose="020B0609040504020204" pitchFamily="49" charset="0"/>
              </a:rPr>
              <a:t>ZTTO ZT DKOTG OST OHBD YDGOV</a:t>
            </a:r>
          </a:p>
          <a:p>
            <a:pPr>
              <a:lnSpc>
                <a:spcPct val="90000"/>
              </a:lnSpc>
              <a:spcBef>
                <a:spcPts val="700"/>
              </a:spcBef>
              <a:buClr>
                <a:srgbClr val="5FAFFF"/>
              </a:buClr>
              <a:buSzPct val="80000"/>
              <a:buFont typeface="Wingdings" pitchFamily="2" charset="2"/>
              <a:buChar char=""/>
            </a:pPr>
            <a:r>
              <a:rPr lang="en-US" altLang="en-US" sz="2800" dirty="0">
                <a:solidFill>
                  <a:schemeClr val="tx1"/>
                </a:solidFill>
                <a:effectLst>
                  <a:outerShdw blurRad="38100" dist="38100" dir="2700000" algn="tl">
                    <a:srgbClr val="000000"/>
                  </a:outerShdw>
                </a:effectLst>
              </a:rPr>
              <a:t>Now how many keys are there?</a:t>
            </a:r>
          </a:p>
          <a:p>
            <a:pPr lvl="1">
              <a:lnSpc>
                <a:spcPct val="90000"/>
              </a:lnSpc>
              <a:spcBef>
                <a:spcPts val="600"/>
              </a:spcBef>
              <a:buClr>
                <a:srgbClr val="D9D9FF"/>
              </a:buClr>
              <a:buSzPct val="50000"/>
              <a:buFont typeface="Wingdings" pitchFamily="2" charset="2"/>
              <a:buChar char=""/>
            </a:pPr>
            <a:r>
              <a:rPr lang="en-US" altLang="en-US" dirty="0">
                <a:solidFill>
                  <a:schemeClr val="tx1"/>
                </a:solidFill>
                <a:effectLst>
                  <a:outerShdw blurRad="38100" dist="38100" dir="2700000" algn="tl">
                    <a:srgbClr val="000000"/>
                  </a:outerShdw>
                </a:effectLst>
              </a:rPr>
              <a:t>12 x 26 = 312</a:t>
            </a:r>
          </a:p>
          <a:p>
            <a:pPr>
              <a:lnSpc>
                <a:spcPct val="90000"/>
              </a:lnSpc>
              <a:spcBef>
                <a:spcPts val="700"/>
              </a:spcBef>
              <a:buClr>
                <a:srgbClr val="5FAFFF"/>
              </a:buClr>
              <a:buSzPct val="80000"/>
              <a:buFont typeface="Wingdings" pitchFamily="2" charset="2"/>
              <a:buChar char=""/>
            </a:pPr>
            <a:r>
              <a:rPr lang="en-US" altLang="en-US" sz="2800" dirty="0">
                <a:solidFill>
                  <a:schemeClr val="tx1"/>
                </a:solidFill>
                <a:effectLst>
                  <a:outerShdw blurRad="38100" dist="38100" dir="2700000" algn="tl">
                    <a:srgbClr val="000000"/>
                  </a:outerShdw>
                </a:effectLst>
              </a:rPr>
              <a:t>Still can be brute force attacked!</a:t>
            </a:r>
          </a:p>
          <a:p>
            <a:pPr>
              <a:lnSpc>
                <a:spcPct val="90000"/>
              </a:lnSpc>
              <a:spcBef>
                <a:spcPts val="700"/>
              </a:spcBef>
              <a:buClr>
                <a:srgbClr val="5FAFFF"/>
              </a:buClr>
              <a:buSzPct val="80000"/>
              <a:buFont typeface="Wingdings" pitchFamily="2" charset="2"/>
              <a:buChar char=""/>
            </a:pPr>
            <a:r>
              <a:rPr lang="en-US" altLang="en-US" sz="2800" dirty="0">
                <a:solidFill>
                  <a:schemeClr val="tx1"/>
                </a:solidFill>
                <a:effectLst>
                  <a:outerShdw blurRad="38100" dist="38100" dir="2700000" algn="tl">
                    <a:srgbClr val="000000"/>
                  </a:outerShdw>
                </a:effectLst>
              </a:rPr>
              <a:t>Note: Example of product cipher</a:t>
            </a:r>
          </a:p>
          <a:p>
            <a:pPr>
              <a:lnSpc>
                <a:spcPct val="90000"/>
              </a:lnSpc>
              <a:spcBef>
                <a:spcPts val="900"/>
              </a:spcBef>
              <a:buClrTx/>
              <a:buSzPct val="80000"/>
              <a:buFontTx/>
              <a:buNone/>
            </a:pPr>
            <a:endParaRPr lang="en-US" altLang="en-US" sz="3600" dirty="0">
              <a:solidFill>
                <a:schemeClr val="tx1"/>
              </a:solidFill>
              <a:effectLst>
                <a:outerShdw blurRad="38100" dist="38100" dir="2700000" algn="tl">
                  <a:srgbClr val="000000"/>
                </a:outerShdw>
              </a:effectLst>
            </a:endParaRPr>
          </a:p>
          <a:p>
            <a:pPr>
              <a:lnSpc>
                <a:spcPct val="90000"/>
              </a:lnSpc>
              <a:spcBef>
                <a:spcPts val="900"/>
              </a:spcBef>
              <a:buClrTx/>
              <a:buSzPct val="80000"/>
              <a:buFontTx/>
              <a:buNone/>
            </a:pPr>
            <a:endParaRPr lang="en-US" altLang="en-US" sz="3600" dirty="0">
              <a:solidFill>
                <a:schemeClr val="tx1"/>
              </a:solidFill>
              <a:effectLst>
                <a:outerShdw blurRad="38100" dist="38100" dir="2700000" algn="tl">
                  <a:srgbClr val="000000"/>
                </a:outerShdw>
              </a:effectLst>
            </a:endParaRPr>
          </a:p>
        </p:txBody>
      </p:sp>
    </p:spTree>
    <p:extLst>
      <p:ext uri="{BB962C8B-B14F-4D97-AF65-F5344CB8AC3E}">
        <p14:creationId xmlns:p14="http://schemas.microsoft.com/office/powerpoint/2010/main" val="425670686"/>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24578">
                                            <p:txEl>
                                              <p:pRg st="6" end="6"/>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24578">
                                            <p:txEl>
                                              <p:pRg st="7" end="7"/>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24578">
                                            <p:txEl>
                                              <p:pRg st="8" end="8"/>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fill="hold" nodeType="clickEffect">
                                  <p:stCondLst>
                                    <p:cond delay="0"/>
                                  </p:stCondLst>
                                  <p:childTnLst>
                                    <p:set>
                                      <p:cBhvr additive="repl">
                                        <p:cTn id="18" dur="1" fill="hold">
                                          <p:stCondLst>
                                            <p:cond delay="0"/>
                                          </p:stCondLst>
                                        </p:cTn>
                                        <p:tgtEl>
                                          <p:spTgt spid="2457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36865" name="Text Box 1">
            <a:extLst>
              <a:ext uri="{FF2B5EF4-FFF2-40B4-BE49-F238E27FC236}">
                <a16:creationId xmlns:a16="http://schemas.microsoft.com/office/drawing/2014/main" id="{125995E6-2CE9-1038-7AFD-7E57087CB4D0}"/>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AU" altLang="en-US" sz="4400" b="1">
                <a:solidFill>
                  <a:srgbClr val="D9D9FF"/>
                </a:solidFill>
                <a:effectLst>
                  <a:outerShdw blurRad="38100" dist="38100" dir="2700000" algn="tl">
                    <a:srgbClr val="000000"/>
                  </a:outerShdw>
                </a:effectLst>
              </a:rPr>
              <a:t>Playfair Cipher</a:t>
            </a:r>
          </a:p>
        </p:txBody>
      </p:sp>
      <p:sp>
        <p:nvSpPr>
          <p:cNvPr id="36866" name="Text Box 2">
            <a:extLst>
              <a:ext uri="{FF2B5EF4-FFF2-40B4-BE49-F238E27FC236}">
                <a16:creationId xmlns:a16="http://schemas.microsoft.com/office/drawing/2014/main" id="{0AABBF83-0CA1-C954-8236-5F416B6F61C9}"/>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not even the large number of keys in a monoalphabetic cipher provides security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one approach to improving security was to encrypt multiple letters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the</a:t>
            </a:r>
            <a:r>
              <a:rPr lang="en-AU" altLang="en-US" sz="3200" b="1">
                <a:effectLst>
                  <a:outerShdw blurRad="38100" dist="38100" dir="2700000" algn="tl">
                    <a:srgbClr val="000000"/>
                  </a:outerShdw>
                </a:effectLst>
              </a:rPr>
              <a:t> Playfair Cipher</a:t>
            </a:r>
            <a:r>
              <a:rPr lang="en-AU" altLang="en-US" sz="3200">
                <a:effectLst>
                  <a:outerShdw blurRad="38100" dist="38100" dir="2700000" algn="tl">
                    <a:srgbClr val="000000"/>
                  </a:outerShdw>
                </a:effectLst>
              </a:rPr>
              <a:t> is an example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invented by Charles Wheatstone in 1854, but named after his friend Baron Playfair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37889" name="Text Box 1">
            <a:extLst>
              <a:ext uri="{FF2B5EF4-FFF2-40B4-BE49-F238E27FC236}">
                <a16:creationId xmlns:a16="http://schemas.microsoft.com/office/drawing/2014/main" id="{EDCFC01B-F51F-E729-E2D4-06FB6318B71F}"/>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AU" altLang="en-US" sz="4400" b="1">
                <a:solidFill>
                  <a:srgbClr val="D9D9FF"/>
                </a:solidFill>
                <a:effectLst>
                  <a:outerShdw blurRad="38100" dist="38100" dir="2700000" algn="tl">
                    <a:srgbClr val="000000"/>
                  </a:outerShdw>
                </a:effectLst>
              </a:rPr>
              <a:t>Playfair Key Matrix</a:t>
            </a:r>
          </a:p>
        </p:txBody>
      </p:sp>
      <p:sp>
        <p:nvSpPr>
          <p:cNvPr id="37890" name="Text Box 2">
            <a:extLst>
              <a:ext uri="{FF2B5EF4-FFF2-40B4-BE49-F238E27FC236}">
                <a16:creationId xmlns:a16="http://schemas.microsoft.com/office/drawing/2014/main" id="{030B2A16-C320-DB0E-76D9-2E90813ED8A7}"/>
              </a:ext>
            </a:extLst>
          </p:cNvPr>
          <p:cNvSpPr txBox="1">
            <a:spLocks noChangeArrowheads="1"/>
          </p:cNvSpPr>
          <p:nvPr/>
        </p:nvSpPr>
        <p:spPr bwMode="auto">
          <a:xfrm>
            <a:off x="457200" y="1531938"/>
            <a:ext cx="8229600" cy="283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a 5X5 matrix of letters based on a keyword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fill in letters of keyword (sans duplicates)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fill rest of matrix with other letters</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eg. using the keyword MONARCHY</a:t>
            </a:r>
          </a:p>
        </p:txBody>
      </p:sp>
      <p:graphicFrame>
        <p:nvGraphicFramePr>
          <p:cNvPr id="37891" name="Group 3">
            <a:extLst>
              <a:ext uri="{FF2B5EF4-FFF2-40B4-BE49-F238E27FC236}">
                <a16:creationId xmlns:a16="http://schemas.microsoft.com/office/drawing/2014/main" id="{5BDA3E3D-E303-44BD-B6E5-F967C6EC711B}"/>
              </a:ext>
            </a:extLst>
          </p:cNvPr>
          <p:cNvGraphicFramePr>
            <a:graphicFrameLocks noGrp="1"/>
          </p:cNvGraphicFramePr>
          <p:nvPr/>
        </p:nvGraphicFramePr>
        <p:xfrm>
          <a:off x="2209800" y="4267200"/>
          <a:ext cx="4725988" cy="2344035"/>
        </p:xfrm>
        <a:graphic>
          <a:graphicData uri="http://schemas.openxmlformats.org/drawingml/2006/table">
            <a:tbl>
              <a:tblPr/>
              <a:tblGrid>
                <a:gridCol w="946150">
                  <a:extLst>
                    <a:ext uri="{9D8B030D-6E8A-4147-A177-3AD203B41FA5}">
                      <a16:colId xmlns:a16="http://schemas.microsoft.com/office/drawing/2014/main" val="1790414512"/>
                    </a:ext>
                  </a:extLst>
                </a:gridCol>
                <a:gridCol w="942975">
                  <a:extLst>
                    <a:ext uri="{9D8B030D-6E8A-4147-A177-3AD203B41FA5}">
                      <a16:colId xmlns:a16="http://schemas.microsoft.com/office/drawing/2014/main" val="3082023578"/>
                    </a:ext>
                  </a:extLst>
                </a:gridCol>
                <a:gridCol w="912813">
                  <a:extLst>
                    <a:ext uri="{9D8B030D-6E8A-4147-A177-3AD203B41FA5}">
                      <a16:colId xmlns:a16="http://schemas.microsoft.com/office/drawing/2014/main" val="1871385738"/>
                    </a:ext>
                  </a:extLst>
                </a:gridCol>
                <a:gridCol w="977900">
                  <a:extLst>
                    <a:ext uri="{9D8B030D-6E8A-4147-A177-3AD203B41FA5}">
                      <a16:colId xmlns:a16="http://schemas.microsoft.com/office/drawing/2014/main" val="1898479234"/>
                    </a:ext>
                  </a:extLst>
                </a:gridCol>
                <a:gridCol w="946150">
                  <a:extLst>
                    <a:ext uri="{9D8B030D-6E8A-4147-A177-3AD203B41FA5}">
                      <a16:colId xmlns:a16="http://schemas.microsoft.com/office/drawing/2014/main" val="342208623"/>
                    </a:ext>
                  </a:extLst>
                </a:gridCol>
              </a:tblGrid>
              <a:tr h="409575">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M</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O</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N</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A</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R</a:t>
                      </a:r>
                    </a:p>
                  </a:txBody>
                  <a:tcPr marL="90000" marR="90000" marT="14508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3610136090"/>
                  </a:ext>
                </a:extLst>
              </a:tr>
              <a:tr h="411163">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C</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H</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Y</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B</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D</a:t>
                      </a:r>
                    </a:p>
                  </a:txBody>
                  <a:tcPr marL="90000" marR="90000" marT="14508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2658684149"/>
                  </a:ext>
                </a:extLst>
              </a:tr>
              <a:tr h="411163">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E</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F</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G</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I/J</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K</a:t>
                      </a:r>
                    </a:p>
                  </a:txBody>
                  <a:tcPr marL="90000" marR="90000" marT="14508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3406107708"/>
                  </a:ext>
                </a:extLst>
              </a:tr>
              <a:tr h="411163">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L</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P</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Q</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S</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T</a:t>
                      </a:r>
                    </a:p>
                  </a:txBody>
                  <a:tcPr marL="90000" marR="90000" marT="14508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4139214210"/>
                  </a:ext>
                </a:extLst>
              </a:tr>
              <a:tr h="588963">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U</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V</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W</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X</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Z</a:t>
                      </a:r>
                    </a:p>
                  </a:txBody>
                  <a:tcPr marL="90000" marR="90000" marT="14508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29655170"/>
                  </a:ext>
                </a:extLst>
              </a:tr>
            </a:tbl>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38913" name="Text Box 1">
            <a:extLst>
              <a:ext uri="{FF2B5EF4-FFF2-40B4-BE49-F238E27FC236}">
                <a16:creationId xmlns:a16="http://schemas.microsoft.com/office/drawing/2014/main" id="{62607111-C751-B3CB-92AF-EF1845451E3B}"/>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Encrypting and Decrypting</a:t>
            </a:r>
          </a:p>
        </p:txBody>
      </p:sp>
      <p:sp>
        <p:nvSpPr>
          <p:cNvPr id="38914" name="Text Box 2">
            <a:extLst>
              <a:ext uri="{FF2B5EF4-FFF2-40B4-BE49-F238E27FC236}">
                <a16:creationId xmlns:a16="http://schemas.microsoft.com/office/drawing/2014/main" id="{164D497D-BF97-D968-E861-600A4109ED80}"/>
              </a:ext>
            </a:extLst>
          </p:cNvPr>
          <p:cNvSpPr txBox="1">
            <a:spLocks noChangeArrowheads="1"/>
          </p:cNvSpPr>
          <p:nvPr/>
        </p:nvSpPr>
        <p:spPr bwMode="auto">
          <a:xfrm>
            <a:off x="457200" y="1676400"/>
            <a:ext cx="84582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28638" indent="-528638">
              <a:tabLst>
                <a:tab pos="528638" algn="l"/>
                <a:tab pos="985838" algn="l"/>
                <a:tab pos="1443038" algn="l"/>
                <a:tab pos="1900238" algn="l"/>
                <a:tab pos="2357438" algn="l"/>
                <a:tab pos="2814638" algn="l"/>
                <a:tab pos="3271838" algn="l"/>
                <a:tab pos="3729038" algn="l"/>
                <a:tab pos="4186238" algn="l"/>
                <a:tab pos="4643438" algn="l"/>
                <a:tab pos="5100638" algn="l"/>
                <a:tab pos="5557838" algn="l"/>
                <a:tab pos="6015038" algn="l"/>
                <a:tab pos="6472238" algn="l"/>
                <a:tab pos="6929438" algn="l"/>
                <a:tab pos="7386638" algn="l"/>
                <a:tab pos="7843838" algn="l"/>
                <a:tab pos="8301038" algn="l"/>
                <a:tab pos="8758238" algn="l"/>
                <a:tab pos="9215438" algn="l"/>
                <a:tab pos="9672638" algn="l"/>
              </a:tabLst>
              <a:defRPr sz="2400">
                <a:solidFill>
                  <a:srgbClr val="FFFFFF"/>
                </a:solidFill>
                <a:latin typeface="Arial" panose="020B0604020202020204" pitchFamily="34" charset="0"/>
                <a:ea typeface="ＭＳ Ｐゴシック" panose="020B0600070205080204" pitchFamily="34" charset="-128"/>
              </a:defRPr>
            </a:lvl1pPr>
            <a:lvl2pPr marL="914400" indent="-457200">
              <a:tabLst>
                <a:tab pos="528638" algn="l"/>
                <a:tab pos="985838" algn="l"/>
                <a:tab pos="1443038" algn="l"/>
                <a:tab pos="1900238" algn="l"/>
                <a:tab pos="2357438" algn="l"/>
                <a:tab pos="2814638" algn="l"/>
                <a:tab pos="3271838" algn="l"/>
                <a:tab pos="3729038" algn="l"/>
                <a:tab pos="4186238" algn="l"/>
                <a:tab pos="4643438" algn="l"/>
                <a:tab pos="5100638" algn="l"/>
                <a:tab pos="5557838" algn="l"/>
                <a:tab pos="6015038" algn="l"/>
                <a:tab pos="6472238" algn="l"/>
                <a:tab pos="6929438" algn="l"/>
                <a:tab pos="7386638" algn="l"/>
                <a:tab pos="7843838" algn="l"/>
                <a:tab pos="8301038" algn="l"/>
                <a:tab pos="8758238" algn="l"/>
                <a:tab pos="9215438" algn="l"/>
                <a:tab pos="9672638" algn="l"/>
              </a:tabLst>
              <a:defRPr sz="2400">
                <a:solidFill>
                  <a:srgbClr val="FFFFFF"/>
                </a:solidFill>
                <a:latin typeface="Arial" panose="020B0604020202020204" pitchFamily="34" charset="0"/>
                <a:ea typeface="ＭＳ Ｐゴシック" panose="020B0600070205080204" pitchFamily="34" charset="-128"/>
              </a:defRPr>
            </a:lvl2pPr>
            <a:lvl3pPr>
              <a:tabLst>
                <a:tab pos="528638" algn="l"/>
                <a:tab pos="985838" algn="l"/>
                <a:tab pos="1443038" algn="l"/>
                <a:tab pos="1900238" algn="l"/>
                <a:tab pos="2357438" algn="l"/>
                <a:tab pos="2814638" algn="l"/>
                <a:tab pos="3271838" algn="l"/>
                <a:tab pos="3729038" algn="l"/>
                <a:tab pos="4186238" algn="l"/>
                <a:tab pos="4643438" algn="l"/>
                <a:tab pos="5100638" algn="l"/>
                <a:tab pos="5557838" algn="l"/>
                <a:tab pos="6015038" algn="l"/>
                <a:tab pos="6472238" algn="l"/>
                <a:tab pos="6929438" algn="l"/>
                <a:tab pos="7386638" algn="l"/>
                <a:tab pos="7843838" algn="l"/>
                <a:tab pos="8301038" algn="l"/>
                <a:tab pos="8758238" algn="l"/>
                <a:tab pos="9215438" algn="l"/>
                <a:tab pos="9672638" algn="l"/>
              </a:tabLst>
              <a:defRPr sz="2400">
                <a:solidFill>
                  <a:srgbClr val="FFFFFF"/>
                </a:solidFill>
                <a:latin typeface="Arial" panose="020B0604020202020204" pitchFamily="34" charset="0"/>
                <a:ea typeface="ＭＳ Ｐゴシック" panose="020B0600070205080204" pitchFamily="34" charset="-128"/>
              </a:defRPr>
            </a:lvl3pPr>
            <a:lvl4pPr>
              <a:tabLst>
                <a:tab pos="528638" algn="l"/>
                <a:tab pos="985838" algn="l"/>
                <a:tab pos="1443038" algn="l"/>
                <a:tab pos="1900238" algn="l"/>
                <a:tab pos="2357438" algn="l"/>
                <a:tab pos="2814638" algn="l"/>
                <a:tab pos="3271838" algn="l"/>
                <a:tab pos="3729038" algn="l"/>
                <a:tab pos="4186238" algn="l"/>
                <a:tab pos="4643438" algn="l"/>
                <a:tab pos="5100638" algn="l"/>
                <a:tab pos="5557838" algn="l"/>
                <a:tab pos="6015038" algn="l"/>
                <a:tab pos="6472238" algn="l"/>
                <a:tab pos="6929438" algn="l"/>
                <a:tab pos="7386638" algn="l"/>
                <a:tab pos="7843838" algn="l"/>
                <a:tab pos="8301038" algn="l"/>
                <a:tab pos="8758238" algn="l"/>
                <a:tab pos="9215438" algn="l"/>
                <a:tab pos="9672638" algn="l"/>
              </a:tabLst>
              <a:defRPr sz="2400">
                <a:solidFill>
                  <a:srgbClr val="FFFFFF"/>
                </a:solidFill>
                <a:latin typeface="Arial" panose="020B0604020202020204" pitchFamily="34" charset="0"/>
                <a:ea typeface="ＭＳ Ｐゴシック" panose="020B0600070205080204" pitchFamily="34" charset="-128"/>
              </a:defRPr>
            </a:lvl4pPr>
            <a:lvl5pPr>
              <a:tabLst>
                <a:tab pos="528638" algn="l"/>
                <a:tab pos="985838" algn="l"/>
                <a:tab pos="1443038" algn="l"/>
                <a:tab pos="1900238" algn="l"/>
                <a:tab pos="2357438" algn="l"/>
                <a:tab pos="2814638" algn="l"/>
                <a:tab pos="3271838" algn="l"/>
                <a:tab pos="3729038" algn="l"/>
                <a:tab pos="4186238" algn="l"/>
                <a:tab pos="4643438" algn="l"/>
                <a:tab pos="5100638" algn="l"/>
                <a:tab pos="5557838" algn="l"/>
                <a:tab pos="6015038" algn="l"/>
                <a:tab pos="6472238" algn="l"/>
                <a:tab pos="6929438" algn="l"/>
                <a:tab pos="7386638" algn="l"/>
                <a:tab pos="7843838" algn="l"/>
                <a:tab pos="8301038" algn="l"/>
                <a:tab pos="8758238" algn="l"/>
                <a:tab pos="9215438" algn="l"/>
                <a:tab pos="96726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528638" algn="l"/>
                <a:tab pos="985838" algn="l"/>
                <a:tab pos="1443038" algn="l"/>
                <a:tab pos="1900238" algn="l"/>
                <a:tab pos="2357438" algn="l"/>
                <a:tab pos="2814638" algn="l"/>
                <a:tab pos="3271838" algn="l"/>
                <a:tab pos="3729038" algn="l"/>
                <a:tab pos="4186238" algn="l"/>
                <a:tab pos="4643438" algn="l"/>
                <a:tab pos="5100638" algn="l"/>
                <a:tab pos="5557838" algn="l"/>
                <a:tab pos="6015038" algn="l"/>
                <a:tab pos="6472238" algn="l"/>
                <a:tab pos="6929438" algn="l"/>
                <a:tab pos="7386638" algn="l"/>
                <a:tab pos="7843838" algn="l"/>
                <a:tab pos="8301038" algn="l"/>
                <a:tab pos="8758238" algn="l"/>
                <a:tab pos="9215438" algn="l"/>
                <a:tab pos="96726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528638" algn="l"/>
                <a:tab pos="985838" algn="l"/>
                <a:tab pos="1443038" algn="l"/>
                <a:tab pos="1900238" algn="l"/>
                <a:tab pos="2357438" algn="l"/>
                <a:tab pos="2814638" algn="l"/>
                <a:tab pos="3271838" algn="l"/>
                <a:tab pos="3729038" algn="l"/>
                <a:tab pos="4186238" algn="l"/>
                <a:tab pos="4643438" algn="l"/>
                <a:tab pos="5100638" algn="l"/>
                <a:tab pos="5557838" algn="l"/>
                <a:tab pos="6015038" algn="l"/>
                <a:tab pos="6472238" algn="l"/>
                <a:tab pos="6929438" algn="l"/>
                <a:tab pos="7386638" algn="l"/>
                <a:tab pos="7843838" algn="l"/>
                <a:tab pos="8301038" algn="l"/>
                <a:tab pos="8758238" algn="l"/>
                <a:tab pos="9215438" algn="l"/>
                <a:tab pos="96726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528638" algn="l"/>
                <a:tab pos="985838" algn="l"/>
                <a:tab pos="1443038" algn="l"/>
                <a:tab pos="1900238" algn="l"/>
                <a:tab pos="2357438" algn="l"/>
                <a:tab pos="2814638" algn="l"/>
                <a:tab pos="3271838" algn="l"/>
                <a:tab pos="3729038" algn="l"/>
                <a:tab pos="4186238" algn="l"/>
                <a:tab pos="4643438" algn="l"/>
                <a:tab pos="5100638" algn="l"/>
                <a:tab pos="5557838" algn="l"/>
                <a:tab pos="6015038" algn="l"/>
                <a:tab pos="6472238" algn="l"/>
                <a:tab pos="6929438" algn="l"/>
                <a:tab pos="7386638" algn="l"/>
                <a:tab pos="7843838" algn="l"/>
                <a:tab pos="8301038" algn="l"/>
                <a:tab pos="8758238" algn="l"/>
                <a:tab pos="9215438" algn="l"/>
                <a:tab pos="96726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528638" algn="l"/>
                <a:tab pos="985838" algn="l"/>
                <a:tab pos="1443038" algn="l"/>
                <a:tab pos="1900238" algn="l"/>
                <a:tab pos="2357438" algn="l"/>
                <a:tab pos="2814638" algn="l"/>
                <a:tab pos="3271838" algn="l"/>
                <a:tab pos="3729038" algn="l"/>
                <a:tab pos="4186238" algn="l"/>
                <a:tab pos="4643438" algn="l"/>
                <a:tab pos="5100638" algn="l"/>
                <a:tab pos="5557838" algn="l"/>
                <a:tab pos="6015038" algn="l"/>
                <a:tab pos="6472238" algn="l"/>
                <a:tab pos="6929438" algn="l"/>
                <a:tab pos="7386638" algn="l"/>
                <a:tab pos="7843838" algn="l"/>
                <a:tab pos="8301038" algn="l"/>
                <a:tab pos="8758238" algn="l"/>
                <a:tab pos="9215438" algn="l"/>
                <a:tab pos="96726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80000"/>
              </a:lnSpc>
              <a:spcBef>
                <a:spcPts val="800"/>
              </a:spcBef>
              <a:buClr>
                <a:srgbClr val="5FAFFF"/>
              </a:buClr>
              <a:buSzPct val="80000"/>
              <a:buFont typeface="Wingdings" pitchFamily="2" charset="2"/>
              <a:buChar char=""/>
            </a:pPr>
            <a:r>
              <a:rPr lang="en-US" altLang="en-US" sz="3200" dirty="0">
                <a:effectLst>
                  <a:outerShdw blurRad="38100" dist="38100" dir="2700000" algn="tl">
                    <a:srgbClr val="000000"/>
                  </a:outerShdw>
                </a:effectLst>
              </a:rPr>
              <a:t>plaintext is encrypted two letters at a time </a:t>
            </a:r>
          </a:p>
          <a:p>
            <a:pPr lvl="1">
              <a:lnSpc>
                <a:spcPct val="80000"/>
              </a:lnSpc>
              <a:spcBef>
                <a:spcPts val="700"/>
              </a:spcBef>
              <a:buClr>
                <a:srgbClr val="D9D9FF"/>
              </a:buClr>
              <a:buSzPct val="50000"/>
              <a:buFont typeface="StarSymbol" charset="0"/>
              <a:buAutoNum type="arabicPeriod"/>
            </a:pPr>
            <a:r>
              <a:rPr lang="en-US" altLang="en-US" sz="2800" dirty="0">
                <a:effectLst>
                  <a:outerShdw blurRad="38100" dist="38100" dir="2700000" algn="tl">
                    <a:srgbClr val="000000"/>
                  </a:outerShdw>
                </a:effectLst>
              </a:rPr>
              <a:t>if a pair is a repeated letter, insert filler like 'X’</a:t>
            </a:r>
          </a:p>
          <a:p>
            <a:pPr lvl="1">
              <a:lnSpc>
                <a:spcPct val="80000"/>
              </a:lnSpc>
              <a:spcBef>
                <a:spcPts val="700"/>
              </a:spcBef>
              <a:buClr>
                <a:srgbClr val="D9D9FF"/>
              </a:buClr>
              <a:buSzPct val="50000"/>
              <a:buFont typeface="StarSymbol" charset="0"/>
              <a:buAutoNum type="arabicPeriod"/>
            </a:pPr>
            <a:r>
              <a:rPr lang="en-US" altLang="en-US" sz="2800" dirty="0">
                <a:effectLst>
                  <a:outerShdw blurRad="38100" dist="38100" dir="2700000" algn="tl">
                    <a:srgbClr val="000000"/>
                  </a:outerShdw>
                </a:effectLst>
              </a:rPr>
              <a:t>if both letters fall in the same row, replace each with letter to right (wrapping back to start from end) </a:t>
            </a:r>
          </a:p>
          <a:p>
            <a:pPr lvl="1">
              <a:lnSpc>
                <a:spcPct val="80000"/>
              </a:lnSpc>
              <a:spcBef>
                <a:spcPts val="700"/>
              </a:spcBef>
              <a:buClr>
                <a:srgbClr val="D9D9FF"/>
              </a:buClr>
              <a:buSzPct val="50000"/>
              <a:buFont typeface="StarSymbol" charset="0"/>
              <a:buAutoNum type="arabicPeriod"/>
            </a:pPr>
            <a:r>
              <a:rPr lang="en-US" altLang="en-US" sz="2800" dirty="0">
                <a:effectLst>
                  <a:outerShdw blurRad="38100" dist="38100" dir="2700000" algn="tl">
                    <a:srgbClr val="000000"/>
                  </a:outerShdw>
                </a:effectLst>
              </a:rPr>
              <a:t>if both letters fall in the same column, replace each with the letter below it (wrapping to top from bottom)</a:t>
            </a:r>
          </a:p>
          <a:p>
            <a:pPr lvl="1">
              <a:lnSpc>
                <a:spcPct val="80000"/>
              </a:lnSpc>
              <a:spcBef>
                <a:spcPts val="700"/>
              </a:spcBef>
              <a:buClr>
                <a:srgbClr val="D9D9FF"/>
              </a:buClr>
              <a:buSzPct val="50000"/>
              <a:buFont typeface="StarSymbol" charset="0"/>
              <a:buAutoNum type="arabicPeriod"/>
            </a:pPr>
            <a:r>
              <a:rPr lang="en-US" altLang="en-US" sz="2800" dirty="0">
                <a:effectLst>
                  <a:outerShdw blurRad="38100" dist="38100" dir="2700000" algn="tl">
                    <a:srgbClr val="000000"/>
                  </a:outerShdw>
                </a:effectLst>
              </a:rPr>
              <a:t>otherwise each letter is replaced by the letter in the same row and in the column of the other letter of the pair</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39937" name="Text Box 1">
            <a:extLst>
              <a:ext uri="{FF2B5EF4-FFF2-40B4-BE49-F238E27FC236}">
                <a16:creationId xmlns:a16="http://schemas.microsoft.com/office/drawing/2014/main" id="{14A31795-30D5-413F-29BB-99F681B777BC}"/>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AU" altLang="en-US" sz="4400" b="1">
                <a:solidFill>
                  <a:srgbClr val="D9D9FF"/>
                </a:solidFill>
                <a:effectLst>
                  <a:outerShdw blurRad="38100" dist="38100" dir="2700000" algn="tl">
                    <a:srgbClr val="000000"/>
                  </a:outerShdw>
                </a:effectLst>
              </a:rPr>
              <a:t>Playfair Example</a:t>
            </a:r>
          </a:p>
        </p:txBody>
      </p:sp>
      <p:sp>
        <p:nvSpPr>
          <p:cNvPr id="39938" name="Text Box 2">
            <a:extLst>
              <a:ext uri="{FF2B5EF4-FFF2-40B4-BE49-F238E27FC236}">
                <a16:creationId xmlns:a16="http://schemas.microsoft.com/office/drawing/2014/main" id="{EC58FA92-A025-5D2B-A077-DBA139FF0932}"/>
              </a:ext>
            </a:extLst>
          </p:cNvPr>
          <p:cNvSpPr txBox="1">
            <a:spLocks noChangeArrowheads="1"/>
          </p:cNvSpPr>
          <p:nvPr/>
        </p:nvSpPr>
        <p:spPr bwMode="auto">
          <a:xfrm>
            <a:off x="457200" y="1676400"/>
            <a:ext cx="8229600" cy="266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Message = Move forward</a:t>
            </a:r>
          </a:p>
          <a:p>
            <a:pPr>
              <a:lnSpc>
                <a:spcPct val="90000"/>
              </a:lnSpc>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Plaintext = mo ve fo rw ar dx </a:t>
            </a:r>
          </a:p>
          <a:p>
            <a:pPr>
              <a:lnSpc>
                <a:spcPct val="90000"/>
              </a:lnSpc>
              <a:spcBef>
                <a:spcPts val="600"/>
              </a:spcBef>
              <a:buClr>
                <a:srgbClr val="5FAFFF"/>
              </a:buClr>
              <a:buSzPct val="80000"/>
              <a:buFont typeface="Wingdings" pitchFamily="2" charset="2"/>
              <a:buChar char=""/>
            </a:pPr>
            <a:r>
              <a:rPr lang="en-AU" altLang="en-US">
                <a:effectLst>
                  <a:outerShdw blurRad="38100" dist="38100" dir="2700000" algn="tl">
                    <a:srgbClr val="000000"/>
                  </a:outerShdw>
                </a:effectLst>
              </a:rPr>
              <a:t>Here x is just a filler, message is padded and segmented</a:t>
            </a:r>
          </a:p>
          <a:p>
            <a:pPr>
              <a:lnSpc>
                <a:spcPct val="90000"/>
              </a:lnSpc>
              <a:spcBef>
                <a:spcPts val="800"/>
              </a:spcBef>
              <a:buClrTx/>
              <a:buSzPct val="80000"/>
              <a:buFontTx/>
              <a:buNone/>
            </a:pPr>
            <a:endParaRPr lang="en-AU" altLang="en-US" sz="3200">
              <a:effectLst>
                <a:outerShdw blurRad="38100" dist="38100" dir="2700000" algn="tl">
                  <a:srgbClr val="000000"/>
                </a:outerShdw>
              </a:effectLst>
            </a:endParaRPr>
          </a:p>
          <a:p>
            <a:pPr>
              <a:lnSpc>
                <a:spcPct val="90000"/>
              </a:lnSpc>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Ciphertext = ON UF PH NZ RM BZ</a:t>
            </a:r>
          </a:p>
        </p:txBody>
      </p:sp>
      <p:graphicFrame>
        <p:nvGraphicFramePr>
          <p:cNvPr id="39939" name="Group 3">
            <a:extLst>
              <a:ext uri="{FF2B5EF4-FFF2-40B4-BE49-F238E27FC236}">
                <a16:creationId xmlns:a16="http://schemas.microsoft.com/office/drawing/2014/main" id="{72296734-9BBD-CA77-F260-68325317E7B5}"/>
              </a:ext>
            </a:extLst>
          </p:cNvPr>
          <p:cNvGraphicFramePr>
            <a:graphicFrameLocks noGrp="1"/>
          </p:cNvGraphicFramePr>
          <p:nvPr/>
        </p:nvGraphicFramePr>
        <p:xfrm>
          <a:off x="2209800" y="4267200"/>
          <a:ext cx="4725988" cy="2344035"/>
        </p:xfrm>
        <a:graphic>
          <a:graphicData uri="http://schemas.openxmlformats.org/drawingml/2006/table">
            <a:tbl>
              <a:tblPr/>
              <a:tblGrid>
                <a:gridCol w="946150">
                  <a:extLst>
                    <a:ext uri="{9D8B030D-6E8A-4147-A177-3AD203B41FA5}">
                      <a16:colId xmlns:a16="http://schemas.microsoft.com/office/drawing/2014/main" val="3098276522"/>
                    </a:ext>
                  </a:extLst>
                </a:gridCol>
                <a:gridCol w="942975">
                  <a:extLst>
                    <a:ext uri="{9D8B030D-6E8A-4147-A177-3AD203B41FA5}">
                      <a16:colId xmlns:a16="http://schemas.microsoft.com/office/drawing/2014/main" val="3672353703"/>
                    </a:ext>
                  </a:extLst>
                </a:gridCol>
                <a:gridCol w="912813">
                  <a:extLst>
                    <a:ext uri="{9D8B030D-6E8A-4147-A177-3AD203B41FA5}">
                      <a16:colId xmlns:a16="http://schemas.microsoft.com/office/drawing/2014/main" val="3396998994"/>
                    </a:ext>
                  </a:extLst>
                </a:gridCol>
                <a:gridCol w="977900">
                  <a:extLst>
                    <a:ext uri="{9D8B030D-6E8A-4147-A177-3AD203B41FA5}">
                      <a16:colId xmlns:a16="http://schemas.microsoft.com/office/drawing/2014/main" val="706567855"/>
                    </a:ext>
                  </a:extLst>
                </a:gridCol>
                <a:gridCol w="946150">
                  <a:extLst>
                    <a:ext uri="{9D8B030D-6E8A-4147-A177-3AD203B41FA5}">
                      <a16:colId xmlns:a16="http://schemas.microsoft.com/office/drawing/2014/main" val="2828656410"/>
                    </a:ext>
                  </a:extLst>
                </a:gridCol>
              </a:tblGrid>
              <a:tr h="409575">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M</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O</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N</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A</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R</a:t>
                      </a:r>
                    </a:p>
                  </a:txBody>
                  <a:tcPr marL="90000" marR="90000" marT="14508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3553828837"/>
                  </a:ext>
                </a:extLst>
              </a:tr>
              <a:tr h="411163">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C</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H</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00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Y</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B</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D</a:t>
                      </a:r>
                    </a:p>
                  </a:txBody>
                  <a:tcPr marL="90000" marR="90000" marT="14508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2483344057"/>
                  </a:ext>
                </a:extLst>
              </a:tr>
              <a:tr h="411163">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E</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F</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G</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I/J</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K</a:t>
                      </a:r>
                    </a:p>
                  </a:txBody>
                  <a:tcPr marL="90000" marR="90000" marT="14508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508796730"/>
                  </a:ext>
                </a:extLst>
              </a:tr>
              <a:tr h="411163">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L</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P</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Q</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S</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T</a:t>
                      </a:r>
                    </a:p>
                  </a:txBody>
                  <a:tcPr marL="90000" marR="90000" marT="14508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957876620"/>
                  </a:ext>
                </a:extLst>
              </a:tr>
              <a:tr h="588963">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U</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V</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W</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X</a:t>
                      </a:r>
                    </a:p>
                  </a:txBody>
                  <a:tcPr marL="90000" marR="90000" marT="14508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FFFFFF"/>
                          </a:solidFill>
                          <a:latin typeface="Arial" panose="020B0604020202020204" pitchFamily="34" charset="0"/>
                          <a:ea typeface="ＭＳ Ｐゴシック" panose="020B0600070205080204" pitchFamily="34"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FFFFFF"/>
                          </a:solidFill>
                          <a:latin typeface="Arial" panose="020B0604020202020204" pitchFamily="34" charset="0"/>
                          <a:ea typeface="ＭＳ Ｐゴシック" panose="020B0600070205080204" pitchFamily="34"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81000"/>
                        </a:lnSpc>
                        <a:spcBef>
                          <a:spcPts val="500"/>
                        </a:spcBef>
                        <a:spcAft>
                          <a:spcPct val="0"/>
                        </a:spcAft>
                        <a:buClrTx/>
                        <a:buSzPct val="8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2000" b="0"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ＭＳ Ｐゴシック" panose="020B0600070205080204" pitchFamily="34" charset="-128"/>
                        </a:rPr>
                        <a:t>Z</a:t>
                      </a:r>
                    </a:p>
                  </a:txBody>
                  <a:tcPr marL="90000" marR="90000" marT="14508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755256008"/>
                  </a:ext>
                </a:extLst>
              </a:tr>
            </a:tbl>
          </a:graphicData>
        </a:graphic>
      </p:graphicFrame>
      <p:sp>
        <p:nvSpPr>
          <p:cNvPr id="39965" name="Rectangle 29">
            <a:extLst>
              <a:ext uri="{FF2B5EF4-FFF2-40B4-BE49-F238E27FC236}">
                <a16:creationId xmlns:a16="http://schemas.microsoft.com/office/drawing/2014/main" id="{93F59CC2-9699-21EF-1E01-798C11DE0C9B}"/>
              </a:ext>
            </a:extLst>
          </p:cNvPr>
          <p:cNvSpPr>
            <a:spLocks noChangeArrowheads="1"/>
          </p:cNvSpPr>
          <p:nvPr/>
        </p:nvSpPr>
        <p:spPr bwMode="auto">
          <a:xfrm>
            <a:off x="468313" y="3213100"/>
            <a:ext cx="2952750"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mo -&gt;  ON; </a:t>
            </a:r>
          </a:p>
        </p:txBody>
      </p:sp>
      <p:sp>
        <p:nvSpPr>
          <p:cNvPr id="39966" name="Rectangle 30">
            <a:extLst>
              <a:ext uri="{FF2B5EF4-FFF2-40B4-BE49-F238E27FC236}">
                <a16:creationId xmlns:a16="http://schemas.microsoft.com/office/drawing/2014/main" id="{63216FBB-CD78-9DFF-C962-CC107B7C9D18}"/>
              </a:ext>
            </a:extLst>
          </p:cNvPr>
          <p:cNvSpPr>
            <a:spLocks noChangeArrowheads="1"/>
          </p:cNvSpPr>
          <p:nvPr/>
        </p:nvSpPr>
        <p:spPr bwMode="auto">
          <a:xfrm>
            <a:off x="2916238" y="3213100"/>
            <a:ext cx="2303462"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42900" indent="-338138">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800"/>
              </a:spcBef>
              <a:buClrTx/>
              <a:buSzPct val="80000"/>
              <a:buFontTx/>
              <a:buNone/>
            </a:pPr>
            <a:r>
              <a:rPr lang="en-AU" altLang="en-US" sz="3200">
                <a:effectLst>
                  <a:outerShdw blurRad="38100" dist="38100" dir="2700000" algn="tl">
                    <a:srgbClr val="000000"/>
                  </a:outerShdw>
                </a:effectLst>
              </a:rPr>
              <a:t>ve -&gt; UF; </a:t>
            </a:r>
          </a:p>
        </p:txBody>
      </p:sp>
      <p:sp>
        <p:nvSpPr>
          <p:cNvPr id="39967" name="Rectangle 31">
            <a:extLst>
              <a:ext uri="{FF2B5EF4-FFF2-40B4-BE49-F238E27FC236}">
                <a16:creationId xmlns:a16="http://schemas.microsoft.com/office/drawing/2014/main" id="{CB0F23F2-A3F8-7D37-AD25-74FC54146F20}"/>
              </a:ext>
            </a:extLst>
          </p:cNvPr>
          <p:cNvSpPr>
            <a:spLocks noChangeArrowheads="1"/>
          </p:cNvSpPr>
          <p:nvPr/>
        </p:nvSpPr>
        <p:spPr bwMode="auto">
          <a:xfrm>
            <a:off x="4716463" y="3213100"/>
            <a:ext cx="3887787"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42900" indent="-338138">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800"/>
              </a:spcBef>
              <a:buClrTx/>
              <a:buSzPct val="80000"/>
              <a:buFontTx/>
              <a:buNone/>
            </a:pPr>
            <a:r>
              <a:rPr lang="en-AU" altLang="en-US" sz="3200">
                <a:effectLst>
                  <a:outerShdw blurRad="38100" dist="38100" dir="2700000" algn="tl">
                    <a:srgbClr val="000000"/>
                  </a:outerShdw>
                </a:effectLst>
              </a:rPr>
              <a:t>fo -&gt; PH, etc.</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3996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39966">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39967">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fill="hold" nodeType="clickEffect">
                                  <p:stCondLst>
                                    <p:cond delay="0"/>
                                  </p:stCondLst>
                                  <p:childTnLst>
                                    <p:set>
                                      <p:cBhvr additive="repl">
                                        <p:cTn id="18" dur="1" fill="hold">
                                          <p:stCondLst>
                                            <p:cond delay="0"/>
                                          </p:stCondLst>
                                        </p:cTn>
                                        <p:tgtEl>
                                          <p:spTgt spid="3993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C9A400-6B26-1E81-4324-1DFCBE3358EA}"/>
              </a:ext>
            </a:extLst>
          </p:cNvPr>
          <p:cNvSpPr txBox="1"/>
          <p:nvPr/>
        </p:nvSpPr>
        <p:spPr>
          <a:xfrm>
            <a:off x="539552" y="1628800"/>
            <a:ext cx="4572000" cy="461665"/>
          </a:xfrm>
          <a:prstGeom prst="rect">
            <a:avLst/>
          </a:prstGeom>
          <a:noFill/>
        </p:spPr>
        <p:txBody>
          <a:bodyPr wrap="square">
            <a:spAutoFit/>
          </a:bodyPr>
          <a:lstStyle/>
          <a:p>
            <a:r>
              <a:rPr lang="en-US" dirty="0">
                <a:solidFill>
                  <a:schemeClr val="tx1"/>
                </a:solidFill>
              </a:rPr>
              <a:t>Key = KEYWORD</a:t>
            </a:r>
          </a:p>
        </p:txBody>
      </p:sp>
      <p:sp>
        <p:nvSpPr>
          <p:cNvPr id="5" name="TextBox 4">
            <a:extLst>
              <a:ext uri="{FF2B5EF4-FFF2-40B4-BE49-F238E27FC236}">
                <a16:creationId xmlns:a16="http://schemas.microsoft.com/office/drawing/2014/main" id="{876167D5-CA73-0B27-FF14-04B490C9A76E}"/>
              </a:ext>
            </a:extLst>
          </p:cNvPr>
          <p:cNvSpPr txBox="1"/>
          <p:nvPr/>
        </p:nvSpPr>
        <p:spPr>
          <a:xfrm>
            <a:off x="3923928" y="311369"/>
            <a:ext cx="1944216" cy="1938992"/>
          </a:xfrm>
          <a:prstGeom prst="rect">
            <a:avLst/>
          </a:prstGeom>
          <a:noFill/>
        </p:spPr>
        <p:txBody>
          <a:bodyPr wrap="square">
            <a:spAutoFit/>
          </a:bodyPr>
          <a:lstStyle/>
          <a:p>
            <a:r>
              <a:rPr lang="en-US" dirty="0">
                <a:solidFill>
                  <a:schemeClr val="tx1"/>
                </a:solidFill>
              </a:rPr>
              <a:t>K  E  Y  W O</a:t>
            </a:r>
          </a:p>
          <a:p>
            <a:r>
              <a:rPr lang="en-US" dirty="0">
                <a:solidFill>
                  <a:schemeClr val="tx1"/>
                </a:solidFill>
              </a:rPr>
              <a:t>R  D  A  B  C</a:t>
            </a:r>
          </a:p>
          <a:p>
            <a:r>
              <a:rPr lang="en-US" dirty="0">
                <a:solidFill>
                  <a:schemeClr val="tx1"/>
                </a:solidFill>
              </a:rPr>
              <a:t>F  G  H  I   L</a:t>
            </a:r>
          </a:p>
          <a:p>
            <a:r>
              <a:rPr lang="en-US" dirty="0">
                <a:solidFill>
                  <a:schemeClr val="tx1"/>
                </a:solidFill>
              </a:rPr>
              <a:t>M N  P  Q  S</a:t>
            </a:r>
          </a:p>
          <a:p>
            <a:r>
              <a:rPr lang="en-US" dirty="0">
                <a:solidFill>
                  <a:schemeClr val="tx1"/>
                </a:solidFill>
              </a:rPr>
              <a:t>T  U  V  X  Z</a:t>
            </a:r>
          </a:p>
        </p:txBody>
      </p:sp>
      <p:sp>
        <p:nvSpPr>
          <p:cNvPr id="7" name="TextBox 6">
            <a:extLst>
              <a:ext uri="{FF2B5EF4-FFF2-40B4-BE49-F238E27FC236}">
                <a16:creationId xmlns:a16="http://schemas.microsoft.com/office/drawing/2014/main" id="{2B468C2F-2129-64EA-5056-0A720A358975}"/>
              </a:ext>
            </a:extLst>
          </p:cNvPr>
          <p:cNvSpPr txBox="1"/>
          <p:nvPr/>
        </p:nvSpPr>
        <p:spPr>
          <a:xfrm>
            <a:off x="298267" y="2636912"/>
            <a:ext cx="4572000" cy="461665"/>
          </a:xfrm>
          <a:prstGeom prst="rect">
            <a:avLst/>
          </a:prstGeom>
          <a:noFill/>
        </p:spPr>
        <p:txBody>
          <a:bodyPr wrap="square">
            <a:spAutoFit/>
          </a:bodyPr>
          <a:lstStyle/>
          <a:p>
            <a:r>
              <a:rPr lang="en-US" dirty="0">
                <a:solidFill>
                  <a:schemeClr val="tx1"/>
                </a:solidFill>
              </a:rPr>
              <a:t>Plain text = BALLOON</a:t>
            </a:r>
          </a:p>
        </p:txBody>
      </p:sp>
      <p:sp>
        <p:nvSpPr>
          <p:cNvPr id="9" name="TextBox 8">
            <a:extLst>
              <a:ext uri="{FF2B5EF4-FFF2-40B4-BE49-F238E27FC236}">
                <a16:creationId xmlns:a16="http://schemas.microsoft.com/office/drawing/2014/main" id="{9D7B3930-B362-028A-02BA-F708B0CB9570}"/>
              </a:ext>
            </a:extLst>
          </p:cNvPr>
          <p:cNvSpPr txBox="1"/>
          <p:nvPr/>
        </p:nvSpPr>
        <p:spPr>
          <a:xfrm>
            <a:off x="3853880" y="2622594"/>
            <a:ext cx="4572000" cy="461665"/>
          </a:xfrm>
          <a:prstGeom prst="rect">
            <a:avLst/>
          </a:prstGeom>
          <a:noFill/>
        </p:spPr>
        <p:txBody>
          <a:bodyPr wrap="square">
            <a:spAutoFit/>
          </a:bodyPr>
          <a:lstStyle/>
          <a:p>
            <a:r>
              <a:rPr lang="en-US" dirty="0">
                <a:solidFill>
                  <a:schemeClr val="tx1"/>
                </a:solidFill>
              </a:rPr>
              <a:t>BA  L</a:t>
            </a:r>
            <a:r>
              <a:rPr lang="en-US" b="1" dirty="0">
                <a:solidFill>
                  <a:srgbClr val="00B050"/>
                </a:solidFill>
              </a:rPr>
              <a:t>X</a:t>
            </a:r>
            <a:r>
              <a:rPr lang="en-US" dirty="0">
                <a:solidFill>
                  <a:schemeClr val="tx1"/>
                </a:solidFill>
              </a:rPr>
              <a:t>  LO  ON</a:t>
            </a:r>
          </a:p>
        </p:txBody>
      </p:sp>
      <p:sp>
        <p:nvSpPr>
          <p:cNvPr id="11" name="TextBox 10">
            <a:extLst>
              <a:ext uri="{FF2B5EF4-FFF2-40B4-BE49-F238E27FC236}">
                <a16:creationId xmlns:a16="http://schemas.microsoft.com/office/drawing/2014/main" id="{3AFFB615-FF90-4BA2-6376-58598F579AF6}"/>
              </a:ext>
            </a:extLst>
          </p:cNvPr>
          <p:cNvSpPr txBox="1"/>
          <p:nvPr/>
        </p:nvSpPr>
        <p:spPr>
          <a:xfrm>
            <a:off x="33246" y="3394449"/>
            <a:ext cx="4572000" cy="1569660"/>
          </a:xfrm>
          <a:prstGeom prst="rect">
            <a:avLst/>
          </a:prstGeom>
          <a:noFill/>
        </p:spPr>
        <p:txBody>
          <a:bodyPr wrap="square">
            <a:spAutoFit/>
          </a:bodyPr>
          <a:lstStyle/>
          <a:p>
            <a:r>
              <a:rPr lang="en-IN" b="1" dirty="0">
                <a:solidFill>
                  <a:schemeClr val="tx1"/>
                </a:solidFill>
              </a:rPr>
              <a:t>Pair 1: BA (Rectangle rule)</a:t>
            </a:r>
          </a:p>
          <a:p>
            <a:pPr>
              <a:buFont typeface="Arial" panose="020B0604020202020204" pitchFamily="34" charset="0"/>
              <a:buChar char="•"/>
            </a:pPr>
            <a:r>
              <a:rPr lang="en-IN" dirty="0">
                <a:solidFill>
                  <a:schemeClr val="tx1"/>
                </a:solidFill>
              </a:rPr>
              <a:t>B → (row 2, col 4) -&gt; </a:t>
            </a:r>
            <a:r>
              <a:rPr lang="en-IN" b="1" dirty="0">
                <a:solidFill>
                  <a:schemeClr val="tx1"/>
                </a:solidFill>
              </a:rPr>
              <a:t>C</a:t>
            </a:r>
          </a:p>
          <a:p>
            <a:pPr>
              <a:buFont typeface="Arial" panose="020B0604020202020204" pitchFamily="34" charset="0"/>
              <a:buChar char="•"/>
            </a:pPr>
            <a:r>
              <a:rPr lang="en-IN" dirty="0">
                <a:solidFill>
                  <a:schemeClr val="tx1"/>
                </a:solidFill>
              </a:rPr>
              <a:t>A → (row 2, col 3) - &gt; </a:t>
            </a:r>
            <a:r>
              <a:rPr lang="en-IN" b="1" dirty="0">
                <a:solidFill>
                  <a:schemeClr val="tx1"/>
                </a:solidFill>
              </a:rPr>
              <a:t>B</a:t>
            </a:r>
          </a:p>
          <a:p>
            <a:pPr>
              <a:buFont typeface="Arial" panose="020B0604020202020204" pitchFamily="34" charset="0"/>
              <a:buChar char="•"/>
            </a:pPr>
            <a:r>
              <a:rPr lang="en-IN" dirty="0">
                <a:solidFill>
                  <a:schemeClr val="tx1"/>
                </a:solidFill>
              </a:rPr>
              <a:t>Same row → </a:t>
            </a:r>
            <a:r>
              <a:rPr lang="en-IN" b="1" dirty="0">
                <a:solidFill>
                  <a:schemeClr val="tx1"/>
                </a:solidFill>
              </a:rPr>
              <a:t>shift right</a:t>
            </a:r>
            <a:endParaRPr lang="en-IN" dirty="0">
              <a:solidFill>
                <a:schemeClr val="tx1"/>
              </a:solidFill>
            </a:endParaRPr>
          </a:p>
        </p:txBody>
      </p:sp>
      <p:sp>
        <p:nvSpPr>
          <p:cNvPr id="13" name="TextBox 12">
            <a:extLst>
              <a:ext uri="{FF2B5EF4-FFF2-40B4-BE49-F238E27FC236}">
                <a16:creationId xmlns:a16="http://schemas.microsoft.com/office/drawing/2014/main" id="{F3FF803A-715F-0947-F06D-A2CB1CCFA616}"/>
              </a:ext>
            </a:extLst>
          </p:cNvPr>
          <p:cNvSpPr txBox="1"/>
          <p:nvPr/>
        </p:nvSpPr>
        <p:spPr>
          <a:xfrm>
            <a:off x="4067944" y="3380131"/>
            <a:ext cx="4831976" cy="1569660"/>
          </a:xfrm>
          <a:prstGeom prst="rect">
            <a:avLst/>
          </a:prstGeom>
          <a:noFill/>
        </p:spPr>
        <p:txBody>
          <a:bodyPr wrap="square">
            <a:spAutoFit/>
          </a:bodyPr>
          <a:lstStyle/>
          <a:p>
            <a:r>
              <a:rPr lang="en-IN" b="1" dirty="0">
                <a:solidFill>
                  <a:schemeClr val="tx1"/>
                </a:solidFill>
              </a:rPr>
              <a:t>Pair 2: LX (Rectangle rule)</a:t>
            </a:r>
          </a:p>
          <a:p>
            <a:pPr>
              <a:buFont typeface="Arial" panose="020B0604020202020204" pitchFamily="34" charset="0"/>
              <a:buChar char="•"/>
            </a:pPr>
            <a:r>
              <a:rPr lang="en-IN" dirty="0">
                <a:solidFill>
                  <a:schemeClr val="tx1"/>
                </a:solidFill>
              </a:rPr>
              <a:t>L → (row 3, col 5) -&gt;</a:t>
            </a:r>
            <a:r>
              <a:rPr lang="en-IN" b="1" dirty="0">
                <a:solidFill>
                  <a:schemeClr val="tx1"/>
                </a:solidFill>
              </a:rPr>
              <a:t> I</a:t>
            </a:r>
          </a:p>
          <a:p>
            <a:pPr>
              <a:buFont typeface="Arial" panose="020B0604020202020204" pitchFamily="34" charset="0"/>
              <a:buChar char="•"/>
            </a:pPr>
            <a:r>
              <a:rPr lang="en-IN" dirty="0">
                <a:solidFill>
                  <a:schemeClr val="tx1"/>
                </a:solidFill>
              </a:rPr>
              <a:t>X → (row 5, col 4) -&gt;</a:t>
            </a:r>
            <a:r>
              <a:rPr lang="en-IN" b="1" dirty="0">
                <a:solidFill>
                  <a:schemeClr val="tx1"/>
                </a:solidFill>
              </a:rPr>
              <a:t>Z</a:t>
            </a:r>
          </a:p>
          <a:p>
            <a:pPr>
              <a:buFont typeface="Arial" panose="020B0604020202020204" pitchFamily="34" charset="0"/>
              <a:buChar char="•"/>
            </a:pPr>
            <a:r>
              <a:rPr lang="en-IN" dirty="0">
                <a:solidFill>
                  <a:schemeClr val="tx1"/>
                </a:solidFill>
              </a:rPr>
              <a:t>Rectangle rule</a:t>
            </a:r>
          </a:p>
        </p:txBody>
      </p:sp>
      <p:sp>
        <p:nvSpPr>
          <p:cNvPr id="15" name="TextBox 14">
            <a:extLst>
              <a:ext uri="{FF2B5EF4-FFF2-40B4-BE49-F238E27FC236}">
                <a16:creationId xmlns:a16="http://schemas.microsoft.com/office/drawing/2014/main" id="{2D7C541F-9690-13E7-D49A-B687ED842519}"/>
              </a:ext>
            </a:extLst>
          </p:cNvPr>
          <p:cNvSpPr txBox="1"/>
          <p:nvPr/>
        </p:nvSpPr>
        <p:spPr>
          <a:xfrm>
            <a:off x="-28600" y="5194630"/>
            <a:ext cx="4607858" cy="1569660"/>
          </a:xfrm>
          <a:prstGeom prst="rect">
            <a:avLst/>
          </a:prstGeom>
          <a:noFill/>
        </p:spPr>
        <p:txBody>
          <a:bodyPr wrap="square">
            <a:spAutoFit/>
          </a:bodyPr>
          <a:lstStyle/>
          <a:p>
            <a:r>
              <a:rPr lang="en-IN" b="1" dirty="0">
                <a:solidFill>
                  <a:schemeClr val="tx1"/>
                </a:solidFill>
              </a:rPr>
              <a:t>Pair 3: LO (Rectangle rule)</a:t>
            </a:r>
          </a:p>
          <a:p>
            <a:pPr>
              <a:buFont typeface="Arial" panose="020B0604020202020204" pitchFamily="34" charset="0"/>
              <a:buChar char="•"/>
            </a:pPr>
            <a:r>
              <a:rPr lang="en-IN" dirty="0">
                <a:solidFill>
                  <a:schemeClr val="tx1"/>
                </a:solidFill>
              </a:rPr>
              <a:t>L → (row 3, col 5) -&gt;</a:t>
            </a:r>
            <a:r>
              <a:rPr lang="en-IN" b="1" dirty="0">
                <a:solidFill>
                  <a:schemeClr val="tx1"/>
                </a:solidFill>
              </a:rPr>
              <a:t>S</a:t>
            </a:r>
          </a:p>
          <a:p>
            <a:pPr>
              <a:buFont typeface="Arial" panose="020B0604020202020204" pitchFamily="34" charset="0"/>
              <a:buChar char="•"/>
            </a:pPr>
            <a:r>
              <a:rPr lang="en-IN" dirty="0">
                <a:solidFill>
                  <a:schemeClr val="tx1"/>
                </a:solidFill>
              </a:rPr>
              <a:t>O → (row 1, col 5) -&gt;</a:t>
            </a:r>
            <a:r>
              <a:rPr lang="en-IN" b="1" dirty="0">
                <a:solidFill>
                  <a:schemeClr val="tx1"/>
                </a:solidFill>
              </a:rPr>
              <a:t>C</a:t>
            </a:r>
          </a:p>
          <a:p>
            <a:pPr>
              <a:buFont typeface="Arial" panose="020B0604020202020204" pitchFamily="34" charset="0"/>
              <a:buChar char="•"/>
            </a:pPr>
            <a:r>
              <a:rPr lang="en-IN" dirty="0">
                <a:solidFill>
                  <a:schemeClr val="tx1"/>
                </a:solidFill>
              </a:rPr>
              <a:t>Same column → </a:t>
            </a:r>
            <a:r>
              <a:rPr lang="en-IN" b="1" dirty="0">
                <a:solidFill>
                  <a:schemeClr val="tx1"/>
                </a:solidFill>
              </a:rPr>
              <a:t>shift down</a:t>
            </a:r>
            <a:endParaRPr lang="en-IN" dirty="0">
              <a:solidFill>
                <a:schemeClr val="tx1"/>
              </a:solidFill>
            </a:endParaRPr>
          </a:p>
        </p:txBody>
      </p:sp>
      <p:sp>
        <p:nvSpPr>
          <p:cNvPr id="17" name="TextBox 16">
            <a:extLst>
              <a:ext uri="{FF2B5EF4-FFF2-40B4-BE49-F238E27FC236}">
                <a16:creationId xmlns:a16="http://schemas.microsoft.com/office/drawing/2014/main" id="{62940799-97B3-3E91-6ED1-6A700CACDE4F}"/>
              </a:ext>
            </a:extLst>
          </p:cNvPr>
          <p:cNvSpPr txBox="1"/>
          <p:nvPr/>
        </p:nvSpPr>
        <p:spPr>
          <a:xfrm>
            <a:off x="4410236" y="5194630"/>
            <a:ext cx="4489684" cy="1569660"/>
          </a:xfrm>
          <a:prstGeom prst="rect">
            <a:avLst/>
          </a:prstGeom>
          <a:noFill/>
        </p:spPr>
        <p:txBody>
          <a:bodyPr wrap="square">
            <a:spAutoFit/>
          </a:bodyPr>
          <a:lstStyle/>
          <a:p>
            <a:r>
              <a:rPr lang="en-IN" b="1" dirty="0">
                <a:solidFill>
                  <a:schemeClr val="tx1"/>
                </a:solidFill>
              </a:rPr>
              <a:t>Pair 4: ON (Rectangle rule)</a:t>
            </a:r>
          </a:p>
          <a:p>
            <a:pPr>
              <a:buFont typeface="Arial" panose="020B0604020202020204" pitchFamily="34" charset="0"/>
              <a:buChar char="•"/>
            </a:pPr>
            <a:r>
              <a:rPr lang="en-IN" dirty="0">
                <a:solidFill>
                  <a:schemeClr val="tx1"/>
                </a:solidFill>
              </a:rPr>
              <a:t>O → (row 1, col 5) -&gt;</a:t>
            </a:r>
            <a:r>
              <a:rPr lang="en-IN" b="1" dirty="0">
                <a:solidFill>
                  <a:schemeClr val="tx1"/>
                </a:solidFill>
              </a:rPr>
              <a:t>E</a:t>
            </a:r>
          </a:p>
          <a:p>
            <a:pPr>
              <a:buFont typeface="Arial" panose="020B0604020202020204" pitchFamily="34" charset="0"/>
              <a:buChar char="•"/>
            </a:pPr>
            <a:r>
              <a:rPr lang="en-IN" dirty="0">
                <a:solidFill>
                  <a:schemeClr val="tx1"/>
                </a:solidFill>
              </a:rPr>
              <a:t>N → (row 4, col 2) -&gt;</a:t>
            </a:r>
            <a:r>
              <a:rPr lang="en-IN" b="1" dirty="0">
                <a:solidFill>
                  <a:schemeClr val="tx1"/>
                </a:solidFill>
              </a:rPr>
              <a:t>S</a:t>
            </a:r>
          </a:p>
          <a:p>
            <a:pPr>
              <a:buFont typeface="Arial" panose="020B0604020202020204" pitchFamily="34" charset="0"/>
              <a:buChar char="•"/>
            </a:pPr>
            <a:r>
              <a:rPr lang="en-IN" dirty="0">
                <a:solidFill>
                  <a:schemeClr val="tx1"/>
                </a:solidFill>
              </a:rPr>
              <a:t>Rectangle rule</a:t>
            </a:r>
          </a:p>
        </p:txBody>
      </p:sp>
    </p:spTree>
    <p:extLst>
      <p:ext uri="{BB962C8B-B14F-4D97-AF65-F5344CB8AC3E}">
        <p14:creationId xmlns:p14="http://schemas.microsoft.com/office/powerpoint/2010/main" val="3755377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dissolv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linds(horizontal)">
                                      <p:cBhvr>
                                        <p:cTn id="3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1" grpId="0"/>
      <p:bldP spid="13" grpId="0"/>
      <p:bldP spid="15" grpId="0"/>
      <p:bldP spid="17"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40961" name="Text Box 1">
            <a:extLst>
              <a:ext uri="{FF2B5EF4-FFF2-40B4-BE49-F238E27FC236}">
                <a16:creationId xmlns:a16="http://schemas.microsoft.com/office/drawing/2014/main" id="{78D21E87-21B4-3584-1578-2F6DBF7B3F4A}"/>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AU" altLang="en-US" sz="4400" b="1">
                <a:solidFill>
                  <a:srgbClr val="D9D9FF"/>
                </a:solidFill>
                <a:effectLst>
                  <a:outerShdw blurRad="38100" dist="38100" dir="2700000" algn="tl">
                    <a:srgbClr val="000000"/>
                  </a:outerShdw>
                </a:effectLst>
              </a:rPr>
              <a:t>Security of Playfair Cipher</a:t>
            </a:r>
          </a:p>
        </p:txBody>
      </p:sp>
      <p:sp>
        <p:nvSpPr>
          <p:cNvPr id="40962" name="Text Box 2">
            <a:extLst>
              <a:ext uri="{FF2B5EF4-FFF2-40B4-BE49-F238E27FC236}">
                <a16:creationId xmlns:a16="http://schemas.microsoft.com/office/drawing/2014/main" id="{F135589C-68B9-F988-DCC1-36BB60E888AE}"/>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security much improved over monoalphabetic</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since have 26 x 26 = 676 digrams </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would need a 676 entry frequency table to analyse (versus 26 for a monoalphabetic) </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and correspondingly more ciphertext </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was widely used for many years</a:t>
            </a:r>
          </a:p>
          <a:p>
            <a:pPr lvl="1">
              <a:lnSpc>
                <a:spcPct val="90000"/>
              </a:lnSpc>
              <a:spcBef>
                <a:spcPts val="600"/>
              </a:spcBef>
              <a:buClr>
                <a:srgbClr val="D9D9FF"/>
              </a:buClr>
              <a:buSzPct val="50000"/>
              <a:buFont typeface="Wingdings" pitchFamily="2" charset="2"/>
              <a:buChar char=""/>
            </a:pPr>
            <a:r>
              <a:rPr lang="en-AU" altLang="en-US">
                <a:effectLst>
                  <a:outerShdw blurRad="38100" dist="38100" dir="2700000" algn="tl">
                    <a:srgbClr val="000000"/>
                  </a:outerShdw>
                </a:effectLst>
              </a:rPr>
              <a:t>eg. by US &amp; British military in WW1</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it </a:t>
            </a:r>
            <a:r>
              <a:rPr lang="en-AU" altLang="en-US" sz="2800" b="1">
                <a:effectLst>
                  <a:outerShdw blurRad="38100" dist="38100" dir="2700000" algn="tl">
                    <a:srgbClr val="000000"/>
                  </a:outerShdw>
                </a:effectLst>
              </a:rPr>
              <a:t>can</a:t>
            </a:r>
            <a:r>
              <a:rPr lang="en-AU" altLang="en-US" sz="2800">
                <a:effectLst>
                  <a:outerShdw blurRad="38100" dist="38100" dir="2700000" algn="tl">
                    <a:srgbClr val="000000"/>
                  </a:outerShdw>
                </a:effectLst>
              </a:rPr>
              <a:t> be broken, given a few hundred letters </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since still has much of plaintext structure </a:t>
            </a:r>
          </a:p>
        </p:txBody>
      </p:sp>
      <p:sp>
        <p:nvSpPr>
          <p:cNvPr id="40963" name="Rectangle 3">
            <a:extLst>
              <a:ext uri="{FF2B5EF4-FFF2-40B4-BE49-F238E27FC236}">
                <a16:creationId xmlns:a16="http://schemas.microsoft.com/office/drawing/2014/main" id="{4820CB7B-C09F-7358-CDF0-8418F9988837}"/>
              </a:ext>
            </a:extLst>
          </p:cNvPr>
          <p:cNvSpPr>
            <a:spLocks noChangeArrowheads="1"/>
          </p:cNvSpPr>
          <p:nvPr/>
        </p:nvSpPr>
        <p:spPr bwMode="auto">
          <a:xfrm>
            <a:off x="7286625" y="6411913"/>
            <a:ext cx="184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text on a white background&#10;&#10;Description automatically generated">
            <a:extLst>
              <a:ext uri="{FF2B5EF4-FFF2-40B4-BE49-F238E27FC236}">
                <a16:creationId xmlns:a16="http://schemas.microsoft.com/office/drawing/2014/main" id="{A5CDBA3F-BE97-7971-AB75-9A39290395AD}"/>
              </a:ext>
            </a:extLst>
          </p:cNvPr>
          <p:cNvPicPr>
            <a:picLocks noChangeAspect="1"/>
          </p:cNvPicPr>
          <p:nvPr/>
        </p:nvPicPr>
        <p:blipFill>
          <a:blip r:embed="rId3"/>
          <a:stretch>
            <a:fillRect/>
          </a:stretch>
        </p:blipFill>
        <p:spPr>
          <a:xfrm>
            <a:off x="971600" y="2564904"/>
            <a:ext cx="7726727" cy="1391146"/>
          </a:xfrm>
          <a:prstGeom prst="rect">
            <a:avLst/>
          </a:prstGeom>
        </p:spPr>
      </p:pic>
    </p:spTree>
    <p:extLst>
      <p:ext uri="{BB962C8B-B14F-4D97-AF65-F5344CB8AC3E}">
        <p14:creationId xmlns:p14="http://schemas.microsoft.com/office/powerpoint/2010/main" val="3152596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663542-315A-9384-12E9-5F8280A82E5B}"/>
              </a:ext>
            </a:extLst>
          </p:cNvPr>
          <p:cNvSpPr txBox="1"/>
          <p:nvPr/>
        </p:nvSpPr>
        <p:spPr>
          <a:xfrm>
            <a:off x="107504" y="1124744"/>
            <a:ext cx="9036496" cy="830997"/>
          </a:xfrm>
          <a:prstGeom prst="rect">
            <a:avLst/>
          </a:prstGeom>
          <a:noFill/>
        </p:spPr>
        <p:txBody>
          <a:bodyPr wrap="square">
            <a:spAutoFit/>
          </a:bodyPr>
          <a:lstStyle/>
          <a:p>
            <a:r>
              <a:rPr lang="en-IN" dirty="0">
                <a:solidFill>
                  <a:schemeClr val="tx1"/>
                </a:solidFill>
              </a:rPr>
              <a:t>The Hill cipher is a matrix-based cipher that encrypts blocks of letters using linear algebra.</a:t>
            </a:r>
            <a:endParaRPr lang="en-US" dirty="0">
              <a:solidFill>
                <a:schemeClr val="tx1"/>
              </a:solidFill>
            </a:endParaRPr>
          </a:p>
        </p:txBody>
      </p:sp>
      <p:sp>
        <p:nvSpPr>
          <p:cNvPr id="5" name="TextBox 4">
            <a:extLst>
              <a:ext uri="{FF2B5EF4-FFF2-40B4-BE49-F238E27FC236}">
                <a16:creationId xmlns:a16="http://schemas.microsoft.com/office/drawing/2014/main" id="{6B967336-48CE-F2BC-E776-81720428D44C}"/>
              </a:ext>
            </a:extLst>
          </p:cNvPr>
          <p:cNvSpPr txBox="1"/>
          <p:nvPr/>
        </p:nvSpPr>
        <p:spPr>
          <a:xfrm>
            <a:off x="2286000" y="260648"/>
            <a:ext cx="4572000" cy="461665"/>
          </a:xfrm>
          <a:prstGeom prst="rect">
            <a:avLst/>
          </a:prstGeom>
          <a:noFill/>
        </p:spPr>
        <p:txBody>
          <a:bodyPr wrap="square">
            <a:spAutoFit/>
          </a:bodyPr>
          <a:lstStyle/>
          <a:p>
            <a:r>
              <a:rPr lang="en-IN" b="1" dirty="0">
                <a:solidFill>
                  <a:schemeClr val="tx1"/>
                </a:solidFill>
              </a:rPr>
              <a:t>Hill Cipher</a:t>
            </a:r>
            <a:endParaRPr lang="en-US" b="1" dirty="0">
              <a:solidFill>
                <a:schemeClr val="tx1"/>
              </a:solidFill>
            </a:endParaRPr>
          </a:p>
        </p:txBody>
      </p:sp>
      <p:sp>
        <p:nvSpPr>
          <p:cNvPr id="7" name="TextBox 6">
            <a:extLst>
              <a:ext uri="{FF2B5EF4-FFF2-40B4-BE49-F238E27FC236}">
                <a16:creationId xmlns:a16="http://schemas.microsoft.com/office/drawing/2014/main" id="{F0B71B6A-A19A-E8CF-1665-1B42FD8FF602}"/>
              </a:ext>
            </a:extLst>
          </p:cNvPr>
          <p:cNvSpPr txBox="1"/>
          <p:nvPr/>
        </p:nvSpPr>
        <p:spPr>
          <a:xfrm>
            <a:off x="539552" y="2377537"/>
            <a:ext cx="4572000" cy="3046988"/>
          </a:xfrm>
          <a:prstGeom prst="rect">
            <a:avLst/>
          </a:prstGeom>
          <a:noFill/>
        </p:spPr>
        <p:txBody>
          <a:bodyPr wrap="square">
            <a:spAutoFit/>
          </a:bodyPr>
          <a:lstStyle/>
          <a:p>
            <a:r>
              <a:rPr lang="en-IN" b="1" dirty="0">
                <a:solidFill>
                  <a:schemeClr val="tx1"/>
                </a:solidFill>
              </a:rPr>
              <a:t>Basic Idea </a:t>
            </a:r>
          </a:p>
          <a:p>
            <a:r>
              <a:rPr lang="en-IN" dirty="0">
                <a:solidFill>
                  <a:schemeClr val="tx1"/>
                </a:solidFill>
              </a:rPr>
              <a:t>Convert letters → numbers</a:t>
            </a:r>
            <a:br>
              <a:rPr lang="en-IN" dirty="0">
                <a:solidFill>
                  <a:schemeClr val="tx1"/>
                </a:solidFill>
              </a:rPr>
            </a:br>
            <a:r>
              <a:rPr lang="en-IN" i="1" dirty="0">
                <a:solidFill>
                  <a:schemeClr val="tx1"/>
                </a:solidFill>
              </a:rPr>
              <a:t>(A=0, B=1, … Z=25)</a:t>
            </a:r>
            <a:endParaRPr lang="en-IN" dirty="0">
              <a:solidFill>
                <a:schemeClr val="tx1"/>
              </a:solidFill>
            </a:endParaRPr>
          </a:p>
          <a:p>
            <a:pPr>
              <a:buFont typeface="Arial" panose="020B0604020202020204" pitchFamily="34" charset="0"/>
              <a:buChar char="•"/>
            </a:pPr>
            <a:r>
              <a:rPr lang="en-IN" dirty="0">
                <a:solidFill>
                  <a:schemeClr val="tx1"/>
                </a:solidFill>
              </a:rPr>
              <a:t>Group letters into </a:t>
            </a:r>
            <a:r>
              <a:rPr lang="en-IN" b="1" dirty="0">
                <a:solidFill>
                  <a:schemeClr val="tx1"/>
                </a:solidFill>
              </a:rPr>
              <a:t>blocks</a:t>
            </a:r>
            <a:endParaRPr lang="en-IN" dirty="0">
              <a:solidFill>
                <a:schemeClr val="tx1"/>
              </a:solidFill>
            </a:endParaRPr>
          </a:p>
          <a:p>
            <a:pPr>
              <a:buFont typeface="Arial" panose="020B0604020202020204" pitchFamily="34" charset="0"/>
              <a:buChar char="•"/>
            </a:pPr>
            <a:r>
              <a:rPr lang="en-IN" dirty="0">
                <a:solidFill>
                  <a:schemeClr val="tx1"/>
                </a:solidFill>
              </a:rPr>
              <a:t>Multiply by a </a:t>
            </a:r>
            <a:r>
              <a:rPr lang="en-IN" b="1" dirty="0">
                <a:solidFill>
                  <a:schemeClr val="tx1"/>
                </a:solidFill>
              </a:rPr>
              <a:t>key matrix</a:t>
            </a:r>
            <a:endParaRPr lang="en-IN" dirty="0">
              <a:solidFill>
                <a:schemeClr val="tx1"/>
              </a:solidFill>
            </a:endParaRPr>
          </a:p>
          <a:p>
            <a:pPr>
              <a:buFont typeface="Arial" panose="020B0604020202020204" pitchFamily="34" charset="0"/>
              <a:buChar char="•"/>
            </a:pPr>
            <a:r>
              <a:rPr lang="en-IN" dirty="0">
                <a:solidFill>
                  <a:schemeClr val="tx1"/>
                </a:solidFill>
              </a:rPr>
              <a:t>Take </a:t>
            </a:r>
            <a:r>
              <a:rPr lang="en-IN" b="1" dirty="0">
                <a:solidFill>
                  <a:schemeClr val="tx1"/>
                </a:solidFill>
              </a:rPr>
              <a:t>mod 26</a:t>
            </a:r>
            <a:endParaRPr lang="en-IN" dirty="0">
              <a:solidFill>
                <a:schemeClr val="tx1"/>
              </a:solidFill>
            </a:endParaRPr>
          </a:p>
          <a:p>
            <a:pPr>
              <a:buFont typeface="Arial" panose="020B0604020202020204" pitchFamily="34" charset="0"/>
              <a:buChar char="•"/>
            </a:pPr>
            <a:r>
              <a:rPr lang="en-IN" dirty="0">
                <a:solidFill>
                  <a:schemeClr val="tx1"/>
                </a:solidFill>
              </a:rPr>
              <a:t>Convert numbers back to letters</a:t>
            </a:r>
          </a:p>
        </p:txBody>
      </p:sp>
    </p:spTree>
    <p:extLst>
      <p:ext uri="{BB962C8B-B14F-4D97-AF65-F5344CB8AC3E}">
        <p14:creationId xmlns:p14="http://schemas.microsoft.com/office/powerpoint/2010/main" val="1324906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9967A5-9511-425A-AC51-AC377EDFBBBF}"/>
              </a:ext>
            </a:extLst>
          </p:cNvPr>
          <p:cNvSpPr txBox="1"/>
          <p:nvPr/>
        </p:nvSpPr>
        <p:spPr>
          <a:xfrm>
            <a:off x="395536" y="548680"/>
            <a:ext cx="6336704" cy="6001643"/>
          </a:xfrm>
          <a:prstGeom prst="rect">
            <a:avLst/>
          </a:prstGeom>
          <a:noFill/>
        </p:spPr>
        <p:txBody>
          <a:bodyPr wrap="square">
            <a:spAutoFit/>
          </a:bodyPr>
          <a:lstStyle/>
          <a:p>
            <a:r>
              <a:rPr lang="en-IN" b="1" dirty="0">
                <a:solidFill>
                  <a:schemeClr val="tx1"/>
                </a:solidFill>
              </a:rPr>
              <a:t>(2×2 Hill Cipher)</a:t>
            </a:r>
          </a:p>
          <a:p>
            <a:r>
              <a:rPr lang="en-IN" b="1" dirty="0">
                <a:solidFill>
                  <a:schemeClr val="tx1"/>
                </a:solidFill>
              </a:rPr>
              <a:t>1️⃣ Key Matrix</a:t>
            </a:r>
          </a:p>
          <a:p>
            <a:r>
              <a:rPr lang="en-IN" dirty="0">
                <a:solidFill>
                  <a:schemeClr val="tx1"/>
                </a:solidFill>
              </a:rPr>
              <a:t>Choose an </a:t>
            </a:r>
            <a:r>
              <a:rPr lang="en-IN" b="1" dirty="0">
                <a:solidFill>
                  <a:schemeClr val="tx1"/>
                </a:solidFill>
              </a:rPr>
              <a:t>invertible matrix mod 26</a:t>
            </a:r>
            <a:r>
              <a:rPr lang="en-IN" dirty="0">
                <a:solidFill>
                  <a:schemeClr val="tx1"/>
                </a:solidFill>
              </a:rPr>
              <a:t>:</a:t>
            </a:r>
          </a:p>
          <a:p>
            <a:endParaRPr lang="en-IN" dirty="0">
              <a:solidFill>
                <a:schemeClr val="tx1"/>
              </a:solidFill>
            </a:endParaRPr>
          </a:p>
          <a:p>
            <a:endParaRPr lang="en-IN" dirty="0">
              <a:solidFill>
                <a:schemeClr val="tx1"/>
              </a:solidFill>
            </a:endParaRPr>
          </a:p>
          <a:p>
            <a:endParaRPr lang="en-IN" dirty="0">
              <a:solidFill>
                <a:schemeClr val="tx1"/>
              </a:solidFill>
            </a:endParaRPr>
          </a:p>
          <a:p>
            <a:endParaRPr lang="en-IN" dirty="0">
              <a:solidFill>
                <a:schemeClr val="tx1"/>
              </a:solidFill>
            </a:endParaRPr>
          </a:p>
          <a:p>
            <a:r>
              <a:rPr lang="en-IN" dirty="0">
                <a:solidFill>
                  <a:schemeClr val="tx1"/>
                </a:solidFill>
              </a:rPr>
              <a:t>Plain text : HI</a:t>
            </a:r>
          </a:p>
          <a:p>
            <a:r>
              <a:rPr lang="en-IN" dirty="0">
                <a:solidFill>
                  <a:schemeClr val="tx1"/>
                </a:solidFill>
              </a:rPr>
              <a:t>H-&gt;7</a:t>
            </a:r>
          </a:p>
          <a:p>
            <a:r>
              <a:rPr lang="en-IN" dirty="0">
                <a:solidFill>
                  <a:schemeClr val="tx1"/>
                </a:solidFill>
              </a:rPr>
              <a:t>I-&gt;8</a:t>
            </a:r>
          </a:p>
          <a:p>
            <a:endParaRPr lang="en-IN" dirty="0">
              <a:solidFill>
                <a:schemeClr val="tx1"/>
              </a:solidFill>
            </a:endParaRPr>
          </a:p>
          <a:p>
            <a:endParaRPr lang="en-IN" dirty="0">
              <a:solidFill>
                <a:schemeClr val="tx1"/>
              </a:solidFill>
            </a:endParaRPr>
          </a:p>
          <a:p>
            <a:endParaRPr lang="en-IN" dirty="0">
              <a:solidFill>
                <a:schemeClr val="tx1"/>
              </a:solidFill>
            </a:endParaRPr>
          </a:p>
          <a:p>
            <a:endParaRPr lang="en-IN" dirty="0">
              <a:solidFill>
                <a:schemeClr val="tx1"/>
              </a:solidFill>
            </a:endParaRPr>
          </a:p>
          <a:p>
            <a:r>
              <a:rPr lang="en-IN" dirty="0">
                <a:solidFill>
                  <a:schemeClr val="tx1"/>
                </a:solidFill>
              </a:rPr>
              <a:t>C=K*P mod 26</a:t>
            </a:r>
          </a:p>
          <a:p>
            <a:r>
              <a:rPr lang="en-IN" dirty="0">
                <a:solidFill>
                  <a:schemeClr val="tx1"/>
                </a:solidFill>
              </a:rPr>
              <a:t>45 mod 26 =19 - &gt; </a:t>
            </a:r>
            <a:r>
              <a:rPr lang="en-IN" b="1" dirty="0">
                <a:solidFill>
                  <a:schemeClr val="tx1"/>
                </a:solidFill>
              </a:rPr>
              <a:t>T</a:t>
            </a:r>
            <a:r>
              <a:rPr lang="en-IN" dirty="0">
                <a:solidFill>
                  <a:schemeClr val="tx1"/>
                </a:solidFill>
              </a:rPr>
              <a:t>, 54 mod 26 =2 -&gt; </a:t>
            </a:r>
            <a:r>
              <a:rPr lang="en-IN" b="1" dirty="0">
                <a:solidFill>
                  <a:schemeClr val="tx1"/>
                </a:solidFill>
              </a:rPr>
              <a:t>C</a:t>
            </a:r>
          </a:p>
        </p:txBody>
      </p:sp>
      <p:pic>
        <p:nvPicPr>
          <p:cNvPr id="5" name="Picture 4" descr="A number symbols on a white background&#10;&#10;Description automatically generated">
            <a:extLst>
              <a:ext uri="{FF2B5EF4-FFF2-40B4-BE49-F238E27FC236}">
                <a16:creationId xmlns:a16="http://schemas.microsoft.com/office/drawing/2014/main" id="{3CF8CDE4-2605-D2E8-0623-DB2620B63683}"/>
              </a:ext>
            </a:extLst>
          </p:cNvPr>
          <p:cNvPicPr>
            <a:picLocks noChangeAspect="1"/>
          </p:cNvPicPr>
          <p:nvPr/>
        </p:nvPicPr>
        <p:blipFill>
          <a:blip r:embed="rId3"/>
          <a:stretch>
            <a:fillRect/>
          </a:stretch>
        </p:blipFill>
        <p:spPr>
          <a:xfrm>
            <a:off x="2555776" y="5013176"/>
            <a:ext cx="5095187" cy="864096"/>
          </a:xfrm>
          <a:prstGeom prst="rect">
            <a:avLst/>
          </a:prstGeom>
        </p:spPr>
      </p:pic>
      <p:pic>
        <p:nvPicPr>
          <p:cNvPr id="7" name="Picture 6" descr="A black and white math equation&#10;&#10;Description automatically generated with medium confidence">
            <a:extLst>
              <a:ext uri="{FF2B5EF4-FFF2-40B4-BE49-F238E27FC236}">
                <a16:creationId xmlns:a16="http://schemas.microsoft.com/office/drawing/2014/main" id="{9D75B3D7-13C9-EBAB-2E30-7CCACFB07C27}"/>
              </a:ext>
            </a:extLst>
          </p:cNvPr>
          <p:cNvPicPr>
            <a:picLocks noChangeAspect="1"/>
          </p:cNvPicPr>
          <p:nvPr/>
        </p:nvPicPr>
        <p:blipFill>
          <a:blip r:embed="rId4"/>
          <a:stretch>
            <a:fillRect/>
          </a:stretch>
        </p:blipFill>
        <p:spPr>
          <a:xfrm>
            <a:off x="395536" y="4437112"/>
            <a:ext cx="1556383" cy="1008112"/>
          </a:xfrm>
          <a:prstGeom prst="rect">
            <a:avLst/>
          </a:prstGeom>
        </p:spPr>
      </p:pic>
      <p:pic>
        <p:nvPicPr>
          <p:cNvPr id="9" name="Picture 8" descr="A black and white math equation&#10;&#10;Description automatically generated with medium confidence">
            <a:extLst>
              <a:ext uri="{FF2B5EF4-FFF2-40B4-BE49-F238E27FC236}">
                <a16:creationId xmlns:a16="http://schemas.microsoft.com/office/drawing/2014/main" id="{90F56CB8-3C31-B38E-E64C-FD703AF62B6C}"/>
              </a:ext>
            </a:extLst>
          </p:cNvPr>
          <p:cNvPicPr>
            <a:picLocks noChangeAspect="1"/>
          </p:cNvPicPr>
          <p:nvPr/>
        </p:nvPicPr>
        <p:blipFill>
          <a:blip r:embed="rId5"/>
          <a:stretch>
            <a:fillRect/>
          </a:stretch>
        </p:blipFill>
        <p:spPr>
          <a:xfrm>
            <a:off x="615802" y="1908115"/>
            <a:ext cx="1872208" cy="1008112"/>
          </a:xfrm>
          <a:prstGeom prst="rect">
            <a:avLst/>
          </a:prstGeom>
        </p:spPr>
      </p:pic>
    </p:spTree>
    <p:extLst>
      <p:ext uri="{BB962C8B-B14F-4D97-AF65-F5344CB8AC3E}">
        <p14:creationId xmlns:p14="http://schemas.microsoft.com/office/powerpoint/2010/main" val="8620888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4134F1-A9B1-AF17-A9B0-BC58B505066F}"/>
              </a:ext>
            </a:extLst>
          </p:cNvPr>
          <p:cNvSpPr>
            <a:spLocks noGrp="1"/>
          </p:cNvSpPr>
          <p:nvPr>
            <p:ph type="title"/>
          </p:nvPr>
        </p:nvSpPr>
        <p:spPr/>
        <p:txBody>
          <a:bodyPr/>
          <a:lstStyle/>
          <a:p>
            <a:r>
              <a:rPr lang="en-US" dirty="0"/>
              <a:t>Example</a:t>
            </a:r>
          </a:p>
        </p:txBody>
      </p:sp>
      <p:sp>
        <p:nvSpPr>
          <p:cNvPr id="5" name="Content Placeholder 4">
            <a:extLst>
              <a:ext uri="{FF2B5EF4-FFF2-40B4-BE49-F238E27FC236}">
                <a16:creationId xmlns:a16="http://schemas.microsoft.com/office/drawing/2014/main" id="{23F6CF3D-ADE3-2705-2D5A-4A3C7F4CDFBD}"/>
              </a:ext>
            </a:extLst>
          </p:cNvPr>
          <p:cNvSpPr>
            <a:spLocks noGrp="1"/>
          </p:cNvSpPr>
          <p:nvPr>
            <p:ph idx="1"/>
          </p:nvPr>
        </p:nvSpPr>
        <p:spPr>
          <a:xfrm>
            <a:off x="628650" y="1825625"/>
            <a:ext cx="7886700" cy="2179439"/>
          </a:xfrm>
        </p:spPr>
        <p:txBody>
          <a:bodyPr/>
          <a:lstStyle/>
          <a:p>
            <a:r>
              <a:rPr lang="en-US" dirty="0"/>
              <a:t>Plain text : Network</a:t>
            </a:r>
          </a:p>
          <a:p>
            <a:r>
              <a:rPr lang="en-US" dirty="0"/>
              <a:t>Form 2 letter blocks</a:t>
            </a:r>
          </a:p>
          <a:p>
            <a:r>
              <a:rPr lang="en-US" dirty="0"/>
              <a:t>Encrypt each block</a:t>
            </a:r>
          </a:p>
          <a:p>
            <a:r>
              <a:rPr lang="en-US" dirty="0"/>
              <a:t>Final cipher text </a:t>
            </a:r>
          </a:p>
          <a:p>
            <a:endParaRPr lang="en-US" dirty="0"/>
          </a:p>
        </p:txBody>
      </p:sp>
      <p:sp>
        <p:nvSpPr>
          <p:cNvPr id="6" name="Title 3">
            <a:extLst>
              <a:ext uri="{FF2B5EF4-FFF2-40B4-BE49-F238E27FC236}">
                <a16:creationId xmlns:a16="http://schemas.microsoft.com/office/drawing/2014/main" id="{CBBE61E1-2CB3-B064-12C7-92DB193ED3AD}"/>
              </a:ext>
            </a:extLst>
          </p:cNvPr>
          <p:cNvSpPr txBox="1">
            <a:spLocks/>
          </p:cNvSpPr>
          <p:nvPr/>
        </p:nvSpPr>
        <p:spPr>
          <a:xfrm>
            <a:off x="971600" y="4005064"/>
            <a:ext cx="24861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dirty="0"/>
              <a:t>ZUTSPJVF</a:t>
            </a:r>
          </a:p>
        </p:txBody>
      </p:sp>
    </p:spTree>
    <p:extLst>
      <p:ext uri="{BB962C8B-B14F-4D97-AF65-F5344CB8AC3E}">
        <p14:creationId xmlns:p14="http://schemas.microsoft.com/office/powerpoint/2010/main" val="1967504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A326C-3DAE-C9FA-8214-4FC15B5DD501}"/>
              </a:ext>
            </a:extLst>
          </p:cNvPr>
          <p:cNvSpPr>
            <a:spLocks noGrp="1"/>
          </p:cNvSpPr>
          <p:nvPr>
            <p:ph type="title"/>
          </p:nvPr>
        </p:nvSpPr>
        <p:spPr/>
        <p:txBody>
          <a:bodyPr/>
          <a:lstStyle/>
          <a:p>
            <a:r>
              <a:rPr lang="en-US" dirty="0"/>
              <a:t>Large Key matrix</a:t>
            </a:r>
          </a:p>
        </p:txBody>
      </p:sp>
      <p:pic>
        <p:nvPicPr>
          <p:cNvPr id="5" name="Content Placeholder 4" descr="A number on a white background&#10;&#10;Description automatically generated">
            <a:extLst>
              <a:ext uri="{FF2B5EF4-FFF2-40B4-BE49-F238E27FC236}">
                <a16:creationId xmlns:a16="http://schemas.microsoft.com/office/drawing/2014/main" id="{CA5EE4F7-8AC8-47AE-1749-4ED34F684D48}"/>
              </a:ext>
            </a:extLst>
          </p:cNvPr>
          <p:cNvPicPr>
            <a:picLocks noGrp="1" noChangeAspect="1"/>
          </p:cNvPicPr>
          <p:nvPr>
            <p:ph idx="1"/>
          </p:nvPr>
        </p:nvPicPr>
        <p:blipFill>
          <a:blip r:embed="rId3"/>
          <a:stretch>
            <a:fillRect/>
          </a:stretch>
        </p:blipFill>
        <p:spPr>
          <a:xfrm>
            <a:off x="2267744" y="1529205"/>
            <a:ext cx="2982515" cy="1325562"/>
          </a:xfrm>
        </p:spPr>
      </p:pic>
      <p:sp>
        <p:nvSpPr>
          <p:cNvPr id="6" name="Title 1">
            <a:extLst>
              <a:ext uri="{FF2B5EF4-FFF2-40B4-BE49-F238E27FC236}">
                <a16:creationId xmlns:a16="http://schemas.microsoft.com/office/drawing/2014/main" id="{0E55CE1B-52F2-02B5-F46E-B89D2FDD1799}"/>
              </a:ext>
            </a:extLst>
          </p:cNvPr>
          <p:cNvSpPr txBox="1">
            <a:spLocks/>
          </p:cNvSpPr>
          <p:nvPr/>
        </p:nvSpPr>
        <p:spPr>
          <a:xfrm>
            <a:off x="658866" y="3327261"/>
            <a:ext cx="7886700" cy="404167"/>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3200" dirty="0"/>
              <a:t>Plain text : ACT</a:t>
            </a:r>
          </a:p>
        </p:txBody>
      </p:sp>
      <p:sp>
        <p:nvSpPr>
          <p:cNvPr id="7" name="Title 1">
            <a:extLst>
              <a:ext uri="{FF2B5EF4-FFF2-40B4-BE49-F238E27FC236}">
                <a16:creationId xmlns:a16="http://schemas.microsoft.com/office/drawing/2014/main" id="{BD46857D-CE60-0AEC-DB78-6DC87E59485B}"/>
              </a:ext>
            </a:extLst>
          </p:cNvPr>
          <p:cNvSpPr txBox="1">
            <a:spLocks/>
          </p:cNvSpPr>
          <p:nvPr/>
        </p:nvSpPr>
        <p:spPr>
          <a:xfrm>
            <a:off x="690242" y="5639806"/>
            <a:ext cx="7886700" cy="105515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3200" dirty="0"/>
              <a:t>67  mod 26 = 15 - &gt; </a:t>
            </a:r>
            <a:r>
              <a:rPr lang="en-US" sz="3200" b="1" dirty="0"/>
              <a:t>P</a:t>
            </a:r>
          </a:p>
          <a:p>
            <a:pPr fontAlgn="auto">
              <a:spcAft>
                <a:spcPts val="0"/>
              </a:spcAft>
              <a:buClrTx/>
              <a:buSzTx/>
              <a:buFontTx/>
            </a:pPr>
            <a:r>
              <a:rPr lang="en-US" sz="3200" dirty="0"/>
              <a:t>222 mod 26 = 14 - &gt; </a:t>
            </a:r>
            <a:r>
              <a:rPr lang="en-US" sz="3200" b="1" dirty="0"/>
              <a:t>O</a:t>
            </a:r>
          </a:p>
          <a:p>
            <a:pPr fontAlgn="auto">
              <a:spcAft>
                <a:spcPts val="0"/>
              </a:spcAft>
              <a:buClrTx/>
              <a:buSzTx/>
              <a:buFontTx/>
            </a:pPr>
            <a:r>
              <a:rPr lang="en-US" sz="3200" dirty="0"/>
              <a:t>319 mod 26 = 7 -&gt; </a:t>
            </a:r>
            <a:r>
              <a:rPr lang="en-US" sz="3200" b="1" dirty="0"/>
              <a:t>H</a:t>
            </a:r>
          </a:p>
        </p:txBody>
      </p:sp>
      <p:pic>
        <p:nvPicPr>
          <p:cNvPr id="9" name="Picture 8" descr="A black and white math equation&#10;&#10;Description automatically generated with medium confidence">
            <a:extLst>
              <a:ext uri="{FF2B5EF4-FFF2-40B4-BE49-F238E27FC236}">
                <a16:creationId xmlns:a16="http://schemas.microsoft.com/office/drawing/2014/main" id="{AC7172F0-5400-57B3-9734-8F0BE06A3A6E}"/>
              </a:ext>
            </a:extLst>
          </p:cNvPr>
          <p:cNvPicPr>
            <a:picLocks noChangeAspect="1"/>
          </p:cNvPicPr>
          <p:nvPr/>
        </p:nvPicPr>
        <p:blipFill>
          <a:blip r:embed="rId4"/>
          <a:stretch>
            <a:fillRect/>
          </a:stretch>
        </p:blipFill>
        <p:spPr>
          <a:xfrm>
            <a:off x="3130351" y="2936434"/>
            <a:ext cx="1257300" cy="1066800"/>
          </a:xfrm>
          <a:prstGeom prst="rect">
            <a:avLst/>
          </a:prstGeom>
        </p:spPr>
      </p:pic>
      <p:pic>
        <p:nvPicPr>
          <p:cNvPr id="11" name="Picture 10" descr="A math equation with numbers and symbols&#10;&#10;Description automatically generated">
            <a:extLst>
              <a:ext uri="{FF2B5EF4-FFF2-40B4-BE49-F238E27FC236}">
                <a16:creationId xmlns:a16="http://schemas.microsoft.com/office/drawing/2014/main" id="{F3732854-ECB1-AC05-6CEB-B55D316C8D91}"/>
              </a:ext>
            </a:extLst>
          </p:cNvPr>
          <p:cNvPicPr>
            <a:picLocks noChangeAspect="1"/>
          </p:cNvPicPr>
          <p:nvPr/>
        </p:nvPicPr>
        <p:blipFill>
          <a:blip r:embed="rId5"/>
          <a:stretch>
            <a:fillRect/>
          </a:stretch>
        </p:blipFill>
        <p:spPr>
          <a:xfrm>
            <a:off x="389048" y="4096686"/>
            <a:ext cx="7502531" cy="1639442"/>
          </a:xfrm>
          <a:prstGeom prst="rect">
            <a:avLst/>
          </a:prstGeom>
        </p:spPr>
      </p:pic>
    </p:spTree>
    <p:extLst>
      <p:ext uri="{BB962C8B-B14F-4D97-AF65-F5344CB8AC3E}">
        <p14:creationId xmlns:p14="http://schemas.microsoft.com/office/powerpoint/2010/main" val="20319361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41985" name="Text Box 1">
            <a:extLst>
              <a:ext uri="{FF2B5EF4-FFF2-40B4-BE49-F238E27FC236}">
                <a16:creationId xmlns:a16="http://schemas.microsoft.com/office/drawing/2014/main" id="{A4DC0C09-14CA-D54D-3019-9CFF6342A9A7}"/>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AU" altLang="en-US" sz="4400" b="1">
                <a:solidFill>
                  <a:srgbClr val="D9D9FF"/>
                </a:solidFill>
                <a:effectLst>
                  <a:outerShdw blurRad="38100" dist="38100" dir="2700000" algn="tl">
                    <a:srgbClr val="000000"/>
                  </a:outerShdw>
                </a:effectLst>
              </a:rPr>
              <a:t>Polyalphabetic Ciphers</a:t>
            </a:r>
          </a:p>
        </p:txBody>
      </p:sp>
      <p:sp>
        <p:nvSpPr>
          <p:cNvPr id="41986" name="Text Box 2">
            <a:extLst>
              <a:ext uri="{FF2B5EF4-FFF2-40B4-BE49-F238E27FC236}">
                <a16:creationId xmlns:a16="http://schemas.microsoft.com/office/drawing/2014/main" id="{B2B0D697-D2BF-2BF6-0DE9-268B4CF696DF}"/>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700"/>
              </a:spcBef>
              <a:buClr>
                <a:srgbClr val="5FAFFF"/>
              </a:buClr>
              <a:buSzPct val="80000"/>
              <a:buFont typeface="Wingdings" pitchFamily="2" charset="2"/>
              <a:buChar char=""/>
            </a:pPr>
            <a:r>
              <a:rPr lang="en-AU" altLang="en-US" sz="2800" b="1">
                <a:effectLst>
                  <a:outerShdw blurRad="38100" dist="38100" dir="2700000" algn="tl">
                    <a:srgbClr val="000000"/>
                  </a:outerShdw>
                </a:effectLst>
              </a:rPr>
              <a:t>polyalphabetic substitution ciphers</a:t>
            </a:r>
            <a:r>
              <a:rPr lang="en-AU" altLang="en-US" sz="2800">
                <a:effectLst>
                  <a:outerShdw blurRad="38100" dist="38100" dir="2700000" algn="tl">
                    <a:srgbClr val="000000"/>
                  </a:outerShdw>
                </a:effectLst>
              </a:rPr>
              <a:t>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improve security using multiple cipher alphabets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make cryptanalysis harder with more alphabets to guess and flatter frequency distribution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use a key to select which alphabet is used for each letter of the message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use each alphabet in turn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repeat from start after end of key is reached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43009" name="Text Box 1">
            <a:extLst>
              <a:ext uri="{FF2B5EF4-FFF2-40B4-BE49-F238E27FC236}">
                <a16:creationId xmlns:a16="http://schemas.microsoft.com/office/drawing/2014/main" id="{E43B222D-5CB2-FA4C-F290-CE96DCBCCB2B}"/>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AU" altLang="en-US" sz="4400" b="1">
                <a:solidFill>
                  <a:srgbClr val="D9D9FF"/>
                </a:solidFill>
                <a:effectLst>
                  <a:outerShdw blurRad="38100" dist="38100" dir="2700000" algn="tl">
                    <a:srgbClr val="000000"/>
                  </a:outerShdw>
                </a:effectLst>
              </a:rPr>
              <a:t>Vigenère Cipher</a:t>
            </a:r>
          </a:p>
        </p:txBody>
      </p:sp>
      <p:sp>
        <p:nvSpPr>
          <p:cNvPr id="43010" name="Text Box 2">
            <a:extLst>
              <a:ext uri="{FF2B5EF4-FFF2-40B4-BE49-F238E27FC236}">
                <a16:creationId xmlns:a16="http://schemas.microsoft.com/office/drawing/2014/main" id="{4E116CA0-055A-4D3D-F368-6A32A045A6EC}"/>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simplest polyalphabetic substitution cipher</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effectively multiple caesar ciphers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key is multiple letters long K = k</a:t>
            </a:r>
            <a:r>
              <a:rPr lang="en-AU" altLang="en-US" sz="3200" baseline="-25000">
                <a:effectLst>
                  <a:outerShdw blurRad="38100" dist="38100" dir="2700000" algn="tl">
                    <a:srgbClr val="000000"/>
                  </a:outerShdw>
                </a:effectLst>
              </a:rPr>
              <a:t>1</a:t>
            </a:r>
            <a:r>
              <a:rPr lang="en-AU" altLang="en-US" sz="3200">
                <a:effectLst>
                  <a:outerShdw blurRad="38100" dist="38100" dir="2700000" algn="tl">
                    <a:srgbClr val="000000"/>
                  </a:outerShdw>
                </a:effectLst>
              </a:rPr>
              <a:t> k</a:t>
            </a:r>
            <a:r>
              <a:rPr lang="en-AU" altLang="en-US" sz="3200" baseline="-25000">
                <a:effectLst>
                  <a:outerShdw blurRad="38100" dist="38100" dir="2700000" algn="tl">
                    <a:srgbClr val="000000"/>
                  </a:outerShdw>
                </a:effectLst>
              </a:rPr>
              <a:t>2</a:t>
            </a:r>
            <a:r>
              <a:rPr lang="en-AU" altLang="en-US" sz="3200">
                <a:effectLst>
                  <a:outerShdw blurRad="38100" dist="38100" dir="2700000" algn="tl">
                    <a:srgbClr val="000000"/>
                  </a:outerShdw>
                </a:effectLst>
              </a:rPr>
              <a:t> ... k</a:t>
            </a:r>
            <a:r>
              <a:rPr lang="en-AU" altLang="en-US" sz="3200" baseline="-25000">
                <a:effectLst>
                  <a:outerShdw blurRad="38100" dist="38100" dir="2700000" algn="tl">
                    <a:srgbClr val="000000"/>
                  </a:outerShdw>
                </a:effectLst>
              </a:rPr>
              <a:t>d</a:t>
            </a:r>
            <a:r>
              <a:rPr lang="en-AU" altLang="en-US" sz="3200">
                <a:effectLst>
                  <a:outerShdw blurRad="38100" dist="38100" dir="2700000" algn="tl">
                    <a:srgbClr val="000000"/>
                  </a:outerShdw>
                </a:effectLst>
              </a:rPr>
              <a:t>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i</a:t>
            </a:r>
            <a:r>
              <a:rPr lang="en-AU" altLang="en-US" sz="3200" baseline="30000">
                <a:effectLst>
                  <a:outerShdw blurRad="38100" dist="38100" dir="2700000" algn="tl">
                    <a:srgbClr val="000000"/>
                  </a:outerShdw>
                </a:effectLst>
              </a:rPr>
              <a:t>th</a:t>
            </a:r>
            <a:r>
              <a:rPr lang="en-AU" altLang="en-US" sz="3200">
                <a:effectLst>
                  <a:outerShdw blurRad="38100" dist="38100" dir="2700000" algn="tl">
                    <a:srgbClr val="000000"/>
                  </a:outerShdw>
                </a:effectLst>
              </a:rPr>
              <a:t> letter specifies i</a:t>
            </a:r>
            <a:r>
              <a:rPr lang="en-AU" altLang="en-US" sz="3200" baseline="30000">
                <a:effectLst>
                  <a:outerShdw blurRad="38100" dist="38100" dir="2700000" algn="tl">
                    <a:srgbClr val="000000"/>
                  </a:outerShdw>
                </a:effectLst>
              </a:rPr>
              <a:t>th</a:t>
            </a:r>
            <a:r>
              <a:rPr lang="en-AU" altLang="en-US" sz="3200">
                <a:effectLst>
                  <a:outerShdw blurRad="38100" dist="38100" dir="2700000" algn="tl">
                    <a:srgbClr val="000000"/>
                  </a:outerShdw>
                </a:effectLst>
              </a:rPr>
              <a:t> alphabet to use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use each alphabet in turn </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repeat from start after d letters in message</a:t>
            </a:r>
          </a:p>
          <a:p>
            <a:pPr>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decryption simply works in reverse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44033" name="Text Box 1">
            <a:extLst>
              <a:ext uri="{FF2B5EF4-FFF2-40B4-BE49-F238E27FC236}">
                <a16:creationId xmlns:a16="http://schemas.microsoft.com/office/drawing/2014/main" id="{EAE5D149-8456-F148-E7A2-76B661EC8A2D}"/>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dirty="0">
                <a:solidFill>
                  <a:srgbClr val="D9D9FF"/>
                </a:solidFill>
                <a:effectLst>
                  <a:outerShdw blurRad="38100" dist="38100" dir="2700000" algn="tl">
                    <a:srgbClr val="000000"/>
                  </a:outerShdw>
                </a:effectLst>
              </a:rPr>
              <a:t>Example of </a:t>
            </a:r>
            <a:r>
              <a:rPr lang="en-AU" altLang="en-US" sz="4400" b="1" dirty="0">
                <a:solidFill>
                  <a:srgbClr val="D9D9FF"/>
                </a:solidFill>
                <a:effectLst>
                  <a:outerShdw blurRad="38100" dist="38100" dir="2700000" algn="tl">
                    <a:srgbClr val="000000"/>
                  </a:outerShdw>
                </a:effectLst>
              </a:rPr>
              <a:t>Vigenère Cipher</a:t>
            </a:r>
          </a:p>
        </p:txBody>
      </p:sp>
      <p:sp>
        <p:nvSpPr>
          <p:cNvPr id="44034" name="Text Box 2">
            <a:extLst>
              <a:ext uri="{FF2B5EF4-FFF2-40B4-BE49-F238E27FC236}">
                <a16:creationId xmlns:a16="http://schemas.microsoft.com/office/drawing/2014/main" id="{B98C4F97-15C5-1041-D2A6-A50D7A07EE12}"/>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700"/>
              </a:spcBef>
              <a:buClr>
                <a:srgbClr val="5FAFFF"/>
              </a:buClr>
              <a:buSzPct val="80000"/>
              <a:buFont typeface="Wingdings" pitchFamily="2" charset="2"/>
              <a:buChar char=""/>
            </a:pPr>
            <a:r>
              <a:rPr lang="en-AU" altLang="en-US" sz="2800" dirty="0">
                <a:effectLst>
                  <a:outerShdw blurRad="38100" dist="38100" dir="2700000" algn="tl">
                    <a:srgbClr val="000000"/>
                  </a:outerShdw>
                </a:effectLst>
              </a:rPr>
              <a:t>write the plaintext out </a:t>
            </a:r>
          </a:p>
          <a:p>
            <a:pPr>
              <a:spcBef>
                <a:spcPts val="700"/>
              </a:spcBef>
              <a:buClr>
                <a:srgbClr val="5FAFFF"/>
              </a:buClr>
              <a:buSzPct val="80000"/>
              <a:buFont typeface="Wingdings" pitchFamily="2" charset="2"/>
              <a:buChar char=""/>
            </a:pPr>
            <a:r>
              <a:rPr lang="en-AU" altLang="en-US" sz="2800" dirty="0">
                <a:effectLst>
                  <a:outerShdw blurRad="38100" dist="38100" dir="2700000" algn="tl">
                    <a:srgbClr val="000000"/>
                  </a:outerShdw>
                </a:effectLst>
              </a:rPr>
              <a:t>write the keyword repeated above it</a:t>
            </a:r>
          </a:p>
          <a:p>
            <a:pPr>
              <a:spcBef>
                <a:spcPts val="700"/>
              </a:spcBef>
              <a:buClr>
                <a:srgbClr val="5FAFFF"/>
              </a:buClr>
              <a:buSzPct val="80000"/>
              <a:buFont typeface="Wingdings" pitchFamily="2" charset="2"/>
              <a:buChar char=""/>
            </a:pPr>
            <a:r>
              <a:rPr lang="en-AU" altLang="en-US" sz="2800" dirty="0">
                <a:effectLst>
                  <a:outerShdw blurRad="38100" dist="38100" dir="2700000" algn="tl">
                    <a:srgbClr val="000000"/>
                  </a:outerShdw>
                </a:effectLst>
              </a:rPr>
              <a:t>use each key letter as a </a:t>
            </a:r>
            <a:r>
              <a:rPr lang="en-AU" altLang="en-US" sz="2800" dirty="0" err="1">
                <a:effectLst>
                  <a:outerShdw blurRad="38100" dist="38100" dir="2700000" algn="tl">
                    <a:srgbClr val="000000"/>
                  </a:outerShdw>
                </a:effectLst>
              </a:rPr>
              <a:t>caesar</a:t>
            </a:r>
            <a:r>
              <a:rPr lang="en-AU" altLang="en-US" sz="2800" dirty="0">
                <a:effectLst>
                  <a:outerShdw blurRad="38100" dist="38100" dir="2700000" algn="tl">
                    <a:srgbClr val="000000"/>
                  </a:outerShdw>
                </a:effectLst>
              </a:rPr>
              <a:t> cipher key </a:t>
            </a:r>
          </a:p>
          <a:p>
            <a:pPr>
              <a:spcBef>
                <a:spcPts val="700"/>
              </a:spcBef>
              <a:buClr>
                <a:srgbClr val="5FAFFF"/>
              </a:buClr>
              <a:buSzPct val="80000"/>
              <a:buFont typeface="Wingdings" pitchFamily="2" charset="2"/>
              <a:buChar char=""/>
            </a:pPr>
            <a:r>
              <a:rPr lang="en-AU" altLang="en-US" sz="2800" dirty="0">
                <a:effectLst>
                  <a:outerShdw blurRad="38100" dist="38100" dir="2700000" algn="tl">
                    <a:srgbClr val="000000"/>
                  </a:outerShdw>
                </a:effectLst>
              </a:rPr>
              <a:t>encrypt the corresponding plaintext letter</a:t>
            </a:r>
          </a:p>
          <a:p>
            <a:pPr>
              <a:spcBef>
                <a:spcPts val="700"/>
              </a:spcBef>
              <a:buClr>
                <a:srgbClr val="5FAFFF"/>
              </a:buClr>
              <a:buSzPct val="80000"/>
              <a:buFont typeface="Wingdings" pitchFamily="2" charset="2"/>
              <a:buChar char=""/>
            </a:pPr>
            <a:r>
              <a:rPr lang="en-US" altLang="en-US" sz="2800" dirty="0" err="1">
                <a:effectLst>
                  <a:outerShdw blurRad="38100" dist="38100" dir="2700000" algn="tl">
                    <a:srgbClr val="000000"/>
                  </a:outerShdw>
                </a:effectLst>
              </a:rPr>
              <a:t>eg</a:t>
            </a:r>
            <a:r>
              <a:rPr lang="en-US" altLang="en-US" sz="2800" dirty="0">
                <a:effectLst>
                  <a:outerShdw blurRad="38100" dist="38100" dir="2700000" algn="tl">
                    <a:srgbClr val="000000"/>
                  </a:outerShdw>
                </a:effectLst>
              </a:rPr>
              <a:t> using keyword </a:t>
            </a:r>
            <a:r>
              <a:rPr lang="en-US" altLang="en-US" sz="2800" i="1" dirty="0">
                <a:effectLst>
                  <a:outerShdw blurRad="38100" dist="38100" dir="2700000" algn="tl">
                    <a:srgbClr val="000000"/>
                  </a:outerShdw>
                </a:effectLst>
              </a:rPr>
              <a:t>deceptive</a:t>
            </a:r>
          </a:p>
          <a:p>
            <a:pPr lvl="1">
              <a:spcBef>
                <a:spcPts val="600"/>
              </a:spcBef>
              <a:buClrTx/>
              <a:buSzPct val="50000"/>
              <a:buFontTx/>
              <a:buNone/>
            </a:pPr>
            <a:r>
              <a:rPr lang="en-AU" altLang="en-US" dirty="0">
                <a:effectLst>
                  <a:outerShdw blurRad="38100" dist="38100" dir="2700000" algn="tl">
                    <a:srgbClr val="000000"/>
                  </a:outerShdw>
                </a:effectLst>
                <a:latin typeface="Lucida Console" panose="020B0609040504020204" pitchFamily="49" charset="0"/>
              </a:rPr>
              <a:t>key:       </a:t>
            </a:r>
            <a:r>
              <a:rPr lang="en-AU" altLang="en-US" dirty="0" err="1">
                <a:effectLst>
                  <a:outerShdw blurRad="38100" dist="38100" dir="2700000" algn="tl">
                    <a:srgbClr val="000000"/>
                  </a:outerShdw>
                </a:effectLst>
                <a:latin typeface="Lucida Console" panose="020B0609040504020204" pitchFamily="49" charset="0"/>
              </a:rPr>
              <a:t>deceptivedeceptivedeceptive</a:t>
            </a:r>
            <a:endParaRPr lang="en-AU" altLang="en-US" dirty="0">
              <a:effectLst>
                <a:outerShdw blurRad="38100" dist="38100" dir="2700000" algn="tl">
                  <a:srgbClr val="000000"/>
                </a:outerShdw>
              </a:effectLst>
              <a:latin typeface="Lucida Console" panose="020B0609040504020204" pitchFamily="49" charset="0"/>
            </a:endParaRPr>
          </a:p>
          <a:p>
            <a:pPr lvl="1">
              <a:spcBef>
                <a:spcPts val="600"/>
              </a:spcBef>
              <a:buClrTx/>
              <a:buSzPct val="50000"/>
              <a:buFontTx/>
              <a:buNone/>
            </a:pPr>
            <a:r>
              <a:rPr lang="en-AU" altLang="en-US" dirty="0">
                <a:effectLst>
                  <a:outerShdw blurRad="38100" dist="38100" dir="2700000" algn="tl">
                    <a:srgbClr val="000000"/>
                  </a:outerShdw>
                </a:effectLst>
                <a:latin typeface="Lucida Console" panose="020B0609040504020204" pitchFamily="49" charset="0"/>
              </a:rPr>
              <a:t>plaintext: </a:t>
            </a:r>
            <a:r>
              <a:rPr lang="en-AU" altLang="en-US" dirty="0" err="1">
                <a:effectLst>
                  <a:outerShdw blurRad="38100" dist="38100" dir="2700000" algn="tl">
                    <a:srgbClr val="000000"/>
                  </a:outerShdw>
                </a:effectLst>
                <a:latin typeface="Lucida Console" panose="020B0609040504020204" pitchFamily="49" charset="0"/>
              </a:rPr>
              <a:t>wearediscoveredsaveyourself</a:t>
            </a:r>
            <a:endParaRPr lang="en-AU" altLang="en-US" dirty="0">
              <a:effectLst>
                <a:outerShdw blurRad="38100" dist="38100" dir="2700000" algn="tl">
                  <a:srgbClr val="000000"/>
                </a:outerShdw>
              </a:effectLst>
              <a:latin typeface="Lucida Console" panose="020B0609040504020204" pitchFamily="49" charset="0"/>
            </a:endParaRPr>
          </a:p>
          <a:p>
            <a:pPr lvl="1">
              <a:spcBef>
                <a:spcPts val="600"/>
              </a:spcBef>
              <a:buClrTx/>
              <a:buSzPct val="50000"/>
              <a:buFontTx/>
              <a:buNone/>
            </a:pPr>
            <a:r>
              <a:rPr lang="en-AU" altLang="en-US" dirty="0" err="1">
                <a:effectLst>
                  <a:outerShdw blurRad="38100" dist="38100" dir="2700000" algn="tl">
                    <a:srgbClr val="000000"/>
                  </a:outerShdw>
                </a:effectLst>
                <a:latin typeface="Lucida Console" panose="020B0609040504020204" pitchFamily="49" charset="0"/>
              </a:rPr>
              <a:t>ciphertext:ZICVTWQNGRZGVTWAVZHCQYGLMGJ</a:t>
            </a:r>
            <a:endParaRPr lang="en-AU" altLang="en-US" dirty="0">
              <a:effectLst>
                <a:outerShdw blurRad="38100" dist="38100" dir="2700000" algn="tl">
                  <a:srgbClr val="000000"/>
                </a:outerShdw>
              </a:effectLst>
              <a:latin typeface="Lucida Console" panose="020B0609040504020204" pitchFamily="49" charset="0"/>
            </a:endParaRPr>
          </a:p>
          <a:p>
            <a:pPr lvl="1">
              <a:spcBef>
                <a:spcPts val="600"/>
              </a:spcBef>
              <a:buClrTx/>
              <a:buSzPct val="50000"/>
              <a:buFontTx/>
              <a:buNone/>
            </a:pPr>
            <a:r>
              <a:rPr lang="en-AU" altLang="en-US" dirty="0">
                <a:effectLst>
                  <a:outerShdw blurRad="38100" dist="38100" dir="2700000" algn="tl">
                    <a:srgbClr val="000000"/>
                  </a:outerShdw>
                </a:effectLst>
              </a:rPr>
              <a:t>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6C61E6-B925-D4BB-F20E-F625D41127E9}"/>
              </a:ext>
            </a:extLst>
          </p:cNvPr>
          <p:cNvSpPr txBox="1"/>
          <p:nvPr/>
        </p:nvSpPr>
        <p:spPr>
          <a:xfrm>
            <a:off x="251520" y="188640"/>
            <a:ext cx="7344816" cy="1200329"/>
          </a:xfrm>
          <a:prstGeom prst="rect">
            <a:avLst/>
          </a:prstGeom>
          <a:noFill/>
        </p:spPr>
        <p:txBody>
          <a:bodyPr wrap="square">
            <a:spAutoFit/>
          </a:bodyPr>
          <a:lstStyle/>
          <a:p>
            <a:r>
              <a:rPr lang="en-IN" dirty="0">
                <a:solidFill>
                  <a:schemeClr val="tx1"/>
                </a:solidFill>
              </a:rPr>
              <a:t>The </a:t>
            </a:r>
            <a:r>
              <a:rPr lang="en-IN" b="1" dirty="0">
                <a:solidFill>
                  <a:schemeClr val="tx1"/>
                </a:solidFill>
              </a:rPr>
              <a:t>Vigenère cipher</a:t>
            </a:r>
            <a:r>
              <a:rPr lang="en-IN" dirty="0">
                <a:solidFill>
                  <a:schemeClr val="tx1"/>
                </a:solidFill>
              </a:rPr>
              <a:t> is a </a:t>
            </a:r>
            <a:r>
              <a:rPr lang="en-IN" b="1" dirty="0">
                <a:solidFill>
                  <a:schemeClr val="tx1"/>
                </a:solidFill>
              </a:rPr>
              <a:t>polyalphabetic substitution cipher</a:t>
            </a:r>
            <a:r>
              <a:rPr lang="en-IN" dirty="0">
                <a:solidFill>
                  <a:schemeClr val="tx1"/>
                </a:solidFill>
              </a:rPr>
              <a:t> that uses a </a:t>
            </a:r>
            <a:r>
              <a:rPr lang="en-IN" b="1" dirty="0">
                <a:solidFill>
                  <a:schemeClr val="tx1"/>
                </a:solidFill>
              </a:rPr>
              <a:t>keyword</a:t>
            </a:r>
            <a:r>
              <a:rPr lang="en-IN" dirty="0">
                <a:solidFill>
                  <a:schemeClr val="tx1"/>
                </a:solidFill>
              </a:rPr>
              <a:t> to encrypt text.</a:t>
            </a:r>
            <a:endParaRPr lang="en-US" dirty="0">
              <a:solidFill>
                <a:schemeClr val="tx1"/>
              </a:solidFill>
            </a:endParaRPr>
          </a:p>
        </p:txBody>
      </p:sp>
      <p:sp>
        <p:nvSpPr>
          <p:cNvPr id="5" name="TextBox 4">
            <a:extLst>
              <a:ext uri="{FF2B5EF4-FFF2-40B4-BE49-F238E27FC236}">
                <a16:creationId xmlns:a16="http://schemas.microsoft.com/office/drawing/2014/main" id="{E94931EF-EEFF-303A-C637-13C0EFF38BBF}"/>
              </a:ext>
            </a:extLst>
          </p:cNvPr>
          <p:cNvSpPr txBox="1"/>
          <p:nvPr/>
        </p:nvSpPr>
        <p:spPr>
          <a:xfrm>
            <a:off x="539552" y="1628800"/>
            <a:ext cx="6912768" cy="1938992"/>
          </a:xfrm>
          <a:prstGeom prst="rect">
            <a:avLst/>
          </a:prstGeom>
          <a:noFill/>
        </p:spPr>
        <p:txBody>
          <a:bodyPr wrap="square">
            <a:spAutoFit/>
          </a:bodyPr>
          <a:lstStyle/>
          <a:p>
            <a:r>
              <a:rPr lang="en-IN" dirty="0">
                <a:solidFill>
                  <a:schemeClr val="tx1"/>
                </a:solidFill>
              </a:rPr>
              <a:t>Choose a </a:t>
            </a:r>
            <a:r>
              <a:rPr lang="en-IN" b="1" dirty="0">
                <a:solidFill>
                  <a:schemeClr val="tx1"/>
                </a:solidFill>
              </a:rPr>
              <a:t>keyword</a:t>
            </a:r>
            <a:endParaRPr lang="en-IN" dirty="0">
              <a:solidFill>
                <a:schemeClr val="tx1"/>
              </a:solidFill>
            </a:endParaRPr>
          </a:p>
          <a:p>
            <a:r>
              <a:rPr lang="en-IN" dirty="0">
                <a:solidFill>
                  <a:schemeClr val="tx1"/>
                </a:solidFill>
              </a:rPr>
              <a:t>Repeat the keyword to match plaintext length</a:t>
            </a:r>
          </a:p>
          <a:p>
            <a:r>
              <a:rPr lang="en-IN" dirty="0">
                <a:solidFill>
                  <a:schemeClr val="tx1"/>
                </a:solidFill>
              </a:rPr>
              <a:t>Shift each plaintext letter using the corresponding key letter</a:t>
            </a:r>
          </a:p>
          <a:p>
            <a:r>
              <a:rPr lang="en-IN" dirty="0">
                <a:solidFill>
                  <a:schemeClr val="tx1"/>
                </a:solidFill>
              </a:rPr>
              <a:t>Uses </a:t>
            </a:r>
            <a:r>
              <a:rPr lang="en-IN" b="1" dirty="0">
                <a:solidFill>
                  <a:schemeClr val="tx1"/>
                </a:solidFill>
              </a:rPr>
              <a:t>multiple Caesar ciphers</a:t>
            </a:r>
            <a:r>
              <a:rPr lang="en-IN" dirty="0">
                <a:solidFill>
                  <a:schemeClr val="tx1"/>
                </a:solidFill>
              </a:rPr>
              <a:t>, not just one</a:t>
            </a:r>
          </a:p>
        </p:txBody>
      </p:sp>
      <p:pic>
        <p:nvPicPr>
          <p:cNvPr id="7" name="Picture 6" descr="A black text with a plus and a white background&#10;&#10;Description automatically generated">
            <a:extLst>
              <a:ext uri="{FF2B5EF4-FFF2-40B4-BE49-F238E27FC236}">
                <a16:creationId xmlns:a16="http://schemas.microsoft.com/office/drawing/2014/main" id="{EC5EAF75-6952-951E-8563-4FA01B4ECC6A}"/>
              </a:ext>
            </a:extLst>
          </p:cNvPr>
          <p:cNvPicPr>
            <a:picLocks noChangeAspect="1"/>
          </p:cNvPicPr>
          <p:nvPr/>
        </p:nvPicPr>
        <p:blipFill>
          <a:blip r:embed="rId3"/>
          <a:stretch>
            <a:fillRect/>
          </a:stretch>
        </p:blipFill>
        <p:spPr>
          <a:xfrm>
            <a:off x="1835696" y="3793015"/>
            <a:ext cx="3886200" cy="571500"/>
          </a:xfrm>
          <a:prstGeom prst="rect">
            <a:avLst/>
          </a:prstGeom>
        </p:spPr>
      </p:pic>
      <p:graphicFrame>
        <p:nvGraphicFramePr>
          <p:cNvPr id="8" name="Table 7">
            <a:extLst>
              <a:ext uri="{FF2B5EF4-FFF2-40B4-BE49-F238E27FC236}">
                <a16:creationId xmlns:a16="http://schemas.microsoft.com/office/drawing/2014/main" id="{F6F3DD03-53B6-FAD3-EFD2-BE12C30A3796}"/>
              </a:ext>
            </a:extLst>
          </p:cNvPr>
          <p:cNvGraphicFramePr>
            <a:graphicFrameLocks noGrp="1"/>
          </p:cNvGraphicFramePr>
          <p:nvPr>
            <p:extLst>
              <p:ext uri="{D42A27DB-BD31-4B8C-83A1-F6EECF244321}">
                <p14:modId xmlns:p14="http://schemas.microsoft.com/office/powerpoint/2010/main" val="3505978337"/>
              </p:ext>
            </p:extLst>
          </p:nvPr>
        </p:nvGraphicFramePr>
        <p:xfrm>
          <a:off x="251516" y="4331396"/>
          <a:ext cx="8534773" cy="1737360"/>
        </p:xfrm>
        <a:graphic>
          <a:graphicData uri="http://schemas.openxmlformats.org/drawingml/2006/table">
            <a:tbl>
              <a:tblPr/>
              <a:tblGrid>
                <a:gridCol w="656521">
                  <a:extLst>
                    <a:ext uri="{9D8B030D-6E8A-4147-A177-3AD203B41FA5}">
                      <a16:colId xmlns:a16="http://schemas.microsoft.com/office/drawing/2014/main" val="1332464347"/>
                    </a:ext>
                  </a:extLst>
                </a:gridCol>
                <a:gridCol w="656521">
                  <a:extLst>
                    <a:ext uri="{9D8B030D-6E8A-4147-A177-3AD203B41FA5}">
                      <a16:colId xmlns:a16="http://schemas.microsoft.com/office/drawing/2014/main" val="3228482866"/>
                    </a:ext>
                  </a:extLst>
                </a:gridCol>
                <a:gridCol w="656521">
                  <a:extLst>
                    <a:ext uri="{9D8B030D-6E8A-4147-A177-3AD203B41FA5}">
                      <a16:colId xmlns:a16="http://schemas.microsoft.com/office/drawing/2014/main" val="875241979"/>
                    </a:ext>
                  </a:extLst>
                </a:gridCol>
                <a:gridCol w="656521">
                  <a:extLst>
                    <a:ext uri="{9D8B030D-6E8A-4147-A177-3AD203B41FA5}">
                      <a16:colId xmlns:a16="http://schemas.microsoft.com/office/drawing/2014/main" val="197122385"/>
                    </a:ext>
                  </a:extLst>
                </a:gridCol>
                <a:gridCol w="656521">
                  <a:extLst>
                    <a:ext uri="{9D8B030D-6E8A-4147-A177-3AD203B41FA5}">
                      <a16:colId xmlns:a16="http://schemas.microsoft.com/office/drawing/2014/main" val="2933909985"/>
                    </a:ext>
                  </a:extLst>
                </a:gridCol>
                <a:gridCol w="656521">
                  <a:extLst>
                    <a:ext uri="{9D8B030D-6E8A-4147-A177-3AD203B41FA5}">
                      <a16:colId xmlns:a16="http://schemas.microsoft.com/office/drawing/2014/main" val="2877578964"/>
                    </a:ext>
                  </a:extLst>
                </a:gridCol>
                <a:gridCol w="656521">
                  <a:extLst>
                    <a:ext uri="{9D8B030D-6E8A-4147-A177-3AD203B41FA5}">
                      <a16:colId xmlns:a16="http://schemas.microsoft.com/office/drawing/2014/main" val="2948182709"/>
                    </a:ext>
                  </a:extLst>
                </a:gridCol>
                <a:gridCol w="656521">
                  <a:extLst>
                    <a:ext uri="{9D8B030D-6E8A-4147-A177-3AD203B41FA5}">
                      <a16:colId xmlns:a16="http://schemas.microsoft.com/office/drawing/2014/main" val="1015109442"/>
                    </a:ext>
                  </a:extLst>
                </a:gridCol>
                <a:gridCol w="656521">
                  <a:extLst>
                    <a:ext uri="{9D8B030D-6E8A-4147-A177-3AD203B41FA5}">
                      <a16:colId xmlns:a16="http://schemas.microsoft.com/office/drawing/2014/main" val="1647573805"/>
                    </a:ext>
                  </a:extLst>
                </a:gridCol>
                <a:gridCol w="656521">
                  <a:extLst>
                    <a:ext uri="{9D8B030D-6E8A-4147-A177-3AD203B41FA5}">
                      <a16:colId xmlns:a16="http://schemas.microsoft.com/office/drawing/2014/main" val="1495876559"/>
                    </a:ext>
                  </a:extLst>
                </a:gridCol>
                <a:gridCol w="656521">
                  <a:extLst>
                    <a:ext uri="{9D8B030D-6E8A-4147-A177-3AD203B41FA5}">
                      <a16:colId xmlns:a16="http://schemas.microsoft.com/office/drawing/2014/main" val="2225119927"/>
                    </a:ext>
                  </a:extLst>
                </a:gridCol>
                <a:gridCol w="656521">
                  <a:extLst>
                    <a:ext uri="{9D8B030D-6E8A-4147-A177-3AD203B41FA5}">
                      <a16:colId xmlns:a16="http://schemas.microsoft.com/office/drawing/2014/main" val="2795813541"/>
                    </a:ext>
                  </a:extLst>
                </a:gridCol>
                <a:gridCol w="656521">
                  <a:extLst>
                    <a:ext uri="{9D8B030D-6E8A-4147-A177-3AD203B41FA5}">
                      <a16:colId xmlns:a16="http://schemas.microsoft.com/office/drawing/2014/main" val="2740644166"/>
                    </a:ext>
                  </a:extLst>
                </a:gridCol>
              </a:tblGrid>
              <a:tr h="0">
                <a:tc>
                  <a:txBody>
                    <a:bodyPr/>
                    <a:lstStyle/>
                    <a:p>
                      <a:r>
                        <a:rPr lang="en-IN"/>
                        <a:t>Plain</a:t>
                      </a:r>
                    </a:p>
                  </a:txBody>
                  <a:tcPr anchor="ctr">
                    <a:lnL>
                      <a:noFill/>
                    </a:lnL>
                    <a:lnR>
                      <a:noFill/>
                    </a:lnR>
                    <a:lnT>
                      <a:noFill/>
                    </a:lnT>
                    <a:lnB>
                      <a:noFill/>
                    </a:lnB>
                  </a:tcPr>
                </a:tc>
                <a:tc>
                  <a:txBody>
                    <a:bodyPr/>
                    <a:lstStyle/>
                    <a:p>
                      <a:r>
                        <a:rPr lang="en-IN"/>
                        <a:t>A</a:t>
                      </a:r>
                    </a:p>
                  </a:txBody>
                  <a:tcPr anchor="ctr">
                    <a:lnL>
                      <a:noFill/>
                    </a:lnL>
                    <a:lnR>
                      <a:noFill/>
                    </a:lnR>
                    <a:lnT>
                      <a:noFill/>
                    </a:lnT>
                    <a:lnB>
                      <a:noFill/>
                    </a:lnB>
                  </a:tcPr>
                </a:tc>
                <a:tc>
                  <a:txBody>
                    <a:bodyPr/>
                    <a:lstStyle/>
                    <a:p>
                      <a:r>
                        <a:rPr lang="en-IN"/>
                        <a:t>T</a:t>
                      </a:r>
                    </a:p>
                  </a:txBody>
                  <a:tcPr anchor="ctr">
                    <a:lnL>
                      <a:noFill/>
                    </a:lnL>
                    <a:lnR>
                      <a:noFill/>
                    </a:lnR>
                    <a:lnT>
                      <a:noFill/>
                    </a:lnT>
                    <a:lnB>
                      <a:noFill/>
                    </a:lnB>
                  </a:tcPr>
                </a:tc>
                <a:tc>
                  <a:txBody>
                    <a:bodyPr/>
                    <a:lstStyle/>
                    <a:p>
                      <a:r>
                        <a:rPr lang="en-IN"/>
                        <a:t>T</a:t>
                      </a:r>
                    </a:p>
                  </a:txBody>
                  <a:tcPr anchor="ctr">
                    <a:lnL>
                      <a:noFill/>
                    </a:lnL>
                    <a:lnR>
                      <a:noFill/>
                    </a:lnR>
                    <a:lnT>
                      <a:noFill/>
                    </a:lnT>
                    <a:lnB>
                      <a:noFill/>
                    </a:lnB>
                  </a:tcPr>
                </a:tc>
                <a:tc>
                  <a:txBody>
                    <a:bodyPr/>
                    <a:lstStyle/>
                    <a:p>
                      <a:r>
                        <a:rPr lang="en-IN"/>
                        <a:t>A</a:t>
                      </a:r>
                    </a:p>
                  </a:txBody>
                  <a:tcPr anchor="ctr">
                    <a:lnL>
                      <a:noFill/>
                    </a:lnL>
                    <a:lnR>
                      <a:noFill/>
                    </a:lnR>
                    <a:lnT>
                      <a:noFill/>
                    </a:lnT>
                    <a:lnB>
                      <a:noFill/>
                    </a:lnB>
                  </a:tcPr>
                </a:tc>
                <a:tc>
                  <a:txBody>
                    <a:bodyPr/>
                    <a:lstStyle/>
                    <a:p>
                      <a:r>
                        <a:rPr lang="en-IN"/>
                        <a:t>C</a:t>
                      </a:r>
                    </a:p>
                  </a:txBody>
                  <a:tcPr anchor="ctr">
                    <a:lnL>
                      <a:noFill/>
                    </a:lnL>
                    <a:lnR>
                      <a:noFill/>
                    </a:lnR>
                    <a:lnT>
                      <a:noFill/>
                    </a:lnT>
                    <a:lnB>
                      <a:noFill/>
                    </a:lnB>
                  </a:tcPr>
                </a:tc>
                <a:tc>
                  <a:txBody>
                    <a:bodyPr/>
                    <a:lstStyle/>
                    <a:p>
                      <a:r>
                        <a:rPr lang="en-IN"/>
                        <a:t>K</a:t>
                      </a:r>
                    </a:p>
                  </a:txBody>
                  <a:tcPr anchor="ctr">
                    <a:lnL>
                      <a:noFill/>
                    </a:lnL>
                    <a:lnR>
                      <a:noFill/>
                    </a:lnR>
                    <a:lnT>
                      <a:noFill/>
                    </a:lnT>
                    <a:lnB>
                      <a:noFill/>
                    </a:lnB>
                  </a:tcPr>
                </a:tc>
                <a:tc>
                  <a:txBody>
                    <a:bodyPr/>
                    <a:lstStyle/>
                    <a:p>
                      <a:r>
                        <a:rPr lang="en-IN"/>
                        <a:t>A</a:t>
                      </a:r>
                    </a:p>
                  </a:txBody>
                  <a:tcPr anchor="ctr">
                    <a:lnL>
                      <a:noFill/>
                    </a:lnL>
                    <a:lnR>
                      <a:noFill/>
                    </a:lnR>
                    <a:lnT>
                      <a:noFill/>
                    </a:lnT>
                    <a:lnB>
                      <a:noFill/>
                    </a:lnB>
                  </a:tcPr>
                </a:tc>
                <a:tc>
                  <a:txBody>
                    <a:bodyPr/>
                    <a:lstStyle/>
                    <a:p>
                      <a:r>
                        <a:rPr lang="en-IN"/>
                        <a:t>T</a:t>
                      </a:r>
                    </a:p>
                  </a:txBody>
                  <a:tcPr anchor="ctr">
                    <a:lnL>
                      <a:noFill/>
                    </a:lnL>
                    <a:lnR>
                      <a:noFill/>
                    </a:lnR>
                    <a:lnT>
                      <a:noFill/>
                    </a:lnT>
                    <a:lnB>
                      <a:noFill/>
                    </a:lnB>
                  </a:tcPr>
                </a:tc>
                <a:tc>
                  <a:txBody>
                    <a:bodyPr/>
                    <a:lstStyle/>
                    <a:p>
                      <a:r>
                        <a:rPr lang="en-IN"/>
                        <a:t>D</a:t>
                      </a:r>
                    </a:p>
                  </a:txBody>
                  <a:tcPr anchor="ctr">
                    <a:lnL>
                      <a:noFill/>
                    </a:lnL>
                    <a:lnR>
                      <a:noFill/>
                    </a:lnR>
                    <a:lnT>
                      <a:noFill/>
                    </a:lnT>
                    <a:lnB>
                      <a:noFill/>
                    </a:lnB>
                  </a:tcPr>
                </a:tc>
                <a:tc>
                  <a:txBody>
                    <a:bodyPr/>
                    <a:lstStyle/>
                    <a:p>
                      <a:r>
                        <a:rPr lang="en-IN"/>
                        <a:t>A</a:t>
                      </a:r>
                    </a:p>
                  </a:txBody>
                  <a:tcPr anchor="ctr">
                    <a:lnL>
                      <a:noFill/>
                    </a:lnL>
                    <a:lnR>
                      <a:noFill/>
                    </a:lnR>
                    <a:lnT>
                      <a:noFill/>
                    </a:lnT>
                    <a:lnB>
                      <a:noFill/>
                    </a:lnB>
                  </a:tcPr>
                </a:tc>
                <a:tc>
                  <a:txBody>
                    <a:bodyPr/>
                    <a:lstStyle/>
                    <a:p>
                      <a:r>
                        <a:rPr lang="en-IN"/>
                        <a:t>W</a:t>
                      </a:r>
                    </a:p>
                  </a:txBody>
                  <a:tcPr anchor="ctr">
                    <a:lnL>
                      <a:noFill/>
                    </a:lnL>
                    <a:lnR>
                      <a:noFill/>
                    </a:lnR>
                    <a:lnT>
                      <a:noFill/>
                    </a:lnT>
                    <a:lnB>
                      <a:noFill/>
                    </a:lnB>
                  </a:tcPr>
                </a:tc>
                <a:tc>
                  <a:txBody>
                    <a:bodyPr/>
                    <a:lstStyle/>
                    <a:p>
                      <a:r>
                        <a:rPr lang="en-IN"/>
                        <a:t>N</a:t>
                      </a:r>
                    </a:p>
                  </a:txBody>
                  <a:tcPr anchor="ctr">
                    <a:lnL>
                      <a:noFill/>
                    </a:lnL>
                    <a:lnR>
                      <a:noFill/>
                    </a:lnR>
                    <a:lnT>
                      <a:noFill/>
                    </a:lnT>
                    <a:lnB>
                      <a:noFill/>
                    </a:lnB>
                  </a:tcPr>
                </a:tc>
                <a:extLst>
                  <a:ext uri="{0D108BD9-81ED-4DB2-BD59-A6C34878D82A}">
                    <a16:rowId xmlns:a16="http://schemas.microsoft.com/office/drawing/2014/main" val="2642968945"/>
                  </a:ext>
                </a:extLst>
              </a:tr>
              <a:tr h="0">
                <a:tc>
                  <a:txBody>
                    <a:bodyPr/>
                    <a:lstStyle/>
                    <a:p>
                      <a:r>
                        <a:rPr lang="en-IN"/>
                        <a:t>Key</a:t>
                      </a:r>
                    </a:p>
                  </a:txBody>
                  <a:tcPr anchor="ctr">
                    <a:lnL>
                      <a:noFill/>
                    </a:lnL>
                    <a:lnR>
                      <a:noFill/>
                    </a:lnR>
                    <a:lnT>
                      <a:noFill/>
                    </a:lnT>
                    <a:lnB>
                      <a:noFill/>
                    </a:lnB>
                  </a:tcPr>
                </a:tc>
                <a:tc>
                  <a:txBody>
                    <a:bodyPr/>
                    <a:lstStyle/>
                    <a:p>
                      <a:r>
                        <a:rPr lang="en-IN"/>
                        <a:t>L</a:t>
                      </a:r>
                    </a:p>
                  </a:txBody>
                  <a:tcPr anchor="ctr">
                    <a:lnL>
                      <a:noFill/>
                    </a:lnL>
                    <a:lnR>
                      <a:noFill/>
                    </a:lnR>
                    <a:lnT>
                      <a:noFill/>
                    </a:lnT>
                    <a:lnB>
                      <a:noFill/>
                    </a:lnB>
                  </a:tcPr>
                </a:tc>
                <a:tc>
                  <a:txBody>
                    <a:bodyPr/>
                    <a:lstStyle/>
                    <a:p>
                      <a:r>
                        <a:rPr lang="en-IN"/>
                        <a:t>E</a:t>
                      </a:r>
                    </a:p>
                  </a:txBody>
                  <a:tcPr anchor="ctr">
                    <a:lnL>
                      <a:noFill/>
                    </a:lnL>
                    <a:lnR>
                      <a:noFill/>
                    </a:lnR>
                    <a:lnT>
                      <a:noFill/>
                    </a:lnT>
                    <a:lnB>
                      <a:noFill/>
                    </a:lnB>
                  </a:tcPr>
                </a:tc>
                <a:tc>
                  <a:txBody>
                    <a:bodyPr/>
                    <a:lstStyle/>
                    <a:p>
                      <a:r>
                        <a:rPr lang="en-IN"/>
                        <a:t>M</a:t>
                      </a:r>
                    </a:p>
                  </a:txBody>
                  <a:tcPr anchor="ctr">
                    <a:lnL>
                      <a:noFill/>
                    </a:lnL>
                    <a:lnR>
                      <a:noFill/>
                    </a:lnR>
                    <a:lnT>
                      <a:noFill/>
                    </a:lnT>
                    <a:lnB>
                      <a:noFill/>
                    </a:lnB>
                  </a:tcPr>
                </a:tc>
                <a:tc>
                  <a:txBody>
                    <a:bodyPr/>
                    <a:lstStyle/>
                    <a:p>
                      <a:r>
                        <a:rPr lang="en-IN"/>
                        <a:t>O</a:t>
                      </a:r>
                    </a:p>
                  </a:txBody>
                  <a:tcPr anchor="ctr">
                    <a:lnL>
                      <a:noFill/>
                    </a:lnL>
                    <a:lnR>
                      <a:noFill/>
                    </a:lnR>
                    <a:lnT>
                      <a:noFill/>
                    </a:lnT>
                    <a:lnB>
                      <a:noFill/>
                    </a:lnB>
                  </a:tcPr>
                </a:tc>
                <a:tc>
                  <a:txBody>
                    <a:bodyPr/>
                    <a:lstStyle/>
                    <a:p>
                      <a:r>
                        <a:rPr lang="en-IN"/>
                        <a:t>N</a:t>
                      </a:r>
                    </a:p>
                  </a:txBody>
                  <a:tcPr anchor="ctr">
                    <a:lnL>
                      <a:noFill/>
                    </a:lnL>
                    <a:lnR>
                      <a:noFill/>
                    </a:lnR>
                    <a:lnT>
                      <a:noFill/>
                    </a:lnT>
                    <a:lnB>
                      <a:noFill/>
                    </a:lnB>
                  </a:tcPr>
                </a:tc>
                <a:tc>
                  <a:txBody>
                    <a:bodyPr/>
                    <a:lstStyle/>
                    <a:p>
                      <a:r>
                        <a:rPr lang="en-IN"/>
                        <a:t>L</a:t>
                      </a:r>
                    </a:p>
                  </a:txBody>
                  <a:tcPr anchor="ctr">
                    <a:lnL>
                      <a:noFill/>
                    </a:lnL>
                    <a:lnR>
                      <a:noFill/>
                    </a:lnR>
                    <a:lnT>
                      <a:noFill/>
                    </a:lnT>
                    <a:lnB>
                      <a:noFill/>
                    </a:lnB>
                  </a:tcPr>
                </a:tc>
                <a:tc>
                  <a:txBody>
                    <a:bodyPr/>
                    <a:lstStyle/>
                    <a:p>
                      <a:r>
                        <a:rPr lang="en-IN"/>
                        <a:t>E</a:t>
                      </a:r>
                    </a:p>
                  </a:txBody>
                  <a:tcPr anchor="ctr">
                    <a:lnL>
                      <a:noFill/>
                    </a:lnL>
                    <a:lnR>
                      <a:noFill/>
                    </a:lnR>
                    <a:lnT>
                      <a:noFill/>
                    </a:lnT>
                    <a:lnB>
                      <a:noFill/>
                    </a:lnB>
                  </a:tcPr>
                </a:tc>
                <a:tc>
                  <a:txBody>
                    <a:bodyPr/>
                    <a:lstStyle/>
                    <a:p>
                      <a:r>
                        <a:rPr lang="en-IN"/>
                        <a:t>M</a:t>
                      </a:r>
                    </a:p>
                  </a:txBody>
                  <a:tcPr anchor="ctr">
                    <a:lnL>
                      <a:noFill/>
                    </a:lnL>
                    <a:lnR>
                      <a:noFill/>
                    </a:lnR>
                    <a:lnT>
                      <a:noFill/>
                    </a:lnT>
                    <a:lnB>
                      <a:noFill/>
                    </a:lnB>
                  </a:tcPr>
                </a:tc>
                <a:tc>
                  <a:txBody>
                    <a:bodyPr/>
                    <a:lstStyle/>
                    <a:p>
                      <a:r>
                        <a:rPr lang="en-IN"/>
                        <a:t>O</a:t>
                      </a:r>
                    </a:p>
                  </a:txBody>
                  <a:tcPr anchor="ctr">
                    <a:lnL>
                      <a:noFill/>
                    </a:lnL>
                    <a:lnR>
                      <a:noFill/>
                    </a:lnR>
                    <a:lnT>
                      <a:noFill/>
                    </a:lnT>
                    <a:lnB>
                      <a:noFill/>
                    </a:lnB>
                  </a:tcPr>
                </a:tc>
                <a:tc>
                  <a:txBody>
                    <a:bodyPr/>
                    <a:lstStyle/>
                    <a:p>
                      <a:r>
                        <a:rPr lang="en-IN"/>
                        <a:t>N</a:t>
                      </a:r>
                    </a:p>
                  </a:txBody>
                  <a:tcPr anchor="ctr">
                    <a:lnL>
                      <a:noFill/>
                    </a:lnL>
                    <a:lnR>
                      <a:noFill/>
                    </a:lnR>
                    <a:lnT>
                      <a:noFill/>
                    </a:lnT>
                    <a:lnB>
                      <a:noFill/>
                    </a:lnB>
                  </a:tcPr>
                </a:tc>
                <a:tc>
                  <a:txBody>
                    <a:bodyPr/>
                    <a:lstStyle/>
                    <a:p>
                      <a:r>
                        <a:rPr lang="en-IN"/>
                        <a:t>L</a:t>
                      </a:r>
                    </a:p>
                  </a:txBody>
                  <a:tcPr anchor="ctr">
                    <a:lnL>
                      <a:noFill/>
                    </a:lnL>
                    <a:lnR>
                      <a:noFill/>
                    </a:lnR>
                    <a:lnT>
                      <a:noFill/>
                    </a:lnT>
                    <a:lnB>
                      <a:noFill/>
                    </a:lnB>
                  </a:tcPr>
                </a:tc>
                <a:tc>
                  <a:txBody>
                    <a:bodyPr/>
                    <a:lstStyle/>
                    <a:p>
                      <a:r>
                        <a:rPr lang="en-IN"/>
                        <a:t>E</a:t>
                      </a:r>
                    </a:p>
                  </a:txBody>
                  <a:tcPr anchor="ctr">
                    <a:lnL>
                      <a:noFill/>
                    </a:lnL>
                    <a:lnR>
                      <a:noFill/>
                    </a:lnR>
                    <a:lnT>
                      <a:noFill/>
                    </a:lnT>
                    <a:lnB>
                      <a:noFill/>
                    </a:lnB>
                  </a:tcPr>
                </a:tc>
                <a:extLst>
                  <a:ext uri="{0D108BD9-81ED-4DB2-BD59-A6C34878D82A}">
                    <a16:rowId xmlns:a16="http://schemas.microsoft.com/office/drawing/2014/main" val="3957208430"/>
                  </a:ext>
                </a:extLst>
              </a:tr>
              <a:tr h="0">
                <a:tc>
                  <a:txBody>
                    <a:bodyPr/>
                    <a:lstStyle/>
                    <a:p>
                      <a:r>
                        <a:rPr lang="en-IN"/>
                        <a:t>Val</a:t>
                      </a:r>
                    </a:p>
                  </a:txBody>
                  <a:tcPr anchor="ctr">
                    <a:lnL>
                      <a:noFill/>
                    </a:lnL>
                    <a:lnR>
                      <a:noFill/>
                    </a:lnR>
                    <a:lnT>
                      <a:noFill/>
                    </a:lnT>
                    <a:lnB>
                      <a:noFill/>
                    </a:lnB>
                  </a:tcPr>
                </a:tc>
                <a:tc>
                  <a:txBody>
                    <a:bodyPr/>
                    <a:lstStyle/>
                    <a:p>
                      <a:r>
                        <a:rPr lang="en-IN"/>
                        <a:t>11</a:t>
                      </a:r>
                    </a:p>
                  </a:txBody>
                  <a:tcPr anchor="ctr">
                    <a:lnL>
                      <a:noFill/>
                    </a:lnL>
                    <a:lnR>
                      <a:noFill/>
                    </a:lnR>
                    <a:lnT>
                      <a:noFill/>
                    </a:lnT>
                    <a:lnB>
                      <a:noFill/>
                    </a:lnB>
                  </a:tcPr>
                </a:tc>
                <a:tc>
                  <a:txBody>
                    <a:bodyPr/>
                    <a:lstStyle/>
                    <a:p>
                      <a:r>
                        <a:rPr lang="en-IN"/>
                        <a:t>4</a:t>
                      </a:r>
                    </a:p>
                  </a:txBody>
                  <a:tcPr anchor="ctr">
                    <a:lnL>
                      <a:noFill/>
                    </a:lnL>
                    <a:lnR>
                      <a:noFill/>
                    </a:lnR>
                    <a:lnT>
                      <a:noFill/>
                    </a:lnT>
                    <a:lnB>
                      <a:noFill/>
                    </a:lnB>
                  </a:tcPr>
                </a:tc>
                <a:tc>
                  <a:txBody>
                    <a:bodyPr/>
                    <a:lstStyle/>
                    <a:p>
                      <a:r>
                        <a:rPr lang="en-IN"/>
                        <a:t>12</a:t>
                      </a:r>
                    </a:p>
                  </a:txBody>
                  <a:tcPr anchor="ctr">
                    <a:lnL>
                      <a:noFill/>
                    </a:lnL>
                    <a:lnR>
                      <a:noFill/>
                    </a:lnR>
                    <a:lnT>
                      <a:noFill/>
                    </a:lnT>
                    <a:lnB>
                      <a:noFill/>
                    </a:lnB>
                  </a:tcPr>
                </a:tc>
                <a:tc>
                  <a:txBody>
                    <a:bodyPr/>
                    <a:lstStyle/>
                    <a:p>
                      <a:r>
                        <a:rPr lang="en-IN"/>
                        <a:t>14</a:t>
                      </a:r>
                    </a:p>
                  </a:txBody>
                  <a:tcPr anchor="ctr">
                    <a:lnL>
                      <a:noFill/>
                    </a:lnL>
                    <a:lnR>
                      <a:noFill/>
                    </a:lnR>
                    <a:lnT>
                      <a:noFill/>
                    </a:lnT>
                    <a:lnB>
                      <a:noFill/>
                    </a:lnB>
                  </a:tcPr>
                </a:tc>
                <a:tc>
                  <a:txBody>
                    <a:bodyPr/>
                    <a:lstStyle/>
                    <a:p>
                      <a:r>
                        <a:rPr lang="en-IN"/>
                        <a:t>13</a:t>
                      </a:r>
                    </a:p>
                  </a:txBody>
                  <a:tcPr anchor="ctr">
                    <a:lnL>
                      <a:noFill/>
                    </a:lnL>
                    <a:lnR>
                      <a:noFill/>
                    </a:lnR>
                    <a:lnT>
                      <a:noFill/>
                    </a:lnT>
                    <a:lnB>
                      <a:noFill/>
                    </a:lnB>
                  </a:tcPr>
                </a:tc>
                <a:tc>
                  <a:txBody>
                    <a:bodyPr/>
                    <a:lstStyle/>
                    <a:p>
                      <a:r>
                        <a:rPr lang="en-IN"/>
                        <a:t>11</a:t>
                      </a:r>
                    </a:p>
                  </a:txBody>
                  <a:tcPr anchor="ctr">
                    <a:lnL>
                      <a:noFill/>
                    </a:lnL>
                    <a:lnR>
                      <a:noFill/>
                    </a:lnR>
                    <a:lnT>
                      <a:noFill/>
                    </a:lnT>
                    <a:lnB>
                      <a:noFill/>
                    </a:lnB>
                  </a:tcPr>
                </a:tc>
                <a:tc>
                  <a:txBody>
                    <a:bodyPr/>
                    <a:lstStyle/>
                    <a:p>
                      <a:r>
                        <a:rPr lang="en-IN"/>
                        <a:t>4</a:t>
                      </a:r>
                    </a:p>
                  </a:txBody>
                  <a:tcPr anchor="ctr">
                    <a:lnL>
                      <a:noFill/>
                    </a:lnL>
                    <a:lnR>
                      <a:noFill/>
                    </a:lnR>
                    <a:lnT>
                      <a:noFill/>
                    </a:lnT>
                    <a:lnB>
                      <a:noFill/>
                    </a:lnB>
                  </a:tcPr>
                </a:tc>
                <a:tc>
                  <a:txBody>
                    <a:bodyPr/>
                    <a:lstStyle/>
                    <a:p>
                      <a:r>
                        <a:rPr lang="en-IN"/>
                        <a:t>12</a:t>
                      </a:r>
                    </a:p>
                  </a:txBody>
                  <a:tcPr anchor="ctr">
                    <a:lnL>
                      <a:noFill/>
                    </a:lnL>
                    <a:lnR>
                      <a:noFill/>
                    </a:lnR>
                    <a:lnT>
                      <a:noFill/>
                    </a:lnT>
                    <a:lnB>
                      <a:noFill/>
                    </a:lnB>
                  </a:tcPr>
                </a:tc>
                <a:tc>
                  <a:txBody>
                    <a:bodyPr/>
                    <a:lstStyle/>
                    <a:p>
                      <a:r>
                        <a:rPr lang="en-IN"/>
                        <a:t>14</a:t>
                      </a:r>
                    </a:p>
                  </a:txBody>
                  <a:tcPr anchor="ctr">
                    <a:lnL>
                      <a:noFill/>
                    </a:lnL>
                    <a:lnR>
                      <a:noFill/>
                    </a:lnR>
                    <a:lnT>
                      <a:noFill/>
                    </a:lnT>
                    <a:lnB>
                      <a:noFill/>
                    </a:lnB>
                  </a:tcPr>
                </a:tc>
                <a:tc>
                  <a:txBody>
                    <a:bodyPr/>
                    <a:lstStyle/>
                    <a:p>
                      <a:r>
                        <a:rPr lang="en-IN"/>
                        <a:t>13</a:t>
                      </a:r>
                    </a:p>
                  </a:txBody>
                  <a:tcPr anchor="ctr">
                    <a:lnL>
                      <a:noFill/>
                    </a:lnL>
                    <a:lnR>
                      <a:noFill/>
                    </a:lnR>
                    <a:lnT>
                      <a:noFill/>
                    </a:lnT>
                    <a:lnB>
                      <a:noFill/>
                    </a:lnB>
                  </a:tcPr>
                </a:tc>
                <a:tc>
                  <a:txBody>
                    <a:bodyPr/>
                    <a:lstStyle/>
                    <a:p>
                      <a:r>
                        <a:rPr lang="en-IN"/>
                        <a:t>11</a:t>
                      </a:r>
                    </a:p>
                  </a:txBody>
                  <a:tcPr anchor="ctr">
                    <a:lnL>
                      <a:noFill/>
                    </a:lnL>
                    <a:lnR>
                      <a:noFill/>
                    </a:lnR>
                    <a:lnT>
                      <a:noFill/>
                    </a:lnT>
                    <a:lnB>
                      <a:noFill/>
                    </a:lnB>
                  </a:tcPr>
                </a:tc>
                <a:tc>
                  <a:txBody>
                    <a:bodyPr/>
                    <a:lstStyle/>
                    <a:p>
                      <a:r>
                        <a:rPr lang="en-IN"/>
                        <a:t>4</a:t>
                      </a:r>
                    </a:p>
                  </a:txBody>
                  <a:tcPr anchor="ctr">
                    <a:lnL>
                      <a:noFill/>
                    </a:lnL>
                    <a:lnR>
                      <a:noFill/>
                    </a:lnR>
                    <a:lnT>
                      <a:noFill/>
                    </a:lnT>
                    <a:lnB>
                      <a:noFill/>
                    </a:lnB>
                  </a:tcPr>
                </a:tc>
                <a:extLst>
                  <a:ext uri="{0D108BD9-81ED-4DB2-BD59-A6C34878D82A}">
                    <a16:rowId xmlns:a16="http://schemas.microsoft.com/office/drawing/2014/main" val="2699253493"/>
                  </a:ext>
                </a:extLst>
              </a:tr>
              <a:tr h="0">
                <a:tc>
                  <a:txBody>
                    <a:bodyPr/>
                    <a:lstStyle/>
                    <a:p>
                      <a:r>
                        <a:rPr lang="en-IN"/>
                        <a:t>Cipher</a:t>
                      </a:r>
                    </a:p>
                  </a:txBody>
                  <a:tcPr anchor="ctr">
                    <a:lnL>
                      <a:noFill/>
                    </a:lnL>
                    <a:lnR>
                      <a:noFill/>
                    </a:lnR>
                    <a:lnT>
                      <a:noFill/>
                    </a:lnT>
                    <a:lnB>
                      <a:noFill/>
                    </a:lnB>
                  </a:tcPr>
                </a:tc>
                <a:tc>
                  <a:txBody>
                    <a:bodyPr/>
                    <a:lstStyle/>
                    <a:p>
                      <a:r>
                        <a:rPr lang="en-IN"/>
                        <a:t>L</a:t>
                      </a:r>
                    </a:p>
                  </a:txBody>
                  <a:tcPr anchor="ctr">
                    <a:lnL>
                      <a:noFill/>
                    </a:lnL>
                    <a:lnR>
                      <a:noFill/>
                    </a:lnR>
                    <a:lnT>
                      <a:noFill/>
                    </a:lnT>
                    <a:lnB>
                      <a:noFill/>
                    </a:lnB>
                  </a:tcPr>
                </a:tc>
                <a:tc>
                  <a:txBody>
                    <a:bodyPr/>
                    <a:lstStyle/>
                    <a:p>
                      <a:r>
                        <a:rPr lang="en-IN"/>
                        <a:t>X</a:t>
                      </a:r>
                    </a:p>
                  </a:txBody>
                  <a:tcPr anchor="ctr">
                    <a:lnL>
                      <a:noFill/>
                    </a:lnL>
                    <a:lnR>
                      <a:noFill/>
                    </a:lnR>
                    <a:lnT>
                      <a:noFill/>
                    </a:lnT>
                    <a:lnB>
                      <a:noFill/>
                    </a:lnB>
                  </a:tcPr>
                </a:tc>
                <a:tc>
                  <a:txBody>
                    <a:bodyPr/>
                    <a:lstStyle/>
                    <a:p>
                      <a:r>
                        <a:rPr lang="en-IN"/>
                        <a:t>F</a:t>
                      </a:r>
                    </a:p>
                  </a:txBody>
                  <a:tcPr anchor="ctr">
                    <a:lnL>
                      <a:noFill/>
                    </a:lnL>
                    <a:lnR>
                      <a:noFill/>
                    </a:lnR>
                    <a:lnT>
                      <a:noFill/>
                    </a:lnT>
                    <a:lnB>
                      <a:noFill/>
                    </a:lnB>
                  </a:tcPr>
                </a:tc>
                <a:tc>
                  <a:txBody>
                    <a:bodyPr/>
                    <a:lstStyle/>
                    <a:p>
                      <a:r>
                        <a:rPr lang="en-IN"/>
                        <a:t>O</a:t>
                      </a:r>
                    </a:p>
                  </a:txBody>
                  <a:tcPr anchor="ctr">
                    <a:lnL>
                      <a:noFill/>
                    </a:lnL>
                    <a:lnR>
                      <a:noFill/>
                    </a:lnR>
                    <a:lnT>
                      <a:noFill/>
                    </a:lnT>
                    <a:lnB>
                      <a:noFill/>
                    </a:lnB>
                  </a:tcPr>
                </a:tc>
                <a:tc>
                  <a:txBody>
                    <a:bodyPr/>
                    <a:lstStyle/>
                    <a:p>
                      <a:r>
                        <a:rPr lang="en-IN"/>
                        <a:t>P</a:t>
                      </a:r>
                    </a:p>
                  </a:txBody>
                  <a:tcPr anchor="ctr">
                    <a:lnL>
                      <a:noFill/>
                    </a:lnL>
                    <a:lnR>
                      <a:noFill/>
                    </a:lnR>
                    <a:lnT>
                      <a:noFill/>
                    </a:lnT>
                    <a:lnB>
                      <a:noFill/>
                    </a:lnB>
                  </a:tcPr>
                </a:tc>
                <a:tc>
                  <a:txBody>
                    <a:bodyPr/>
                    <a:lstStyle/>
                    <a:p>
                      <a:r>
                        <a:rPr lang="en-IN"/>
                        <a:t>V</a:t>
                      </a:r>
                    </a:p>
                  </a:txBody>
                  <a:tcPr anchor="ctr">
                    <a:lnL>
                      <a:noFill/>
                    </a:lnL>
                    <a:lnR>
                      <a:noFill/>
                    </a:lnR>
                    <a:lnT>
                      <a:noFill/>
                    </a:lnT>
                    <a:lnB>
                      <a:noFill/>
                    </a:lnB>
                  </a:tcPr>
                </a:tc>
                <a:tc>
                  <a:txBody>
                    <a:bodyPr/>
                    <a:lstStyle/>
                    <a:p>
                      <a:r>
                        <a:rPr lang="en-IN"/>
                        <a:t>E</a:t>
                      </a:r>
                    </a:p>
                  </a:txBody>
                  <a:tcPr anchor="ctr">
                    <a:lnL>
                      <a:noFill/>
                    </a:lnL>
                    <a:lnR>
                      <a:noFill/>
                    </a:lnR>
                    <a:lnT>
                      <a:noFill/>
                    </a:lnT>
                    <a:lnB>
                      <a:noFill/>
                    </a:lnB>
                  </a:tcPr>
                </a:tc>
                <a:tc>
                  <a:txBody>
                    <a:bodyPr/>
                    <a:lstStyle/>
                    <a:p>
                      <a:r>
                        <a:rPr lang="en-IN"/>
                        <a:t>F</a:t>
                      </a:r>
                    </a:p>
                  </a:txBody>
                  <a:tcPr anchor="ctr">
                    <a:lnL>
                      <a:noFill/>
                    </a:lnL>
                    <a:lnR>
                      <a:noFill/>
                    </a:lnR>
                    <a:lnT>
                      <a:noFill/>
                    </a:lnT>
                    <a:lnB>
                      <a:noFill/>
                    </a:lnB>
                  </a:tcPr>
                </a:tc>
                <a:tc>
                  <a:txBody>
                    <a:bodyPr/>
                    <a:lstStyle/>
                    <a:p>
                      <a:r>
                        <a:rPr lang="en-IN"/>
                        <a:t>R</a:t>
                      </a:r>
                    </a:p>
                  </a:txBody>
                  <a:tcPr anchor="ctr">
                    <a:lnL>
                      <a:noFill/>
                    </a:lnL>
                    <a:lnR>
                      <a:noFill/>
                    </a:lnR>
                    <a:lnT>
                      <a:noFill/>
                    </a:lnT>
                    <a:lnB>
                      <a:noFill/>
                    </a:lnB>
                  </a:tcPr>
                </a:tc>
                <a:tc>
                  <a:txBody>
                    <a:bodyPr/>
                    <a:lstStyle/>
                    <a:p>
                      <a:r>
                        <a:rPr lang="en-IN"/>
                        <a:t>N</a:t>
                      </a:r>
                    </a:p>
                  </a:txBody>
                  <a:tcPr anchor="ctr">
                    <a:lnL>
                      <a:noFill/>
                    </a:lnL>
                    <a:lnR>
                      <a:noFill/>
                    </a:lnR>
                    <a:lnT>
                      <a:noFill/>
                    </a:lnT>
                    <a:lnB>
                      <a:noFill/>
                    </a:lnB>
                  </a:tcPr>
                </a:tc>
                <a:tc>
                  <a:txBody>
                    <a:bodyPr/>
                    <a:lstStyle/>
                    <a:p>
                      <a:r>
                        <a:rPr lang="en-IN"/>
                        <a:t>H</a:t>
                      </a:r>
                    </a:p>
                  </a:txBody>
                  <a:tcPr anchor="ctr">
                    <a:lnL>
                      <a:noFill/>
                    </a:lnL>
                    <a:lnR>
                      <a:noFill/>
                    </a:lnR>
                    <a:lnT>
                      <a:noFill/>
                    </a:lnT>
                    <a:lnB>
                      <a:noFill/>
                    </a:lnB>
                  </a:tcPr>
                </a:tc>
                <a:tc>
                  <a:txBody>
                    <a:bodyPr/>
                    <a:lstStyle/>
                    <a:p>
                      <a:r>
                        <a:rPr lang="en-IN" dirty="0"/>
                        <a:t>R</a:t>
                      </a:r>
                    </a:p>
                  </a:txBody>
                  <a:tcPr anchor="ctr">
                    <a:lnL>
                      <a:noFill/>
                    </a:lnL>
                    <a:lnR>
                      <a:noFill/>
                    </a:lnR>
                    <a:lnT>
                      <a:noFill/>
                    </a:lnT>
                    <a:lnB>
                      <a:noFill/>
                    </a:lnB>
                  </a:tcPr>
                </a:tc>
                <a:extLst>
                  <a:ext uri="{0D108BD9-81ED-4DB2-BD59-A6C34878D82A}">
                    <a16:rowId xmlns:a16="http://schemas.microsoft.com/office/drawing/2014/main" val="2675989467"/>
                  </a:ext>
                </a:extLst>
              </a:tr>
            </a:tbl>
          </a:graphicData>
        </a:graphic>
      </p:graphicFrame>
      <p:pic>
        <p:nvPicPr>
          <p:cNvPr id="10" name="Picture 9" descr="A black text on a white background&#10;&#10;Description automatically generated">
            <a:extLst>
              <a:ext uri="{FF2B5EF4-FFF2-40B4-BE49-F238E27FC236}">
                <a16:creationId xmlns:a16="http://schemas.microsoft.com/office/drawing/2014/main" id="{04F7C453-5334-22E6-63D5-CF4897D14724}"/>
              </a:ext>
            </a:extLst>
          </p:cNvPr>
          <p:cNvPicPr>
            <a:picLocks noChangeAspect="1"/>
          </p:cNvPicPr>
          <p:nvPr/>
        </p:nvPicPr>
        <p:blipFill>
          <a:blip r:embed="rId4"/>
          <a:stretch>
            <a:fillRect/>
          </a:stretch>
        </p:blipFill>
        <p:spPr>
          <a:xfrm>
            <a:off x="1924596" y="6237169"/>
            <a:ext cx="3708400" cy="546100"/>
          </a:xfrm>
          <a:prstGeom prst="rect">
            <a:avLst/>
          </a:prstGeom>
        </p:spPr>
      </p:pic>
    </p:spTree>
    <p:extLst>
      <p:ext uri="{BB962C8B-B14F-4D97-AF65-F5344CB8AC3E}">
        <p14:creationId xmlns:p14="http://schemas.microsoft.com/office/powerpoint/2010/main" val="6423400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1EA23-C6C5-00EC-B068-EB978268D451}"/>
              </a:ext>
            </a:extLst>
          </p:cNvPr>
          <p:cNvSpPr>
            <a:spLocks noGrp="1"/>
          </p:cNvSpPr>
          <p:nvPr>
            <p:ph type="title"/>
          </p:nvPr>
        </p:nvSpPr>
        <p:spPr/>
        <p:txBody>
          <a:bodyPr/>
          <a:lstStyle/>
          <a:p>
            <a:r>
              <a:rPr lang="en-US" dirty="0" err="1"/>
              <a:t>Vernam</a:t>
            </a:r>
            <a:r>
              <a:rPr lang="en-US" dirty="0"/>
              <a:t> Cipher</a:t>
            </a:r>
          </a:p>
        </p:txBody>
      </p:sp>
      <p:sp>
        <p:nvSpPr>
          <p:cNvPr id="3" name="Content Placeholder 2">
            <a:extLst>
              <a:ext uri="{FF2B5EF4-FFF2-40B4-BE49-F238E27FC236}">
                <a16:creationId xmlns:a16="http://schemas.microsoft.com/office/drawing/2014/main" id="{3B0F670A-760D-8953-77C4-7308604D6B05}"/>
              </a:ext>
            </a:extLst>
          </p:cNvPr>
          <p:cNvSpPr>
            <a:spLocks noGrp="1"/>
          </p:cNvSpPr>
          <p:nvPr>
            <p:ph idx="1"/>
          </p:nvPr>
        </p:nvSpPr>
        <p:spPr>
          <a:xfrm>
            <a:off x="628650" y="1825625"/>
            <a:ext cx="7886700" cy="1325563"/>
          </a:xfrm>
        </p:spPr>
        <p:txBody>
          <a:bodyPr/>
          <a:lstStyle/>
          <a:p>
            <a:r>
              <a:rPr lang="en-US" dirty="0"/>
              <a:t>The ultimate defense against such a cryptanalysis is to choose a keyword that is as long as the plaintext and has no statistical relationship to it.</a:t>
            </a:r>
          </a:p>
        </p:txBody>
      </p:sp>
      <p:pic>
        <p:nvPicPr>
          <p:cNvPr id="5" name="Picture 4" descr="A diagram of a blockchain&#10;&#10;Description automatically generated">
            <a:extLst>
              <a:ext uri="{FF2B5EF4-FFF2-40B4-BE49-F238E27FC236}">
                <a16:creationId xmlns:a16="http://schemas.microsoft.com/office/drawing/2014/main" id="{1A351B1B-921E-2CCC-D7EE-258CAFA012B8}"/>
              </a:ext>
            </a:extLst>
          </p:cNvPr>
          <p:cNvPicPr>
            <a:picLocks noChangeAspect="1"/>
          </p:cNvPicPr>
          <p:nvPr/>
        </p:nvPicPr>
        <p:blipFill>
          <a:blip r:embed="rId3"/>
          <a:stretch>
            <a:fillRect/>
          </a:stretch>
        </p:blipFill>
        <p:spPr>
          <a:xfrm>
            <a:off x="758557" y="3286124"/>
            <a:ext cx="7772400" cy="3023912"/>
          </a:xfrm>
          <a:prstGeom prst="rect">
            <a:avLst/>
          </a:prstGeom>
        </p:spPr>
      </p:pic>
    </p:spTree>
    <p:extLst>
      <p:ext uri="{BB962C8B-B14F-4D97-AF65-F5344CB8AC3E}">
        <p14:creationId xmlns:p14="http://schemas.microsoft.com/office/powerpoint/2010/main" val="34802812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black text&#10;&#10;Description automatically generated">
            <a:extLst>
              <a:ext uri="{FF2B5EF4-FFF2-40B4-BE49-F238E27FC236}">
                <a16:creationId xmlns:a16="http://schemas.microsoft.com/office/drawing/2014/main" id="{3670EFEE-732D-466D-3D9C-4023DBE6E322}"/>
              </a:ext>
            </a:extLst>
          </p:cNvPr>
          <p:cNvPicPr>
            <a:picLocks noChangeAspect="1"/>
          </p:cNvPicPr>
          <p:nvPr/>
        </p:nvPicPr>
        <p:blipFill>
          <a:blip r:embed="rId3"/>
          <a:stretch>
            <a:fillRect/>
          </a:stretch>
        </p:blipFill>
        <p:spPr>
          <a:xfrm>
            <a:off x="2279650" y="1979083"/>
            <a:ext cx="4584700" cy="1473200"/>
          </a:xfrm>
          <a:prstGeom prst="rect">
            <a:avLst/>
          </a:prstGeom>
        </p:spPr>
      </p:pic>
      <p:pic>
        <p:nvPicPr>
          <p:cNvPr id="6" name="Picture 5" descr="A close up of a letter&#10;&#10;Description automatically generated">
            <a:extLst>
              <a:ext uri="{FF2B5EF4-FFF2-40B4-BE49-F238E27FC236}">
                <a16:creationId xmlns:a16="http://schemas.microsoft.com/office/drawing/2014/main" id="{9F0613D2-8D69-B282-5B89-3787B9102AD5}"/>
              </a:ext>
            </a:extLst>
          </p:cNvPr>
          <p:cNvPicPr>
            <a:picLocks noChangeAspect="1"/>
          </p:cNvPicPr>
          <p:nvPr/>
        </p:nvPicPr>
        <p:blipFill>
          <a:blip r:embed="rId4"/>
          <a:stretch>
            <a:fillRect/>
          </a:stretch>
        </p:blipFill>
        <p:spPr>
          <a:xfrm>
            <a:off x="2620110" y="1268760"/>
            <a:ext cx="2361862" cy="576064"/>
          </a:xfrm>
          <a:prstGeom prst="rect">
            <a:avLst/>
          </a:prstGeom>
        </p:spPr>
      </p:pic>
      <p:pic>
        <p:nvPicPr>
          <p:cNvPr id="8" name="Picture 7" descr="A black symbols on a white background&#10;&#10;Description automatically generated">
            <a:extLst>
              <a:ext uri="{FF2B5EF4-FFF2-40B4-BE49-F238E27FC236}">
                <a16:creationId xmlns:a16="http://schemas.microsoft.com/office/drawing/2014/main" id="{70930E67-3381-E950-E767-4816CEB6771D}"/>
              </a:ext>
            </a:extLst>
          </p:cNvPr>
          <p:cNvPicPr>
            <a:picLocks noChangeAspect="1"/>
          </p:cNvPicPr>
          <p:nvPr/>
        </p:nvPicPr>
        <p:blipFill>
          <a:blip r:embed="rId5"/>
          <a:stretch>
            <a:fillRect/>
          </a:stretch>
        </p:blipFill>
        <p:spPr>
          <a:xfrm>
            <a:off x="2620110" y="3711015"/>
            <a:ext cx="2419165" cy="769734"/>
          </a:xfrm>
          <a:prstGeom prst="rect">
            <a:avLst/>
          </a:prstGeom>
        </p:spPr>
      </p:pic>
      <p:sp>
        <p:nvSpPr>
          <p:cNvPr id="10" name="TextBox 9">
            <a:extLst>
              <a:ext uri="{FF2B5EF4-FFF2-40B4-BE49-F238E27FC236}">
                <a16:creationId xmlns:a16="http://schemas.microsoft.com/office/drawing/2014/main" id="{E91ECBCE-9CC3-10FA-416A-0D85E4E570D7}"/>
              </a:ext>
            </a:extLst>
          </p:cNvPr>
          <p:cNvSpPr txBox="1"/>
          <p:nvPr/>
        </p:nvSpPr>
        <p:spPr>
          <a:xfrm>
            <a:off x="1475656" y="4989075"/>
            <a:ext cx="7200800" cy="830997"/>
          </a:xfrm>
          <a:prstGeom prst="rect">
            <a:avLst/>
          </a:prstGeom>
          <a:noFill/>
        </p:spPr>
        <p:txBody>
          <a:bodyPr wrap="square">
            <a:spAutoFit/>
          </a:bodyPr>
          <a:lstStyle/>
          <a:p>
            <a:r>
              <a:rPr lang="en-IN" dirty="0">
                <a:solidFill>
                  <a:schemeClr val="tx1"/>
                </a:solidFill>
              </a:rPr>
              <a:t>When the key is truly random and used only once, it is called a </a:t>
            </a:r>
            <a:r>
              <a:rPr lang="en-IN" b="1" dirty="0">
                <a:solidFill>
                  <a:schemeClr val="tx1"/>
                </a:solidFill>
              </a:rPr>
              <a:t>One-Time Pad (OTP)</a:t>
            </a:r>
            <a:r>
              <a:rPr lang="en-IN" dirty="0">
                <a:solidFill>
                  <a:schemeClr val="tx1"/>
                </a:solidFill>
              </a:rPr>
              <a:t>.</a:t>
            </a:r>
            <a:endParaRPr lang="en-US" dirty="0">
              <a:solidFill>
                <a:schemeClr val="tx1"/>
              </a:solidFill>
            </a:endParaRPr>
          </a:p>
        </p:txBody>
      </p:sp>
    </p:spTree>
    <p:extLst>
      <p:ext uri="{BB962C8B-B14F-4D97-AF65-F5344CB8AC3E}">
        <p14:creationId xmlns:p14="http://schemas.microsoft.com/office/powerpoint/2010/main" val="5078257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46081" name="Text Box 1">
            <a:extLst>
              <a:ext uri="{FF2B5EF4-FFF2-40B4-BE49-F238E27FC236}">
                <a16:creationId xmlns:a16="http://schemas.microsoft.com/office/drawing/2014/main" id="{2000813D-2E8B-5403-0A2F-685DD61893F9}"/>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Security of </a:t>
            </a:r>
            <a:r>
              <a:rPr lang="en-AU" altLang="en-US" sz="4400" b="1">
                <a:solidFill>
                  <a:srgbClr val="D9D9FF"/>
                </a:solidFill>
                <a:effectLst>
                  <a:outerShdw blurRad="38100" dist="38100" dir="2700000" algn="tl">
                    <a:srgbClr val="000000"/>
                  </a:outerShdw>
                </a:effectLst>
              </a:rPr>
              <a:t>Vigenère Ciphers</a:t>
            </a:r>
          </a:p>
        </p:txBody>
      </p:sp>
      <p:sp>
        <p:nvSpPr>
          <p:cNvPr id="46082" name="Text Box 2">
            <a:extLst>
              <a:ext uri="{FF2B5EF4-FFF2-40B4-BE49-F238E27FC236}">
                <a16:creationId xmlns:a16="http://schemas.microsoft.com/office/drawing/2014/main" id="{7AE1D8D4-0A72-6E90-A859-88DC0655A5D0}"/>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have multiple ciphertext letters for each plaintext letter</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hence letter frequencies are obscured</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but not totally lost</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start with letter frequencies</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see if it looks monoalphabetic or not</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if not, then need to determine number of alphabets, since then can attack each</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4608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4608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46082">
                                            <p:txEl>
                                              <p:pRg st="3" end="3"/>
                                            </p:txEl>
                                          </p:spTgt>
                                        </p:tgtEl>
                                        <p:attrNameLst>
                                          <p:attrName>style.visibility</p:attrName>
                                        </p:attrNameLst>
                                      </p:cBhvr>
                                      <p:to>
                                        <p:strVal val="visible"/>
                                      </p:to>
                                    </p:set>
                                  </p:childTnLst>
                                </p:cTn>
                              </p:par>
                              <p:par>
                                <p:cTn id="15" presetID="1" presetClass="entr" fill="hold" nodeType="withEffect">
                                  <p:stCondLst>
                                    <p:cond delay="0"/>
                                  </p:stCondLst>
                                  <p:childTnLst>
                                    <p:set>
                                      <p:cBhvr additive="repl">
                                        <p:cTn id="16" dur="1" fill="hold">
                                          <p:stCondLst>
                                            <p:cond delay="0"/>
                                          </p:stCondLst>
                                        </p:cTn>
                                        <p:tgtEl>
                                          <p:spTgt spid="46082">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fill="hold" nodeType="clickEffect">
                                  <p:stCondLst>
                                    <p:cond delay="0"/>
                                  </p:stCondLst>
                                  <p:childTnLst>
                                    <p:set>
                                      <p:cBhvr additive="repl">
                                        <p:cTn id="20" dur="1" fill="hold">
                                          <p:stCondLst>
                                            <p:cond delay="0"/>
                                          </p:stCondLst>
                                        </p:cTn>
                                        <p:tgtEl>
                                          <p:spTgt spid="4608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47105" name="Text Box 1">
            <a:extLst>
              <a:ext uri="{FF2B5EF4-FFF2-40B4-BE49-F238E27FC236}">
                <a16:creationId xmlns:a16="http://schemas.microsoft.com/office/drawing/2014/main" id="{2A22F93A-42DB-4DAB-9D53-5AF1D93BD0AB}"/>
              </a:ext>
            </a:extLst>
          </p:cNvPr>
          <p:cNvSpPr txBox="1">
            <a:spLocks noChangeArrowheads="1"/>
          </p:cNvSpPr>
          <p:nvPr/>
        </p:nvSpPr>
        <p:spPr bwMode="auto">
          <a:xfrm>
            <a:off x="457200" y="-85725"/>
            <a:ext cx="8229600"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AU" altLang="en-US" sz="4000" b="1">
                <a:solidFill>
                  <a:srgbClr val="D9D9FF"/>
                </a:solidFill>
                <a:effectLst>
                  <a:outerShdw blurRad="38100" dist="38100" dir="2700000" algn="tl">
                    <a:srgbClr val="000000"/>
                  </a:outerShdw>
                </a:effectLst>
              </a:rPr>
              <a:t>Frequencies After Polyalphabetic Encryption</a:t>
            </a:r>
          </a:p>
        </p:txBody>
      </p:sp>
      <p:graphicFrame>
        <p:nvGraphicFramePr>
          <p:cNvPr id="47106" name="Object 2">
            <a:extLst>
              <a:ext uri="{FF2B5EF4-FFF2-40B4-BE49-F238E27FC236}">
                <a16:creationId xmlns:a16="http://schemas.microsoft.com/office/drawing/2014/main" id="{47FF4FD1-1972-3D51-30ED-53899BE3D5A0}"/>
              </a:ext>
            </a:extLst>
          </p:cNvPr>
          <p:cNvGraphicFramePr>
            <a:graphicFrameLocks noChangeAspect="1"/>
          </p:cNvGraphicFramePr>
          <p:nvPr/>
        </p:nvGraphicFramePr>
        <p:xfrm>
          <a:off x="107950" y="1274763"/>
          <a:ext cx="8839200" cy="4962525"/>
        </p:xfrm>
        <a:graphic>
          <a:graphicData uri="http://schemas.openxmlformats.org/presentationml/2006/ole">
            <mc:AlternateContent xmlns:mc="http://schemas.openxmlformats.org/markup-compatibility/2006">
              <mc:Choice xmlns:v="urn:schemas-microsoft-com:vml" Requires="v">
                <p:oleObj r:id="rId3" imgW="8940800" imgH="5029200" progId="">
                  <p:embed/>
                </p:oleObj>
              </mc:Choice>
              <mc:Fallback>
                <p:oleObj r:id="rId3" imgW="8940800" imgH="5029200" progId="">
                  <p:embed/>
                  <p:pic>
                    <p:nvPicPr>
                      <p:cNvPr id="47106" name="Object 2">
                        <a:extLst>
                          <a:ext uri="{FF2B5EF4-FFF2-40B4-BE49-F238E27FC236}">
                            <a16:creationId xmlns:a16="http://schemas.microsoft.com/office/drawing/2014/main" id="{47FF4FD1-1972-3D51-30ED-53899BE3D5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274763"/>
                        <a:ext cx="8839200" cy="4962525"/>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48129" name="Text Box 1">
            <a:extLst>
              <a:ext uri="{FF2B5EF4-FFF2-40B4-BE49-F238E27FC236}">
                <a16:creationId xmlns:a16="http://schemas.microsoft.com/office/drawing/2014/main" id="{1C3B819A-8076-43E0-EC40-622112B6EF0B}"/>
              </a:ext>
            </a:extLst>
          </p:cNvPr>
          <p:cNvSpPr txBox="1">
            <a:spLocks noChangeArrowheads="1"/>
          </p:cNvSpPr>
          <p:nvPr/>
        </p:nvSpPr>
        <p:spPr bwMode="auto">
          <a:xfrm>
            <a:off x="457200" y="-85725"/>
            <a:ext cx="8229600"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AU" altLang="en-US" sz="4000" b="1">
                <a:solidFill>
                  <a:srgbClr val="D9D9FF"/>
                </a:solidFill>
                <a:effectLst>
                  <a:outerShdw blurRad="38100" dist="38100" dir="2700000" algn="tl">
                    <a:srgbClr val="000000"/>
                  </a:outerShdw>
                </a:effectLst>
              </a:rPr>
              <a:t>Frequencies After Polyalphabetic Encryption</a:t>
            </a:r>
          </a:p>
        </p:txBody>
      </p:sp>
      <p:graphicFrame>
        <p:nvGraphicFramePr>
          <p:cNvPr id="48130" name="Object 2">
            <a:extLst>
              <a:ext uri="{FF2B5EF4-FFF2-40B4-BE49-F238E27FC236}">
                <a16:creationId xmlns:a16="http://schemas.microsoft.com/office/drawing/2014/main" id="{59D9BB17-0014-690E-80F3-CC6210062EEC}"/>
              </a:ext>
            </a:extLst>
          </p:cNvPr>
          <p:cNvGraphicFramePr>
            <a:graphicFrameLocks noChangeAspect="1"/>
          </p:cNvGraphicFramePr>
          <p:nvPr/>
        </p:nvGraphicFramePr>
        <p:xfrm>
          <a:off x="468313" y="1241425"/>
          <a:ext cx="8281987" cy="4848225"/>
        </p:xfrm>
        <a:graphic>
          <a:graphicData uri="http://schemas.openxmlformats.org/presentationml/2006/ole">
            <mc:AlternateContent xmlns:mc="http://schemas.openxmlformats.org/markup-compatibility/2006">
              <mc:Choice xmlns:v="urn:schemas-microsoft-com:vml" Requires="v">
                <p:oleObj r:id="rId3" imgW="4889500" imgH="3048000" progId="">
                  <p:embed/>
                </p:oleObj>
              </mc:Choice>
              <mc:Fallback>
                <p:oleObj r:id="rId3" imgW="4889500" imgH="3048000" progId="">
                  <p:embed/>
                  <p:pic>
                    <p:nvPicPr>
                      <p:cNvPr id="48130" name="Object 2">
                        <a:extLst>
                          <a:ext uri="{FF2B5EF4-FFF2-40B4-BE49-F238E27FC236}">
                            <a16:creationId xmlns:a16="http://schemas.microsoft.com/office/drawing/2014/main" id="{59D9BB17-0014-690E-80F3-CC6210062E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241425"/>
                        <a:ext cx="8281987" cy="4848225"/>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49153" name="Text Box 1">
            <a:extLst>
              <a:ext uri="{FF2B5EF4-FFF2-40B4-BE49-F238E27FC236}">
                <a16:creationId xmlns:a16="http://schemas.microsoft.com/office/drawing/2014/main" id="{E4049617-380D-8D3D-A0BC-B2C8E888923A}"/>
              </a:ext>
            </a:extLst>
          </p:cNvPr>
          <p:cNvSpPr txBox="1">
            <a:spLocks noChangeArrowheads="1"/>
          </p:cNvSpPr>
          <p:nvPr/>
        </p:nvSpPr>
        <p:spPr bwMode="auto">
          <a:xfrm>
            <a:off x="468313" y="260350"/>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Homework 1</a:t>
            </a:r>
          </a:p>
        </p:txBody>
      </p:sp>
      <p:sp>
        <p:nvSpPr>
          <p:cNvPr id="49154" name="Text Box 2">
            <a:extLst>
              <a:ext uri="{FF2B5EF4-FFF2-40B4-BE49-F238E27FC236}">
                <a16:creationId xmlns:a16="http://schemas.microsoft.com/office/drawing/2014/main" id="{A7102B12-A519-F8E1-B111-F9191DF6B64F}"/>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AU" altLang="en-US" sz="3200" dirty="0">
                <a:effectLst>
                  <a:outerShdw blurRad="38100" dist="38100" dir="2700000" algn="tl">
                    <a:srgbClr val="000000"/>
                  </a:outerShdw>
                </a:effectLst>
              </a:rPr>
              <a:t>Due Fri</a:t>
            </a:r>
          </a:p>
          <a:p>
            <a:pPr>
              <a:spcBef>
                <a:spcPts val="800"/>
              </a:spcBef>
              <a:buClr>
                <a:srgbClr val="5FAFFF"/>
              </a:buClr>
              <a:buSzPct val="80000"/>
              <a:buFont typeface="Wingdings" pitchFamily="2" charset="2"/>
              <a:buChar char=""/>
            </a:pPr>
            <a:r>
              <a:rPr lang="en-AU" altLang="en-US" sz="3200" dirty="0">
                <a:effectLst>
                  <a:outerShdw blurRad="38100" dist="38100" dir="2700000" algn="tl">
                    <a:srgbClr val="000000"/>
                  </a:outerShdw>
                </a:effectLst>
              </a:rPr>
              <a:t>Question 1: </a:t>
            </a:r>
          </a:p>
          <a:p>
            <a:pPr>
              <a:spcBef>
                <a:spcPts val="800"/>
              </a:spcBef>
              <a:buClrTx/>
              <a:buSzPct val="80000"/>
              <a:buFontTx/>
              <a:buNone/>
            </a:pPr>
            <a:r>
              <a:rPr lang="en-AU" altLang="en-US" sz="3200" dirty="0">
                <a:effectLst>
                  <a:outerShdw blurRad="38100" dist="38100" dir="2700000" algn="tl">
                    <a:srgbClr val="000000"/>
                  </a:outerShdw>
                </a:effectLst>
              </a:rPr>
              <a:t>What is the best “flattening” effect you can achieve by carefully selecting two monoalphabetic substitutions?  Explain and give an example.  What about three monoalphabetic substitutions?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52225" name="Text Box 1">
            <a:extLst>
              <a:ext uri="{FF2B5EF4-FFF2-40B4-BE49-F238E27FC236}">
                <a16:creationId xmlns:a16="http://schemas.microsoft.com/office/drawing/2014/main" id="{6D863015-6199-78DC-9D6D-A421FBB0ED2A}"/>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AU" altLang="en-US" sz="4400" b="1">
                <a:solidFill>
                  <a:srgbClr val="D9D9FF"/>
                </a:solidFill>
                <a:effectLst>
                  <a:outerShdw blurRad="38100" dist="38100" dir="2700000" algn="tl">
                    <a:srgbClr val="000000"/>
                  </a:outerShdw>
                </a:effectLst>
              </a:rPr>
              <a:t>Autokey Cipher</a:t>
            </a:r>
          </a:p>
        </p:txBody>
      </p:sp>
      <p:sp>
        <p:nvSpPr>
          <p:cNvPr id="52226" name="Text Box 2">
            <a:extLst>
              <a:ext uri="{FF2B5EF4-FFF2-40B4-BE49-F238E27FC236}">
                <a16:creationId xmlns:a16="http://schemas.microsoft.com/office/drawing/2014/main" id="{E009C418-D45A-35C6-0567-547B37A9B4A5}"/>
              </a:ext>
            </a:extLst>
          </p:cNvPr>
          <p:cNvSpPr txBox="1">
            <a:spLocks noChangeArrowheads="1"/>
          </p:cNvSpPr>
          <p:nvPr/>
        </p:nvSpPr>
        <p:spPr bwMode="auto">
          <a:xfrm>
            <a:off x="395288" y="1341438"/>
            <a:ext cx="8229600" cy="5111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ideally want a key as long as the message</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Vigenère proposed the </a:t>
            </a:r>
            <a:r>
              <a:rPr lang="en-AU" altLang="en-US" sz="2800" b="1">
                <a:effectLst>
                  <a:outerShdw blurRad="38100" dist="38100" dir="2700000" algn="tl">
                    <a:srgbClr val="000000"/>
                  </a:outerShdw>
                </a:effectLst>
              </a:rPr>
              <a:t>autokey</a:t>
            </a:r>
            <a:r>
              <a:rPr lang="en-AU" altLang="en-US" sz="2800">
                <a:effectLst>
                  <a:outerShdw blurRad="38100" dist="38100" dir="2700000" algn="tl">
                    <a:srgbClr val="000000"/>
                  </a:outerShdw>
                </a:effectLst>
              </a:rPr>
              <a:t> cipher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with keyword is prefixed to message as key</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knowing keyword can recover the first few letters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use these in turn on the rest of the message</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but still have frequency characteristics to attack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eg. given key </a:t>
            </a:r>
            <a:r>
              <a:rPr lang="en-AU" altLang="en-US" sz="2800" i="1">
                <a:effectLst>
                  <a:outerShdw blurRad="38100" dist="38100" dir="2700000" algn="tl">
                    <a:srgbClr val="000000"/>
                  </a:outerShdw>
                </a:effectLst>
              </a:rPr>
              <a:t>deceptive</a:t>
            </a:r>
          </a:p>
          <a:p>
            <a:pPr lvl="1">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key:       deceptivewearediscoveredsav</a:t>
            </a:r>
          </a:p>
          <a:p>
            <a:pPr lvl="1">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plaintext: wearediscoveredsaveyourself</a:t>
            </a:r>
          </a:p>
          <a:p>
            <a:pPr lvl="1">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ciphertext:ZICVTWQNGKZEIIGASXSTSLVVWLA</a:t>
            </a:r>
          </a:p>
          <a:p>
            <a:pPr lvl="1">
              <a:spcBef>
                <a:spcPts val="500"/>
              </a:spcBef>
              <a:buClrTx/>
              <a:buSzPct val="50000"/>
              <a:buFontTx/>
              <a:buNone/>
            </a:pPr>
            <a:endParaRPr lang="en-AU" altLang="en-US" sz="2000">
              <a:effectLst>
                <a:outerShdw blurRad="38100" dist="38100" dir="2700000" algn="tl">
                  <a:srgbClr val="000000"/>
                </a:outerShdw>
              </a:effectLst>
              <a:latin typeface="Lucida Console" panose="020B0609040504020204" pitchFamily="49"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53249" name="Text Box 1">
            <a:extLst>
              <a:ext uri="{FF2B5EF4-FFF2-40B4-BE49-F238E27FC236}">
                <a16:creationId xmlns:a16="http://schemas.microsoft.com/office/drawing/2014/main" id="{1F920CED-7021-6F51-4DF2-54545E9D55DE}"/>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Homophone Cipher</a:t>
            </a:r>
          </a:p>
        </p:txBody>
      </p:sp>
      <p:sp>
        <p:nvSpPr>
          <p:cNvPr id="53250" name="Text Box 2">
            <a:extLst>
              <a:ext uri="{FF2B5EF4-FFF2-40B4-BE49-F238E27FC236}">
                <a16:creationId xmlns:a16="http://schemas.microsoft.com/office/drawing/2014/main" id="{937AFCD6-B317-417E-F990-A1C40845E4D4}"/>
              </a:ext>
            </a:extLst>
          </p:cNvPr>
          <p:cNvSpPr txBox="1">
            <a:spLocks noChangeArrowheads="1"/>
          </p:cNvSpPr>
          <p:nvPr/>
        </p:nvSpPr>
        <p:spPr bwMode="auto">
          <a:xfrm>
            <a:off x="395288" y="1341438"/>
            <a:ext cx="8229600" cy="5311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8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rather than combine multiple monoalphabetic ciphers, can assign multiple ciphertext characters to same plaintext character</a:t>
            </a:r>
          </a:p>
          <a:p>
            <a:pPr>
              <a:lnSpc>
                <a:spcPct val="8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assign number of homophones according to frequency of plaintext character </a:t>
            </a:r>
          </a:p>
          <a:p>
            <a:pPr>
              <a:lnSpc>
                <a:spcPct val="8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Gauss believed he made unbreakable cipher using homophones</a:t>
            </a:r>
          </a:p>
          <a:p>
            <a:pPr>
              <a:lnSpc>
                <a:spcPct val="8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but still have digram/trigram frequency characteristics to attack </a:t>
            </a:r>
          </a:p>
          <a:p>
            <a:pPr>
              <a:lnSpc>
                <a:spcPct val="8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e.g., have 58 ciphertext characters, with each plaintext character assigned to ceil(freq/2) ciphertext characters – so e has 7 homophones, t has 5, a has 4, j has 1, q has 1, etc.</a:t>
            </a:r>
          </a:p>
          <a:p>
            <a:pPr lvl="1">
              <a:lnSpc>
                <a:spcPct val="80000"/>
              </a:lnSpc>
              <a:spcBef>
                <a:spcPts val="700"/>
              </a:spcBef>
              <a:buClrTx/>
              <a:buSzPct val="50000"/>
              <a:buFontTx/>
              <a:buNone/>
            </a:pPr>
            <a:endParaRPr lang="en-AU" altLang="en-US" sz="2800">
              <a:effectLst>
                <a:outerShdw blurRad="38100" dist="38100" dir="2700000" algn="tl">
                  <a:srgbClr val="000000"/>
                </a:outerShdw>
              </a:effectLst>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54273" name="Text Box 1">
            <a:extLst>
              <a:ext uri="{FF2B5EF4-FFF2-40B4-BE49-F238E27FC236}">
                <a16:creationId xmlns:a16="http://schemas.microsoft.com/office/drawing/2014/main" id="{ED90385E-0370-2355-0B19-70E7BBCD4374}"/>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Vernam Cipher</a:t>
            </a:r>
          </a:p>
        </p:txBody>
      </p:sp>
      <p:sp>
        <p:nvSpPr>
          <p:cNvPr id="54274" name="Text Box 2">
            <a:extLst>
              <a:ext uri="{FF2B5EF4-FFF2-40B4-BE49-F238E27FC236}">
                <a16:creationId xmlns:a16="http://schemas.microsoft.com/office/drawing/2014/main" id="{FEB788B7-78DB-8F05-E372-A51DC41D4539}"/>
              </a:ext>
            </a:extLst>
          </p:cNvPr>
          <p:cNvSpPr txBox="1">
            <a:spLocks noChangeArrowheads="1"/>
          </p:cNvSpPr>
          <p:nvPr/>
        </p:nvSpPr>
        <p:spPr bwMode="auto">
          <a:xfrm>
            <a:off x="457200" y="1676400"/>
            <a:ext cx="8229600" cy="480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ultimate defense is to use a key as long as the plaintext</a:t>
            </a:r>
          </a:p>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with no statistical relationship to it</a:t>
            </a:r>
          </a:p>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invented by AT&amp;T engineer Gilbert Vernam in 1918</a:t>
            </a:r>
          </a:p>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specified in </a:t>
            </a:r>
            <a:r>
              <a:rPr lang="en-US" altLang="en-US" sz="2800">
                <a:solidFill>
                  <a:srgbClr val="CCCCFF"/>
                </a:solidFill>
                <a:effectLst>
                  <a:outerShdw blurRad="38100" dist="38100" dir="2700000" algn="tl">
                    <a:srgbClr val="000000"/>
                  </a:outerShdw>
                </a:effectLst>
                <a:hlinkClick r:id="rId3"/>
              </a:rPr>
              <a:t>U.S. Patent 1,310,719</a:t>
            </a:r>
            <a:r>
              <a:rPr lang="en-US" altLang="en-US" sz="2800">
                <a:effectLst>
                  <a:outerShdw blurRad="38100" dist="38100" dir="2700000" algn="tl">
                    <a:srgbClr val="000000"/>
                  </a:outerShdw>
                </a:effectLst>
              </a:rPr>
              <a:t>, issued July 22, 1919</a:t>
            </a:r>
            <a:r>
              <a:rPr lang="en-US" altLang="en-US" sz="2800"/>
              <a:t> </a:t>
            </a:r>
          </a:p>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originally proposed using a very long but eventually repeating key</a:t>
            </a:r>
          </a:p>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used electromechanical relays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55297" name="Text Box 1">
            <a:extLst>
              <a:ext uri="{FF2B5EF4-FFF2-40B4-BE49-F238E27FC236}">
                <a16:creationId xmlns:a16="http://schemas.microsoft.com/office/drawing/2014/main" id="{D4D3B215-A472-4DBD-88A8-DFE0737B32AC}"/>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One-Time Pad</a:t>
            </a:r>
          </a:p>
        </p:txBody>
      </p:sp>
      <p:sp>
        <p:nvSpPr>
          <p:cNvPr id="55298" name="Text Box 2">
            <a:extLst>
              <a:ext uri="{FF2B5EF4-FFF2-40B4-BE49-F238E27FC236}">
                <a16:creationId xmlns:a16="http://schemas.microsoft.com/office/drawing/2014/main" id="{2D70F3CF-3BAA-00D5-3A79-2FF0B7C1BA8C}"/>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if a truly random key as long as the message is used, the cipher will be secure </a:t>
            </a:r>
          </a:p>
          <a:p>
            <a:pPr>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called a One-Time pad (OTP)</a:t>
            </a:r>
          </a:p>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is unbreakable since ciphertext bears no statistical relationship to the plaintext</a:t>
            </a:r>
          </a:p>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since for </a:t>
            </a:r>
            <a:r>
              <a:rPr lang="en-US" altLang="en-US" sz="2800" b="1">
                <a:effectLst>
                  <a:outerShdw blurRad="38100" dist="38100" dir="2700000" algn="tl">
                    <a:srgbClr val="000000"/>
                  </a:outerShdw>
                </a:effectLst>
              </a:rPr>
              <a:t>any plaintext</a:t>
            </a:r>
            <a:r>
              <a:rPr lang="en-US" altLang="en-US" sz="2800">
                <a:effectLst>
                  <a:outerShdw blurRad="38100" dist="38100" dir="2700000" algn="tl">
                    <a:srgbClr val="000000"/>
                  </a:outerShdw>
                </a:effectLst>
              </a:rPr>
              <a:t> &amp; </a:t>
            </a:r>
            <a:r>
              <a:rPr lang="en-US" altLang="en-US" sz="2800" b="1">
                <a:effectLst>
                  <a:outerShdw blurRad="38100" dist="38100" dir="2700000" algn="tl">
                    <a:srgbClr val="000000"/>
                  </a:outerShdw>
                </a:effectLst>
              </a:rPr>
              <a:t>any ciphertext</a:t>
            </a:r>
            <a:r>
              <a:rPr lang="en-US" altLang="en-US" sz="2800">
                <a:effectLst>
                  <a:outerShdw blurRad="38100" dist="38100" dir="2700000" algn="tl">
                    <a:srgbClr val="000000"/>
                  </a:outerShdw>
                </a:effectLst>
              </a:rPr>
              <a:t> there exists a key mapping one to other</a:t>
            </a:r>
          </a:p>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can only use the key </a:t>
            </a:r>
            <a:r>
              <a:rPr lang="en-US" altLang="en-US" sz="2800" b="1">
                <a:effectLst>
                  <a:outerShdw blurRad="38100" dist="38100" dir="2700000" algn="tl">
                    <a:srgbClr val="000000"/>
                  </a:outerShdw>
                </a:effectLst>
              </a:rPr>
              <a:t>once</a:t>
            </a:r>
            <a:r>
              <a:rPr lang="en-US" altLang="en-US" sz="2800">
                <a:effectLst>
                  <a:outerShdw blurRad="38100" dist="38100" dir="2700000" algn="tl">
                    <a:srgbClr val="000000"/>
                  </a:outerShdw>
                </a:effectLst>
              </a:rPr>
              <a:t> though</a:t>
            </a:r>
          </a:p>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problems in generation &amp; safe distribution of key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56321" name="Text Box 1">
            <a:extLst>
              <a:ext uri="{FF2B5EF4-FFF2-40B4-BE49-F238E27FC236}">
                <a16:creationId xmlns:a16="http://schemas.microsoft.com/office/drawing/2014/main" id="{F5359BD0-14E4-37AF-53C1-D2BB47701C65}"/>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Transposition Ciphers</a:t>
            </a:r>
          </a:p>
        </p:txBody>
      </p:sp>
      <p:sp>
        <p:nvSpPr>
          <p:cNvPr id="56322" name="Text Box 2">
            <a:extLst>
              <a:ext uri="{FF2B5EF4-FFF2-40B4-BE49-F238E27FC236}">
                <a16:creationId xmlns:a16="http://schemas.microsoft.com/office/drawing/2014/main" id="{B2713118-7655-BBE1-28F4-C8CF67CDD6F8}"/>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now consider classical </a:t>
            </a:r>
            <a:r>
              <a:rPr lang="en-US" altLang="en-US" sz="3200" b="1">
                <a:effectLst>
                  <a:outerShdw blurRad="38100" dist="38100" dir="2700000" algn="tl">
                    <a:srgbClr val="000000"/>
                  </a:outerShdw>
                </a:effectLst>
              </a:rPr>
              <a:t>transposition</a:t>
            </a:r>
            <a:r>
              <a:rPr lang="en-US" altLang="en-US" sz="3200">
                <a:effectLst>
                  <a:outerShdw blurRad="38100" dist="38100" dir="2700000" algn="tl">
                    <a:srgbClr val="000000"/>
                  </a:outerShdw>
                </a:effectLst>
              </a:rPr>
              <a:t> or </a:t>
            </a:r>
            <a:r>
              <a:rPr lang="en-US" altLang="en-US" sz="3200" b="1">
                <a:effectLst>
                  <a:outerShdw blurRad="38100" dist="38100" dir="2700000" algn="tl">
                    <a:srgbClr val="000000"/>
                  </a:outerShdw>
                </a:effectLst>
              </a:rPr>
              <a:t>permutation</a:t>
            </a:r>
            <a:r>
              <a:rPr lang="en-US" altLang="en-US" sz="3200">
                <a:effectLst>
                  <a:outerShdw blurRad="38100" dist="38100" dir="2700000" algn="tl">
                    <a:srgbClr val="000000"/>
                  </a:outerShdw>
                </a:effectLst>
              </a:rPr>
              <a:t> ciphers </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these hide the message by rearranging the letter order </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without altering the actual letters used</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can recognise these since have the same frequency distribution as the original text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57345" name="Text Box 1">
            <a:extLst>
              <a:ext uri="{FF2B5EF4-FFF2-40B4-BE49-F238E27FC236}">
                <a16:creationId xmlns:a16="http://schemas.microsoft.com/office/drawing/2014/main" id="{CFA654F2-D741-24DF-C76D-00BA8D0832C7}"/>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dirty="0">
                <a:solidFill>
                  <a:srgbClr val="D9D9FF"/>
                </a:solidFill>
                <a:effectLst>
                  <a:outerShdw blurRad="38100" dist="38100" dir="2700000" algn="tl">
                    <a:srgbClr val="000000"/>
                  </a:outerShdw>
                </a:effectLst>
              </a:rPr>
              <a:t>Rail Fence cipher</a:t>
            </a:r>
          </a:p>
        </p:txBody>
      </p:sp>
      <p:sp>
        <p:nvSpPr>
          <p:cNvPr id="57346" name="Text Box 2">
            <a:extLst>
              <a:ext uri="{FF2B5EF4-FFF2-40B4-BE49-F238E27FC236}">
                <a16:creationId xmlns:a16="http://schemas.microsoft.com/office/drawing/2014/main" id="{84398CF4-C67F-D5B3-9B6C-97E122A212CF}"/>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write message letters out diagonally over a number of rows </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use a “W” pattern (not column-major)</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then read off cipher row by row</a:t>
            </a:r>
          </a:p>
          <a:p>
            <a:pPr>
              <a:lnSpc>
                <a:spcPct val="90000"/>
              </a:lnSpc>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eg. write message out as:</a:t>
            </a:r>
          </a:p>
          <a:p>
            <a:pPr lvl="1">
              <a:lnSpc>
                <a:spcPct val="9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m e m a t r h t g p r y</a:t>
            </a:r>
          </a:p>
          <a:p>
            <a:pPr lvl="1">
              <a:lnSpc>
                <a:spcPct val="9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 e t e f e t e o a a t</a:t>
            </a:r>
          </a:p>
          <a:p>
            <a:pPr>
              <a:lnSpc>
                <a:spcPct val="90000"/>
              </a:lnSpc>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giving ciphertext</a:t>
            </a:r>
          </a:p>
          <a:p>
            <a:pPr lvl="1">
              <a:lnSpc>
                <a:spcPct val="9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MEMATRHTGPRYETEFETEOAAT</a:t>
            </a:r>
          </a:p>
          <a:p>
            <a:pPr lvl="1">
              <a:lnSpc>
                <a:spcPct val="90000"/>
              </a:lnSpc>
              <a:spcBef>
                <a:spcPts val="600"/>
              </a:spcBef>
              <a:buClrTx/>
              <a:buSzPct val="50000"/>
              <a:buFontTx/>
              <a:buNone/>
            </a:pPr>
            <a:endParaRPr lang="en-AU" altLang="en-US">
              <a:effectLst>
                <a:outerShdw blurRad="38100" dist="38100" dir="2700000" algn="tl">
                  <a:srgbClr val="000000"/>
                </a:outerShdw>
              </a:effectLst>
            </a:endParaRPr>
          </a:p>
          <a:p>
            <a:pPr lvl="1">
              <a:lnSpc>
                <a:spcPct val="90000"/>
              </a:lnSpc>
              <a:spcBef>
                <a:spcPts val="600"/>
              </a:spcBef>
              <a:buClrTx/>
              <a:buSzPct val="50000"/>
              <a:buFontTx/>
              <a:buNone/>
            </a:pPr>
            <a:endParaRPr lang="en-AU" altLang="en-US">
              <a:effectLst>
                <a:outerShdw blurRad="38100" dist="38100" dir="2700000" algn="tl">
                  <a:srgbClr val="000000"/>
                </a:outerShdw>
              </a:effectLst>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9C2DC-F15A-4934-10B0-21D49E7699FE}"/>
              </a:ext>
            </a:extLst>
          </p:cNvPr>
          <p:cNvSpPr txBox="1"/>
          <p:nvPr/>
        </p:nvSpPr>
        <p:spPr>
          <a:xfrm>
            <a:off x="2286000" y="3013502"/>
            <a:ext cx="6246440" cy="1323439"/>
          </a:xfrm>
          <a:prstGeom prst="rect">
            <a:avLst/>
          </a:prstGeom>
          <a:noFill/>
        </p:spPr>
        <p:txBody>
          <a:bodyPr wrap="square">
            <a:spAutoFit/>
          </a:bodyPr>
          <a:lstStyle/>
          <a:p>
            <a:r>
              <a:rPr lang="en-IN" sz="4000" dirty="0">
                <a:solidFill>
                  <a:srgbClr val="0070C0"/>
                </a:solidFill>
              </a:rPr>
              <a:t>DEFENDTHEEASTWALLOFTHECASTLE</a:t>
            </a:r>
          </a:p>
        </p:txBody>
      </p:sp>
    </p:spTree>
    <p:extLst>
      <p:ext uri="{BB962C8B-B14F-4D97-AF65-F5344CB8AC3E}">
        <p14:creationId xmlns:p14="http://schemas.microsoft.com/office/powerpoint/2010/main" val="42014515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58369" name="Text Box 1">
            <a:extLst>
              <a:ext uri="{FF2B5EF4-FFF2-40B4-BE49-F238E27FC236}">
                <a16:creationId xmlns:a16="http://schemas.microsoft.com/office/drawing/2014/main" id="{50DE1471-7840-63C7-BC9E-40170590220B}"/>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Row Transposition Ciphers</a:t>
            </a:r>
          </a:p>
        </p:txBody>
      </p:sp>
      <p:sp>
        <p:nvSpPr>
          <p:cNvPr id="58370" name="Text Box 2">
            <a:extLst>
              <a:ext uri="{FF2B5EF4-FFF2-40B4-BE49-F238E27FC236}">
                <a16:creationId xmlns:a16="http://schemas.microsoft.com/office/drawing/2014/main" id="{BAB531A6-25E3-CF2E-85BA-C519E5A6308B}"/>
              </a:ext>
            </a:extLst>
          </p:cNvPr>
          <p:cNvSpPr txBox="1">
            <a:spLocks noChangeArrowheads="1"/>
          </p:cNvSpPr>
          <p:nvPr/>
        </p:nvSpPr>
        <p:spPr bwMode="auto">
          <a:xfrm>
            <a:off x="457200" y="1676400"/>
            <a:ext cx="8229600" cy="476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80000"/>
              </a:lnSpc>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is a more complex transposition</a:t>
            </a:r>
          </a:p>
          <a:p>
            <a:pPr>
              <a:lnSpc>
                <a:spcPct val="80000"/>
              </a:lnSpc>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write letters of message out in rows over a specified number of columns</a:t>
            </a:r>
          </a:p>
          <a:p>
            <a:pPr>
              <a:lnSpc>
                <a:spcPct val="80000"/>
              </a:lnSpc>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then reorder the columns according to some key before reading off the rows</a:t>
            </a:r>
          </a:p>
          <a:p>
            <a:pPr lvl="1">
              <a:lnSpc>
                <a:spcPct val="8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Key: </a:t>
            </a:r>
            <a:r>
              <a:rPr lang="en-US" altLang="en-US" sz="2000">
                <a:effectLst>
                  <a:outerShdw blurRad="38100" dist="38100" dir="2700000" algn="tl">
                    <a:srgbClr val="000000"/>
                  </a:outerShdw>
                </a:effectLst>
                <a:latin typeface="Lucida Console" panose="020B0609040504020204" pitchFamily="49" charset="0"/>
              </a:rPr>
              <a:t>4312567</a:t>
            </a:r>
          </a:p>
          <a:p>
            <a:pPr lvl="1">
              <a:lnSpc>
                <a:spcPct val="8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Column Out 4 3 1 2 5 6 7</a:t>
            </a:r>
          </a:p>
          <a:p>
            <a:pPr lvl="1">
              <a:lnSpc>
                <a:spcPct val="8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Plaintext: a t t a c k p</a:t>
            </a:r>
          </a:p>
          <a:p>
            <a:pPr lvl="1">
              <a:lnSpc>
                <a:spcPct val="8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           o s t p o n e</a:t>
            </a:r>
          </a:p>
          <a:p>
            <a:pPr lvl="1">
              <a:lnSpc>
                <a:spcPct val="8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           d u n t i l t</a:t>
            </a:r>
          </a:p>
          <a:p>
            <a:pPr lvl="1">
              <a:lnSpc>
                <a:spcPct val="8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           w o a m x y z</a:t>
            </a:r>
          </a:p>
          <a:p>
            <a:pPr lvl="1">
              <a:lnSpc>
                <a:spcPct val="8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Ciphertext: TTNAAPTMTSUOAODWCOIXKNLYPETZ</a:t>
            </a:r>
          </a:p>
          <a:p>
            <a:pPr lvl="1">
              <a:lnSpc>
                <a:spcPct val="80000"/>
              </a:lnSpc>
              <a:spcBef>
                <a:spcPts val="600"/>
              </a:spcBef>
              <a:buClrTx/>
              <a:buSzPct val="50000"/>
              <a:buFontTx/>
              <a:buNone/>
            </a:pPr>
            <a:r>
              <a:rPr lang="en-AU" altLang="en-US">
                <a:effectLst>
                  <a:outerShdw blurRad="38100" dist="38100" dir="2700000" algn="tl">
                    <a:srgbClr val="000000"/>
                  </a:outerShdw>
                </a:effectLst>
              </a:rPr>
              <a:t>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59393" name="Text Box 1">
            <a:extLst>
              <a:ext uri="{FF2B5EF4-FFF2-40B4-BE49-F238E27FC236}">
                <a16:creationId xmlns:a16="http://schemas.microsoft.com/office/drawing/2014/main" id="{5E969960-D2B4-D5FF-377D-7837370CAF2A}"/>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Block Transposition Ciphers</a:t>
            </a:r>
          </a:p>
        </p:txBody>
      </p:sp>
      <p:sp>
        <p:nvSpPr>
          <p:cNvPr id="59394" name="Text Box 2">
            <a:extLst>
              <a:ext uri="{FF2B5EF4-FFF2-40B4-BE49-F238E27FC236}">
                <a16:creationId xmlns:a16="http://schemas.microsoft.com/office/drawing/2014/main" id="{52832207-A8F3-BE2E-009D-7D8937123FBD}"/>
              </a:ext>
            </a:extLst>
          </p:cNvPr>
          <p:cNvSpPr txBox="1">
            <a:spLocks noChangeArrowheads="1"/>
          </p:cNvSpPr>
          <p:nvPr/>
        </p:nvSpPr>
        <p:spPr bwMode="auto">
          <a:xfrm>
            <a:off x="468313" y="1700213"/>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80000"/>
              </a:lnSpc>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arbitrary block transposition may be used</a:t>
            </a:r>
          </a:p>
          <a:p>
            <a:pPr>
              <a:lnSpc>
                <a:spcPct val="80000"/>
              </a:lnSpc>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specify permutation on block</a:t>
            </a:r>
          </a:p>
          <a:p>
            <a:pPr>
              <a:lnSpc>
                <a:spcPct val="80000"/>
              </a:lnSpc>
              <a:spcBef>
                <a:spcPts val="800"/>
              </a:spcBef>
              <a:buClr>
                <a:srgbClr val="5FAFFF"/>
              </a:buClr>
              <a:buSzPct val="80000"/>
              <a:buFont typeface="Wingdings" pitchFamily="2" charset="2"/>
              <a:buChar char=""/>
            </a:pPr>
            <a:r>
              <a:rPr lang="en-AU" altLang="en-US" sz="3200">
                <a:effectLst>
                  <a:outerShdw blurRad="38100" dist="38100" dir="2700000" algn="tl">
                    <a:srgbClr val="000000"/>
                  </a:outerShdw>
                </a:effectLst>
              </a:rPr>
              <a:t>repeat for each block of plaintext</a:t>
            </a:r>
          </a:p>
          <a:p>
            <a:pPr lvl="1">
              <a:lnSpc>
                <a:spcPct val="8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Key: </a:t>
            </a:r>
            <a:r>
              <a:rPr lang="en-US" altLang="en-US" sz="2000">
                <a:effectLst>
                  <a:outerShdw blurRad="38100" dist="38100" dir="2700000" algn="tl">
                    <a:srgbClr val="000000"/>
                  </a:outerShdw>
                </a:effectLst>
                <a:latin typeface="Lucida Console" panose="020B0609040504020204" pitchFamily="49" charset="0"/>
              </a:rPr>
              <a:t>4931285607</a:t>
            </a:r>
          </a:p>
          <a:p>
            <a:pPr lvl="1">
              <a:lnSpc>
                <a:spcPct val="8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Plaintext:  attackpost poneduntil twoamxyzab</a:t>
            </a:r>
          </a:p>
          <a:p>
            <a:pPr lvl="1">
              <a:lnSpc>
                <a:spcPct val="80000"/>
              </a:lnSpc>
              <a:spcBef>
                <a:spcPts val="500"/>
              </a:spcBef>
              <a:buClrTx/>
              <a:buSzPct val="50000"/>
              <a:buFontTx/>
              <a:buNone/>
            </a:pPr>
            <a:endParaRPr lang="en-AU" altLang="en-US" sz="2000">
              <a:effectLst>
                <a:outerShdw blurRad="38100" dist="38100" dir="2700000" algn="tl">
                  <a:srgbClr val="000000"/>
                </a:outerShdw>
              </a:effectLst>
              <a:latin typeface="Lucida Console" panose="020B0609040504020204" pitchFamily="49" charset="0"/>
            </a:endParaRPr>
          </a:p>
          <a:p>
            <a:pPr lvl="1">
              <a:lnSpc>
                <a:spcPct val="80000"/>
              </a:lnSpc>
              <a:spcBef>
                <a:spcPts val="500"/>
              </a:spcBef>
              <a:buClrTx/>
              <a:buSzPct val="50000"/>
              <a:buFontTx/>
              <a:buNone/>
            </a:pPr>
            <a:r>
              <a:rPr lang="en-AU" altLang="en-US" sz="2000">
                <a:effectLst>
                  <a:outerShdw blurRad="38100" dist="38100" dir="2700000" algn="tl">
                    <a:srgbClr val="000000"/>
                  </a:outerShdw>
                </a:effectLst>
                <a:latin typeface="Lucida Console" panose="020B0609040504020204" pitchFamily="49" charset="0"/>
              </a:rPr>
              <a:t>Ciphertext: CTATTSKPAO DLEONIDUPT MBAWOAXYTZ</a:t>
            </a:r>
          </a:p>
          <a:p>
            <a:pPr lvl="1">
              <a:lnSpc>
                <a:spcPct val="80000"/>
              </a:lnSpc>
              <a:spcBef>
                <a:spcPts val="600"/>
              </a:spcBef>
              <a:buClrTx/>
              <a:buSzPct val="50000"/>
              <a:buFontTx/>
              <a:buNone/>
            </a:pPr>
            <a:r>
              <a:rPr lang="en-AU" altLang="en-US">
                <a:effectLst>
                  <a:outerShdw blurRad="38100" dist="38100" dir="2700000" algn="tl">
                    <a:srgbClr val="000000"/>
                  </a:outerShdw>
                </a:effectLst>
              </a:rPr>
              <a:t> </a:t>
            </a:r>
          </a:p>
        </p:txBody>
      </p:sp>
      <p:sp>
        <p:nvSpPr>
          <p:cNvPr id="59395" name="Line 3">
            <a:extLst>
              <a:ext uri="{FF2B5EF4-FFF2-40B4-BE49-F238E27FC236}">
                <a16:creationId xmlns:a16="http://schemas.microsoft.com/office/drawing/2014/main" id="{4A0A68D1-6A22-95E1-AADF-A9BDB24BA076}"/>
              </a:ext>
            </a:extLst>
          </p:cNvPr>
          <p:cNvSpPr>
            <a:spLocks noChangeShapeType="1"/>
          </p:cNvSpPr>
          <p:nvPr/>
        </p:nvSpPr>
        <p:spPr bwMode="auto">
          <a:xfrm flipH="1">
            <a:off x="2911475" y="3716338"/>
            <a:ext cx="6572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396" name="Line 4">
            <a:extLst>
              <a:ext uri="{FF2B5EF4-FFF2-40B4-BE49-F238E27FC236}">
                <a16:creationId xmlns:a16="http://schemas.microsoft.com/office/drawing/2014/main" id="{1E25F138-B790-E14C-B36A-B4A8D3307D57}"/>
              </a:ext>
            </a:extLst>
          </p:cNvPr>
          <p:cNvSpPr>
            <a:spLocks noChangeShapeType="1"/>
          </p:cNvSpPr>
          <p:nvPr/>
        </p:nvSpPr>
        <p:spPr bwMode="auto">
          <a:xfrm flipH="1">
            <a:off x="3054350" y="3716338"/>
            <a:ext cx="123507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397" name="Line 5">
            <a:extLst>
              <a:ext uri="{FF2B5EF4-FFF2-40B4-BE49-F238E27FC236}">
                <a16:creationId xmlns:a16="http://schemas.microsoft.com/office/drawing/2014/main" id="{8FB4DF1B-FA5F-5E37-CFD0-79C36DA45E50}"/>
              </a:ext>
            </a:extLst>
          </p:cNvPr>
          <p:cNvSpPr>
            <a:spLocks noChangeShapeType="1"/>
          </p:cNvSpPr>
          <p:nvPr/>
        </p:nvSpPr>
        <p:spPr bwMode="auto">
          <a:xfrm flipH="1">
            <a:off x="3198813" y="3716338"/>
            <a:ext cx="153987"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398" name="Line 6">
            <a:extLst>
              <a:ext uri="{FF2B5EF4-FFF2-40B4-BE49-F238E27FC236}">
                <a16:creationId xmlns:a16="http://schemas.microsoft.com/office/drawing/2014/main" id="{F89F60DE-F22E-46C1-8926-7BA35640822D}"/>
              </a:ext>
            </a:extLst>
          </p:cNvPr>
          <p:cNvSpPr>
            <a:spLocks noChangeShapeType="1"/>
          </p:cNvSpPr>
          <p:nvPr/>
        </p:nvSpPr>
        <p:spPr bwMode="auto">
          <a:xfrm>
            <a:off x="3059113" y="3716338"/>
            <a:ext cx="2889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399" name="Line 7">
            <a:extLst>
              <a:ext uri="{FF2B5EF4-FFF2-40B4-BE49-F238E27FC236}">
                <a16:creationId xmlns:a16="http://schemas.microsoft.com/office/drawing/2014/main" id="{B9EF0E09-E8C8-DA59-79B7-1237CF12A275}"/>
              </a:ext>
            </a:extLst>
          </p:cNvPr>
          <p:cNvSpPr>
            <a:spLocks noChangeShapeType="1"/>
          </p:cNvSpPr>
          <p:nvPr/>
        </p:nvSpPr>
        <p:spPr bwMode="auto">
          <a:xfrm>
            <a:off x="3203575" y="3716338"/>
            <a:ext cx="2889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00" name="Line 8">
            <a:extLst>
              <a:ext uri="{FF2B5EF4-FFF2-40B4-BE49-F238E27FC236}">
                <a16:creationId xmlns:a16="http://schemas.microsoft.com/office/drawing/2014/main" id="{6F9CEE29-7A9E-BD5D-5CB8-F513F45D1604}"/>
              </a:ext>
            </a:extLst>
          </p:cNvPr>
          <p:cNvSpPr>
            <a:spLocks noChangeShapeType="1"/>
          </p:cNvSpPr>
          <p:nvPr/>
        </p:nvSpPr>
        <p:spPr bwMode="auto">
          <a:xfrm flipH="1">
            <a:off x="3703638" y="3716338"/>
            <a:ext cx="4413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01" name="Line 9">
            <a:extLst>
              <a:ext uri="{FF2B5EF4-FFF2-40B4-BE49-F238E27FC236}">
                <a16:creationId xmlns:a16="http://schemas.microsoft.com/office/drawing/2014/main" id="{5415F60C-B6E9-B805-5DCA-10F64D63A279}"/>
              </a:ext>
            </a:extLst>
          </p:cNvPr>
          <p:cNvSpPr>
            <a:spLocks noChangeShapeType="1"/>
          </p:cNvSpPr>
          <p:nvPr/>
        </p:nvSpPr>
        <p:spPr bwMode="auto">
          <a:xfrm>
            <a:off x="3635375" y="3716338"/>
            <a:ext cx="215900"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02" name="Line 10">
            <a:extLst>
              <a:ext uri="{FF2B5EF4-FFF2-40B4-BE49-F238E27FC236}">
                <a16:creationId xmlns:a16="http://schemas.microsoft.com/office/drawing/2014/main" id="{C7F9A42E-CCD5-6BBC-209F-BF9C05EA44A8}"/>
              </a:ext>
            </a:extLst>
          </p:cNvPr>
          <p:cNvSpPr>
            <a:spLocks noChangeShapeType="1"/>
          </p:cNvSpPr>
          <p:nvPr/>
        </p:nvSpPr>
        <p:spPr bwMode="auto">
          <a:xfrm>
            <a:off x="2916238" y="3716338"/>
            <a:ext cx="1223962"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03" name="Line 11">
            <a:extLst>
              <a:ext uri="{FF2B5EF4-FFF2-40B4-BE49-F238E27FC236}">
                <a16:creationId xmlns:a16="http://schemas.microsoft.com/office/drawing/2014/main" id="{81033786-A822-4ED4-7CBF-E93C1F982079}"/>
              </a:ext>
            </a:extLst>
          </p:cNvPr>
          <p:cNvSpPr>
            <a:spLocks noChangeShapeType="1"/>
          </p:cNvSpPr>
          <p:nvPr/>
        </p:nvSpPr>
        <p:spPr bwMode="auto">
          <a:xfrm>
            <a:off x="3779838" y="3716338"/>
            <a:ext cx="215900"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04" name="Line 12">
            <a:extLst>
              <a:ext uri="{FF2B5EF4-FFF2-40B4-BE49-F238E27FC236}">
                <a16:creationId xmlns:a16="http://schemas.microsoft.com/office/drawing/2014/main" id="{D0C5D6BB-044B-8DD4-E929-C7BC209DD665}"/>
              </a:ext>
            </a:extLst>
          </p:cNvPr>
          <p:cNvSpPr>
            <a:spLocks noChangeShapeType="1"/>
          </p:cNvSpPr>
          <p:nvPr/>
        </p:nvSpPr>
        <p:spPr bwMode="auto">
          <a:xfrm>
            <a:off x="3995738" y="3716338"/>
            <a:ext cx="2889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05" name="Line 13">
            <a:extLst>
              <a:ext uri="{FF2B5EF4-FFF2-40B4-BE49-F238E27FC236}">
                <a16:creationId xmlns:a16="http://schemas.microsoft.com/office/drawing/2014/main" id="{5D8EF35C-FDCA-BE11-2697-E3707470763D}"/>
              </a:ext>
            </a:extLst>
          </p:cNvPr>
          <p:cNvSpPr>
            <a:spLocks noChangeShapeType="1"/>
          </p:cNvSpPr>
          <p:nvPr/>
        </p:nvSpPr>
        <p:spPr bwMode="auto">
          <a:xfrm flipH="1">
            <a:off x="4568825" y="3716338"/>
            <a:ext cx="6572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06" name="Line 14">
            <a:extLst>
              <a:ext uri="{FF2B5EF4-FFF2-40B4-BE49-F238E27FC236}">
                <a16:creationId xmlns:a16="http://schemas.microsoft.com/office/drawing/2014/main" id="{F923B373-C601-C3FC-98D7-FD0222E077BB}"/>
              </a:ext>
            </a:extLst>
          </p:cNvPr>
          <p:cNvSpPr>
            <a:spLocks noChangeShapeType="1"/>
          </p:cNvSpPr>
          <p:nvPr/>
        </p:nvSpPr>
        <p:spPr bwMode="auto">
          <a:xfrm flipH="1">
            <a:off x="4711700" y="3716338"/>
            <a:ext cx="123507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07" name="Line 15">
            <a:extLst>
              <a:ext uri="{FF2B5EF4-FFF2-40B4-BE49-F238E27FC236}">
                <a16:creationId xmlns:a16="http://schemas.microsoft.com/office/drawing/2014/main" id="{DF059678-6E04-F469-0EAB-DCD489DDBEBC}"/>
              </a:ext>
            </a:extLst>
          </p:cNvPr>
          <p:cNvSpPr>
            <a:spLocks noChangeShapeType="1"/>
          </p:cNvSpPr>
          <p:nvPr/>
        </p:nvSpPr>
        <p:spPr bwMode="auto">
          <a:xfrm flipH="1">
            <a:off x="4856163" y="3716338"/>
            <a:ext cx="153987"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08" name="Line 16">
            <a:extLst>
              <a:ext uri="{FF2B5EF4-FFF2-40B4-BE49-F238E27FC236}">
                <a16:creationId xmlns:a16="http://schemas.microsoft.com/office/drawing/2014/main" id="{6FBCDB36-78B6-9747-87DC-F67AABB9FF60}"/>
              </a:ext>
            </a:extLst>
          </p:cNvPr>
          <p:cNvSpPr>
            <a:spLocks noChangeShapeType="1"/>
          </p:cNvSpPr>
          <p:nvPr/>
        </p:nvSpPr>
        <p:spPr bwMode="auto">
          <a:xfrm>
            <a:off x="4716463" y="3716338"/>
            <a:ext cx="2889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09" name="Line 17">
            <a:extLst>
              <a:ext uri="{FF2B5EF4-FFF2-40B4-BE49-F238E27FC236}">
                <a16:creationId xmlns:a16="http://schemas.microsoft.com/office/drawing/2014/main" id="{B1960B90-0C17-73B3-EFC9-2254B8EE2762}"/>
              </a:ext>
            </a:extLst>
          </p:cNvPr>
          <p:cNvSpPr>
            <a:spLocks noChangeShapeType="1"/>
          </p:cNvSpPr>
          <p:nvPr/>
        </p:nvSpPr>
        <p:spPr bwMode="auto">
          <a:xfrm>
            <a:off x="4860925" y="3716338"/>
            <a:ext cx="2889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10" name="Line 18">
            <a:extLst>
              <a:ext uri="{FF2B5EF4-FFF2-40B4-BE49-F238E27FC236}">
                <a16:creationId xmlns:a16="http://schemas.microsoft.com/office/drawing/2014/main" id="{46563024-EC6D-49E7-69D9-EB3B7C3EF743}"/>
              </a:ext>
            </a:extLst>
          </p:cNvPr>
          <p:cNvSpPr>
            <a:spLocks noChangeShapeType="1"/>
          </p:cNvSpPr>
          <p:nvPr/>
        </p:nvSpPr>
        <p:spPr bwMode="auto">
          <a:xfrm flipH="1">
            <a:off x="5360988" y="3716338"/>
            <a:ext cx="4413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11" name="Line 19">
            <a:extLst>
              <a:ext uri="{FF2B5EF4-FFF2-40B4-BE49-F238E27FC236}">
                <a16:creationId xmlns:a16="http://schemas.microsoft.com/office/drawing/2014/main" id="{15E7884B-196E-5205-0203-FBBD39ACB4F9}"/>
              </a:ext>
            </a:extLst>
          </p:cNvPr>
          <p:cNvSpPr>
            <a:spLocks noChangeShapeType="1"/>
          </p:cNvSpPr>
          <p:nvPr/>
        </p:nvSpPr>
        <p:spPr bwMode="auto">
          <a:xfrm>
            <a:off x="5292725" y="3716338"/>
            <a:ext cx="215900"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12" name="Line 20">
            <a:extLst>
              <a:ext uri="{FF2B5EF4-FFF2-40B4-BE49-F238E27FC236}">
                <a16:creationId xmlns:a16="http://schemas.microsoft.com/office/drawing/2014/main" id="{6C9E711F-7636-92B2-9ABB-B20F8F0D0747}"/>
              </a:ext>
            </a:extLst>
          </p:cNvPr>
          <p:cNvSpPr>
            <a:spLocks noChangeShapeType="1"/>
          </p:cNvSpPr>
          <p:nvPr/>
        </p:nvSpPr>
        <p:spPr bwMode="auto">
          <a:xfrm>
            <a:off x="4573588" y="3716338"/>
            <a:ext cx="1223962"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13" name="Line 21">
            <a:extLst>
              <a:ext uri="{FF2B5EF4-FFF2-40B4-BE49-F238E27FC236}">
                <a16:creationId xmlns:a16="http://schemas.microsoft.com/office/drawing/2014/main" id="{002C948D-E0D9-9570-976E-864543E24C9B}"/>
              </a:ext>
            </a:extLst>
          </p:cNvPr>
          <p:cNvSpPr>
            <a:spLocks noChangeShapeType="1"/>
          </p:cNvSpPr>
          <p:nvPr/>
        </p:nvSpPr>
        <p:spPr bwMode="auto">
          <a:xfrm>
            <a:off x="5437188" y="3716338"/>
            <a:ext cx="215900"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14" name="Line 22">
            <a:extLst>
              <a:ext uri="{FF2B5EF4-FFF2-40B4-BE49-F238E27FC236}">
                <a16:creationId xmlns:a16="http://schemas.microsoft.com/office/drawing/2014/main" id="{2F4D3C57-9BB0-6F29-AB89-D241C07BD812}"/>
              </a:ext>
            </a:extLst>
          </p:cNvPr>
          <p:cNvSpPr>
            <a:spLocks noChangeShapeType="1"/>
          </p:cNvSpPr>
          <p:nvPr/>
        </p:nvSpPr>
        <p:spPr bwMode="auto">
          <a:xfrm>
            <a:off x="5653088" y="3716338"/>
            <a:ext cx="2889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15" name="Line 23">
            <a:extLst>
              <a:ext uri="{FF2B5EF4-FFF2-40B4-BE49-F238E27FC236}">
                <a16:creationId xmlns:a16="http://schemas.microsoft.com/office/drawing/2014/main" id="{98E322A7-4136-EE10-6626-02A4145BFABE}"/>
              </a:ext>
            </a:extLst>
          </p:cNvPr>
          <p:cNvSpPr>
            <a:spLocks noChangeShapeType="1"/>
          </p:cNvSpPr>
          <p:nvPr/>
        </p:nvSpPr>
        <p:spPr bwMode="auto">
          <a:xfrm flipH="1">
            <a:off x="6223000" y="3716338"/>
            <a:ext cx="6572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16" name="Line 24">
            <a:extLst>
              <a:ext uri="{FF2B5EF4-FFF2-40B4-BE49-F238E27FC236}">
                <a16:creationId xmlns:a16="http://schemas.microsoft.com/office/drawing/2014/main" id="{7151D112-D72B-E5A6-D1B9-45819DB9754C}"/>
              </a:ext>
            </a:extLst>
          </p:cNvPr>
          <p:cNvSpPr>
            <a:spLocks noChangeShapeType="1"/>
          </p:cNvSpPr>
          <p:nvPr/>
        </p:nvSpPr>
        <p:spPr bwMode="auto">
          <a:xfrm flipH="1">
            <a:off x="6365875" y="3716338"/>
            <a:ext cx="123507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17" name="Line 25">
            <a:extLst>
              <a:ext uri="{FF2B5EF4-FFF2-40B4-BE49-F238E27FC236}">
                <a16:creationId xmlns:a16="http://schemas.microsoft.com/office/drawing/2014/main" id="{C836FC30-0B9F-F184-0A25-62AADEE257E6}"/>
              </a:ext>
            </a:extLst>
          </p:cNvPr>
          <p:cNvSpPr>
            <a:spLocks noChangeShapeType="1"/>
          </p:cNvSpPr>
          <p:nvPr/>
        </p:nvSpPr>
        <p:spPr bwMode="auto">
          <a:xfrm flipH="1">
            <a:off x="6510338" y="3716338"/>
            <a:ext cx="153987"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18" name="Line 26">
            <a:extLst>
              <a:ext uri="{FF2B5EF4-FFF2-40B4-BE49-F238E27FC236}">
                <a16:creationId xmlns:a16="http://schemas.microsoft.com/office/drawing/2014/main" id="{81DF68AC-16BF-879B-A65F-3677E87FFE57}"/>
              </a:ext>
            </a:extLst>
          </p:cNvPr>
          <p:cNvSpPr>
            <a:spLocks noChangeShapeType="1"/>
          </p:cNvSpPr>
          <p:nvPr/>
        </p:nvSpPr>
        <p:spPr bwMode="auto">
          <a:xfrm>
            <a:off x="6370638" y="3716338"/>
            <a:ext cx="2889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19" name="Line 27">
            <a:extLst>
              <a:ext uri="{FF2B5EF4-FFF2-40B4-BE49-F238E27FC236}">
                <a16:creationId xmlns:a16="http://schemas.microsoft.com/office/drawing/2014/main" id="{5377F9B7-D89B-19B9-C717-57BF81600AE7}"/>
              </a:ext>
            </a:extLst>
          </p:cNvPr>
          <p:cNvSpPr>
            <a:spLocks noChangeShapeType="1"/>
          </p:cNvSpPr>
          <p:nvPr/>
        </p:nvSpPr>
        <p:spPr bwMode="auto">
          <a:xfrm>
            <a:off x="6515100" y="3716338"/>
            <a:ext cx="2889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20" name="Line 28">
            <a:extLst>
              <a:ext uri="{FF2B5EF4-FFF2-40B4-BE49-F238E27FC236}">
                <a16:creationId xmlns:a16="http://schemas.microsoft.com/office/drawing/2014/main" id="{83B857F1-E9A3-B56A-E7B6-0D2B3E2BBD7C}"/>
              </a:ext>
            </a:extLst>
          </p:cNvPr>
          <p:cNvSpPr>
            <a:spLocks noChangeShapeType="1"/>
          </p:cNvSpPr>
          <p:nvPr/>
        </p:nvSpPr>
        <p:spPr bwMode="auto">
          <a:xfrm flipH="1">
            <a:off x="7015163" y="3716338"/>
            <a:ext cx="4413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21" name="Line 29">
            <a:extLst>
              <a:ext uri="{FF2B5EF4-FFF2-40B4-BE49-F238E27FC236}">
                <a16:creationId xmlns:a16="http://schemas.microsoft.com/office/drawing/2014/main" id="{38E997CD-2626-BF4C-1228-E44201467E1D}"/>
              </a:ext>
            </a:extLst>
          </p:cNvPr>
          <p:cNvSpPr>
            <a:spLocks noChangeShapeType="1"/>
          </p:cNvSpPr>
          <p:nvPr/>
        </p:nvSpPr>
        <p:spPr bwMode="auto">
          <a:xfrm>
            <a:off x="6946900" y="3716338"/>
            <a:ext cx="215900"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22" name="Line 30">
            <a:extLst>
              <a:ext uri="{FF2B5EF4-FFF2-40B4-BE49-F238E27FC236}">
                <a16:creationId xmlns:a16="http://schemas.microsoft.com/office/drawing/2014/main" id="{C05593B0-0E0D-4075-42F5-E8A5F41C6765}"/>
              </a:ext>
            </a:extLst>
          </p:cNvPr>
          <p:cNvSpPr>
            <a:spLocks noChangeShapeType="1"/>
          </p:cNvSpPr>
          <p:nvPr/>
        </p:nvSpPr>
        <p:spPr bwMode="auto">
          <a:xfrm>
            <a:off x="6227763" y="3716338"/>
            <a:ext cx="1223962"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23" name="Line 31">
            <a:extLst>
              <a:ext uri="{FF2B5EF4-FFF2-40B4-BE49-F238E27FC236}">
                <a16:creationId xmlns:a16="http://schemas.microsoft.com/office/drawing/2014/main" id="{6BB1A117-CDCD-352A-1D60-5BD05388117A}"/>
              </a:ext>
            </a:extLst>
          </p:cNvPr>
          <p:cNvSpPr>
            <a:spLocks noChangeShapeType="1"/>
          </p:cNvSpPr>
          <p:nvPr/>
        </p:nvSpPr>
        <p:spPr bwMode="auto">
          <a:xfrm>
            <a:off x="7091363" y="3716338"/>
            <a:ext cx="215900"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24" name="Line 32">
            <a:extLst>
              <a:ext uri="{FF2B5EF4-FFF2-40B4-BE49-F238E27FC236}">
                <a16:creationId xmlns:a16="http://schemas.microsoft.com/office/drawing/2014/main" id="{6856E4FD-2B55-380E-8D5C-8842917AC353}"/>
              </a:ext>
            </a:extLst>
          </p:cNvPr>
          <p:cNvSpPr>
            <a:spLocks noChangeShapeType="1"/>
          </p:cNvSpPr>
          <p:nvPr/>
        </p:nvSpPr>
        <p:spPr bwMode="auto">
          <a:xfrm>
            <a:off x="7307263" y="3716338"/>
            <a:ext cx="288925" cy="288925"/>
          </a:xfrm>
          <a:prstGeom prst="line">
            <a:avLst/>
          </a:prstGeom>
          <a:noFill/>
          <a:ln w="9360">
            <a:solidFill>
              <a:srgbClr val="FF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60417" name="Text Box 1">
            <a:extLst>
              <a:ext uri="{FF2B5EF4-FFF2-40B4-BE49-F238E27FC236}">
                <a16:creationId xmlns:a16="http://schemas.microsoft.com/office/drawing/2014/main" id="{6AEB9985-115B-FC94-82E8-462DC252A593}"/>
              </a:ext>
            </a:extLst>
          </p:cNvPr>
          <p:cNvSpPr txBox="1">
            <a:spLocks noChangeArrowheads="1"/>
          </p:cNvSpPr>
          <p:nvPr/>
        </p:nvSpPr>
        <p:spPr bwMode="auto">
          <a:xfrm>
            <a:off x="468313" y="260350"/>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Homework 1</a:t>
            </a:r>
          </a:p>
        </p:txBody>
      </p:sp>
      <p:sp>
        <p:nvSpPr>
          <p:cNvPr id="60418" name="Text Box 2">
            <a:extLst>
              <a:ext uri="{FF2B5EF4-FFF2-40B4-BE49-F238E27FC236}">
                <a16:creationId xmlns:a16="http://schemas.microsoft.com/office/drawing/2014/main" id="{32048EE5-9EF1-D180-5B41-9564799330A3}"/>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US" altLang="en-US" sz="3200" dirty="0">
                <a:effectLst>
                  <a:outerShdw blurRad="38100" dist="38100" dir="2700000" algn="tl">
                    <a:srgbClr val="000000"/>
                  </a:outerShdw>
                </a:effectLst>
              </a:rPr>
              <a:t>Question 2: </a:t>
            </a:r>
          </a:p>
          <a:p>
            <a:pPr>
              <a:spcBef>
                <a:spcPts val="800"/>
              </a:spcBef>
              <a:buClrTx/>
              <a:buSzPct val="80000"/>
              <a:buFontTx/>
              <a:buNone/>
            </a:pPr>
            <a:r>
              <a:rPr lang="en-US" altLang="en-US" sz="3200" dirty="0">
                <a:effectLst>
                  <a:outerShdw blurRad="38100" dist="38100" dir="2700000" algn="tl">
                    <a:srgbClr val="000000"/>
                  </a:outerShdw>
                </a:effectLst>
              </a:rPr>
              <a:t>Mathematically specify an arbitrary block transposition cipher with block length B and permutation </a:t>
            </a:r>
            <a:r>
              <a:rPr lang="en-US" altLang="en-US" sz="3200" dirty="0">
                <a:effectLst>
                  <a:outerShdw blurRad="38100" dist="38100" dir="2700000" algn="tl">
                    <a:srgbClr val="000000"/>
                  </a:outerShdw>
                </a:effectLst>
                <a:latin typeface="Symbol" pitchFamily="2" charset="2"/>
              </a:rPr>
              <a:t></a:t>
            </a:r>
            <a:r>
              <a:rPr lang="en-US" altLang="en-US" sz="3200" dirty="0">
                <a:effectLst>
                  <a:outerShdw blurRad="38100" dist="38100" dir="2700000" algn="tl">
                    <a:srgbClr val="000000"/>
                  </a:outerShdw>
                </a:effectLst>
              </a:rPr>
              <a:t>:[0..B-1] </a:t>
            </a:r>
            <a:r>
              <a:rPr lang="en-US" altLang="en-US" sz="3200" dirty="0">
                <a:effectLst>
                  <a:outerShdw blurRad="38100" dist="38100" dir="2700000" algn="tl">
                    <a:srgbClr val="000000"/>
                  </a:outerShdw>
                </a:effectLst>
                <a:cs typeface="Arial" panose="020B0604020202020204" pitchFamily="34" charset="0"/>
              </a:rPr>
              <a:t>→</a:t>
            </a:r>
            <a:r>
              <a:rPr lang="en-US" altLang="en-US" sz="3200" dirty="0">
                <a:effectLst>
                  <a:outerShdw blurRad="38100" dist="38100" dir="2700000" algn="tl">
                    <a:srgbClr val="000000"/>
                  </a:outerShdw>
                </a:effectLst>
              </a:rPr>
              <a:t> [0..B-1] for plaintext P=p</a:t>
            </a:r>
            <a:r>
              <a:rPr lang="en-US" altLang="en-US" sz="3200" baseline="-25000" dirty="0">
                <a:effectLst>
                  <a:outerShdw blurRad="38100" dist="38100" dir="2700000" algn="tl">
                    <a:srgbClr val="000000"/>
                  </a:outerShdw>
                </a:effectLst>
              </a:rPr>
              <a:t>0</a:t>
            </a:r>
            <a:r>
              <a:rPr lang="en-US" altLang="en-US" sz="3200" dirty="0">
                <a:effectLst>
                  <a:outerShdw blurRad="38100" dist="38100" dir="2700000" algn="tl">
                    <a:srgbClr val="000000"/>
                  </a:outerShdw>
                </a:effectLst>
              </a:rPr>
              <a:t>p</a:t>
            </a:r>
            <a:r>
              <a:rPr lang="en-US" altLang="en-US" sz="3200" baseline="-25000" dirty="0">
                <a:effectLst>
                  <a:outerShdw blurRad="38100" dist="38100" dir="2700000" algn="tl">
                    <a:srgbClr val="000000"/>
                  </a:outerShdw>
                </a:effectLst>
              </a:rPr>
              <a:t>1</a:t>
            </a:r>
            <a:r>
              <a:rPr lang="en-US" altLang="en-US" sz="3200" dirty="0">
                <a:effectLst>
                  <a:outerShdw blurRad="38100" dist="38100" dir="2700000" algn="tl">
                    <a:srgbClr val="000000"/>
                  </a:outerShdw>
                </a:effectLst>
              </a:rPr>
              <a:t>p</a:t>
            </a:r>
            <a:r>
              <a:rPr lang="en-US" altLang="en-US" sz="3200" baseline="-25000" dirty="0">
                <a:effectLst>
                  <a:outerShdw blurRad="38100" dist="38100" dir="2700000" algn="tl">
                    <a:srgbClr val="000000"/>
                  </a:outerShdw>
                </a:effectLst>
              </a:rPr>
              <a:t>2</a:t>
            </a:r>
            <a:r>
              <a:rPr lang="en-US" altLang="en-US" sz="3200" dirty="0">
                <a:effectLst>
                  <a:outerShdw blurRad="38100" dist="38100" dir="2700000" algn="tl">
                    <a:srgbClr val="000000"/>
                  </a:outerShdw>
                </a:effectLst>
              </a:rPr>
              <a:t>p</a:t>
            </a:r>
            <a:r>
              <a:rPr lang="en-US" altLang="en-US" sz="3200" baseline="-25000" dirty="0">
                <a:effectLst>
                  <a:outerShdw blurRad="38100" dist="38100" dir="2700000" algn="tl">
                    <a:srgbClr val="000000"/>
                  </a:outerShdw>
                </a:effectLst>
              </a:rPr>
              <a:t>3</a:t>
            </a:r>
            <a:r>
              <a:rPr lang="en-US" altLang="en-US" sz="3200" dirty="0">
                <a:effectLst>
                  <a:outerShdw blurRad="38100" dist="38100" dir="2700000" algn="tl">
                    <a:srgbClr val="000000"/>
                  </a:outerShdw>
                </a:effectLst>
              </a:rPr>
              <a:t>…p</a:t>
            </a:r>
            <a:r>
              <a:rPr lang="en-US" altLang="en-US" sz="3200" baseline="-25000" dirty="0">
                <a:effectLst>
                  <a:outerShdw blurRad="38100" dist="38100" dir="2700000" algn="tl">
                    <a:srgbClr val="000000"/>
                  </a:outerShdw>
                </a:effectLst>
              </a:rPr>
              <a:t>N-1</a:t>
            </a:r>
            <a:r>
              <a:rPr lang="en-US" altLang="en-US" sz="3200" dirty="0">
                <a:effectLst>
                  <a:outerShdw blurRad="38100" dist="38100" dir="2700000" algn="tl">
                    <a:srgbClr val="000000"/>
                  </a:outerShdw>
                </a:effectLst>
              </a:rPr>
              <a:t>, where N is a multiple of B.</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61441" name="Text Box 1">
            <a:extLst>
              <a:ext uri="{FF2B5EF4-FFF2-40B4-BE49-F238E27FC236}">
                <a16:creationId xmlns:a16="http://schemas.microsoft.com/office/drawing/2014/main" id="{F215243E-465B-4887-4348-147580C6AF11}"/>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Product Ciphers</a:t>
            </a:r>
          </a:p>
        </p:txBody>
      </p:sp>
      <p:sp>
        <p:nvSpPr>
          <p:cNvPr id="61442" name="Text Box 2">
            <a:extLst>
              <a:ext uri="{FF2B5EF4-FFF2-40B4-BE49-F238E27FC236}">
                <a16:creationId xmlns:a16="http://schemas.microsoft.com/office/drawing/2014/main" id="{B48E34BA-423D-22D1-7FC3-249FD913A486}"/>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ciphers using substitutions or transpositions are not secure because of language characteristics</a:t>
            </a:r>
          </a:p>
          <a:p>
            <a:pPr>
              <a:lnSpc>
                <a:spcPct val="90000"/>
              </a:lnSpc>
              <a:spcBef>
                <a:spcPts val="700"/>
              </a:spcBef>
              <a:buClr>
                <a:srgbClr val="5FAFFF"/>
              </a:buClr>
              <a:buSzPct val="80000"/>
              <a:buFont typeface="Wingdings" pitchFamily="2" charset="2"/>
              <a:buChar char=""/>
            </a:pPr>
            <a:r>
              <a:rPr lang="en-AU" altLang="en-US" sz="2800">
                <a:effectLst>
                  <a:outerShdw blurRad="38100" dist="38100" dir="2700000" algn="tl">
                    <a:srgbClr val="000000"/>
                  </a:outerShdw>
                </a:effectLst>
              </a:rPr>
              <a:t>hence consider using several ciphers in succession to make harder, but: </a:t>
            </a:r>
          </a:p>
          <a:p>
            <a:pPr lvl="1">
              <a:lnSpc>
                <a:spcPct val="90000"/>
              </a:lnSpc>
              <a:spcBef>
                <a:spcPts val="600"/>
              </a:spcBef>
              <a:buClr>
                <a:srgbClr val="D9D9FF"/>
              </a:buClr>
              <a:buSzPct val="50000"/>
              <a:buFont typeface="Wingdings" pitchFamily="2" charset="2"/>
              <a:buChar char=""/>
            </a:pPr>
            <a:r>
              <a:rPr lang="en-AU" altLang="en-US">
                <a:effectLst>
                  <a:outerShdw blurRad="38100" dist="38100" dir="2700000" algn="tl">
                    <a:srgbClr val="000000"/>
                  </a:outerShdw>
                </a:effectLst>
              </a:rPr>
              <a:t>two substitutions make a more complex substitution </a:t>
            </a:r>
          </a:p>
          <a:p>
            <a:pPr lvl="1">
              <a:lnSpc>
                <a:spcPct val="90000"/>
              </a:lnSpc>
              <a:spcBef>
                <a:spcPts val="600"/>
              </a:spcBef>
              <a:buClr>
                <a:srgbClr val="D9D9FF"/>
              </a:buClr>
              <a:buSzPct val="50000"/>
              <a:buFont typeface="Wingdings" pitchFamily="2" charset="2"/>
              <a:buChar char=""/>
            </a:pPr>
            <a:r>
              <a:rPr lang="en-AU" altLang="en-US">
                <a:effectLst>
                  <a:outerShdw blurRad="38100" dist="38100" dir="2700000" algn="tl">
                    <a:srgbClr val="000000"/>
                  </a:outerShdw>
                </a:effectLst>
              </a:rPr>
              <a:t>two transpositions make more complex transposition </a:t>
            </a:r>
          </a:p>
          <a:p>
            <a:pPr lvl="1">
              <a:lnSpc>
                <a:spcPct val="90000"/>
              </a:lnSpc>
              <a:spcBef>
                <a:spcPts val="600"/>
              </a:spcBef>
              <a:buClr>
                <a:srgbClr val="D9D9FF"/>
              </a:buClr>
              <a:buSzPct val="50000"/>
              <a:buFont typeface="Wingdings" pitchFamily="2" charset="2"/>
              <a:buChar char=""/>
            </a:pPr>
            <a:r>
              <a:rPr lang="en-AU" altLang="en-US">
                <a:effectLst>
                  <a:outerShdw blurRad="38100" dist="38100" dir="2700000" algn="tl">
                    <a:srgbClr val="000000"/>
                  </a:outerShdw>
                </a:effectLst>
              </a:rPr>
              <a:t>but a substitution followed by a transposition makes a new much harder cipher </a:t>
            </a:r>
          </a:p>
          <a:p>
            <a:pPr>
              <a:lnSpc>
                <a:spcPct val="90000"/>
              </a:lnSpc>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this is bridge from classical to modern ciphers</a:t>
            </a:r>
          </a:p>
          <a:p>
            <a:pPr>
              <a:lnSpc>
                <a:spcPct val="90000"/>
              </a:lnSpc>
              <a:spcBef>
                <a:spcPts val="700"/>
              </a:spcBef>
              <a:buClrTx/>
              <a:buSzPct val="80000"/>
              <a:buFontTx/>
              <a:buNone/>
            </a:pPr>
            <a:endParaRPr lang="en-US" altLang="en-US" sz="2800">
              <a:effectLst>
                <a:outerShdw blurRad="38100" dist="38100" dir="2700000" algn="tl">
                  <a:srgbClr val="000000"/>
                </a:outerShdw>
              </a:effectLst>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62465" name="Text Box 1">
            <a:extLst>
              <a:ext uri="{FF2B5EF4-FFF2-40B4-BE49-F238E27FC236}">
                <a16:creationId xmlns:a16="http://schemas.microsoft.com/office/drawing/2014/main" id="{BAA53B09-35A1-CAA1-B9AB-DE11268421F2}"/>
              </a:ext>
            </a:extLst>
          </p:cNvPr>
          <p:cNvSpPr txBox="1">
            <a:spLocks noChangeArrowheads="1"/>
          </p:cNvSpPr>
          <p:nvPr/>
        </p:nvSpPr>
        <p:spPr bwMode="auto">
          <a:xfrm>
            <a:off x="468313" y="260350"/>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Homework 1</a:t>
            </a:r>
          </a:p>
        </p:txBody>
      </p:sp>
      <p:sp>
        <p:nvSpPr>
          <p:cNvPr id="62466" name="Text Box 2">
            <a:extLst>
              <a:ext uri="{FF2B5EF4-FFF2-40B4-BE49-F238E27FC236}">
                <a16:creationId xmlns:a16="http://schemas.microsoft.com/office/drawing/2014/main" id="{273D7BC9-714F-0D6D-E195-C2377783AB3F}"/>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604838" indent="-604838">
              <a:tabLst>
                <a:tab pos="604838" algn="l"/>
                <a:tab pos="1062038" algn="l"/>
                <a:tab pos="1519238" algn="l"/>
                <a:tab pos="1976438" algn="l"/>
                <a:tab pos="2433638" algn="l"/>
                <a:tab pos="2890838" algn="l"/>
                <a:tab pos="3348038" algn="l"/>
                <a:tab pos="3805238" algn="l"/>
                <a:tab pos="4262438" algn="l"/>
                <a:tab pos="4719638" algn="l"/>
                <a:tab pos="5176838" algn="l"/>
                <a:tab pos="5634038" algn="l"/>
                <a:tab pos="6091238" algn="l"/>
                <a:tab pos="6548438" algn="l"/>
                <a:tab pos="7005638" algn="l"/>
                <a:tab pos="7462838" algn="l"/>
                <a:tab pos="7920038" algn="l"/>
                <a:tab pos="8377238" algn="l"/>
                <a:tab pos="8834438" algn="l"/>
                <a:tab pos="9291638" algn="l"/>
                <a:tab pos="9748838" algn="l"/>
              </a:tabLst>
              <a:defRPr sz="2400">
                <a:solidFill>
                  <a:srgbClr val="FFFFFF"/>
                </a:solidFill>
                <a:latin typeface="Arial" panose="020B0604020202020204" pitchFamily="34" charset="0"/>
                <a:ea typeface="ＭＳ Ｐゴシック" panose="020B0600070205080204" pitchFamily="34" charset="-128"/>
              </a:defRPr>
            </a:lvl1pPr>
            <a:lvl2pPr>
              <a:tabLst>
                <a:tab pos="604838" algn="l"/>
                <a:tab pos="1062038" algn="l"/>
                <a:tab pos="1519238" algn="l"/>
                <a:tab pos="1976438" algn="l"/>
                <a:tab pos="2433638" algn="l"/>
                <a:tab pos="2890838" algn="l"/>
                <a:tab pos="3348038" algn="l"/>
                <a:tab pos="3805238" algn="l"/>
                <a:tab pos="4262438" algn="l"/>
                <a:tab pos="4719638" algn="l"/>
                <a:tab pos="5176838" algn="l"/>
                <a:tab pos="5634038" algn="l"/>
                <a:tab pos="6091238" algn="l"/>
                <a:tab pos="6548438" algn="l"/>
                <a:tab pos="7005638" algn="l"/>
                <a:tab pos="7462838" algn="l"/>
                <a:tab pos="7920038" algn="l"/>
                <a:tab pos="8377238" algn="l"/>
                <a:tab pos="8834438" algn="l"/>
                <a:tab pos="9291638" algn="l"/>
                <a:tab pos="9748838" algn="l"/>
              </a:tabLst>
              <a:defRPr sz="2400">
                <a:solidFill>
                  <a:srgbClr val="FFFFFF"/>
                </a:solidFill>
                <a:latin typeface="Arial" panose="020B0604020202020204" pitchFamily="34" charset="0"/>
                <a:ea typeface="ＭＳ Ｐゴシック" panose="020B0600070205080204" pitchFamily="34" charset="-128"/>
              </a:defRPr>
            </a:lvl2pPr>
            <a:lvl3pPr>
              <a:tabLst>
                <a:tab pos="604838" algn="l"/>
                <a:tab pos="1062038" algn="l"/>
                <a:tab pos="1519238" algn="l"/>
                <a:tab pos="1976438" algn="l"/>
                <a:tab pos="2433638" algn="l"/>
                <a:tab pos="2890838" algn="l"/>
                <a:tab pos="3348038" algn="l"/>
                <a:tab pos="3805238" algn="l"/>
                <a:tab pos="4262438" algn="l"/>
                <a:tab pos="4719638" algn="l"/>
                <a:tab pos="5176838" algn="l"/>
                <a:tab pos="5634038" algn="l"/>
                <a:tab pos="6091238" algn="l"/>
                <a:tab pos="6548438" algn="l"/>
                <a:tab pos="7005638" algn="l"/>
                <a:tab pos="7462838" algn="l"/>
                <a:tab pos="7920038" algn="l"/>
                <a:tab pos="8377238" algn="l"/>
                <a:tab pos="8834438" algn="l"/>
                <a:tab pos="9291638" algn="l"/>
                <a:tab pos="9748838" algn="l"/>
              </a:tabLst>
              <a:defRPr sz="2400">
                <a:solidFill>
                  <a:srgbClr val="FFFFFF"/>
                </a:solidFill>
                <a:latin typeface="Arial" panose="020B0604020202020204" pitchFamily="34" charset="0"/>
                <a:ea typeface="ＭＳ Ｐゴシック" panose="020B0600070205080204" pitchFamily="34" charset="-128"/>
              </a:defRPr>
            </a:lvl3pPr>
            <a:lvl4pPr>
              <a:tabLst>
                <a:tab pos="604838" algn="l"/>
                <a:tab pos="1062038" algn="l"/>
                <a:tab pos="1519238" algn="l"/>
                <a:tab pos="1976438" algn="l"/>
                <a:tab pos="2433638" algn="l"/>
                <a:tab pos="2890838" algn="l"/>
                <a:tab pos="3348038" algn="l"/>
                <a:tab pos="3805238" algn="l"/>
                <a:tab pos="4262438" algn="l"/>
                <a:tab pos="4719638" algn="l"/>
                <a:tab pos="5176838" algn="l"/>
                <a:tab pos="5634038" algn="l"/>
                <a:tab pos="6091238" algn="l"/>
                <a:tab pos="6548438" algn="l"/>
                <a:tab pos="7005638" algn="l"/>
                <a:tab pos="7462838" algn="l"/>
                <a:tab pos="7920038" algn="l"/>
                <a:tab pos="8377238" algn="l"/>
                <a:tab pos="8834438" algn="l"/>
                <a:tab pos="9291638" algn="l"/>
                <a:tab pos="9748838" algn="l"/>
              </a:tabLst>
              <a:defRPr sz="2400">
                <a:solidFill>
                  <a:srgbClr val="FFFFFF"/>
                </a:solidFill>
                <a:latin typeface="Arial" panose="020B0604020202020204" pitchFamily="34" charset="0"/>
                <a:ea typeface="ＭＳ Ｐゴシック" panose="020B0600070205080204" pitchFamily="34" charset="-128"/>
              </a:defRPr>
            </a:lvl4pPr>
            <a:lvl5pPr>
              <a:tabLst>
                <a:tab pos="604838" algn="l"/>
                <a:tab pos="1062038" algn="l"/>
                <a:tab pos="1519238" algn="l"/>
                <a:tab pos="1976438" algn="l"/>
                <a:tab pos="2433638" algn="l"/>
                <a:tab pos="2890838" algn="l"/>
                <a:tab pos="3348038" algn="l"/>
                <a:tab pos="3805238" algn="l"/>
                <a:tab pos="4262438" algn="l"/>
                <a:tab pos="4719638" algn="l"/>
                <a:tab pos="5176838" algn="l"/>
                <a:tab pos="5634038" algn="l"/>
                <a:tab pos="6091238" algn="l"/>
                <a:tab pos="6548438" algn="l"/>
                <a:tab pos="7005638" algn="l"/>
                <a:tab pos="7462838" algn="l"/>
                <a:tab pos="7920038" algn="l"/>
                <a:tab pos="8377238" algn="l"/>
                <a:tab pos="8834438" algn="l"/>
                <a:tab pos="9291638" algn="l"/>
                <a:tab pos="97488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604838" algn="l"/>
                <a:tab pos="1062038" algn="l"/>
                <a:tab pos="1519238" algn="l"/>
                <a:tab pos="1976438" algn="l"/>
                <a:tab pos="2433638" algn="l"/>
                <a:tab pos="2890838" algn="l"/>
                <a:tab pos="3348038" algn="l"/>
                <a:tab pos="3805238" algn="l"/>
                <a:tab pos="4262438" algn="l"/>
                <a:tab pos="4719638" algn="l"/>
                <a:tab pos="5176838" algn="l"/>
                <a:tab pos="5634038" algn="l"/>
                <a:tab pos="6091238" algn="l"/>
                <a:tab pos="6548438" algn="l"/>
                <a:tab pos="7005638" algn="l"/>
                <a:tab pos="7462838" algn="l"/>
                <a:tab pos="7920038" algn="l"/>
                <a:tab pos="8377238" algn="l"/>
                <a:tab pos="8834438" algn="l"/>
                <a:tab pos="9291638" algn="l"/>
                <a:tab pos="97488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604838" algn="l"/>
                <a:tab pos="1062038" algn="l"/>
                <a:tab pos="1519238" algn="l"/>
                <a:tab pos="1976438" algn="l"/>
                <a:tab pos="2433638" algn="l"/>
                <a:tab pos="2890838" algn="l"/>
                <a:tab pos="3348038" algn="l"/>
                <a:tab pos="3805238" algn="l"/>
                <a:tab pos="4262438" algn="l"/>
                <a:tab pos="4719638" algn="l"/>
                <a:tab pos="5176838" algn="l"/>
                <a:tab pos="5634038" algn="l"/>
                <a:tab pos="6091238" algn="l"/>
                <a:tab pos="6548438" algn="l"/>
                <a:tab pos="7005638" algn="l"/>
                <a:tab pos="7462838" algn="l"/>
                <a:tab pos="7920038" algn="l"/>
                <a:tab pos="8377238" algn="l"/>
                <a:tab pos="8834438" algn="l"/>
                <a:tab pos="9291638" algn="l"/>
                <a:tab pos="97488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604838" algn="l"/>
                <a:tab pos="1062038" algn="l"/>
                <a:tab pos="1519238" algn="l"/>
                <a:tab pos="1976438" algn="l"/>
                <a:tab pos="2433638" algn="l"/>
                <a:tab pos="2890838" algn="l"/>
                <a:tab pos="3348038" algn="l"/>
                <a:tab pos="3805238" algn="l"/>
                <a:tab pos="4262438" algn="l"/>
                <a:tab pos="4719638" algn="l"/>
                <a:tab pos="5176838" algn="l"/>
                <a:tab pos="5634038" algn="l"/>
                <a:tab pos="6091238" algn="l"/>
                <a:tab pos="6548438" algn="l"/>
                <a:tab pos="7005638" algn="l"/>
                <a:tab pos="7462838" algn="l"/>
                <a:tab pos="7920038" algn="l"/>
                <a:tab pos="8377238" algn="l"/>
                <a:tab pos="8834438" algn="l"/>
                <a:tab pos="9291638" algn="l"/>
                <a:tab pos="97488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604838" algn="l"/>
                <a:tab pos="1062038" algn="l"/>
                <a:tab pos="1519238" algn="l"/>
                <a:tab pos="1976438" algn="l"/>
                <a:tab pos="2433638" algn="l"/>
                <a:tab pos="2890838" algn="l"/>
                <a:tab pos="3348038" algn="l"/>
                <a:tab pos="3805238" algn="l"/>
                <a:tab pos="4262438" algn="l"/>
                <a:tab pos="4719638" algn="l"/>
                <a:tab pos="5176838" algn="l"/>
                <a:tab pos="5634038" algn="l"/>
                <a:tab pos="6091238" algn="l"/>
                <a:tab pos="6548438" algn="l"/>
                <a:tab pos="7005638" algn="l"/>
                <a:tab pos="7462838" algn="l"/>
                <a:tab pos="7920038" algn="l"/>
                <a:tab pos="8377238" algn="l"/>
                <a:tab pos="8834438" algn="l"/>
                <a:tab pos="9291638" algn="l"/>
                <a:tab pos="97488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US" altLang="en-US" sz="3200" dirty="0">
                <a:effectLst>
                  <a:outerShdw blurRad="38100" dist="38100" dir="2700000" algn="tl">
                    <a:srgbClr val="000000"/>
                  </a:outerShdw>
                </a:effectLst>
              </a:rPr>
              <a:t>Question 3: </a:t>
            </a:r>
          </a:p>
          <a:p>
            <a:pPr>
              <a:spcBef>
                <a:spcPts val="800"/>
              </a:spcBef>
              <a:buClr>
                <a:srgbClr val="5FAFFF"/>
              </a:buClr>
              <a:buSzPct val="80000"/>
              <a:buFont typeface="StarSymbol" charset="0"/>
              <a:buAutoNum type="alphaLcPeriod"/>
            </a:pPr>
            <a:r>
              <a:rPr lang="en-US" altLang="en-US" sz="3200" dirty="0">
                <a:effectLst>
                  <a:outerShdw blurRad="38100" dist="38100" dir="2700000" algn="tl">
                    <a:srgbClr val="000000"/>
                  </a:outerShdw>
                </a:effectLst>
              </a:rPr>
              <a:t>What is the result of the product of two rotational substitutions?</a:t>
            </a:r>
          </a:p>
          <a:p>
            <a:pPr>
              <a:spcBef>
                <a:spcPts val="800"/>
              </a:spcBef>
              <a:buClr>
                <a:srgbClr val="5FAFFF"/>
              </a:buClr>
              <a:buSzPct val="80000"/>
              <a:buFont typeface="StarSymbol" charset="0"/>
              <a:buAutoNum type="alphaLcPeriod"/>
            </a:pPr>
            <a:r>
              <a:rPr lang="en-US" altLang="en-US" sz="3200" dirty="0">
                <a:effectLst>
                  <a:outerShdw blurRad="38100" dist="38100" dir="2700000" algn="tl">
                    <a:srgbClr val="000000"/>
                  </a:outerShdw>
                </a:effectLst>
              </a:rPr>
              <a:t>What is the result of the product of two affine substitutions?</a:t>
            </a:r>
          </a:p>
          <a:p>
            <a:pPr>
              <a:spcBef>
                <a:spcPts val="800"/>
              </a:spcBef>
              <a:buClr>
                <a:srgbClr val="5FAFFF"/>
              </a:buClr>
              <a:buSzPct val="80000"/>
              <a:buFont typeface="StarSymbol" charset="0"/>
              <a:buAutoNum type="alphaLcPeriod"/>
            </a:pPr>
            <a:r>
              <a:rPr lang="en-US" altLang="en-US" sz="3200" dirty="0">
                <a:effectLst>
                  <a:outerShdw blurRad="38100" dist="38100" dir="2700000" algn="tl">
                    <a:srgbClr val="000000"/>
                  </a:outerShdw>
                </a:effectLst>
              </a:rPr>
              <a:t>What is the result of the product of two block transpositions?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63489" name="Text Box 1">
            <a:extLst>
              <a:ext uri="{FF2B5EF4-FFF2-40B4-BE49-F238E27FC236}">
                <a16:creationId xmlns:a16="http://schemas.microsoft.com/office/drawing/2014/main" id="{4A478CFF-6A00-8D9E-BFD0-DA2D553B8021}"/>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Rotor Machines</a:t>
            </a:r>
          </a:p>
        </p:txBody>
      </p:sp>
      <p:sp>
        <p:nvSpPr>
          <p:cNvPr id="63490" name="Text Box 2">
            <a:extLst>
              <a:ext uri="{FF2B5EF4-FFF2-40B4-BE49-F238E27FC236}">
                <a16:creationId xmlns:a16="http://schemas.microsoft.com/office/drawing/2014/main" id="{C68579DF-BF71-37A9-FA1E-83802087EB2B}"/>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lnSpc>
                <a:spcPct val="90000"/>
              </a:lnSpc>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before modern ciphers, rotor machines were most common complex ciphers in use</a:t>
            </a:r>
          </a:p>
          <a:p>
            <a:pPr>
              <a:lnSpc>
                <a:spcPct val="90000"/>
              </a:lnSpc>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widely used in WW2</a:t>
            </a:r>
          </a:p>
          <a:p>
            <a:pPr lvl="1">
              <a:lnSpc>
                <a:spcPct val="90000"/>
              </a:lnSpc>
              <a:spcBef>
                <a:spcPts val="600"/>
              </a:spcBef>
              <a:buClr>
                <a:srgbClr val="D9D9FF"/>
              </a:buClr>
              <a:buSzPct val="50000"/>
              <a:buFont typeface="Wingdings" pitchFamily="2" charset="2"/>
              <a:buChar char=""/>
            </a:pPr>
            <a:r>
              <a:rPr lang="en-US" altLang="en-US">
                <a:effectLst>
                  <a:outerShdw blurRad="38100" dist="38100" dir="2700000" algn="tl">
                    <a:srgbClr val="000000"/>
                  </a:outerShdw>
                </a:effectLst>
              </a:rPr>
              <a:t>German Enigma, Allied Hagelin, Japanese Purple</a:t>
            </a:r>
          </a:p>
          <a:p>
            <a:pPr>
              <a:lnSpc>
                <a:spcPct val="90000"/>
              </a:lnSpc>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implemented a very complex, varying substitution cipher</a:t>
            </a:r>
          </a:p>
          <a:p>
            <a:pPr>
              <a:lnSpc>
                <a:spcPct val="90000"/>
              </a:lnSpc>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used a series of cylinders, each giving one substitution, which rotated and changed after each letter was encrypted</a:t>
            </a:r>
          </a:p>
          <a:p>
            <a:pPr>
              <a:lnSpc>
                <a:spcPct val="90000"/>
              </a:lnSpc>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with 3 cylinders have 26</a:t>
            </a:r>
            <a:r>
              <a:rPr lang="en-US" altLang="en-US" sz="2800" baseline="30000">
                <a:effectLst>
                  <a:outerShdw blurRad="38100" dist="38100" dir="2700000" algn="tl">
                    <a:srgbClr val="000000"/>
                  </a:outerShdw>
                </a:effectLst>
              </a:rPr>
              <a:t>3</a:t>
            </a:r>
            <a:r>
              <a:rPr lang="en-US" altLang="en-US" sz="2800">
                <a:effectLst>
                  <a:outerShdw blurRad="38100" dist="38100" dir="2700000" algn="tl">
                    <a:srgbClr val="000000"/>
                  </a:outerShdw>
                </a:effectLst>
              </a:rPr>
              <a:t>=17576 alphabets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64513" name="Text Box 1">
            <a:extLst>
              <a:ext uri="{FF2B5EF4-FFF2-40B4-BE49-F238E27FC236}">
                <a16:creationId xmlns:a16="http://schemas.microsoft.com/office/drawing/2014/main" id="{AD288BB8-95AC-160F-F770-70904D675244}"/>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Hagelin Rotor Machine</a:t>
            </a:r>
          </a:p>
        </p:txBody>
      </p:sp>
      <p:pic>
        <p:nvPicPr>
          <p:cNvPr id="64514" name="Picture 2">
            <a:extLst>
              <a:ext uri="{FF2B5EF4-FFF2-40B4-BE49-F238E27FC236}">
                <a16:creationId xmlns:a16="http://schemas.microsoft.com/office/drawing/2014/main" id="{3E881D06-DB7E-C669-B4D9-AC4109B271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524000"/>
            <a:ext cx="3552825" cy="49514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65537" name="Text Box 1">
            <a:extLst>
              <a:ext uri="{FF2B5EF4-FFF2-40B4-BE49-F238E27FC236}">
                <a16:creationId xmlns:a16="http://schemas.microsoft.com/office/drawing/2014/main" id="{7F916465-0B46-1882-51A0-EC5FE22DAD01}"/>
              </a:ext>
            </a:extLst>
          </p:cNvPr>
          <p:cNvSpPr txBox="1">
            <a:spLocks noChangeArrowheads="1"/>
          </p:cNvSpPr>
          <p:nvPr/>
        </p:nvSpPr>
        <p:spPr bwMode="auto">
          <a:xfrm>
            <a:off x="457200" y="0"/>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Rotor Machine Principles</a:t>
            </a:r>
          </a:p>
        </p:txBody>
      </p:sp>
      <p:pic>
        <p:nvPicPr>
          <p:cNvPr id="65538" name="Picture 2">
            <a:extLst>
              <a:ext uri="{FF2B5EF4-FFF2-40B4-BE49-F238E27FC236}">
                <a16:creationId xmlns:a16="http://schemas.microsoft.com/office/drawing/2014/main" id="{4987A55D-37A9-73AD-64D6-44E510435E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143000"/>
            <a:ext cx="7642225" cy="54514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66561" name="Text Box 1">
            <a:extLst>
              <a:ext uri="{FF2B5EF4-FFF2-40B4-BE49-F238E27FC236}">
                <a16:creationId xmlns:a16="http://schemas.microsoft.com/office/drawing/2014/main" id="{BF500352-C4CC-058A-1944-18594DE04448}"/>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Homework 1</a:t>
            </a:r>
          </a:p>
        </p:txBody>
      </p:sp>
      <p:sp>
        <p:nvSpPr>
          <p:cNvPr id="66562" name="Text Box 2">
            <a:extLst>
              <a:ext uri="{FF2B5EF4-FFF2-40B4-BE49-F238E27FC236}">
                <a16:creationId xmlns:a16="http://schemas.microsoft.com/office/drawing/2014/main" id="{F127286A-EEA3-5E39-3778-DA4D97D77887}"/>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Due Fri</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Question 4: </a:t>
            </a:r>
          </a:p>
          <a:p>
            <a:pPr>
              <a:spcBef>
                <a:spcPts val="800"/>
              </a:spcBef>
              <a:buClrTx/>
              <a:buSzPct val="80000"/>
              <a:buFontTx/>
              <a:buNone/>
            </a:pPr>
            <a:r>
              <a:rPr lang="en-US" altLang="en-US" sz="3200">
                <a:effectLst>
                  <a:outerShdw blurRad="38100" dist="38100" dir="2700000" algn="tl">
                    <a:srgbClr val="000000"/>
                  </a:outerShdw>
                </a:effectLst>
              </a:rPr>
              <a:t>Give a mathematical description of a two-rotor cipher.</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67585" name="Text Box 1">
            <a:extLst>
              <a:ext uri="{FF2B5EF4-FFF2-40B4-BE49-F238E27FC236}">
                <a16:creationId xmlns:a16="http://schemas.microsoft.com/office/drawing/2014/main" id="{B51591FB-B3DE-7031-B1EC-0F2F98CF03D6}"/>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Rotor Ciphers</a:t>
            </a:r>
          </a:p>
        </p:txBody>
      </p:sp>
      <p:sp>
        <p:nvSpPr>
          <p:cNvPr id="67586" name="Text Box 2">
            <a:extLst>
              <a:ext uri="{FF2B5EF4-FFF2-40B4-BE49-F238E27FC236}">
                <a16:creationId xmlns:a16="http://schemas.microsoft.com/office/drawing/2014/main" id="{79D741B0-55F0-ACE4-41F4-93D950AF8F82}"/>
              </a:ext>
            </a:extLst>
          </p:cNvPr>
          <p:cNvSpPr txBox="1">
            <a:spLocks noChangeArrowheads="1"/>
          </p:cNvSpPr>
          <p:nvPr/>
        </p:nvSpPr>
        <p:spPr bwMode="auto">
          <a:xfrm>
            <a:off x="457200" y="1676400"/>
            <a:ext cx="82296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Each rotor implements some permutation between its input and output contacts</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Rotors turn like an odometer on each key stroke (rotating input and output contacts)</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Key is the sequence of rotors and their initial positions</a:t>
            </a:r>
          </a:p>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Note: enigma also had steckerboard permutation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68609" name="Text Box 1">
            <a:extLst>
              <a:ext uri="{FF2B5EF4-FFF2-40B4-BE49-F238E27FC236}">
                <a16:creationId xmlns:a16="http://schemas.microsoft.com/office/drawing/2014/main" id="{08628B6C-CE17-E051-BB77-F6A7FA794237}"/>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AU" altLang="en-US" sz="4400" b="1">
                <a:solidFill>
                  <a:srgbClr val="D9D9FF"/>
                </a:solidFill>
                <a:effectLst>
                  <a:outerShdw blurRad="38100" dist="38100" dir="2700000" algn="tl">
                    <a:srgbClr val="000000"/>
                  </a:outerShdw>
                </a:effectLst>
              </a:rPr>
              <a:t>Steganography</a:t>
            </a:r>
          </a:p>
        </p:txBody>
      </p:sp>
      <p:sp>
        <p:nvSpPr>
          <p:cNvPr id="68610" name="Text Box 2">
            <a:extLst>
              <a:ext uri="{FF2B5EF4-FFF2-40B4-BE49-F238E27FC236}">
                <a16:creationId xmlns:a16="http://schemas.microsoft.com/office/drawing/2014/main" id="{D140685E-4A35-9807-72D4-29C6148FA033}"/>
              </a:ext>
            </a:extLst>
          </p:cNvPr>
          <p:cNvSpPr txBox="1">
            <a:spLocks noChangeArrowheads="1"/>
          </p:cNvSpPr>
          <p:nvPr/>
        </p:nvSpPr>
        <p:spPr bwMode="auto">
          <a:xfrm>
            <a:off x="457200" y="1412875"/>
            <a:ext cx="8229600" cy="5153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an alternative to encryption</a:t>
            </a:r>
          </a:p>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hides existence of message</a:t>
            </a:r>
          </a:p>
          <a:p>
            <a:pPr lvl="1">
              <a:spcBef>
                <a:spcPts val="600"/>
              </a:spcBef>
              <a:buClr>
                <a:srgbClr val="D9D9FF"/>
              </a:buClr>
              <a:buSzPct val="50000"/>
              <a:buFont typeface="Wingdings" pitchFamily="2" charset="2"/>
              <a:buChar char=""/>
            </a:pPr>
            <a:r>
              <a:rPr lang="en-US" altLang="en-US">
                <a:effectLst>
                  <a:outerShdw blurRad="38100" dist="38100" dir="2700000" algn="tl">
                    <a:srgbClr val="000000"/>
                  </a:outerShdw>
                </a:effectLst>
              </a:rPr>
              <a:t>using only a subset of letters/words in a longer message marked in some way</a:t>
            </a:r>
          </a:p>
          <a:p>
            <a:pPr lvl="1">
              <a:spcBef>
                <a:spcPts val="600"/>
              </a:spcBef>
              <a:buClr>
                <a:srgbClr val="D9D9FF"/>
              </a:buClr>
              <a:buSzPct val="50000"/>
              <a:buFont typeface="Wingdings" pitchFamily="2" charset="2"/>
              <a:buChar char=""/>
            </a:pPr>
            <a:r>
              <a:rPr lang="en-US" altLang="en-US">
                <a:effectLst>
                  <a:outerShdw blurRad="38100" dist="38100" dir="2700000" algn="tl">
                    <a:srgbClr val="000000"/>
                  </a:outerShdw>
                </a:effectLst>
              </a:rPr>
              <a:t>using invisible ink</a:t>
            </a:r>
          </a:p>
          <a:p>
            <a:pPr lvl="1">
              <a:spcBef>
                <a:spcPts val="600"/>
              </a:spcBef>
              <a:buClr>
                <a:srgbClr val="D9D9FF"/>
              </a:buClr>
              <a:buSzPct val="50000"/>
              <a:buFont typeface="Wingdings" pitchFamily="2" charset="2"/>
              <a:buChar char=""/>
            </a:pPr>
            <a:r>
              <a:rPr lang="en-US" altLang="en-US">
                <a:effectLst>
                  <a:outerShdw blurRad="38100" dist="38100" dir="2700000" algn="tl">
                    <a:srgbClr val="000000"/>
                  </a:outerShdw>
                </a:effectLst>
              </a:rPr>
              <a:t>hiding in LSB in graphic image or sound file</a:t>
            </a:r>
          </a:p>
          <a:p>
            <a:pPr lvl="1">
              <a:spcBef>
                <a:spcPts val="600"/>
              </a:spcBef>
              <a:buClr>
                <a:srgbClr val="D9D9FF"/>
              </a:buClr>
              <a:buSzPct val="50000"/>
              <a:buFont typeface="Wingdings" pitchFamily="2" charset="2"/>
              <a:buChar char=""/>
            </a:pPr>
            <a:r>
              <a:rPr lang="en-US" altLang="en-US">
                <a:effectLst>
                  <a:outerShdw blurRad="38100" dist="38100" dir="2700000" algn="tl">
                    <a:srgbClr val="000000"/>
                  </a:outerShdw>
                </a:effectLst>
              </a:rPr>
              <a:t>hide in “noise”</a:t>
            </a:r>
          </a:p>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has drawbacks</a:t>
            </a:r>
          </a:p>
          <a:p>
            <a:pPr lvl="1">
              <a:spcBef>
                <a:spcPts val="600"/>
              </a:spcBef>
              <a:buClr>
                <a:srgbClr val="D9D9FF"/>
              </a:buClr>
              <a:buSzPct val="50000"/>
              <a:buFont typeface="Wingdings" pitchFamily="2" charset="2"/>
              <a:buChar char=""/>
            </a:pPr>
            <a:r>
              <a:rPr lang="en-US" altLang="en-US">
                <a:effectLst>
                  <a:outerShdw blurRad="38100" dist="38100" dir="2700000" algn="tl">
                    <a:srgbClr val="000000"/>
                  </a:outerShdw>
                </a:effectLst>
              </a:rPr>
              <a:t>high overhead to hide relatively few info bits</a:t>
            </a:r>
          </a:p>
          <a:p>
            <a:pPr>
              <a:spcBef>
                <a:spcPts val="700"/>
              </a:spcBef>
              <a:buClr>
                <a:srgbClr val="5FAFFF"/>
              </a:buClr>
              <a:buSzPct val="80000"/>
              <a:buFont typeface="Wingdings" pitchFamily="2" charset="2"/>
              <a:buChar char=""/>
            </a:pPr>
            <a:r>
              <a:rPr lang="en-US" altLang="en-US" sz="2800">
                <a:effectLst>
                  <a:outerShdw blurRad="38100" dist="38100" dir="2700000" algn="tl">
                    <a:srgbClr val="000000"/>
                  </a:outerShdw>
                </a:effectLst>
              </a:rPr>
              <a:t>advantage is can obscure encryption use</a:t>
            </a:r>
          </a:p>
          <a:p>
            <a:pPr lvl="1">
              <a:spcBef>
                <a:spcPts val="700"/>
              </a:spcBef>
              <a:buClrTx/>
              <a:buSzPct val="50000"/>
              <a:buFontTx/>
              <a:buNone/>
            </a:pPr>
            <a:endParaRPr lang="en-US" altLang="en-US" sz="2800">
              <a:effectLst>
                <a:outerShdw blurRad="38100" dist="38100" dir="2700000" algn="tl">
                  <a:srgbClr val="000000"/>
                </a:outerShdw>
              </a:effectLst>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666699"/>
        </a:solidFill>
        <a:effectLst/>
      </p:bgPr>
    </p:bg>
    <p:spTree>
      <p:nvGrpSpPr>
        <p:cNvPr id="1" name=""/>
        <p:cNvGrpSpPr/>
        <p:nvPr/>
      </p:nvGrpSpPr>
      <p:grpSpPr>
        <a:xfrm>
          <a:off x="0" y="0"/>
          <a:ext cx="0" cy="0"/>
          <a:chOff x="0" y="0"/>
          <a:chExt cx="0" cy="0"/>
        </a:xfrm>
      </p:grpSpPr>
      <p:sp>
        <p:nvSpPr>
          <p:cNvPr id="69633" name="Text Box 1">
            <a:extLst>
              <a:ext uri="{FF2B5EF4-FFF2-40B4-BE49-F238E27FC236}">
                <a16:creationId xmlns:a16="http://schemas.microsoft.com/office/drawing/2014/main" id="{361841BC-5135-5337-0142-EC7A63E039F1}"/>
              </a:ext>
            </a:extLst>
          </p:cNvPr>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panose="020B0604020202020204" pitchFamily="34" charset="0"/>
                <a:ea typeface="ＭＳ Ｐゴシック" panose="020B0600070205080204" pitchFamily="34" charset="-128"/>
              </a:defRPr>
            </a:lvl9pPr>
          </a:lstStyle>
          <a:p>
            <a:pPr algn="ctr">
              <a:buClrTx/>
              <a:buFontTx/>
              <a:buNone/>
            </a:pPr>
            <a:r>
              <a:rPr lang="en-US" altLang="en-US" sz="4400" b="1">
                <a:solidFill>
                  <a:srgbClr val="D9D9FF"/>
                </a:solidFill>
                <a:effectLst>
                  <a:outerShdw blurRad="38100" dist="38100" dir="2700000" algn="tl">
                    <a:srgbClr val="000000"/>
                  </a:outerShdw>
                </a:effectLst>
              </a:rPr>
              <a:t>Summary</a:t>
            </a:r>
          </a:p>
        </p:txBody>
      </p:sp>
      <p:sp>
        <p:nvSpPr>
          <p:cNvPr id="69634" name="Text Box 2">
            <a:extLst>
              <a:ext uri="{FF2B5EF4-FFF2-40B4-BE49-F238E27FC236}">
                <a16:creationId xmlns:a16="http://schemas.microsoft.com/office/drawing/2014/main" id="{10CB9064-BD53-A63A-CE67-A7FC032F598C}"/>
              </a:ext>
            </a:extLst>
          </p:cNvPr>
          <p:cNvSpPr txBox="1">
            <a:spLocks noChangeArrowheads="1"/>
          </p:cNvSpPr>
          <p:nvPr/>
        </p:nvSpPr>
        <p:spPr bwMode="auto">
          <a:xfrm>
            <a:off x="457200" y="1676400"/>
            <a:ext cx="8229600" cy="495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panose="020B0604020202020204" pitchFamily="34" charset="0"/>
                <a:ea typeface="ＭＳ Ｐゴシック" panose="020B0600070205080204" pitchFamily="34" charset="-128"/>
              </a:defRPr>
            </a:lvl9pPr>
          </a:lstStyle>
          <a:p>
            <a:pPr>
              <a:spcBef>
                <a:spcPts val="800"/>
              </a:spcBef>
              <a:buClr>
                <a:srgbClr val="5FAFFF"/>
              </a:buClr>
              <a:buSzPct val="80000"/>
              <a:buFont typeface="Wingdings" pitchFamily="2" charset="2"/>
              <a:buChar char=""/>
            </a:pPr>
            <a:r>
              <a:rPr lang="en-US" altLang="en-US" sz="3200">
                <a:effectLst>
                  <a:outerShdw blurRad="38100" dist="38100" dir="2700000" algn="tl">
                    <a:srgbClr val="000000"/>
                  </a:outerShdw>
                </a:effectLst>
              </a:rPr>
              <a:t>have considered:</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classical cipher techniques and terminology</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monoalphabetic substitution ciphers</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cryptanalysis using letter frequencies</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Playfair cipher</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polyalphabetic ciphers</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transposition ciphers</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product ciphers and rotor machines</a:t>
            </a:r>
          </a:p>
          <a:p>
            <a:pPr lvl="1">
              <a:spcBef>
                <a:spcPts val="700"/>
              </a:spcBef>
              <a:buClr>
                <a:srgbClr val="D9D9FF"/>
              </a:buClr>
              <a:buSzPct val="50000"/>
              <a:buFont typeface="Wingdings" pitchFamily="2" charset="2"/>
              <a:buChar char=""/>
            </a:pPr>
            <a:r>
              <a:rPr lang="en-US" altLang="en-US" sz="2800">
                <a:effectLst>
                  <a:outerShdw blurRad="38100" dist="38100" dir="2700000" algn="tl">
                    <a:srgbClr val="000000"/>
                  </a:outerShdw>
                </a:effectLst>
              </a:rPr>
              <a:t>steganography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17779</TotalTime>
  <Words>10236</Words>
  <Application>Microsoft Office PowerPoint</Application>
  <PresentationFormat>On-screen Show (4:3)</PresentationFormat>
  <Paragraphs>801</Paragraphs>
  <Slides>70</Slides>
  <Notes>69</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0</vt:i4>
      </vt:variant>
      <vt:variant>
        <vt:lpstr>Slide Titles</vt:lpstr>
      </vt:variant>
      <vt:variant>
        <vt:i4>70</vt:i4>
      </vt:variant>
    </vt:vector>
  </HeadingPairs>
  <TitlesOfParts>
    <vt:vector size="83" baseType="lpstr">
      <vt:lpstr>MS PGothic</vt:lpstr>
      <vt:lpstr>AR PL SungtiL GB</vt:lpstr>
      <vt:lpstr>Arial</vt:lpstr>
      <vt:lpstr>Calibri</vt:lpstr>
      <vt:lpstr>Calibri Light</vt:lpstr>
      <vt:lpstr>Courier New</vt:lpstr>
      <vt:lpstr>Lucida Console</vt:lpstr>
      <vt:lpstr>StarSymbol</vt:lpstr>
      <vt:lpstr>Symbol</vt:lpstr>
      <vt:lpstr>Times New Roman</vt:lpstr>
      <vt:lpstr>Wingdings</vt:lpstr>
      <vt:lpstr>1_Office Theme</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vt:lpstr>
      <vt:lpstr>Large Key matrix</vt:lpstr>
      <vt:lpstr>PowerPoint Presentation</vt:lpstr>
      <vt:lpstr>PowerPoint Presentation</vt:lpstr>
      <vt:lpstr>PowerPoint Presentation</vt:lpstr>
      <vt:lpstr>PowerPoint Presentation</vt:lpstr>
      <vt:lpstr>Vernam Cipher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2</dc:subject>
  <dc:creator>Dr Lawrie Brown</dc:creator>
  <cp:lastModifiedBy>Manonmani T</cp:lastModifiedBy>
  <cp:revision>60</cp:revision>
  <cp:lastPrinted>2009-08-04T04:48:40Z</cp:lastPrinted>
  <dcterms:created xsi:type="dcterms:W3CDTF">2009-08-04T03:17:45Z</dcterms:created>
  <dcterms:modified xsi:type="dcterms:W3CDTF">2026-02-05T05:59:25Z</dcterms:modified>
</cp:coreProperties>
</file>