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70"/>
    <p:restoredTop sz="94676"/>
  </p:normalViewPr>
  <p:slideViewPr>
    <p:cSldViewPr snapToGrid="0">
      <p:cViewPr varScale="1">
        <p:scale>
          <a:sx n="42" d="100"/>
          <a:sy n="42" d="100"/>
        </p:scale>
        <p:origin x="6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7B60-A4DD-9908-D4EC-B4578757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299FA-AFBE-6404-2590-09A58BE9D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5251-4B85-9960-C424-BAFC6B0F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FBA6-CC14-3314-1536-49FA0C1C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1A449-44CD-EAA3-2CCB-134FBC11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5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4592-2ECC-437C-BC4B-4A0F48D1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C7709-A1CB-AB77-55F4-069D642DC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4A2EC-07AF-A80F-7316-4B417A73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CD42-8242-58FD-CE33-30CFAECF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BF537-40A7-7A0D-9A58-C992DAF6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0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0F51-EA90-698D-6F63-1A34F94A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8C254-04BD-AA22-B3BD-95FC9A60F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44A34-E177-C3C1-9A0C-4E44C565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C1884-0484-DFB7-9A56-FCF94F06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F8497-2508-5FDA-1533-7E9C5F51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3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173F-072B-6B97-D3CF-4F95EF94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BCB6C-CF49-2EED-C82B-6BDB12020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E2CED-D2F5-2E51-C99E-7049726C7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24223-1C44-A18E-6A72-66A426ED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9ED5B-DB94-F254-EC48-8A609BFB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A99C1-4529-C7C7-8384-4E01736B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4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EAE3-7C51-EA88-1390-B7EA96B2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493EF-5A16-4ACF-A8B2-DA3F01CD9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EBE53-C712-04FB-EB80-4FD17CD78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D84F7-66C5-0E8D-9A2F-03AA7EA86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6EB18-3338-53CD-6313-852963E6C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E14F7-C465-05D8-6349-83D9158D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F7CF1-E312-4631-D295-75477F80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107CB-FA2F-E80C-F82D-608A6627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8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E39-1DE1-F564-A81F-16010654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DFB63-2DC5-A842-2CCA-B49BF67C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FE316-D238-25CD-5F50-52318BA8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A4C06-DAD3-5454-19E9-FC7A626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4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D27B8-D870-58A9-E590-0A9A8CAC2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B4076-BB1D-B453-BE2F-0AFA6DA4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12E4D-DCB3-6AE3-0FFA-7E61EB9A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0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B47A-AD44-CA87-9EC8-2440E02A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CC2E-AD8B-A602-B3BB-19FDEE570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9F645-0E47-B979-8199-4ED09DA02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499E2-2053-0EA9-6B67-4D10AF6B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1BD84-E179-6BE0-83B3-1B3E64E3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D4C32-25E5-93F8-EC37-B4120D7A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0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8E75-A9F3-30C0-724E-ABA2F93B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F03B8C-627E-4BF3-6843-DC8D84CD6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08395-A067-538A-12E3-4C9158D1D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8CB6E-4F5F-BFF8-EA97-E0261A2CB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E37CF-27F3-FE56-68AE-0869BB15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0640C-BE3B-5D08-6F02-AD354090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A95B-56B5-0278-AEEB-9250B3F6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6B123-9908-CACC-7B97-5B3776E9D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20CCE-EC2D-142F-27D9-7FA7052A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DFD79-BAC9-59A8-0DED-3BB8E80D7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27E9E-1C8F-61B7-5FAF-82790F87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5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EAD295-802C-67E1-405C-D70C0C88B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AA3EC-DD60-0DC0-D314-890AF7033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781B2-4148-49E2-6501-3BBBA780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040F-5DAB-4302-E4AC-C879E622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F7FBA-1510-D0EE-399C-98805DAA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4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FE1CB-4AA6-99C6-03B0-BD9994BC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5D12D-2EA8-339E-786A-6023E1735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3B6A0-62FD-D982-54CA-73439EACB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11CEC-F9FB-B54C-BCB8-AD6BA8A7392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3D53E-ECE7-C8F0-B3D9-F1D05B548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115B7-41DC-0762-8954-FE204D75A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7B933-2BAA-D141-811E-2E06FF89B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94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5AA6-0A96-F19E-A291-4F67F5EE9F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Chinese Remainder Theorem (CRT)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ABBB4-98CF-1833-42C6-401FA67419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17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D510-D55F-4791-0FB3-CC18D2F1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Do We Need CRT?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80F2-72E7-BFAC-9B82-C95D21C3F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Sometimes we deal with </a:t>
            </a:r>
            <a:r>
              <a:rPr lang="en-IN" b="1" dirty="0"/>
              <a:t>very large numbers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Modular arithmetic simplifies computations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CRT allows us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Break a </a:t>
            </a:r>
            <a:r>
              <a:rPr lang="en-IN" b="1" dirty="0"/>
              <a:t>big modulo problem</a:t>
            </a:r>
            <a:r>
              <a:rPr lang="en-IN" dirty="0"/>
              <a:t> into </a:t>
            </a:r>
            <a:r>
              <a:rPr lang="en-IN" b="1" dirty="0"/>
              <a:t>smaller ones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Perform operations </a:t>
            </a:r>
            <a:r>
              <a:rPr lang="en-IN" b="1" dirty="0"/>
              <a:t>independently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Reconstruct the </a:t>
            </a:r>
            <a:r>
              <a:rPr lang="en-IN" b="1" dirty="0"/>
              <a:t>original number uniquely</a:t>
            </a:r>
            <a:endParaRPr lang="en-IN" dirty="0"/>
          </a:p>
          <a:p>
            <a:r>
              <a:rPr lang="en-IN" dirty="0"/>
              <a:t>Used in </a:t>
            </a:r>
            <a:r>
              <a:rPr lang="en-IN" b="1" dirty="0"/>
              <a:t>Cryptography, RSA, Computer Arithmetic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6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EF672-CF5E-74F0-2910-C88BE679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Intuitive Idea of CRT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36995-BA23-C89F-03A0-FE27F71BE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Instead of working with one big number </a:t>
            </a:r>
            <a:r>
              <a:rPr lang="en-IN" b="1" dirty="0"/>
              <a:t>mod M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 represent the number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Several </a:t>
            </a:r>
            <a:r>
              <a:rPr lang="en-IN" b="1" dirty="0"/>
              <a:t>smaller moduli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That are </a:t>
            </a:r>
            <a:r>
              <a:rPr lang="en-IN" b="1" dirty="0"/>
              <a:t>pairwise relatively prime</a:t>
            </a:r>
            <a:endParaRPr lang="en-IN" dirty="0"/>
          </a:p>
          <a:p>
            <a:r>
              <a:rPr lang="en-IN" dirty="0"/>
              <a:t>💡 Like identifying a person using </a:t>
            </a:r>
            <a:r>
              <a:rPr lang="en-IN" b="1" dirty="0"/>
              <a:t>multiple ID cards</a:t>
            </a:r>
            <a:r>
              <a:rPr lang="en-IN" dirty="0"/>
              <a:t> instead of one huge 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33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98CB-D68D-B15B-EF97-28F7E3D2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idea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B8B8-8033-7C0F-3705-46DA7CF03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We don’t store a big number directly. Instead, we store </a:t>
            </a:r>
            <a:r>
              <a:rPr lang="en-IN" b="1" dirty="0"/>
              <a:t>small remainders</a:t>
            </a:r>
            <a:r>
              <a:rPr lang="en-IN" dirty="0"/>
              <a:t>.</a:t>
            </a:r>
          </a:p>
          <a:p>
            <a:r>
              <a:rPr lang="en-IN" dirty="0"/>
              <a:t>A number can be identified by how it behaves with different divisors.</a:t>
            </a:r>
          </a:p>
          <a:p>
            <a:r>
              <a:rPr lang="en-IN" dirty="0"/>
              <a:t>So instead of saying: </a:t>
            </a:r>
            <a:r>
              <a:rPr lang="en-IN" b="1" dirty="0"/>
              <a:t>“The number is 23”</a:t>
            </a:r>
          </a:p>
          <a:p>
            <a:r>
              <a:rPr lang="en-IN" dirty="0"/>
              <a:t>We say:  “The number gives remainder 2 when divided by 3”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“The number gives remainder 3 when divided by 5”</a:t>
            </a:r>
          </a:p>
          <a:p>
            <a:r>
              <a:rPr lang="en-IN" dirty="0"/>
              <a:t>This pair of remainders </a:t>
            </a:r>
            <a:r>
              <a:rPr lang="en-IN" b="1" dirty="0"/>
              <a:t>uniquely identifies the number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CRT = identifying a number using its remainders.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70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F48C8-A8A4-51C9-ECB3-CB8BC724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2742-EABC-B0DD-B1D2-88C7AEC4A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number is represented as:</a:t>
            </a:r>
          </a:p>
          <a:p>
            <a:r>
              <a:rPr lang="en-IN" dirty="0"/>
              <a:t>Number→(remainder mod m1,  remainder mod m2) 8→(8mod3,8mod5)=(2,3) So instead of storing </a:t>
            </a:r>
            <a:r>
              <a:rPr lang="en-IN" b="1" dirty="0"/>
              <a:t>8</a:t>
            </a:r>
            <a:r>
              <a:rPr lang="en-IN" dirty="0"/>
              <a:t>, we store </a:t>
            </a:r>
            <a:r>
              <a:rPr lang="en-IN" b="1" dirty="0"/>
              <a:t>(2, 3)</a:t>
            </a:r>
            <a:endParaRPr lang="en-IN" dirty="0"/>
          </a:p>
          <a:p>
            <a:r>
              <a:rPr lang="en-IN" dirty="0"/>
              <a:t>✅ Small numbers</a:t>
            </a:r>
            <a:br>
              <a:rPr lang="en-IN" dirty="0"/>
            </a:br>
            <a:r>
              <a:rPr lang="en-IN" dirty="0"/>
              <a:t>✅ Easy to compute</a:t>
            </a:r>
            <a:br>
              <a:rPr lang="en-IN" dirty="0"/>
            </a:br>
            <a:r>
              <a:rPr lang="en-IN" dirty="0"/>
              <a:t>✅ Still uniquely represents the original number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A big number can be safely replaced by a set of small remainders, and we can always reconstruct the original number back.</a:t>
            </a: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76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math problem&#10;&#10;Description automatically generated">
            <a:extLst>
              <a:ext uri="{FF2B5EF4-FFF2-40B4-BE49-F238E27FC236}">
                <a16:creationId xmlns:a16="http://schemas.microsoft.com/office/drawing/2014/main" id="{7CAEEF41-B73D-BCA2-A186-C8CE2CE80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15811"/>
            <a:ext cx="10905066" cy="242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7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75DB-F6D8-81CB-8E75-796C23FF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A9C4D-B1B5-12FD-1650-836631D0F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Convert a Number into Small Remainders</a:t>
            </a:r>
          </a:p>
          <a:p>
            <a:r>
              <a:rPr lang="en-IN" dirty="0"/>
              <a:t>Suppose: Number = </a:t>
            </a:r>
            <a:r>
              <a:rPr lang="en-IN" b="1" dirty="0"/>
              <a:t>8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 values = </a:t>
            </a:r>
            <a:r>
              <a:rPr lang="en-IN" b="1" dirty="0"/>
              <a:t>3 and 5</a:t>
            </a:r>
            <a:endParaRPr lang="en-IN" dirty="0"/>
          </a:p>
          <a:p>
            <a:r>
              <a:rPr lang="en-IN" dirty="0"/>
              <a:t>We compute remainders:</a:t>
            </a:r>
          </a:p>
          <a:p>
            <a:r>
              <a:rPr lang="en-IN" dirty="0"/>
              <a:t>(8 mod3=2),(8 mod5=3)</a:t>
            </a:r>
          </a:p>
          <a:p>
            <a:r>
              <a:rPr lang="en-IN" dirty="0"/>
              <a:t>8→(2,3) </a:t>
            </a:r>
          </a:p>
          <a:p>
            <a:endParaRPr lang="en-IN" dirty="0"/>
          </a:p>
          <a:p>
            <a:r>
              <a:rPr lang="en-IN" dirty="0"/>
              <a:t>This pair </a:t>
            </a:r>
            <a:r>
              <a:rPr lang="en-IN" b="1" dirty="0"/>
              <a:t>(2,3)</a:t>
            </a:r>
            <a:r>
              <a:rPr lang="en-IN" dirty="0"/>
              <a:t> represents the number 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86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B89F5-17CB-1D5A-66B0-9100421A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We find the number by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checking small values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(simple classroom method):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4F9D16-E3BC-B4BB-1894-9858DFAE43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66319"/>
              </p:ext>
            </p:extLst>
          </p:nvPr>
        </p:nvGraphicFramePr>
        <p:xfrm>
          <a:off x="4918160" y="750440"/>
          <a:ext cx="6640616" cy="5453920"/>
        </p:xfrm>
        <a:graphic>
          <a:graphicData uri="http://schemas.openxmlformats.org/drawingml/2006/table">
            <a:tbl>
              <a:tblPr/>
              <a:tblGrid>
                <a:gridCol w="2473518">
                  <a:extLst>
                    <a:ext uri="{9D8B030D-6E8A-4147-A177-3AD203B41FA5}">
                      <a16:colId xmlns:a16="http://schemas.microsoft.com/office/drawing/2014/main" val="563585719"/>
                    </a:ext>
                  </a:extLst>
                </a:gridCol>
                <a:gridCol w="2083549">
                  <a:extLst>
                    <a:ext uri="{9D8B030D-6E8A-4147-A177-3AD203B41FA5}">
                      <a16:colId xmlns:a16="http://schemas.microsoft.com/office/drawing/2014/main" val="533452530"/>
                    </a:ext>
                  </a:extLst>
                </a:gridCol>
                <a:gridCol w="2083549">
                  <a:extLst>
                    <a:ext uri="{9D8B030D-6E8A-4147-A177-3AD203B41FA5}">
                      <a16:colId xmlns:a16="http://schemas.microsoft.com/office/drawing/2014/main" val="332492503"/>
                    </a:ext>
                  </a:extLst>
                </a:gridCol>
              </a:tblGrid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mod 3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mod 5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183644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375842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849628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488183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739904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53615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065761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889780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03266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I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953" marR="123953" marT="61976" marB="619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725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595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37A9-722F-9D95-ACEF-D85666F3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B3341-FCB7-309F-C0AC-FD51A633D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Only </a:t>
            </a:r>
            <a:r>
              <a:rPr lang="en-IN" b="1" dirty="0"/>
              <a:t>8</a:t>
            </a:r>
            <a:r>
              <a:rPr lang="en-IN" dirty="0"/>
              <a:t> matches both conditions</a:t>
            </a:r>
            <a:br>
              <a:rPr lang="en-IN" dirty="0"/>
            </a:br>
            <a:r>
              <a:rPr lang="en-IN" dirty="0"/>
              <a:t>So the answer is:</a:t>
            </a:r>
          </a:p>
          <a:p>
            <a:r>
              <a:rPr lang="en-IN" dirty="0"/>
              <a:t>x=8x = 8x=8</a:t>
            </a:r>
          </a:p>
          <a:p>
            <a:r>
              <a:rPr lang="en-IN" dirty="0"/>
              <a:t>Break a number into small remainders.</a:t>
            </a:r>
          </a:p>
          <a:p>
            <a:r>
              <a:rPr lang="en-IN" dirty="0"/>
              <a:t>Use those remainders to find back the original number.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9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8326-2F6B-0D57-2B17-93E31EBF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3353-9F6B-97A2-824C-E051E79E1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Given:</a:t>
            </a:r>
          </a:p>
          <a:p>
            <a:r>
              <a:rPr lang="en-IN" dirty="0"/>
              <a:t>Find the number </a:t>
            </a:r>
            <a:r>
              <a:rPr lang="en-IN" b="1" dirty="0"/>
              <a:t>x</a:t>
            </a:r>
            <a:r>
              <a:rPr lang="en-IN" dirty="0"/>
              <a:t> such that:</a:t>
            </a:r>
          </a:p>
          <a:p>
            <a:r>
              <a:rPr lang="en-IN" dirty="0"/>
              <a:t>x≡1(mod4) </a:t>
            </a:r>
          </a:p>
          <a:p>
            <a:r>
              <a:rPr lang="en-IN" dirty="0"/>
              <a:t>x≡3(mod5)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x≡1mod4 → when x is divided by 4, remainder is </a:t>
            </a:r>
            <a:r>
              <a:rPr lang="en-IN" b="1" dirty="0"/>
              <a:t>1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≡3mod5 → when x is divided by 5, remainder is </a:t>
            </a:r>
            <a:r>
              <a:rPr lang="en-IN" b="1" dirty="0"/>
              <a:t>3</a:t>
            </a:r>
            <a:endParaRPr lang="en-IN" dirty="0"/>
          </a:p>
          <a:p>
            <a:r>
              <a:rPr lang="en-IN" dirty="0"/>
              <a:t>We want </a:t>
            </a:r>
            <a:r>
              <a:rPr lang="en-IN" b="1" dirty="0"/>
              <a:t>one number</a:t>
            </a:r>
            <a:r>
              <a:rPr lang="en-IN" dirty="0"/>
              <a:t> that satisfies </a:t>
            </a:r>
            <a:r>
              <a:rPr lang="en-IN" b="1" dirty="0"/>
              <a:t>both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13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C5DDD-DA58-D8F7-F28E-191DED21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Make a Small Table (Easy Method)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✔ Only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13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satisfies both conditions.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58F2AA-133B-B420-D9E1-CACF1DF5E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62425"/>
              </p:ext>
            </p:extLst>
          </p:nvPr>
        </p:nvGraphicFramePr>
        <p:xfrm>
          <a:off x="5649362" y="1264552"/>
          <a:ext cx="5178214" cy="4425696"/>
        </p:xfrm>
        <a:graphic>
          <a:graphicData uri="http://schemas.openxmlformats.org/drawingml/2006/table">
            <a:tbl>
              <a:tblPr firstRow="1" bandRow="1"/>
              <a:tblGrid>
                <a:gridCol w="1043094">
                  <a:extLst>
                    <a:ext uri="{9D8B030D-6E8A-4147-A177-3AD203B41FA5}">
                      <a16:colId xmlns:a16="http://schemas.microsoft.com/office/drawing/2014/main" val="2485241537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2829115416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356943970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x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x mod 4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x mod 5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22501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1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1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1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35768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3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3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3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3847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5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1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77923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7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3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2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9622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IN" sz="3300" b="1"/>
                        <a:t>13</a:t>
                      </a:r>
                      <a:endParaRPr lang="en-IN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 b="1"/>
                        <a:t>1</a:t>
                      </a:r>
                      <a:endParaRPr lang="en-IN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300" b="1"/>
                        <a:t>3</a:t>
                      </a:r>
                      <a:r>
                        <a:rPr lang="en-IN" sz="3300"/>
                        <a:t> ✅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155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74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CBDC-B385-099C-62B4-15AB7908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Discrete Logarithms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D77DF-FB40-099E-35E7-C7A1B0DB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Diffie–Hellman Key Exchange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Digital Signature Algorithm (DSA)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to compute: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y=</a:t>
            </a:r>
            <a:r>
              <a:rPr lang="en-IN" dirty="0" err="1"/>
              <a:t>gxmod</a:t>
            </a:r>
            <a:r>
              <a:rPr lang="en-IN" dirty="0"/>
              <a:t>  </a:t>
            </a:r>
            <a:r>
              <a:rPr lang="en-IN" dirty="0" err="1"/>
              <a:t>py</a:t>
            </a:r>
            <a:r>
              <a:rPr lang="en-IN" dirty="0"/>
              <a:t> = </a:t>
            </a:r>
            <a:r>
              <a:rPr lang="en-IN" dirty="0" err="1"/>
              <a:t>g^x</a:t>
            </a:r>
            <a:r>
              <a:rPr lang="en-IN" dirty="0"/>
              <a:t> \mod </a:t>
            </a:r>
            <a:r>
              <a:rPr lang="en-IN" dirty="0" err="1"/>
              <a:t>py</a:t>
            </a:r>
            <a:r>
              <a:rPr lang="en-IN" dirty="0"/>
              <a:t>=</a:t>
            </a:r>
            <a:r>
              <a:rPr lang="en-IN" dirty="0" err="1"/>
              <a:t>gxmodp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Very hard to reverse: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Given </a:t>
            </a:r>
            <a:r>
              <a:rPr lang="en-IN" dirty="0" err="1"/>
              <a:t>yyy</a:t>
            </a:r>
            <a:r>
              <a:rPr lang="en-IN" dirty="0"/>
              <a:t>, find xxx</a:t>
            </a:r>
          </a:p>
          <a:p>
            <a:r>
              <a:rPr lang="en-IN" dirty="0"/>
              <a:t>🔐 This “hard to reverse” property gives </a:t>
            </a:r>
            <a:r>
              <a:rPr lang="en-IN" b="1" dirty="0"/>
              <a:t>security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47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2B0A-FABB-B476-CF66-ED418A69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 Euler’s Theorem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CE897-F33D-AD91-1CAE-F17B47504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</a:t>
            </a:r>
            <a:r>
              <a:rPr lang="en-IN" b="1" dirty="0"/>
              <a:t>a and n are coprime</a:t>
            </a:r>
            <a:r>
              <a:rPr lang="en-IN" dirty="0"/>
              <a:t>, then:</a:t>
            </a:r>
          </a:p>
          <a:p>
            <a:r>
              <a:rPr lang="en-IN" dirty="0"/>
              <a:t>a</a:t>
            </a:r>
            <a:r>
              <a:rPr lang="el-GR" baseline="30000" dirty="0" err="1"/>
              <a:t>ϕ</a:t>
            </a:r>
            <a:r>
              <a:rPr lang="el-GR" baseline="30000" dirty="0"/>
              <a:t>(</a:t>
            </a:r>
            <a:r>
              <a:rPr lang="en-IN" baseline="30000" dirty="0"/>
              <a:t>n</a:t>
            </a:r>
            <a:r>
              <a:rPr lang="en-IN" dirty="0"/>
              <a:t>)≡1(mod n)</a:t>
            </a:r>
          </a:p>
          <a:p>
            <a:pPr marL="0" indent="0">
              <a:buNone/>
            </a:pPr>
            <a:r>
              <a:rPr lang="en-IN" dirty="0"/>
              <a:t>This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Powers of a </a:t>
            </a:r>
            <a:r>
              <a:rPr lang="en-IN" b="1" dirty="0"/>
              <a:t>repeat in cycles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Modular exponentiation is </a:t>
            </a:r>
            <a:r>
              <a:rPr lang="en-IN" b="1" dirty="0"/>
              <a:t>periodic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690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FD8B-2A6D-57A2-FD10-683E2494F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“Order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B568-10B6-F054-80A4-2528763A4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order of a (mod n)</a:t>
            </a:r>
            <a:r>
              <a:rPr lang="en-IN" dirty="0"/>
              <a:t> is:</a:t>
            </a:r>
          </a:p>
          <a:p>
            <a:r>
              <a:rPr lang="en-IN" dirty="0"/>
              <a:t>The </a:t>
            </a:r>
            <a:r>
              <a:rPr lang="en-IN" b="1" dirty="0"/>
              <a:t>smallest positive power</a:t>
            </a:r>
            <a:r>
              <a:rPr lang="en-IN" dirty="0"/>
              <a:t> of a that gives remainder </a:t>
            </a:r>
            <a:r>
              <a:rPr lang="en-IN" b="1" dirty="0"/>
              <a:t>1</a:t>
            </a:r>
            <a:endParaRPr lang="en-IN" dirty="0"/>
          </a:p>
          <a:p>
            <a:r>
              <a:rPr lang="en-IN" dirty="0"/>
              <a:t>a</a:t>
            </a:r>
            <a:r>
              <a:rPr lang="en-IN" baseline="30000" dirty="0"/>
              <a:t>m</a:t>
            </a:r>
            <a:r>
              <a:rPr lang="en-IN" dirty="0"/>
              <a:t>≡1(</a:t>
            </a:r>
            <a:r>
              <a:rPr lang="en-IN" dirty="0" err="1"/>
              <a:t>modn</a:t>
            </a:r>
            <a:r>
              <a:rPr lang="en-IN" dirty="0"/>
              <a:t>)a</a:t>
            </a:r>
          </a:p>
          <a:p>
            <a:r>
              <a:rPr lang="en-IN" dirty="0"/>
              <a:t>This tells 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long the repetition cycle 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Also called </a:t>
            </a:r>
            <a:r>
              <a:rPr lang="en-IN" b="1" dirty="0"/>
              <a:t>period length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093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8896A-7D07-D844-1C43-3C54C2D4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DE32B10-356D-0A4B-0CA5-5A5870C25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effectLst/>
              </a:rPr>
              <a:t>ake:</a:t>
            </a:r>
          </a:p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effectLst/>
              </a:rPr>
              <a:t>a=7a = 7a=7</a:t>
            </a:r>
          </a:p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effectLst/>
              </a:rPr>
              <a:t>n=19n = 19n=19</a:t>
            </a:r>
          </a:p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effectLst/>
              </a:rPr>
              <a:t>Compute powers:</a:t>
            </a:r>
          </a:p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effectLst/>
              </a:rPr>
              <a:t>✔ The sequence repeats after </a:t>
            </a:r>
            <a:r>
              <a:rPr kumimoji="0" lang="en-US" altLang="en-US" sz="500" b="1" i="0" u="none" strike="noStrike" cap="none" normalizeH="0" baseline="0">
                <a:ln>
                  <a:noFill/>
                </a:ln>
                <a:effectLst/>
              </a:rPr>
              <a:t>3 steps</a:t>
            </a:r>
            <a:endParaRPr kumimoji="0" lang="en-US" altLang="en-US" sz="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500" b="0" i="0" u="none" strike="noStrike" cap="none" normalizeH="0" baseline="0">
                <a:ln>
                  <a:noFill/>
                </a:ln>
                <a:effectLst/>
              </a:rPr>
              <a:t>👉 </a:t>
            </a:r>
            <a:r>
              <a:rPr kumimoji="0" lang="en-US" altLang="en-US" sz="500" b="1" i="0" u="none" strike="noStrike" cap="none" normalizeH="0" baseline="0">
                <a:ln>
                  <a:noFill/>
                </a:ln>
                <a:effectLst/>
              </a:rPr>
              <a:t>Order of 7 mod 19 = 3</a:t>
            </a:r>
            <a:endParaRPr kumimoji="0" lang="en-US" altLang="en-US" sz="500" b="0" i="0" u="none" strike="noStrike" cap="none" normalizeH="0" baseline="0">
              <a:ln>
                <a:noFill/>
              </a:ln>
              <a:effectLst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D0D27D-1DEF-A4F5-0FBE-82A4135F3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181152"/>
              </p:ext>
            </p:extLst>
          </p:nvPr>
        </p:nvGraphicFramePr>
        <p:xfrm>
          <a:off x="835154" y="2679013"/>
          <a:ext cx="10515595" cy="33516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470232">
                  <a:extLst>
                    <a:ext uri="{9D8B030D-6E8A-4147-A177-3AD203B41FA5}">
                      <a16:colId xmlns:a16="http://schemas.microsoft.com/office/drawing/2014/main" val="2770625811"/>
                    </a:ext>
                  </a:extLst>
                </a:gridCol>
                <a:gridCol w="6045363">
                  <a:extLst>
                    <a:ext uri="{9D8B030D-6E8A-4147-A177-3AD203B41FA5}">
                      <a16:colId xmlns:a16="http://schemas.microsoft.com/office/drawing/2014/main" val="2307759449"/>
                    </a:ext>
                  </a:extLst>
                </a:gridCol>
              </a:tblGrid>
              <a:tr h="855158">
                <a:tc>
                  <a:txBody>
                    <a:bodyPr/>
                    <a:lstStyle/>
                    <a:p>
                      <a:r>
                        <a:rPr lang="en-IN" sz="3200" b="0" cap="none" spc="0">
                          <a:solidFill>
                            <a:schemeClr val="tx1"/>
                          </a:solidFill>
                        </a:rPr>
                        <a:t>Power</a:t>
                      </a:r>
                    </a:p>
                  </a:txBody>
                  <a:tcPr marL="206893" marR="206893" marT="144825" marB="144825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0" cap="none" spc="0">
                          <a:solidFill>
                            <a:schemeClr val="tx1"/>
                          </a:solidFill>
                        </a:rPr>
                        <a:t>Value mod 19</a:t>
                      </a:r>
                    </a:p>
                  </a:txBody>
                  <a:tcPr marL="206893" marR="206893" marT="144825" marB="144825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859073"/>
                  </a:ext>
                </a:extLst>
              </a:tr>
              <a:tr h="855158">
                <a:tc>
                  <a:txBody>
                    <a:bodyPr/>
                    <a:lstStyle/>
                    <a:p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717^171</a:t>
                      </a:r>
                    </a:p>
                  </a:txBody>
                  <a:tcPr marL="206893" marR="206893" marT="144825" marB="144825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206893" marR="206893" marT="144825" marB="144825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215955"/>
                  </a:ext>
                </a:extLst>
              </a:tr>
              <a:tr h="786194">
                <a:tc>
                  <a:txBody>
                    <a:bodyPr/>
                    <a:lstStyle/>
                    <a:p>
                      <a:r>
                        <a:rPr lang="en-IN" sz="2700" cap="none" spc="0">
                          <a:solidFill>
                            <a:schemeClr val="tx1"/>
                          </a:solidFill>
                        </a:rPr>
                        <a:t>727^272</a:t>
                      </a:r>
                    </a:p>
                  </a:txBody>
                  <a:tcPr marL="206893" marR="206893" marT="144825" marB="1448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700" cap="none" spc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206893" marR="206893" marT="144825" marB="1448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42408"/>
                  </a:ext>
                </a:extLst>
              </a:tr>
              <a:tr h="855158">
                <a:tc>
                  <a:txBody>
                    <a:bodyPr/>
                    <a:lstStyle/>
                    <a:p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737^373</a:t>
                      </a:r>
                    </a:p>
                  </a:txBody>
                  <a:tcPr marL="206893" marR="206893" marT="144825" marB="144825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cap="none" spc="0">
                          <a:solidFill>
                            <a:schemeClr val="tx1"/>
                          </a:solidFill>
                        </a:rPr>
                        <a:t>1 ✅</a:t>
                      </a:r>
                    </a:p>
                  </a:txBody>
                  <a:tcPr marL="206893" marR="206893" marT="144825" marB="144825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8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454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651</Words>
  <Application>Microsoft Office PowerPoint</Application>
  <PresentationFormat>Widescreen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Chinese Remainder Theorem (CRT)</vt:lpstr>
      <vt:lpstr>Why Do We Need CRT? </vt:lpstr>
      <vt:lpstr>Intuitive Idea of CRT </vt:lpstr>
      <vt:lpstr>Simple idea</vt:lpstr>
      <vt:lpstr>PowerPoint Presentation</vt:lpstr>
      <vt:lpstr>PowerPoint Presentation</vt:lpstr>
      <vt:lpstr>PowerPoint Presentation</vt:lpstr>
      <vt:lpstr>We find the number by checking small values (simple classroom method): </vt:lpstr>
      <vt:lpstr>PowerPoint Presentation</vt:lpstr>
      <vt:lpstr>PowerPoint Presentation</vt:lpstr>
      <vt:lpstr>Make a Small Table (Easy Method) ✔ Only 13 satisfies both conditions.</vt:lpstr>
      <vt:lpstr>Discrete Logarithms</vt:lpstr>
      <vt:lpstr>Recall Euler’s Theorem</vt:lpstr>
      <vt:lpstr>What Is “Order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 (CRT)</dc:title>
  <dc:creator>HARIHARASUTHAN A - [CB.EN.U4AEE22025]</dc:creator>
  <cp:lastModifiedBy>Manonmani T</cp:lastModifiedBy>
  <cp:revision>1</cp:revision>
  <dcterms:created xsi:type="dcterms:W3CDTF">2026-01-24T01:01:46Z</dcterms:created>
  <dcterms:modified xsi:type="dcterms:W3CDTF">2026-01-24T03:30:10Z</dcterms:modified>
</cp:coreProperties>
</file>