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5" r:id="rId11"/>
    <p:sldId id="272" r:id="rId12"/>
    <p:sldId id="273" r:id="rId13"/>
    <p:sldId id="274" r:id="rId14"/>
    <p:sldId id="257" r:id="rId15"/>
    <p:sldId id="258" r:id="rId16"/>
    <p:sldId id="259" r:id="rId17"/>
    <p:sldId id="276" r:id="rId18"/>
    <p:sldId id="260" r:id="rId19"/>
    <p:sldId id="261" r:id="rId20"/>
    <p:sldId id="277" r:id="rId21"/>
    <p:sldId id="262" r:id="rId22"/>
    <p:sldId id="278" r:id="rId23"/>
    <p:sldId id="280" r:id="rId24"/>
    <p:sldId id="279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37" autoAdjust="0"/>
    <p:restoredTop sz="94599"/>
  </p:normalViewPr>
  <p:slideViewPr>
    <p:cSldViewPr snapToGrid="0">
      <p:cViewPr varScale="1">
        <p:scale>
          <a:sx n="78" d="100"/>
          <a:sy n="78" d="100"/>
        </p:scale>
        <p:origin x="7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C6252-8519-07E7-01C5-F66543C50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6A1F6-2245-D95F-7645-363069144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3B42-21D7-10EB-0D9F-74AFFA8DC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343A-B7F1-4FCD-9D78-3859A8ED56E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EA11D-EA4B-5B2F-6486-0B987BD6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A9445-B0AE-D86C-5739-8483DF78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0F1A4-D549-4CA4-AC87-79111EB21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58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7F8C-C4AA-C693-6FC4-CFF03E888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758BE-ADFF-E5DC-078F-88CD4E930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D6739-182A-14E7-C12A-4DB14FAA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343A-B7F1-4FCD-9D78-3859A8ED56E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AD51B-9F02-5795-E97C-619EBA41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398CA-7BE6-9CF0-7E33-33FCABC7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0F1A4-D549-4CA4-AC87-79111EB21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56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FA62-E879-7CCD-854B-D4F074E4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75514-753B-E80F-882B-F584963AE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C80A6-E6F1-7EF5-931B-25C98098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343A-B7F1-4FCD-9D78-3859A8ED56E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7ACC9-BA49-9A86-2A7E-1455A0E92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A76E-93BD-7817-E520-44BDD7E4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0F1A4-D549-4CA4-AC87-79111EB21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44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381D-5ADC-BA0E-AD43-338A7EC3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2ED53-971F-E9E5-8E5B-6580B4559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6BB81-80FC-5F3C-204A-690BAA45C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8FEEF-D0BA-6766-3CC8-D2BB3B481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343A-B7F1-4FCD-9D78-3859A8ED56E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0066E-959E-E05F-D660-88AB0D1E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30C1A-2396-41CA-DD7C-32E1B0111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0F1A4-D549-4CA4-AC87-79111EB21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51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831B2-0085-D98B-85BB-09A01D2A9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E374C-89C6-FB67-BE98-872697A5B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1E79D-BE33-ED90-4E09-0DD9568D3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DCCAD-8692-E3C7-D06C-090E59F04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14EB74-AEBD-1DFF-4EF6-D3CC632E5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00DF7-8D0F-6BB3-825B-28D50916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343A-B7F1-4FCD-9D78-3859A8ED56E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5DBB52-FA10-F85E-A962-5B65AE3E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E42923-FDED-BC6A-9B6D-CD835C41C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0F1A4-D549-4CA4-AC87-79111EB21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857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7BC5-2250-F034-66F5-F6AF9494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ECE66-3A62-516D-E1E3-243431892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343A-B7F1-4FCD-9D78-3859A8ED56E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A8771F-FFEE-5FBA-98A5-7DEA9B2EC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DF179-1BC7-466A-836A-A57428A88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0F1A4-D549-4CA4-AC87-79111EB21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857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3D18F7-E52B-6CB2-C74D-DB1E43ADF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343A-B7F1-4FCD-9D78-3859A8ED56E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A47F0-0E44-1F42-152B-D9E0A030D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B64C8-3450-27F8-ED8F-F0C2D741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0F1A4-D549-4CA4-AC87-79111EB21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5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05C0-56BA-E7F3-BE92-852DB3BC9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CB8E3-2B95-E270-68EB-EE3E4ADE6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FBB42-51C7-0462-8B78-D71096EB2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561B6-D25F-6965-A8D2-A9BA2196B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343A-B7F1-4FCD-9D78-3859A8ED56E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E7219-6BA2-3C08-F18C-A0FC4662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5D497-3F4E-9355-4736-C362EC6D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0F1A4-D549-4CA4-AC87-79111EB21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99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F398E-A13E-7B7E-0AE2-D5AE2F3C5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EAFC6D-33FB-E0BE-6552-78B76C495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6E8BE-908A-C100-663A-36A390A1D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1F63F-7E16-5D71-5420-A4F04567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343A-B7F1-4FCD-9D78-3859A8ED56E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BF11D-8CFE-D543-9091-FC6182E91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F3B8D-ACF6-6106-C238-ECCB2E197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0F1A4-D549-4CA4-AC87-79111EB21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3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E225-7C60-9C52-3B90-74B3DAB4D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5A259-205E-2015-167A-DC0CFC5BF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5CD8A-8810-E12F-5BF9-263C534E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343A-B7F1-4FCD-9D78-3859A8ED56E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3AF27-8EBC-CE3E-6E94-594239724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13FCA-BD76-C462-AB2B-618A6F4D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0F1A4-D549-4CA4-AC87-79111EB21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67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BB1FC6-27FC-BC47-B5ED-585372E2C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F46B0-5268-1B87-0371-ADD13D600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82C6F-9CB0-47CE-233A-A9E0F8B6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343A-B7F1-4FCD-9D78-3859A8ED56E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3A49D-685C-4613-61FE-C3E7ADF3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D8F90-B12C-A4FE-C6AC-BA0A6006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0F1A4-D549-4CA4-AC87-79111EB21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09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481382-2B9C-1A88-9352-13EE0F7D8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08F9-6C6C-2969-F513-628B6DE6C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87FB3-20AC-E3DA-F664-6060CEB88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2343A-B7F1-4FCD-9D78-3859A8ED56E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5F90A-0B4D-BF7E-3012-94D2B930C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9AFAC-344F-D056-D42B-A52A7261A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70F1A4-D549-4CA4-AC87-79111EB21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434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385F9-A6F2-0A59-433F-73E7E84743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Block Cipher Modes Of Operations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D0A85-C788-3CBA-2BC3-47EFFF4B64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248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16F5F-8104-DA3E-E14E-B1D040502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MULTIPLE ENCRYPTION AND TRIPLE DES (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EA5AD-2A30-5C38-1058-6C9274E94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Background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DES uses a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56-bit key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Vulnerable to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brute-force attacks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Modern computing makes exhaustive key search feasible</a:t>
            </a:r>
          </a:p>
          <a:p>
            <a:pPr marL="0" indent="0" algn="l">
              <a:buNone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Two possible solutions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Design a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new algorithm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→ AES</a:t>
            </a:r>
          </a:p>
          <a:p>
            <a:pPr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Strengthen DES using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multiple encryption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This leads to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Double DES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Triple DES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64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9DFF-CB25-5AB9-B7F5-F011A0FDB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Concept of Multiple Encryption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3F915-50A1-1699-0B42-D110DF22A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Apply encryption </a:t>
            </a:r>
            <a:r>
              <a:rPr lang="en-IN" b="1" dirty="0"/>
              <a:t>more than once</a:t>
            </a:r>
            <a:endParaRPr lang="en-IN" dirty="0"/>
          </a:p>
          <a:p>
            <a:r>
              <a:rPr lang="en-IN" dirty="0"/>
              <a:t>Use </a:t>
            </a:r>
            <a:r>
              <a:rPr lang="en-IN" b="1" dirty="0"/>
              <a:t>multiple independent keys</a:t>
            </a:r>
            <a:endParaRPr lang="en-IN" dirty="0"/>
          </a:p>
          <a:p>
            <a:r>
              <a:rPr lang="en-IN" dirty="0"/>
              <a:t>Goal: increase effective key length </a:t>
            </a:r>
            <a:r>
              <a:rPr lang="en-IN" b="0" i="1" u="none" strike="noStrike" dirty="0">
                <a:solidFill>
                  <a:srgbClr val="000000"/>
                </a:solidFill>
                <a:effectLst/>
              </a:rPr>
              <a:t>C=E(</a:t>
            </a:r>
            <a:r>
              <a:rPr lang="en-IN" b="0" i="1" u="none" strike="noStrike" dirty="0" err="1">
                <a:solidFill>
                  <a:srgbClr val="000000"/>
                </a:solidFill>
                <a:effectLst/>
              </a:rPr>
              <a:t>K</a:t>
            </a:r>
            <a:r>
              <a:rPr lang="en-IN" b="0" i="1" u="none" strike="noStrike" baseline="-25000" dirty="0" err="1">
                <a:solidFill>
                  <a:srgbClr val="000000"/>
                </a:solidFill>
                <a:effectLst/>
              </a:rPr>
              <a:t>n</a:t>
            </a:r>
            <a:r>
              <a:rPr lang="en-IN" b="0" i="1" u="none" strike="noStrike" dirty="0">
                <a:solidFill>
                  <a:srgbClr val="000000"/>
                </a:solidFill>
                <a:effectLst/>
              </a:rPr>
              <a:t>​,E(K</a:t>
            </a:r>
            <a:r>
              <a:rPr lang="en-IN" b="0" i="1" u="none" strike="noStrike" baseline="-25000" dirty="0">
                <a:solidFill>
                  <a:srgbClr val="000000"/>
                </a:solidFill>
                <a:effectLst/>
              </a:rPr>
              <a:t>n−1</a:t>
            </a:r>
            <a:r>
              <a:rPr lang="en-IN" b="0" i="1" u="none" strike="noStrike" dirty="0">
                <a:solidFill>
                  <a:srgbClr val="000000"/>
                </a:solidFill>
                <a:effectLst/>
              </a:rPr>
              <a:t>​,…E(K</a:t>
            </a:r>
            <a:r>
              <a:rPr lang="en-IN" b="0" i="1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b="0" i="1" u="none" strike="noStrike" dirty="0">
                <a:solidFill>
                  <a:srgbClr val="000000"/>
                </a:solidFill>
                <a:effectLst/>
              </a:rPr>
              <a:t>​,P)))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Double DES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Simplest form of multiple encryption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Uses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two DES encryptions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Uses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two independent keys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Encryption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C=E(K</a:t>
            </a:r>
            <a:r>
              <a:rPr lang="en-IN" b="0" i="0" u="none" strike="noStrike" baseline="-25000" dirty="0">
                <a:solidFill>
                  <a:srgbClr val="000000"/>
                </a:solidFill>
                <a:effectLst/>
              </a:rPr>
              <a:t>2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,E(K</a:t>
            </a:r>
            <a:r>
              <a:rPr lang="en-IN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,P))</a:t>
            </a:r>
            <a:endParaRPr lang="en-IN" dirty="0">
              <a:solidFill>
                <a:srgbClr val="000000"/>
              </a:solidFill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Decryption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P=D(K</a:t>
            </a:r>
            <a:r>
              <a:rPr lang="en-IN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,D(K</a:t>
            </a:r>
            <a:r>
              <a:rPr lang="en-IN" b="0" i="0" u="none" strike="noStrike" baseline="-25000" dirty="0">
                <a:solidFill>
                  <a:srgbClr val="000000"/>
                </a:solidFill>
                <a:effectLst/>
              </a:rPr>
              <a:t>2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,C))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15140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C3F26C-03BA-3A1A-9910-D2A37901A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 b="0" i="0" u="none" strike="noStrike">
                <a:effectLst/>
                <a:latin typeface="-webkit-standard"/>
              </a:rPr>
              <a:t>Strength of Double DES</a:t>
            </a:r>
            <a:endParaRPr lang="en-US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046C1-1200-150C-8AE3-6EB23D316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0" i="0" u="none" strike="noStrike" dirty="0">
                <a:effectLst/>
              </a:rPr>
              <a:t>DES key size = </a:t>
            </a:r>
            <a:r>
              <a:rPr lang="en-IN" sz="2000" b="1" i="0" u="none" strike="noStrike" dirty="0">
                <a:effectLst/>
              </a:rPr>
              <a:t>56 bits</a:t>
            </a:r>
            <a:endParaRPr lang="en-IN" sz="2000" b="0" i="0" u="none" strike="noStrike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u="none" strike="noStrike" dirty="0">
                <a:effectLst/>
              </a:rPr>
              <a:t>Double DES appears to use:</a:t>
            </a:r>
          </a:p>
          <a:p>
            <a:r>
              <a:rPr lang="en-IN" sz="2000" b="0" i="0" u="none" strike="noStrike" dirty="0">
                <a:effectLst/>
              </a:rPr>
              <a:t>56×2=112 bits </a:t>
            </a:r>
          </a:p>
          <a:p>
            <a:r>
              <a:rPr lang="en-IN" sz="2000" b="0" i="0" u="none" strike="noStrike" dirty="0">
                <a:effectLst/>
                <a:latin typeface="-webkit-standard"/>
              </a:rPr>
              <a:t>Can Double DES Reduce to Single DES?</a:t>
            </a:r>
            <a:endParaRPr lang="en-IN" sz="2000" dirty="0">
              <a:latin typeface="-webkit-standard"/>
            </a:endParaRPr>
          </a:p>
          <a:p>
            <a:r>
              <a:rPr lang="en-IN" sz="2000" b="0" i="1" u="none" strike="noStrike" dirty="0">
                <a:effectLst/>
              </a:rPr>
              <a:t>E(K</a:t>
            </a:r>
            <a:r>
              <a:rPr lang="en-IN" sz="2000" b="0" i="1" u="none" strike="noStrike" baseline="-25000" dirty="0">
                <a:effectLst/>
              </a:rPr>
              <a:t>2</a:t>
            </a:r>
            <a:r>
              <a:rPr lang="en-IN" sz="2000" b="0" i="1" u="none" strike="noStrike" dirty="0">
                <a:effectLst/>
              </a:rPr>
              <a:t>​,E(K</a:t>
            </a:r>
            <a:r>
              <a:rPr lang="en-IN" sz="2000" b="0" i="1" u="none" strike="noStrike" baseline="-25000" dirty="0">
                <a:effectLst/>
              </a:rPr>
              <a:t>1</a:t>
            </a:r>
            <a:r>
              <a:rPr lang="en-IN" sz="2000" b="0" i="1" u="none" strike="noStrike" dirty="0">
                <a:effectLst/>
              </a:rPr>
              <a:t>​,P))=E(K3​,P)</a:t>
            </a:r>
          </a:p>
          <a:p>
            <a:r>
              <a:rPr lang="en-IN" sz="2000" dirty="0"/>
              <a:t>If true → Double DES = Single DES, Then multiple encryption is useless</a:t>
            </a:r>
          </a:p>
          <a:p>
            <a:endParaRPr lang="en-US" sz="2000" i="1" dirty="0"/>
          </a:p>
        </p:txBody>
      </p:sp>
      <p:pic>
        <p:nvPicPr>
          <p:cNvPr id="5" name="Picture 4" descr="A diagram of a double encryption method&#10;&#10;Description automatically generated">
            <a:extLst>
              <a:ext uri="{FF2B5EF4-FFF2-40B4-BE49-F238E27FC236}">
                <a16:creationId xmlns:a16="http://schemas.microsoft.com/office/drawing/2014/main" id="{3D228B73-DD43-B56D-841F-E49FAD8B8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622472"/>
            <a:ext cx="5150277" cy="343780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9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AC30-228D-51DE-3DD1-D699B152C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7BC41-AAB1-BD1F-11F8-B8186E512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IN" sz="3200" b="1" i="0" u="none" strike="noStrike" dirty="0">
                <a:solidFill>
                  <a:srgbClr val="000000"/>
                </a:solidFill>
                <a:effectLst/>
              </a:rPr>
              <a:t>DES Characteristics</a:t>
            </a:r>
            <a:endParaRPr lang="en-IN" sz="32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DES maps </a:t>
            </a:r>
            <a:r>
              <a:rPr lang="en-IN" sz="3200" b="1" i="0" u="none" strike="noStrike" dirty="0">
                <a:solidFill>
                  <a:srgbClr val="000000"/>
                </a:solidFill>
                <a:effectLst/>
              </a:rPr>
              <a:t>64-bit plaintext → 64-bit ciphertext</a:t>
            </a:r>
            <a:endParaRPr lang="en-IN" sz="32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Each key defines a </a:t>
            </a:r>
            <a:r>
              <a:rPr lang="en-IN" sz="3200" b="1" i="0" u="none" strike="noStrike" dirty="0">
                <a:solidFill>
                  <a:srgbClr val="000000"/>
                </a:solidFill>
                <a:effectLst/>
              </a:rPr>
              <a:t>unique permutation</a:t>
            </a:r>
            <a:endParaRPr lang="en-IN" sz="32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Total possible permutations: (2</a:t>
            </a:r>
            <a:r>
              <a:rPr lang="en-IN" sz="3200" b="0" i="0" u="none" strike="noStrike" baseline="30000" dirty="0">
                <a:solidFill>
                  <a:srgbClr val="000000"/>
                </a:solidFill>
                <a:effectLst/>
              </a:rPr>
              <a:t>64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)!c10</a:t>
            </a:r>
            <a:r>
              <a:rPr lang="en-IN" sz="3200" b="0" i="0" u="none" strike="noStrike" baseline="30000" dirty="0">
                <a:solidFill>
                  <a:srgbClr val="000000"/>
                </a:solidFill>
                <a:effectLst/>
              </a:rPr>
              <a:t>347</a:t>
            </a:r>
            <a:endParaRPr lang="en-IN" sz="3200" baseline="30000" dirty="0">
              <a:solidFill>
                <a:srgbClr val="000000"/>
              </a:solidFill>
            </a:endParaRPr>
          </a:p>
          <a:p>
            <a:pPr algn="l"/>
            <a:r>
              <a:rPr lang="en-IN" sz="3200" b="1" i="0" u="none" strike="noStrike" dirty="0">
                <a:solidFill>
                  <a:srgbClr val="000000"/>
                </a:solidFill>
                <a:effectLst/>
              </a:rPr>
              <a:t>Total DES mappings</a:t>
            </a:r>
            <a:r>
              <a:rPr lang="en-IN" sz="3200" dirty="0">
                <a:solidFill>
                  <a:srgbClr val="000000"/>
                </a:solidFill>
              </a:rPr>
              <a:t> 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2</a:t>
            </a:r>
            <a:r>
              <a:rPr lang="en-IN" sz="3200" b="0" i="0" u="none" strike="noStrike" baseline="30000" dirty="0">
                <a:solidFill>
                  <a:srgbClr val="000000"/>
                </a:solidFill>
                <a:effectLst/>
              </a:rPr>
              <a:t>56 </a:t>
            </a:r>
          </a:p>
          <a:p>
            <a:pPr algn="l"/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Total possible permutations: (2</a:t>
            </a:r>
            <a:r>
              <a:rPr lang="en-IN" sz="3200" b="0" i="0" u="none" strike="noStrike" baseline="30000" dirty="0">
                <a:solidFill>
                  <a:srgbClr val="000000"/>
                </a:solidFill>
                <a:effectLst/>
              </a:rPr>
              <a:t>64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)!≈10</a:t>
            </a:r>
            <a:r>
              <a:rPr lang="en-IN" sz="3200" b="0" i="0" u="none" strike="noStrike" baseline="30000" dirty="0">
                <a:solidFill>
                  <a:srgbClr val="000000"/>
                </a:solidFill>
                <a:effectLst/>
              </a:rPr>
              <a:t>347</a:t>
            </a:r>
            <a:endParaRPr lang="en-IN" sz="3200" baseline="30000" dirty="0">
              <a:solidFill>
                <a:srgbClr val="000000"/>
              </a:solidFill>
            </a:endParaRPr>
          </a:p>
          <a:p>
            <a:pPr algn="l"/>
            <a:r>
              <a:rPr lang="en-IN" sz="3200" b="1" i="0" u="none" strike="noStrike" dirty="0">
                <a:solidFill>
                  <a:srgbClr val="000000"/>
                </a:solidFill>
                <a:effectLst/>
              </a:rPr>
              <a:t>Total DES mappings</a:t>
            </a:r>
            <a:r>
              <a:rPr lang="en-IN" sz="3200" dirty="0">
                <a:solidFill>
                  <a:srgbClr val="000000"/>
                </a:solidFill>
              </a:rPr>
              <a:t> 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2</a:t>
            </a:r>
            <a:r>
              <a:rPr lang="en-IN" sz="3200" b="0" i="0" u="none" strike="noStrike" baseline="30000" dirty="0">
                <a:solidFill>
                  <a:srgbClr val="000000"/>
                </a:solidFill>
                <a:effectLst/>
              </a:rPr>
              <a:t>56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 ≈ </a:t>
            </a:r>
            <a:r>
              <a:rPr lang="en-IN" sz="3200" dirty="0">
                <a:solidFill>
                  <a:srgbClr val="000000"/>
                </a:solidFill>
              </a:rPr>
              <a:t>7.2*10</a:t>
            </a:r>
            <a:r>
              <a:rPr lang="en-IN" sz="3200" baseline="30000" dirty="0">
                <a:solidFill>
                  <a:srgbClr val="000000"/>
                </a:solidFill>
              </a:rPr>
              <a:t>16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 ≈ 10</a:t>
            </a:r>
            <a:r>
              <a:rPr lang="en-IN" sz="3200" b="0" i="0" u="none" strike="noStrike" baseline="30000" dirty="0">
                <a:solidFill>
                  <a:srgbClr val="000000"/>
                </a:solidFill>
                <a:effectLst/>
              </a:rPr>
              <a:t>17</a:t>
            </a:r>
            <a:endParaRPr lang="en-IN" sz="3200" baseline="30000" dirty="0">
              <a:solidFill>
                <a:srgbClr val="000000"/>
              </a:solidFill>
            </a:endParaRPr>
          </a:p>
          <a:p>
            <a:pPr algn="l"/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Double DES likely creates mappings not achievable by single DES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3200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64385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F348C-A48C-7D09-F15A-34B49BAA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But Double DES Is Still Weak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08117-DD3E-E7F0-46EC-B89BF122C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Even though Double DES ≠ Single DES…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It is vulnerable to a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generic attack</a:t>
            </a:r>
            <a:endParaRPr lang="en-IN" dirty="0">
              <a:solidFill>
                <a:srgbClr val="000000"/>
              </a:solidFill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Does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not depend on DES internals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This attack is called: </a:t>
            </a:r>
            <a:r>
              <a:rPr lang="en-IN" b="1" i="0" u="none" strike="noStrike" dirty="0">
                <a:solidFill>
                  <a:srgbClr val="FF0000"/>
                </a:solidFill>
                <a:effectLst/>
              </a:rPr>
              <a:t>Meet-in-the-Middle Attack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Given: C=E(K</a:t>
            </a:r>
            <a:r>
              <a:rPr lang="en-IN" b="0" i="0" u="none" strike="noStrike" baseline="-25000" dirty="0">
                <a:solidFill>
                  <a:srgbClr val="000000"/>
                </a:solidFill>
                <a:effectLst/>
              </a:rPr>
              <a:t>2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,E(K</a:t>
            </a:r>
            <a:r>
              <a:rPr lang="en-IN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,P)), 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Define intermediate value: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X=E(K</a:t>
            </a:r>
            <a:r>
              <a:rPr lang="en-IN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,P)=D(K</a:t>
            </a:r>
            <a:r>
              <a:rPr lang="en-IN" b="0" i="0" u="none" strike="noStrike" baseline="-25000" dirty="0">
                <a:solidFill>
                  <a:srgbClr val="000000"/>
                </a:solidFill>
                <a:effectLst/>
              </a:rPr>
              <a:t>2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,C) -&gt;Attack meets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in the middle (X)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84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D7298-C143-D43C-EDC8-BE33AD5B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Meet-in-the-Middle Attack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ADC36-86A8-9DDA-657F-7ABEF8FE1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Given one known plaintext–ciphertext pair (P, C)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Encrypt P with all 2</a:t>
            </a:r>
            <a:r>
              <a:rPr lang="en-IN" b="0" i="0" u="none" strike="noStrike" baseline="30000" dirty="0">
                <a:solidFill>
                  <a:srgbClr val="000000"/>
                </a:solidFill>
                <a:effectLst/>
              </a:rPr>
              <a:t>56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values of K</a:t>
            </a:r>
            <a:r>
              <a:rPr lang="en-IN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​</a:t>
            </a:r>
            <a:r>
              <a:rPr lang="en-IN" dirty="0">
                <a:solidFill>
                  <a:srgbClr val="000000"/>
                </a:solidFill>
              </a:rPr>
              <a:t>,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Store X=E(K</a:t>
            </a:r>
            <a:r>
              <a:rPr lang="en-IN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,P)</a:t>
            </a:r>
          </a:p>
          <a:p>
            <a:pPr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Decrypt C with all 2</a:t>
            </a:r>
            <a:r>
              <a:rPr lang="en-IN" b="0" i="0" u="none" strike="noStrike" baseline="30000" dirty="0">
                <a:solidFill>
                  <a:srgbClr val="000000"/>
                </a:solidFill>
                <a:effectLst/>
              </a:rPr>
              <a:t>56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values of K</a:t>
            </a:r>
            <a:r>
              <a:rPr lang="en-IN" b="0" i="0" u="none" strike="noStrike" baseline="-25000" dirty="0">
                <a:solidFill>
                  <a:srgbClr val="000000"/>
                </a:solidFill>
                <a:effectLst/>
              </a:rPr>
              <a:t>2</a:t>
            </a:r>
            <a:r>
              <a:rPr lang="en-IN" baseline="-25000" dirty="0">
                <a:solidFill>
                  <a:srgbClr val="000000"/>
                </a:solidFill>
              </a:rPr>
              <a:t>,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,Compute X=D(K</a:t>
            </a:r>
            <a:r>
              <a:rPr lang="en-IN" b="0" i="0" u="none" strike="noStrike" baseline="-25000" dirty="0">
                <a:solidFill>
                  <a:srgbClr val="000000"/>
                </a:solidFill>
                <a:effectLst/>
              </a:rPr>
              <a:t>2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,C)</a:t>
            </a:r>
          </a:p>
          <a:p>
            <a:pPr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Look for matches of X</a:t>
            </a:r>
          </a:p>
          <a:p>
            <a:pPr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Test candidate key pairs using another (P, C)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Time complexity:2</a:t>
            </a:r>
            <a:r>
              <a:rPr lang="en-IN" b="0" i="0" u="none" strike="noStrike" baseline="30000" dirty="0">
                <a:solidFill>
                  <a:srgbClr val="000000"/>
                </a:solidFill>
                <a:effectLst/>
              </a:rPr>
              <a:t>56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+2</a:t>
            </a:r>
            <a:r>
              <a:rPr lang="en-IN" b="0" i="0" u="none" strike="noStrike" baseline="30000" dirty="0">
                <a:solidFill>
                  <a:srgbClr val="000000"/>
                </a:solidFill>
                <a:effectLst/>
              </a:rPr>
              <a:t>56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≈2</a:t>
            </a:r>
            <a:r>
              <a:rPr lang="en-IN" b="0" i="0" u="none" strike="noStrike" baseline="30000" dirty="0">
                <a:solidFill>
                  <a:srgbClr val="000000"/>
                </a:solidFill>
                <a:effectLst/>
              </a:rPr>
              <a:t>57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Storage required: 2</a:t>
            </a:r>
            <a:r>
              <a:rPr lang="en-IN" b="0" i="0" u="none" strike="noStrike" baseline="30000" dirty="0">
                <a:solidFill>
                  <a:srgbClr val="000000"/>
                </a:solidFill>
                <a:effectLst/>
              </a:rPr>
              <a:t>56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entries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Only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slightly more expensive than breaking DES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809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7D25-CF06-4528-EB7B-C58D02E1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Effective Security of Double 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D71B9-CC3A-6EF9-1628-C5028A5F0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4" y="1825625"/>
            <a:ext cx="10855036" cy="4667250"/>
          </a:xfrm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Nominal key size: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112 bits,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Effective security: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~56 bits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Meet-in-the-Middle removes expected advantage</a:t>
            </a:r>
          </a:p>
          <a:p>
            <a:pPr algn="l"/>
            <a:r>
              <a:rPr lang="en-IN" b="1" i="0" u="none" strike="noStrike" dirty="0">
                <a:solidFill>
                  <a:srgbClr val="FF0000"/>
                </a:solidFill>
                <a:effectLst/>
              </a:rPr>
              <a:t>Double DES is NOT secure</a:t>
            </a:r>
          </a:p>
          <a:p>
            <a:pPr marL="0" indent="0" algn="l">
              <a:buNone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Problems with Double DES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Vulnerable to MITM attack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Insufficient security gain</a:t>
            </a:r>
          </a:p>
          <a:p>
            <a:pPr marL="0" indent="0" algn="l">
              <a:buNone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Solution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Use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three stages of encryption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Carefully choose encryption–decryption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486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F6155-3740-BF46-A92A-8776DC36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Why Triple 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DA793-F4A7-BFC1-D1E0-E8494E19D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Single DES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→ key size =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56 bits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→ broken by brute force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Double DES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→ looks like 112 bits,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but broken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by meet-in-the-middle attack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Triple DES (3DES)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→ introduced to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defeat meet-in-the-middle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while still using DES hardware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Key sizes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2-key 3DES → 112 bits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3-key 3DES → 168 bits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Resistant to Meet-in-the-Middle</a:t>
            </a:r>
            <a:endParaRPr lang="en-IN" dirty="0">
              <a:solidFill>
                <a:srgbClr val="000000"/>
              </a:solidFill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Backward compatible with 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145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diagram of a sequence of encrypted data&#10;&#10;Description automatically generated">
            <a:extLst>
              <a:ext uri="{FF2B5EF4-FFF2-40B4-BE49-F238E27FC236}">
                <a16:creationId xmlns:a16="http://schemas.microsoft.com/office/drawing/2014/main" id="{DE0DAA5C-49B2-7F86-FE88-AAC9C5C4A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46" b="1235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29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EBB29-4170-E773-9E1B-61702D26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Two-key Triple 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E83F6-33A2-95BD-0B84-16B775EF6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i="0" u="none" strike="noStrike" dirty="0">
                <a:solidFill>
                  <a:srgbClr val="000000"/>
                </a:solidFill>
                <a:effectLst/>
              </a:rPr>
              <a:t>Encryption: 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C=E(K</a:t>
            </a:r>
            <a:r>
              <a:rPr lang="en-IN" sz="3200" baseline="-25000" dirty="0">
                <a:solidFill>
                  <a:srgbClr val="000000"/>
                </a:solidFill>
              </a:rPr>
              <a:t>1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,D(K</a:t>
            </a:r>
            <a:r>
              <a:rPr lang="en-IN" sz="3200" b="0" i="0" u="none" strike="noStrike" baseline="-25000" dirty="0">
                <a:solidFill>
                  <a:srgbClr val="000000"/>
                </a:solidFill>
                <a:effectLst/>
              </a:rPr>
              <a:t>2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,E(K</a:t>
            </a:r>
            <a:r>
              <a:rPr lang="en-IN" sz="3200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,P)))</a:t>
            </a:r>
          </a:p>
          <a:p>
            <a:pPr algn="l">
              <a:buFont typeface="+mj-lt"/>
              <a:buAutoNum type="arabicPeriod"/>
            </a:pP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Encrypt with K1K1​</a:t>
            </a:r>
          </a:p>
          <a:p>
            <a:pPr algn="l">
              <a:buFont typeface="+mj-lt"/>
              <a:buAutoNum type="arabicPeriod"/>
            </a:pP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Decrypt with K2K2​</a:t>
            </a:r>
          </a:p>
          <a:p>
            <a:pPr algn="l">
              <a:buFont typeface="+mj-lt"/>
              <a:buAutoNum type="arabicPeriod"/>
            </a:pP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Encrypt again with K1K1​</a:t>
            </a:r>
          </a:p>
          <a:p>
            <a:pPr marL="0" indent="0" algn="l">
              <a:buNone/>
            </a:pP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This is called </a:t>
            </a:r>
            <a:r>
              <a:rPr lang="en-IN" sz="3200" b="1" i="0" u="none" strike="noStrike" dirty="0">
                <a:solidFill>
                  <a:srgbClr val="000000"/>
                </a:solidFill>
                <a:effectLst/>
              </a:rPr>
              <a:t>EDE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 (Encrypt–Decrypt–Encrypt).</a:t>
            </a:r>
          </a:p>
          <a:p>
            <a:pPr marL="0" indent="0" algn="l">
              <a:buNone/>
            </a:pPr>
            <a:r>
              <a:rPr lang="en-IN" sz="3200" b="1" i="0" u="none" strike="noStrike" dirty="0">
                <a:solidFill>
                  <a:srgbClr val="000000"/>
                </a:solidFill>
                <a:effectLst/>
              </a:rPr>
              <a:t>Decryption: 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P=D(K</a:t>
            </a:r>
            <a:r>
              <a:rPr lang="en-IN" sz="3200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,E(K</a:t>
            </a:r>
            <a:r>
              <a:rPr lang="en-IN" sz="3200" b="0" i="0" u="none" strike="noStrike" baseline="-25000" dirty="0">
                <a:solidFill>
                  <a:srgbClr val="000000"/>
                </a:solidFill>
                <a:effectLst/>
              </a:rPr>
              <a:t>2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,D(K</a:t>
            </a:r>
            <a:r>
              <a:rPr lang="en-IN" sz="3200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,C))), Same steps, reversed. 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There is no cryptographic significance to the use of decryption for the second stage. </a:t>
            </a:r>
            <a:endParaRPr lang="en-IN" sz="32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endParaRPr lang="en-IN" sz="3200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00457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5553-9FF6-BCF6-4CE5-21022BEA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Backward compatibility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19B47-A597-7995-2946-D639FE8C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4" y="1825625"/>
            <a:ext cx="10855036" cy="466725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If: K</a:t>
            </a:r>
            <a:r>
              <a:rPr lang="en-IN" sz="3200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=K</a:t>
            </a:r>
            <a:r>
              <a:rPr lang="en-IN" sz="3200" b="0" i="0" u="none" strike="noStrike" baseline="-25000" dirty="0">
                <a:solidFill>
                  <a:srgbClr val="000000"/>
                </a:solidFill>
                <a:effectLst/>
              </a:rPr>
              <a:t>2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​Then:</a:t>
            </a:r>
          </a:p>
          <a:p>
            <a:pPr algn="l"/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C=E(K</a:t>
            </a:r>
            <a:r>
              <a:rPr lang="en-IN" sz="3200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,D(K</a:t>
            </a:r>
            <a:r>
              <a:rPr lang="en-IN" sz="3200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,E(K</a:t>
            </a:r>
            <a:r>
              <a:rPr lang="en-IN" sz="3200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,P)))=E(K</a:t>
            </a:r>
            <a:r>
              <a:rPr lang="en-IN" sz="3200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,P)</a:t>
            </a:r>
          </a:p>
          <a:p>
            <a:pPr algn="l"/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So </a:t>
            </a:r>
            <a:r>
              <a:rPr lang="en-IN" sz="3200" b="1" i="0" u="none" strike="noStrike" dirty="0">
                <a:solidFill>
                  <a:srgbClr val="000000"/>
                </a:solidFill>
                <a:effectLst/>
              </a:rPr>
              <a:t>Triple DES behaves exactly like Single DES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✔ Old DES systems can still decrypt</a:t>
            </a:r>
            <a:br>
              <a:rPr lang="en-IN" sz="32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IN" sz="3200" b="0" i="0" u="none" strike="noStrike" dirty="0">
                <a:solidFill>
                  <a:srgbClr val="000000"/>
                </a:solidFill>
                <a:effectLst/>
              </a:rPr>
              <a:t>✔ New systems get stronger security</a:t>
            </a:r>
          </a:p>
          <a:p>
            <a:r>
              <a:rPr lang="en-IN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That’s the only reason for the D in the middle.</a:t>
            </a:r>
          </a:p>
          <a:p>
            <a:r>
              <a:rPr lang="en-IN" sz="3800" b="1" i="0" u="none" strike="noStrike" dirty="0">
                <a:solidFill>
                  <a:srgbClr val="000000"/>
                </a:solidFill>
                <a:effectLst/>
              </a:rPr>
              <a:t>brute force is infeasible</a:t>
            </a:r>
            <a:r>
              <a:rPr lang="en-IN" sz="3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n-IN" sz="3800" dirty="0">
              <a:solidFill>
                <a:srgbClr val="000000"/>
              </a:solidFill>
              <a:latin typeface="-webkit-standard"/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Merkle–Hellman attack -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Uses a clever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meet-in-the-middle–style idea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Requires: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2</a:t>
            </a:r>
            <a:r>
              <a:rPr lang="en-IN" b="0" i="0" u="none" strike="noStrike" baseline="30000" dirty="0">
                <a:solidFill>
                  <a:srgbClr val="000000"/>
                </a:solidFill>
                <a:effectLst/>
              </a:rPr>
              <a:t>56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computations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i="0" u="none" strike="noStrike" dirty="0">
                <a:solidFill>
                  <a:srgbClr val="000000"/>
                </a:solidFill>
                <a:effectLst/>
              </a:rPr>
              <a:t>2</a:t>
            </a:r>
            <a:r>
              <a:rPr lang="en-IN" i="0" u="none" strike="noStrike" baseline="30000" dirty="0">
                <a:solidFill>
                  <a:srgbClr val="000000"/>
                </a:solidFill>
                <a:effectLst/>
              </a:rPr>
              <a:t>56</a:t>
            </a:r>
            <a:r>
              <a:rPr lang="en-IN" i="0" u="none" strike="noStrike" dirty="0">
                <a:solidFill>
                  <a:srgbClr val="000000"/>
                </a:solidFill>
                <a:effectLst/>
              </a:rPr>
              <a:t>chosen plaintext–ciphertext pairs</a:t>
            </a:r>
          </a:p>
          <a:p>
            <a:r>
              <a:rPr lang="en-IN" sz="3100" b="1" i="0" u="none" strike="noStrike" dirty="0">
                <a:solidFill>
                  <a:srgbClr val="00B050"/>
                </a:solidFill>
                <a:effectLst/>
                <a:latin typeface="-webkit-standard"/>
              </a:rPr>
              <a:t>Two-key 3DES is </a:t>
            </a:r>
            <a:r>
              <a:rPr lang="en-IN" sz="3100" b="1" i="0" u="none" strike="noStrike" dirty="0">
                <a:solidFill>
                  <a:srgbClr val="00B050"/>
                </a:solidFill>
                <a:effectLst/>
              </a:rPr>
              <a:t>theoretically vulnerable</a:t>
            </a:r>
            <a:r>
              <a:rPr lang="en-IN" sz="3100" b="1" i="0" u="none" strike="noStrike" dirty="0">
                <a:solidFill>
                  <a:srgbClr val="00B050"/>
                </a:solidFill>
                <a:effectLst/>
                <a:latin typeface="-webkit-standard"/>
              </a:rPr>
              <a:t>, but </a:t>
            </a:r>
            <a:r>
              <a:rPr lang="en-IN" sz="3100" b="1" i="0" u="none" strike="noStrike" dirty="0">
                <a:solidFill>
                  <a:srgbClr val="00B050"/>
                </a:solidFill>
                <a:effectLst/>
              </a:rPr>
              <a:t>safe in practice</a:t>
            </a:r>
            <a:r>
              <a:rPr lang="en-IN" sz="3100" b="1" i="0" u="none" strike="noStrike" dirty="0">
                <a:solidFill>
                  <a:srgbClr val="00B050"/>
                </a:solidFill>
                <a:effectLst/>
                <a:latin typeface="-webkit-standard"/>
              </a:rPr>
              <a:t>.</a:t>
            </a:r>
            <a:endParaRPr lang="en-US" sz="31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493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F04E-14E2-FCB4-3911-798F99EB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Three-key Triple 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851EB-D6A2-4ADA-6728-5E17EBAFC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164" y="1825624"/>
            <a:ext cx="11083636" cy="5032375"/>
          </a:xfrm>
        </p:spPr>
        <p:txBody>
          <a:bodyPr>
            <a:normAutofit lnSpcReduction="10000"/>
          </a:bodyPr>
          <a:lstStyle/>
          <a:p>
            <a:r>
              <a:rPr lang="en-IN" sz="2800" b="0" i="0" u="none" strike="noStrike" dirty="0">
                <a:solidFill>
                  <a:srgbClr val="000000"/>
                </a:solidFill>
                <a:effectLst/>
              </a:rPr>
              <a:t>C=E(K</a:t>
            </a:r>
            <a:r>
              <a:rPr lang="en-IN" b="0" i="0" u="none" strike="noStrike" baseline="-25000" dirty="0">
                <a:solidFill>
                  <a:srgbClr val="000000"/>
                </a:solidFill>
                <a:effectLst/>
              </a:rPr>
              <a:t>3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</a:rPr>
              <a:t>,D(K</a:t>
            </a:r>
            <a:r>
              <a:rPr lang="en-IN" sz="2800" b="0" i="0" u="none" strike="noStrike" baseline="-25000" dirty="0">
                <a:solidFill>
                  <a:srgbClr val="000000"/>
                </a:solidFill>
                <a:effectLst/>
              </a:rPr>
              <a:t>2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</a:rPr>
              <a:t>,E(K</a:t>
            </a:r>
            <a:r>
              <a:rPr lang="en-IN" sz="2800" b="0" i="0" u="none" strike="noStrike" baseline="-25000" dirty="0">
                <a:solidFill>
                  <a:srgbClr val="000000"/>
                </a:solidFill>
                <a:effectLst/>
              </a:rPr>
              <a:t>1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</a:rPr>
              <a:t>,P)))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Now, Keys: K1,K2,K3K1​,K2​,K3​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Nominal key size: 56×3=168 bits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Effective security: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~112 bits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(due to advanced attacks)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Still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extremely secure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0" indent="0">
              <a:buNone/>
            </a:pPr>
            <a:r>
              <a:rPr lang="en-IN" b="1" dirty="0"/>
              <a:t>Used in</a:t>
            </a:r>
          </a:p>
          <a:p>
            <a:r>
              <a:rPr lang="en-IN" dirty="0"/>
              <a:t>PGP</a:t>
            </a:r>
          </a:p>
          <a:p>
            <a:r>
              <a:rPr lang="en-IN" dirty="0"/>
              <a:t>S/MIME</a:t>
            </a:r>
          </a:p>
          <a:p>
            <a:r>
              <a:rPr lang="en-IN" dirty="0"/>
              <a:t>Banking systems</a:t>
            </a:r>
          </a:p>
          <a:p>
            <a:r>
              <a:rPr lang="en-IN" dirty="0"/>
              <a:t>Financial key management standards</a:t>
            </a:r>
          </a:p>
        </p:txBody>
      </p:sp>
    </p:spTree>
    <p:extLst>
      <p:ext uri="{BB962C8B-B14F-4D97-AF65-F5344CB8AC3E}">
        <p14:creationId xmlns:p14="http://schemas.microsoft.com/office/powerpoint/2010/main" val="1266403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EBDE-5B57-AF84-BA38-3413FC50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Cipher Modes Of Operations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B4A72-3505-FACB-E781-8BC2705C9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17" y="1451113"/>
            <a:ext cx="11095383" cy="5188226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Direct use of a block cipher is in advisable</a:t>
            </a:r>
          </a:p>
          <a:p>
            <a:r>
              <a:rPr lang="en-US" sz="3200" dirty="0"/>
              <a:t> Enemy can build up “code book” of plaintext/cipher text equivalents</a:t>
            </a:r>
          </a:p>
          <a:p>
            <a:r>
              <a:rPr lang="en-US" sz="3200" dirty="0"/>
              <a:t> Beyond that, direct use only works on messages that is multiple of the cipher block size in length</a:t>
            </a:r>
          </a:p>
          <a:p>
            <a:r>
              <a:rPr lang="en-US" sz="3200" dirty="0"/>
              <a:t> Solution: five standard Modes of Operation: 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Electronic Code Book (ECB), 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Cipher Block Chaining (CBC), 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CipherFeedback(CFB), 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Output Feedback (OFB), and 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Counter(CTR).</a:t>
            </a:r>
            <a:endParaRPr lang="en-IN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419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C400B-9714-8CEE-14BB-B58F6384F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Electronic Code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35D4B-5646-387F-79A4-FAF488F1F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dirty="0"/>
              <a:t>Direct use of the block cipher </a:t>
            </a: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(like DES or AES)</a:t>
            </a:r>
            <a:endParaRPr lang="en-US" sz="3600" dirty="0"/>
          </a:p>
          <a:p>
            <a:r>
              <a:rPr lang="en-US" sz="3600" dirty="0"/>
              <a:t> </a:t>
            </a:r>
            <a:r>
              <a:rPr lang="en-IN" sz="3200" dirty="0"/>
              <a:t>Takes </a:t>
            </a:r>
            <a:r>
              <a:rPr lang="en-IN" sz="3200" b="1" dirty="0"/>
              <a:t>fixed-size blocks</a:t>
            </a:r>
            <a:r>
              <a:rPr lang="en-IN" sz="3200" dirty="0"/>
              <a:t> (e.g., 64 bits for DES, 128 bits for AES)</a:t>
            </a:r>
          </a:p>
          <a:p>
            <a:r>
              <a:rPr lang="en-IN" sz="3200" dirty="0"/>
              <a:t>Encrypts </a:t>
            </a:r>
            <a:r>
              <a:rPr lang="en-IN" sz="3200" b="1" dirty="0"/>
              <a:t>one block at a time</a:t>
            </a:r>
            <a:endParaRPr lang="en-IN" sz="3200" dirty="0"/>
          </a:p>
          <a:p>
            <a:r>
              <a:rPr lang="en-US" sz="3600" dirty="0">
                <a:solidFill>
                  <a:srgbClr val="00B0F0"/>
                </a:solidFill>
              </a:rPr>
              <a:t>Very weak </a:t>
            </a:r>
            <a:r>
              <a:rPr lang="en-US" sz="3600" dirty="0"/>
              <a:t>if used for general-purpose encryption; never use it for a file or a message.</a:t>
            </a:r>
          </a:p>
          <a:p>
            <a:r>
              <a:rPr lang="en-US" sz="3600" dirty="0"/>
              <a:t>Attacker can build codebook; no semantic security</a:t>
            </a:r>
          </a:p>
          <a:p>
            <a:r>
              <a:rPr lang="en-US" sz="3600" dirty="0"/>
              <a:t>We write {P}k → C to denote “encryption of plaintext P with key k to produce cipher text C”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868088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461F-7F24-B9FE-E613-706A3DA8D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AAFA1-2384-E548-EAEF-FE8BB4453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codebook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Same word → same code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Same input → same output</a:t>
            </a:r>
          </a:p>
          <a:p>
            <a:r>
              <a:rPr lang="en-US" dirty="0"/>
              <a:t>Identical plaintext blocks → </a:t>
            </a:r>
            <a:r>
              <a:rPr lang="en-US" b="1" dirty="0"/>
              <a:t>identical ciphertext blocks</a:t>
            </a:r>
            <a:endParaRPr lang="en-US" dirty="0"/>
          </a:p>
          <a:p>
            <a:r>
              <a:rPr lang="en-US" dirty="0"/>
              <a:t>Patterns in the plaintext </a:t>
            </a:r>
            <a:r>
              <a:rPr lang="en-US" b="1" dirty="0"/>
              <a:t>remain visible</a:t>
            </a:r>
            <a:endParaRPr lang="en-US" dirty="0"/>
          </a:p>
          <a:p>
            <a:r>
              <a:rPr lang="en-US" dirty="0"/>
              <a:t>An attacker can build a </a:t>
            </a:r>
            <a:r>
              <a:rPr lang="en-US" b="1" dirty="0"/>
              <a:t>codebook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IN" b="1" dirty="0"/>
              <a:t>Where </a:t>
            </a:r>
          </a:p>
          <a:p>
            <a:r>
              <a:rPr lang="en-US" dirty="0"/>
              <a:t>Encrypting </a:t>
            </a:r>
            <a:r>
              <a:rPr lang="en-US" b="1" dirty="0"/>
              <a:t>small, random values</a:t>
            </a:r>
            <a:r>
              <a:rPr lang="en-US" dirty="0"/>
              <a:t> like:</a:t>
            </a:r>
          </a:p>
          <a:p>
            <a:pPr lvl="1"/>
            <a:r>
              <a:rPr lang="en-US" dirty="0"/>
              <a:t>Cryptographic keys</a:t>
            </a:r>
          </a:p>
          <a:p>
            <a:pPr lvl="1"/>
            <a:r>
              <a:rPr lang="en-US" dirty="0"/>
              <a:t>Nonces</a:t>
            </a:r>
          </a:p>
          <a:p>
            <a:r>
              <a:rPr lang="en-US" b="1" dirty="0"/>
              <a:t>Never use ECB</a:t>
            </a:r>
            <a:r>
              <a:rPr lang="en-US" dirty="0"/>
              <a:t> for: Files, Images, Messages, Databases </a:t>
            </a:r>
          </a:p>
          <a:p>
            <a:r>
              <a:rPr lang="en-US" dirty="0">
                <a:solidFill>
                  <a:srgbClr val="FF0000"/>
                </a:solidFill>
              </a:rPr>
              <a:t>(Image outline remains same), Colors change, patterns remain</a:t>
            </a:r>
          </a:p>
        </p:txBody>
      </p:sp>
    </p:spTree>
    <p:extLst>
      <p:ext uri="{BB962C8B-B14F-4D97-AF65-F5344CB8AC3E}">
        <p14:creationId xmlns:p14="http://schemas.microsoft.com/office/powerpoint/2010/main" val="33969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ode book&#10;&#10;Description automatically generated">
            <a:extLst>
              <a:ext uri="{FF2B5EF4-FFF2-40B4-BE49-F238E27FC236}">
                <a16:creationId xmlns:a16="http://schemas.microsoft.com/office/drawing/2014/main" id="{230D6CC0-1F20-ACEB-056F-CFC44B72D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855" y="252940"/>
            <a:ext cx="6304477" cy="635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60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A6CFC-EAA6-DA8D-458C-1EE777B22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Cipher Block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F5D4-FDE3-317A-F46C-EF235B51A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76284" cy="4667250"/>
          </a:xfrm>
        </p:spPr>
        <p:txBody>
          <a:bodyPr>
            <a:noAutofit/>
          </a:bodyPr>
          <a:lstStyle/>
          <a:p>
            <a:r>
              <a:rPr lang="en-IN" sz="2400" dirty="0"/>
              <a:t>We would like that same plaintext blocks produce different cipher text blocks.</a:t>
            </a:r>
          </a:p>
          <a:p>
            <a:r>
              <a:rPr lang="en-IN" sz="2400" dirty="0"/>
              <a:t>Cipher Block Chaining allows this by XORing each plaintext with the Cipher text from the previous round (the first round using an Initialisation Vector (IV)).</a:t>
            </a:r>
          </a:p>
          <a:p>
            <a:r>
              <a:rPr lang="en-IN" sz="2400" dirty="0"/>
              <a:t>As before, the same key is used for each block.</a:t>
            </a:r>
          </a:p>
          <a:p>
            <a:r>
              <a:rPr lang="en-IN" sz="2400" dirty="0"/>
              <a:t>C1 = E(K, P1 ⊕ IV)</a:t>
            </a:r>
          </a:p>
          <a:p>
            <a:r>
              <a:rPr lang="en-IN" sz="2400" dirty="0"/>
              <a:t>Ci = E(K, Pi ⊕ Ci−1)</a:t>
            </a:r>
          </a:p>
          <a:p>
            <a:r>
              <a:rPr lang="en-IN" sz="2400" dirty="0"/>
              <a:t>Decryption works as shown in the figure because of the properties of the XOR operation, i.e. IV ⊕ IV ⊕ P = P where IV is the Initialisation Vector and P is the plaintext.</a:t>
            </a:r>
          </a:p>
          <a:p>
            <a:r>
              <a:rPr lang="en-IN" sz="2400" dirty="0"/>
              <a:t>Obviously the IV needs to be known by both sender and receiver and it should be kept secret along with the key for maximum security.</a:t>
            </a:r>
          </a:p>
        </p:txBody>
      </p:sp>
    </p:spTree>
    <p:extLst>
      <p:ext uri="{BB962C8B-B14F-4D97-AF65-F5344CB8AC3E}">
        <p14:creationId xmlns:p14="http://schemas.microsoft.com/office/powerpoint/2010/main" val="2532632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block chain&#10;&#10;Description automatically generated">
            <a:extLst>
              <a:ext uri="{FF2B5EF4-FFF2-40B4-BE49-F238E27FC236}">
                <a16:creationId xmlns:a16="http://schemas.microsoft.com/office/drawing/2014/main" id="{20C98226-F03E-12AD-45EF-E0585F21F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588" y="0"/>
            <a:ext cx="69028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18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A03E-B691-F7CA-0579-E5203041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 Feedback (CFB)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49899-4C8D-D3FE-0ABC-444C16257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24411" cy="4667250"/>
          </a:xfrm>
        </p:spPr>
        <p:txBody>
          <a:bodyPr>
            <a:normAutofit fontScale="92500"/>
          </a:bodyPr>
          <a:lstStyle/>
          <a:p>
            <a:r>
              <a:rPr lang="en-US" dirty="0"/>
              <a:t>The Cipher Feedback and Output Feedback allows a block cipher to be converted into stream cipher.</a:t>
            </a:r>
          </a:p>
          <a:p>
            <a:r>
              <a:rPr lang="en-US" dirty="0"/>
              <a:t>Ci = Pi ⊕ E(K, Ci−1)</a:t>
            </a:r>
          </a:p>
          <a:p>
            <a:r>
              <a:rPr lang="en-US" dirty="0"/>
              <a:t>This eliminates the need to pad a message to be an integral number of blocks. It also can operate in real time.</a:t>
            </a:r>
          </a:p>
          <a:p>
            <a:r>
              <a:rPr lang="en-US" dirty="0"/>
              <a:t>it assumed that the unit of transmission is s bits; a common value is s =8.</a:t>
            </a:r>
          </a:p>
          <a:p>
            <a:r>
              <a:rPr lang="en-US" dirty="0"/>
              <a:t>As with CBC, the units of plaintext are chained together, so that the ciphertext of any plaintext unit is a function of all the preceding plaintext</a:t>
            </a:r>
          </a:p>
          <a:p>
            <a:r>
              <a:rPr lang="en-US" dirty="0"/>
              <a:t>The input to the encryption function is a shift register equal in length to the block cipher of the algorithm</a:t>
            </a:r>
          </a:p>
        </p:txBody>
      </p:sp>
    </p:spTree>
    <p:extLst>
      <p:ext uri="{BB962C8B-B14F-4D97-AF65-F5344CB8AC3E}">
        <p14:creationId xmlns:p14="http://schemas.microsoft.com/office/powerpoint/2010/main" val="350116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uter algorithm&#10;&#10;Description automatically generated with medium confidence">
            <a:extLst>
              <a:ext uri="{FF2B5EF4-FFF2-40B4-BE49-F238E27FC236}">
                <a16:creationId xmlns:a16="http://schemas.microsoft.com/office/drawing/2014/main" id="{C20814FA-E433-2CB7-1B70-6C9397586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127" y="0"/>
            <a:ext cx="63657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132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7427-0416-60E2-8C5E-0C02FB8E7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Feedback (OFB)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C9D35-364C-8EFD-74F5-CBF55B6F5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Output Feedback Mode is similar in structure to that of CFB</a:t>
            </a:r>
          </a:p>
          <a:p>
            <a:r>
              <a:rPr lang="en-US" dirty="0"/>
              <a:t>Oi = E(K, Oi−1)</a:t>
            </a:r>
          </a:p>
          <a:p>
            <a:r>
              <a:rPr lang="en-US" dirty="0"/>
              <a:t>Ci = Pi ⊕ Oi</a:t>
            </a:r>
          </a:p>
          <a:p>
            <a:r>
              <a:rPr lang="en-US" dirty="0"/>
              <a:t>The output of the encryption function that is fed back to the shift register in OFB, whereas in CFB the cipher text unit is fed back to the shift register.</a:t>
            </a:r>
          </a:p>
          <a:p>
            <a:r>
              <a:rPr lang="en-US" dirty="0"/>
              <a:t>One advantage of the OFB method is that bit errors in transmission do not propagate.</a:t>
            </a:r>
          </a:p>
          <a:p>
            <a:r>
              <a:rPr lang="en-US" dirty="0"/>
              <a:t>For example, if a bit error occurs in C1 only the recovered value of P1 is affected; subsequent plaintext units are not corrupted.</a:t>
            </a:r>
          </a:p>
          <a:p>
            <a:r>
              <a:rPr lang="en-US" dirty="0"/>
              <a:t>With CFB, C1 also serves as input to the shift register and therefore causes additional corruption downstream.</a:t>
            </a:r>
          </a:p>
        </p:txBody>
      </p:sp>
    </p:spTree>
    <p:extLst>
      <p:ext uri="{BB962C8B-B14F-4D97-AF65-F5344CB8AC3E}">
        <p14:creationId xmlns:p14="http://schemas.microsoft.com/office/powerpoint/2010/main" val="254609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encrypted algorithm&#10;&#10;Description automatically generated">
            <a:extLst>
              <a:ext uri="{FF2B5EF4-FFF2-40B4-BE49-F238E27FC236}">
                <a16:creationId xmlns:a16="http://schemas.microsoft.com/office/drawing/2014/main" id="{7771B803-B1A0-370F-6A69-E75DF117D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206" y="643466"/>
            <a:ext cx="564158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6350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2465-0594-0D13-25C5-1D65C647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7B3FC-869B-6738-3D23-09EDBCE6F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Encrypts a counter value to generate keystream.</a:t>
            </a:r>
          </a:p>
          <a:p>
            <a:r>
              <a:rPr lang="en-US" dirty="0"/>
              <a:t>Ci = Pi ⊕ E(K, Counter + 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 algn="l">
              <a:buNone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Features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Fast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Fully parallel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No padding</a:t>
            </a:r>
          </a:p>
          <a:p>
            <a:pPr marL="0" indent="0" algn="l">
              <a:buNone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Drawback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Counter reuse breaks security</a:t>
            </a:r>
          </a:p>
          <a:p>
            <a:pPr marL="0" indent="0" algn="l">
              <a:buNone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Use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High-speed 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162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able with text on it&#10;&#10;Description automatically generated">
            <a:extLst>
              <a:ext uri="{FF2B5EF4-FFF2-40B4-BE49-F238E27FC236}">
                <a16:creationId xmlns:a16="http://schemas.microsoft.com/office/drawing/2014/main" id="{D278A4DE-60C8-56E9-C8C5-0B88F8A40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27" y="129547"/>
            <a:ext cx="8962524" cy="657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46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3275</TotalTime>
  <Words>1445</Words>
  <Application>Microsoft Office PowerPoint</Application>
  <PresentationFormat>Widescreen</PresentationFormat>
  <Paragraphs>167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-webkit-standard</vt:lpstr>
      <vt:lpstr>Office Theme</vt:lpstr>
      <vt:lpstr>Block Cipher Modes Of Operations</vt:lpstr>
      <vt:lpstr>MULTIPLE ENCRYPTION AND TRIPLE DES (</vt:lpstr>
      <vt:lpstr>Concept of Multiple Encryption</vt:lpstr>
      <vt:lpstr>Strength of Double DES</vt:lpstr>
      <vt:lpstr>Why</vt:lpstr>
      <vt:lpstr>But Double DES Is Still Weak</vt:lpstr>
      <vt:lpstr>Meet-in-the-Middle Attack</vt:lpstr>
      <vt:lpstr>Effective Security of Double DES</vt:lpstr>
      <vt:lpstr>Why Triple DES</vt:lpstr>
      <vt:lpstr>PowerPoint Presentation</vt:lpstr>
      <vt:lpstr>Two-key Triple DES</vt:lpstr>
      <vt:lpstr>Backward compatibility</vt:lpstr>
      <vt:lpstr>Three-key Triple DES</vt:lpstr>
      <vt:lpstr>Block Cipher Modes Of Operations</vt:lpstr>
      <vt:lpstr>Electronic Code Book</vt:lpstr>
      <vt:lpstr>Observation</vt:lpstr>
      <vt:lpstr>PowerPoint Presentation</vt:lpstr>
      <vt:lpstr>Cipher Block Chaining</vt:lpstr>
      <vt:lpstr>PowerPoint Presentation</vt:lpstr>
      <vt:lpstr>Cipher Feedback (CFB) Mode</vt:lpstr>
      <vt:lpstr>PowerPoint Presentation</vt:lpstr>
      <vt:lpstr>Output Feedback (OFB) Mode</vt:lpstr>
      <vt:lpstr>PowerPoint Presentation</vt:lpstr>
      <vt:lpstr>Counter Mode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Cipher Modes Of Operations</dc:title>
  <dc:creator>Manonmani T</dc:creator>
  <cp:lastModifiedBy>Manonmani T</cp:lastModifiedBy>
  <cp:revision>4</cp:revision>
  <dcterms:created xsi:type="dcterms:W3CDTF">2026-02-03T10:44:33Z</dcterms:created>
  <dcterms:modified xsi:type="dcterms:W3CDTF">2026-02-06T11:06:01Z</dcterms:modified>
</cp:coreProperties>
</file>