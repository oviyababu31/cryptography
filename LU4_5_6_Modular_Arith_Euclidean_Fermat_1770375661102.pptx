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73" r:id="rId4"/>
    <p:sldId id="275" r:id="rId5"/>
    <p:sldId id="290" r:id="rId6"/>
    <p:sldId id="276" r:id="rId7"/>
    <p:sldId id="291" r:id="rId8"/>
    <p:sldId id="279" r:id="rId9"/>
    <p:sldId id="283" r:id="rId10"/>
    <p:sldId id="286" r:id="rId11"/>
    <p:sldId id="284" r:id="rId12"/>
    <p:sldId id="292" r:id="rId13"/>
    <p:sldId id="285" r:id="rId14"/>
    <p:sldId id="293" r:id="rId15"/>
    <p:sldId id="294" r:id="rId16"/>
    <p:sldId id="287" r:id="rId17"/>
    <p:sldId id="288" r:id="rId18"/>
    <p:sldId id="289" r:id="rId19"/>
    <p:sldId id="295" r:id="rId20"/>
    <p:sldId id="282" r:id="rId21"/>
    <p:sldId id="257" r:id="rId22"/>
    <p:sldId id="265" r:id="rId23"/>
    <p:sldId id="296" r:id="rId24"/>
    <p:sldId id="258" r:id="rId25"/>
    <p:sldId id="266" r:id="rId26"/>
    <p:sldId id="259" r:id="rId27"/>
    <p:sldId id="267" r:id="rId28"/>
    <p:sldId id="268" r:id="rId29"/>
    <p:sldId id="269" r:id="rId30"/>
    <p:sldId id="260" r:id="rId31"/>
    <p:sldId id="297" r:id="rId32"/>
    <p:sldId id="298" r:id="rId33"/>
    <p:sldId id="299" r:id="rId34"/>
    <p:sldId id="300" r:id="rId35"/>
    <p:sldId id="301" r:id="rId36"/>
    <p:sldId id="261" r:id="rId37"/>
    <p:sldId id="302" r:id="rId38"/>
    <p:sldId id="305" r:id="rId39"/>
    <p:sldId id="303" r:id="rId40"/>
    <p:sldId id="304" r:id="rId41"/>
    <p:sldId id="306" r:id="rId42"/>
    <p:sldId id="307" r:id="rId43"/>
    <p:sldId id="308" r:id="rId44"/>
    <p:sldId id="309" r:id="rId45"/>
    <p:sldId id="310" r:id="rId46"/>
    <p:sldId id="262" r:id="rId47"/>
    <p:sldId id="332" r:id="rId48"/>
    <p:sldId id="311" r:id="rId49"/>
    <p:sldId id="312" r:id="rId50"/>
    <p:sldId id="313" r:id="rId51"/>
    <p:sldId id="314" r:id="rId52"/>
    <p:sldId id="316" r:id="rId53"/>
    <p:sldId id="317" r:id="rId54"/>
    <p:sldId id="318" r:id="rId55"/>
    <p:sldId id="319" r:id="rId56"/>
    <p:sldId id="320" r:id="rId57"/>
    <p:sldId id="321" r:id="rId58"/>
    <p:sldId id="322" r:id="rId59"/>
    <p:sldId id="323" r:id="rId60"/>
    <p:sldId id="324" r:id="rId61"/>
    <p:sldId id="325" r:id="rId62"/>
    <p:sldId id="326" r:id="rId63"/>
    <p:sldId id="327" r:id="rId64"/>
    <p:sldId id="328" r:id="rId65"/>
    <p:sldId id="329" r:id="rId66"/>
    <p:sldId id="330" r:id="rId67"/>
    <p:sldId id="331" r:id="rId6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36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6ED2E-DB9C-4E74-0098-6AC4C1DCD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DA63C3-B445-CB27-90F8-F8FD94027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9FEE8-6CF5-8589-5736-96DD1D92D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A9D02-0C91-1A6E-5717-FC6F899B2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C102B-E07A-C6D2-B5DE-DE3114690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9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003F4-8220-BD97-6AF2-9D95E61B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2EE58-490F-85EC-48E7-DCAF56672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39866-E354-19BB-2EC9-5D7D5722A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30DE4-6A8B-9C27-4C35-C8A773171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A390C-CECE-FA19-3B84-4895BFEC8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65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22817-575A-55E4-5285-AC451CDC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8DEDC-192D-FAE9-A585-400115840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EA4BF-CE8F-7029-8CCF-42BD68A24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F65F2-D8B9-18A7-805A-628E37D18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1F0C3-45C6-B2E1-4365-C39F77364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039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90E5A-A3B0-10AC-1AC6-FC58CF903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6CF36-22D9-AC8E-6B74-706A52214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033494-8515-DC0B-C14C-7578A8DE4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91A1A-2D13-4ABE-8004-B9186846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66490-6FA7-3CE8-02D2-A17C1015B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19D22-C6B1-CB1E-B1CC-BD02E41A5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25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491C0-967C-DEF1-BE5F-1BEA26050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176EF-DB4D-29A2-B9A9-192738DE4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034BA-B7EC-5275-299A-D47175B45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2F42B6-0900-59FB-2554-1673E370C3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665D4D-471E-B602-A336-2D5C434697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9ACF2C-9C85-6A7F-9F11-FDE8424BB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221900-0924-EB6C-05FA-F6706892D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577F13-3E83-ED7B-DBB2-D211DCA2A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03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F09CF-623C-B257-05D5-2B020FF51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724CAA-C978-0A61-9714-12A4F61FD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4F78B6-29DA-0AA0-FECF-95EF7187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466159-C3C2-CE44-3462-B63DBF96F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67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929263-5F66-E1C3-A8FE-2EF74BEB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591F6A-4AE1-5BA0-0F6C-F66FE5010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A8041-6D30-8578-CC4C-393D5395F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5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474B4-7293-E33C-DD50-B6B444A71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35E92-2B28-836A-88A6-239DE24E9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1A98-AB1A-E567-0A1B-BF2F44592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7FF66-10E5-5B19-64D7-2A00E0A6B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A304B-7556-C61A-CA86-67DC1286B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B74B4-E726-F0A9-8D68-0053E54C6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43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9568E-9D97-B690-FF2C-35754CD21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B4FFA3-F37F-1296-D493-6A1136E09E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64563-2100-2E7D-C48D-81840F405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C1DA01-D397-0003-E7B6-9C037600A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6A8B5-877D-8DD9-7537-B87BF7550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74362-AB6D-21B7-A3CE-B8ED86391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36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2D173-BEEB-65B9-1037-83AB7C94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2E5D1-E9C1-DE4E-7085-3DD822868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2C37E-B55B-DA0C-9C00-0820BE627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0AABA-EF45-F20C-2FD7-C44DCF533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5D51C-83A3-E8DB-FDCE-49CD717F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37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046E03-3556-D317-B432-BA7C1F1828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0D903E-3EA7-BFDE-1044-FF53E178C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B310F-38AD-AAD5-5E41-E4062D270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D58AB-10C1-F332-91D3-30A3DEA37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06B52-DC01-55D8-79FC-E055E2AD2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4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41AED0-D642-FBAE-8824-D56D66192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2DA49-B05F-C0CC-C8FC-A57142D07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3B551-AFFB-60F8-A1F2-B6CE8CC2C3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07E0B-4C41-4143-A6A9-1874C12AE6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64C4C-D1B2-9DC7-88C6-16C301C9C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139DF-D12F-6309-5A3C-71EEEBE1E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737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87C4D-0B46-F8B1-8EAA-51A7A20AD9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Number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B4AD17-1E01-1B52-4813-CF1E58FA45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Modular Arithmetic, Euclidean Algorithm, Fermat &amp; </a:t>
            </a:r>
            <a:r>
              <a:rPr lang="en-US" dirty="0" err="1"/>
              <a:t>Eulers</a:t>
            </a:r>
            <a:r>
              <a:rPr lang="en-US" dirty="0"/>
              <a:t> Theorem</a:t>
            </a:r>
          </a:p>
        </p:txBody>
      </p:sp>
    </p:spTree>
    <p:extLst>
      <p:ext uri="{BB962C8B-B14F-4D97-AF65-F5344CB8AC3E}">
        <p14:creationId xmlns:p14="http://schemas.microsoft.com/office/powerpoint/2010/main" val="2475730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89AC6-AE38-BBFE-924E-6C7497CCF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Number Theory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CE401-86EA-E2E0-7AE5-ABFC02E28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417320"/>
            <a:ext cx="8488680" cy="5242560"/>
          </a:xfrm>
        </p:spPr>
        <p:txBody>
          <a:bodyPr>
            <a:normAutofit/>
          </a:bodyPr>
          <a:lstStyle/>
          <a:p>
            <a:r>
              <a:rPr lang="en-US" sz="2400" dirty="0"/>
              <a:t>Number Theory is the branch of mathematics that deals with </a:t>
            </a:r>
            <a:r>
              <a:rPr lang="en-US" sz="2400" b="1" dirty="0"/>
              <a:t>properties of integers</a:t>
            </a:r>
            <a:r>
              <a:rPr lang="en-US" sz="2400" dirty="0"/>
              <a:t>.</a:t>
            </a:r>
          </a:p>
          <a:p>
            <a:r>
              <a:rPr lang="en-US" sz="2400" dirty="0"/>
              <a:t>It focuses on </a:t>
            </a:r>
            <a:r>
              <a:rPr lang="en-US" sz="2400" b="1" dirty="0"/>
              <a:t>divisibility, prime numbers, and modular arithmetic</a:t>
            </a:r>
            <a:r>
              <a:rPr lang="en-US" sz="2400" dirty="0"/>
              <a:t>.</a:t>
            </a:r>
          </a:p>
          <a:p>
            <a:r>
              <a:rPr lang="en-US" sz="2400" dirty="0"/>
              <a:t>Ancient in origin, yet </a:t>
            </a:r>
            <a:r>
              <a:rPr lang="en-US" sz="2400" b="1" dirty="0"/>
              <a:t>highly relevant in modern computing</a:t>
            </a:r>
            <a:r>
              <a:rPr lang="en-US" sz="2400" dirty="0"/>
              <a:t>.</a:t>
            </a:r>
          </a:p>
          <a:p>
            <a:r>
              <a:rPr lang="en-US" sz="2400" dirty="0"/>
              <a:t>Forms the </a:t>
            </a:r>
            <a:r>
              <a:rPr lang="en-US" sz="2400" b="1" dirty="0"/>
              <a:t>mathematical foundation of cryptography and security systems</a:t>
            </a:r>
            <a:r>
              <a:rPr lang="en-US" sz="2400" dirty="0"/>
              <a:t>.</a:t>
            </a:r>
          </a:p>
          <a:p>
            <a:r>
              <a:rPr lang="en-US" sz="2400" dirty="0"/>
              <a:t>Used extensively in </a:t>
            </a:r>
            <a:r>
              <a:rPr lang="en-US" sz="2400" b="1" dirty="0"/>
              <a:t>encryption, decryption, and key generation</a:t>
            </a:r>
            <a:r>
              <a:rPr lang="en-US" sz="2400" dirty="0"/>
              <a:t>.</a:t>
            </a:r>
          </a:p>
          <a:p>
            <a:r>
              <a:rPr lang="en-US" sz="2400" dirty="0"/>
              <a:t>Helps solve problems involving </a:t>
            </a:r>
            <a:r>
              <a:rPr lang="en-US" sz="2400" b="1" dirty="0"/>
              <a:t>remainders and congruences</a:t>
            </a:r>
            <a:r>
              <a:rPr lang="en-US" sz="2400" dirty="0"/>
              <a:t>.</a:t>
            </a:r>
          </a:p>
          <a:p>
            <a:r>
              <a:rPr lang="en-US" sz="2400" dirty="0"/>
              <a:t>Essential for understanding algorithms such as </a:t>
            </a:r>
            <a:r>
              <a:rPr lang="en-US" sz="2400" b="1" dirty="0"/>
              <a:t>RSA, Diffie–Hellman, and ECC</a:t>
            </a:r>
            <a:r>
              <a:rPr lang="en-US" sz="2400" dirty="0"/>
              <a:t>.</a:t>
            </a:r>
          </a:p>
          <a:p>
            <a:r>
              <a:rPr lang="en-US" sz="2400" dirty="0"/>
              <a:t>Plays a key role in </a:t>
            </a:r>
            <a:r>
              <a:rPr lang="en-US" sz="2400" b="1" dirty="0"/>
              <a:t>computer science, data security, and network security</a:t>
            </a:r>
            <a:r>
              <a:rPr lang="en-US" sz="2400" dirty="0"/>
              <a:t>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37969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Divisibility &amp; Division Algorithm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600" dirty="0"/>
              <a:t>An integer a is divisible by b if b divides a exactly.</a:t>
            </a:r>
          </a:p>
          <a:p>
            <a:r>
              <a:rPr sz="3600" dirty="0"/>
              <a:t>Notation: b | a</a:t>
            </a:r>
          </a:p>
          <a:p>
            <a:r>
              <a:rPr sz="3600" dirty="0"/>
              <a:t>Example: 3 | 15, since 15 = 3 × 5</a:t>
            </a:r>
            <a:endParaRPr lang="en-US" sz="3600" dirty="0"/>
          </a:p>
          <a:p>
            <a:r>
              <a:rPr lang="en-IN" sz="3600" dirty="0"/>
              <a:t>6 | 30 → True</a:t>
            </a:r>
          </a:p>
          <a:p>
            <a:r>
              <a:rPr lang="en-IN" sz="3600" dirty="0"/>
              <a:t>4 | 18 → False</a:t>
            </a:r>
          </a:p>
          <a:p>
            <a:r>
              <a:rPr lang="en-IN" sz="3600" dirty="0"/>
              <a:t>10 | 100 → True</a:t>
            </a:r>
          </a:p>
          <a:p>
            <a:endParaRPr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Properties of Divisibility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FCD7F2-0698-C45B-A8F2-AE3B66B3A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444260"/>
            <a:ext cx="5513694" cy="2259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59A638-6CD7-67B2-FCAB-8F557F7AB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4251959"/>
            <a:ext cx="7139889" cy="6885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DF0826-0F74-F58A-3B4D-E9855CCF6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38" y="624840"/>
            <a:ext cx="8366925" cy="527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721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Division Algorithm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F902DC-EF28-A289-7B72-A4C1AF014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19" y="2270760"/>
            <a:ext cx="8563635" cy="2727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88B819-0125-774E-2FEB-5E3ACA8F5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55" y="1069675"/>
            <a:ext cx="8776291" cy="469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213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4000" dirty="0"/>
              <a:t>Used in:</a:t>
            </a:r>
          </a:p>
          <a:p>
            <a:pPr marL="0" indent="0">
              <a:buNone/>
            </a:pPr>
            <a:r>
              <a:rPr sz="4000" dirty="0"/>
              <a:t>• Modular arithmetic</a:t>
            </a:r>
          </a:p>
          <a:p>
            <a:pPr marL="0" indent="0">
              <a:buNone/>
            </a:pPr>
            <a:r>
              <a:rPr sz="4000" dirty="0"/>
              <a:t>• Cryptography</a:t>
            </a:r>
          </a:p>
          <a:p>
            <a:pPr marL="0" indent="0">
              <a:buNone/>
            </a:pPr>
            <a:r>
              <a:rPr sz="4000" dirty="0"/>
              <a:t>• Computer algorithms</a:t>
            </a:r>
          </a:p>
          <a:p>
            <a:pPr marL="0" indent="0">
              <a:buNone/>
            </a:pPr>
            <a:r>
              <a:rPr sz="4000" dirty="0"/>
              <a:t>• Error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3BB6F-82A2-2373-9F29-597857931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The Euclidean Algorithm</a:t>
            </a:r>
            <a:endParaRPr lang="en-IN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4005B7-1AFD-6884-B6E8-824F20D118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9562" y="1825624"/>
                <a:ext cx="8505646" cy="483396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IN" sz="2800" dirty="0"/>
                  <a:t>The Euclidean Algorithm is an efficient method to compute the </a:t>
                </a:r>
                <a:r>
                  <a:rPr lang="en-IN" sz="2800" b="1" dirty="0"/>
                  <a:t>GCD of two integers</a:t>
                </a:r>
                <a:r>
                  <a:rPr lang="en-IN" sz="2800" dirty="0"/>
                  <a:t>.</a:t>
                </a:r>
              </a:p>
              <a:p>
                <a:r>
                  <a:rPr lang="en-IN" sz="2800" dirty="0"/>
                  <a:t>It is based on repeated </a:t>
                </a:r>
                <a:r>
                  <a:rPr lang="en-IN" sz="2800" b="1" dirty="0"/>
                  <a:t>division with remainder</a:t>
                </a:r>
                <a:r>
                  <a:rPr lang="en-IN" sz="2800" dirty="0"/>
                  <a:t>.</a:t>
                </a:r>
              </a:p>
              <a:p>
                <a:r>
                  <a:rPr lang="en-IN" sz="2800" dirty="0"/>
                  <a:t>Uses the fact that: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>
                          <a:latin typeface="Cambria Math" panose="02040503050406030204" pitchFamily="18" charset="0"/>
                        </a:rPr>
                        <m:t>gcd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sepChr m:val=","/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>
                          <a:latin typeface="Cambria Math" panose="02040503050406030204" pitchFamily="18" charset="0"/>
                        </a:rPr>
                        <m:t>gcd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sepChr m:val=","/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nor/>
                            </m:rPr>
                            <a:rPr lang="ar-AE" sz="2800" i="1"/>
                            <m:t> 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m:rPr>
                              <m:nor/>
                            </m:rPr>
                            <a:rPr lang="en-IN" sz="2800" i="1"/>
                            <m:t> 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ar-AE" sz="2800" b="0" dirty="0"/>
              </a:p>
              <a:p>
                <a:r>
                  <a:rPr lang="en-IN" sz="2800" dirty="0"/>
                  <a:t>The process continues until the </a:t>
                </a:r>
                <a:r>
                  <a:rPr lang="en-IN" sz="2800" b="1" dirty="0"/>
                  <a:t>remainder becomes zero</a:t>
                </a:r>
                <a:r>
                  <a:rPr lang="en-IN" sz="2800" dirty="0"/>
                  <a:t>.</a:t>
                </a:r>
              </a:p>
              <a:p>
                <a:r>
                  <a:rPr lang="en-IN" sz="2800" dirty="0"/>
                  <a:t>The </a:t>
                </a:r>
                <a:r>
                  <a:rPr lang="en-IN" sz="2800" b="1" dirty="0"/>
                  <a:t>last non-zero remainder</a:t>
                </a:r>
                <a:r>
                  <a:rPr lang="en-IN" sz="2800" dirty="0"/>
                  <a:t> is the GCD.</a:t>
                </a:r>
              </a:p>
              <a:p>
                <a:r>
                  <a:rPr lang="en-IN" sz="2800" dirty="0"/>
                  <a:t>It is fast and works well even for </a:t>
                </a:r>
                <a:r>
                  <a:rPr lang="en-IN" sz="2800" b="1" dirty="0"/>
                  <a:t>large numbers</a:t>
                </a:r>
                <a:r>
                  <a:rPr lang="en-IN" sz="2800" dirty="0"/>
                  <a:t>.</a:t>
                </a:r>
              </a:p>
              <a:p>
                <a:r>
                  <a:rPr lang="en-IN" sz="2800" dirty="0"/>
                  <a:t>Widely used in </a:t>
                </a:r>
                <a:r>
                  <a:rPr lang="en-IN" sz="2800" b="1" dirty="0"/>
                  <a:t>cryptography and computer algorithms</a:t>
                </a:r>
                <a:r>
                  <a:rPr lang="en-IN" sz="2800" dirty="0"/>
                  <a:t>.</a:t>
                </a:r>
              </a:p>
              <a:p>
                <a:r>
                  <a:rPr lang="en-IN" sz="2800" b="1" dirty="0">
                    <a:solidFill>
                      <a:srgbClr val="0070C0"/>
                    </a:solidFill>
                  </a:rPr>
                  <a:t>Two integers are relatively prime </a:t>
                </a:r>
                <a:r>
                  <a:rPr lang="en-IN" sz="2800" b="1" dirty="0" err="1">
                    <a:solidFill>
                      <a:srgbClr val="0070C0"/>
                    </a:solidFill>
                  </a:rPr>
                  <a:t>iff</a:t>
                </a:r>
                <a:r>
                  <a:rPr lang="en-IN" sz="2800" b="1" dirty="0">
                    <a:solidFill>
                      <a:srgbClr val="0070C0"/>
                    </a:solidFill>
                  </a:rPr>
                  <a:t> their only common factor is 1. </a:t>
                </a:r>
              </a:p>
              <a:p>
                <a:endParaRPr lang="en-IN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4005B7-1AFD-6884-B6E8-824F20D118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9562" y="1825624"/>
                <a:ext cx="8505646" cy="4833968"/>
              </a:xfrm>
              <a:blipFill>
                <a:blip r:embed="rId2"/>
                <a:stretch>
                  <a:fillRect l="-1074" t="-1892" b="-11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7358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89DD9-4E7A-7C1D-639A-C57DF92BD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Greatest Common Divisor (GCD)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66313-C45D-C37E-CD9D-9F822107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068" y="1825624"/>
            <a:ext cx="8101282" cy="4667249"/>
          </a:xfrm>
        </p:spPr>
        <p:txBody>
          <a:bodyPr>
            <a:normAutofit/>
          </a:bodyPr>
          <a:lstStyle/>
          <a:p>
            <a:r>
              <a:rPr lang="en-US" sz="2800" dirty="0"/>
              <a:t>The GCD of two integers is the </a:t>
            </a:r>
            <a:r>
              <a:rPr lang="en-US" sz="2800" b="1" dirty="0"/>
              <a:t>largest positive integer</a:t>
            </a:r>
            <a:r>
              <a:rPr lang="en-US" sz="2800" dirty="0"/>
              <a:t> that divides both numbers.</a:t>
            </a:r>
          </a:p>
          <a:p>
            <a:r>
              <a:rPr lang="en-US" sz="2800" dirty="0"/>
              <a:t>Denoted as </a:t>
            </a:r>
            <a:r>
              <a:rPr lang="en-US" sz="2800" b="1" dirty="0" err="1"/>
              <a:t>gcd</a:t>
            </a:r>
            <a:r>
              <a:rPr lang="en-US" sz="2800" b="1" dirty="0"/>
              <a:t>(a, b)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r>
              <a:rPr lang="en-US" sz="2800" dirty="0"/>
              <a:t>	Example:</a:t>
            </a:r>
          </a:p>
          <a:p>
            <a:pPr lvl="2"/>
            <a:r>
              <a:rPr lang="en-US" sz="2800" dirty="0" err="1"/>
              <a:t>gcd</a:t>
            </a:r>
            <a:r>
              <a:rPr lang="en-US" sz="2800" dirty="0"/>
              <a:t>(12, 18) = 6</a:t>
            </a:r>
          </a:p>
          <a:p>
            <a:r>
              <a:rPr lang="en-US" sz="2800" dirty="0"/>
              <a:t>If </a:t>
            </a:r>
            <a:r>
              <a:rPr lang="en-US" sz="2800" dirty="0" err="1"/>
              <a:t>gcd</a:t>
            </a:r>
            <a:r>
              <a:rPr lang="en-US" sz="2800" dirty="0"/>
              <a:t>(a, b) = 1, then </a:t>
            </a:r>
            <a:r>
              <a:rPr lang="en-US" sz="2800" b="1" dirty="0"/>
              <a:t>a and b are coprime</a:t>
            </a:r>
            <a:r>
              <a:rPr lang="en-US" sz="2800" dirty="0"/>
              <a:t>.</a:t>
            </a:r>
          </a:p>
          <a:p>
            <a:r>
              <a:rPr lang="en-US" sz="2800" dirty="0"/>
              <a:t>GCD plays an important role in:</a:t>
            </a:r>
          </a:p>
          <a:p>
            <a:pPr lvl="1"/>
            <a:r>
              <a:rPr lang="en-US" sz="2400" dirty="0"/>
              <a:t>Modular arithmetic</a:t>
            </a:r>
          </a:p>
          <a:p>
            <a:pPr lvl="1"/>
            <a:r>
              <a:rPr lang="en-US" sz="2400" dirty="0"/>
              <a:t>Cryptographic key generation</a:t>
            </a:r>
          </a:p>
          <a:p>
            <a:pPr lvl="1"/>
            <a:r>
              <a:rPr lang="en-US" sz="2400" dirty="0"/>
              <a:t>Simplifying fractions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391819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40594-939C-69FE-47FE-0984220C6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Finding the Greatest Common Divisor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0C83B1-9995-C6D3-8160-95B1E86AD7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3298" y="1431984"/>
                <a:ext cx="8643668" cy="522760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3200" b="1" dirty="0"/>
                  <a:t>Method 1: Prime Factorization</a:t>
                </a:r>
                <a:endParaRPr lang="en-US" sz="3200" dirty="0"/>
              </a:p>
              <a:p>
                <a:pPr lvl="1"/>
                <a:r>
                  <a:rPr lang="en-US" sz="2800" dirty="0"/>
                  <a:t>Express numbers as products of primes</a:t>
                </a:r>
              </a:p>
              <a:p>
                <a:pPr lvl="1"/>
                <a:r>
                  <a:rPr lang="en-US" sz="2800" dirty="0"/>
                  <a:t>Take common prime factors with the </a:t>
                </a:r>
                <a:r>
                  <a:rPr lang="en-US" sz="2800" b="1" dirty="0"/>
                  <a:t>smallest powers</a:t>
                </a:r>
                <a:endParaRPr lang="en-US" sz="2800" dirty="0"/>
              </a:p>
              <a:p>
                <a:r>
                  <a:rPr lang="en-US" sz="3200" b="1" dirty="0"/>
                  <a:t>Method 2: Euclidean Algorithm</a:t>
                </a:r>
                <a:endParaRPr lang="en-US" sz="3200" dirty="0"/>
              </a:p>
              <a:p>
                <a:pPr lvl="1"/>
                <a:r>
                  <a:rPr lang="en-US" sz="2800" dirty="0"/>
                  <a:t>Divide larger number by smaller</a:t>
                </a:r>
              </a:p>
              <a:p>
                <a:pPr lvl="1"/>
                <a:r>
                  <a:rPr lang="en-US" sz="2800" dirty="0"/>
                  <a:t>Replace numbers using remainder</a:t>
                </a:r>
              </a:p>
              <a:p>
                <a:pPr lvl="1"/>
                <a:r>
                  <a:rPr lang="en-US" sz="2800" dirty="0"/>
                  <a:t>Repeat until remainder is zero</a:t>
                </a:r>
              </a:p>
              <a:p>
                <a:r>
                  <a:rPr lang="en-US" sz="3200" b="1" dirty="0"/>
                  <a:t>Example:</a:t>
                </a:r>
              </a:p>
              <a:p>
                <a14:m>
                  <m:oMath xmlns:m="http://schemas.openxmlformats.org/officeDocument/2006/math">
                    <m:r>
                      <a:rPr lang="en-US" sz="3200">
                        <a:latin typeface="Cambria Math" panose="02040503050406030204" pitchFamily="18" charset="0"/>
                      </a:rPr>
                      <m:t>56</m:t>
                    </m:r>
                    <m:r>
                      <a:rPr lang="en-US" sz="3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>
                        <a:latin typeface="Cambria Math" panose="02040503050406030204" pitchFamily="18" charset="0"/>
                      </a:rPr>
                      <m:t>24</m:t>
                    </m:r>
                    <m:r>
                      <a:rPr lang="en-US" sz="32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32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32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US" sz="3200" dirty="0"/>
              </a:p>
              <a:p>
                <a14:m>
                  <m:oMath xmlns:m="http://schemas.openxmlformats.org/officeDocument/2006/math">
                    <m:r>
                      <a:rPr lang="en-US" sz="3200">
                        <a:latin typeface="Cambria Math" panose="02040503050406030204" pitchFamily="18" charset="0"/>
                      </a:rPr>
                      <m:t>24</m:t>
                    </m:r>
                    <m:r>
                      <a:rPr lang="en-US" sz="3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32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320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32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r>
                  <a:rPr lang="en-US" sz="3200" dirty="0"/>
                  <a:t> GCD(56, 24) = </a:t>
                </a:r>
                <a:r>
                  <a:rPr lang="en-US" sz="3200" b="1" dirty="0"/>
                  <a:t>8</a:t>
                </a:r>
                <a:endParaRPr lang="en-US" sz="3200" dirty="0"/>
              </a:p>
              <a:p>
                <a:endParaRPr lang="en-IN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0C83B1-9995-C6D3-8160-95B1E86AD7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3298" y="1431984"/>
                <a:ext cx="8643668" cy="5227607"/>
              </a:xfrm>
              <a:blipFill>
                <a:blip r:embed="rId2"/>
                <a:stretch>
                  <a:fillRect l="-1622" t="-3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5278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7AB85-D858-E0B8-350B-D01091C01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478971"/>
            <a:ext cx="8297636" cy="5697992"/>
          </a:xfrm>
        </p:spPr>
        <p:txBody>
          <a:bodyPr>
            <a:normAutofit/>
          </a:bodyPr>
          <a:lstStyle/>
          <a:p>
            <a:r>
              <a:rPr lang="en-US" sz="2400" dirty="0"/>
              <a:t>formally, the positive integer </a:t>
            </a:r>
            <a:r>
              <a:rPr lang="en-US" sz="2400" i="1" dirty="0"/>
              <a:t>c </a:t>
            </a:r>
            <a:r>
              <a:rPr lang="en-US" sz="2400" dirty="0"/>
              <a:t>is said to be the greatest common divisor of </a:t>
            </a:r>
            <a:r>
              <a:rPr lang="en-US" sz="2400" i="1" dirty="0"/>
              <a:t>a </a:t>
            </a:r>
            <a:r>
              <a:rPr lang="en-US" sz="2400" dirty="0"/>
              <a:t>and </a:t>
            </a:r>
            <a:r>
              <a:rPr lang="en-US" sz="2400" i="1" dirty="0"/>
              <a:t>b </a:t>
            </a:r>
            <a:r>
              <a:rPr lang="en-US" sz="2400" dirty="0"/>
              <a:t>if</a:t>
            </a:r>
          </a:p>
          <a:p>
            <a:r>
              <a:rPr lang="en-US" sz="2400" b="1" dirty="0"/>
              <a:t>1. </a:t>
            </a:r>
            <a:r>
              <a:rPr lang="en-US" sz="2400" i="1" dirty="0"/>
              <a:t>c </a:t>
            </a:r>
            <a:r>
              <a:rPr lang="en-US" sz="2400" dirty="0"/>
              <a:t>is a divisor of </a:t>
            </a:r>
            <a:r>
              <a:rPr lang="en-US" sz="2400" i="1" dirty="0"/>
              <a:t>a </a:t>
            </a:r>
            <a:r>
              <a:rPr lang="en-US" sz="2400" dirty="0"/>
              <a:t>and of </a:t>
            </a:r>
            <a:r>
              <a:rPr lang="en-US" sz="2400" i="1" dirty="0"/>
              <a:t>b</a:t>
            </a:r>
            <a:r>
              <a:rPr lang="en-US" sz="2400" dirty="0"/>
              <a:t>.</a:t>
            </a:r>
          </a:p>
          <a:p>
            <a:r>
              <a:rPr lang="en-US" sz="2400" b="1" dirty="0"/>
              <a:t>2. </a:t>
            </a:r>
            <a:r>
              <a:rPr lang="en-US" sz="2400" dirty="0"/>
              <a:t>any divisor of </a:t>
            </a:r>
            <a:r>
              <a:rPr lang="en-US" sz="2400" i="1" dirty="0"/>
              <a:t>a </a:t>
            </a:r>
            <a:r>
              <a:rPr lang="en-US" sz="2400" dirty="0"/>
              <a:t>and </a:t>
            </a:r>
            <a:r>
              <a:rPr lang="en-US" sz="2400" i="1" dirty="0"/>
              <a:t>b </a:t>
            </a:r>
            <a:r>
              <a:rPr lang="en-US" sz="2400" dirty="0"/>
              <a:t>is a divisor of </a:t>
            </a:r>
            <a:r>
              <a:rPr lang="en-US" sz="2400" i="1" dirty="0"/>
              <a:t>c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An equivalent definition is the following:</a:t>
            </a:r>
          </a:p>
          <a:p>
            <a:pPr marL="0" indent="0">
              <a:buNone/>
            </a:pPr>
            <a:r>
              <a:rPr lang="en-US" sz="2400" dirty="0" err="1"/>
              <a:t>gcd</a:t>
            </a:r>
            <a:r>
              <a:rPr lang="en-US" sz="2400" dirty="0"/>
              <a:t>(</a:t>
            </a:r>
            <a:r>
              <a:rPr lang="en-US" sz="2400" i="1" dirty="0"/>
              <a:t>a</a:t>
            </a:r>
            <a:r>
              <a:rPr lang="en-US" sz="2400" dirty="0"/>
              <a:t>, </a:t>
            </a:r>
            <a:r>
              <a:rPr lang="en-US" sz="2400" i="1" dirty="0"/>
              <a:t>b</a:t>
            </a:r>
            <a:r>
              <a:rPr lang="en-US" sz="2400" dirty="0"/>
              <a:t>) = max[</a:t>
            </a:r>
            <a:r>
              <a:rPr lang="en-US" sz="2400" i="1" dirty="0"/>
              <a:t>k</a:t>
            </a:r>
            <a:r>
              <a:rPr lang="en-US" sz="2400" dirty="0"/>
              <a:t>, such that </a:t>
            </a:r>
            <a:r>
              <a:rPr lang="en-US" sz="2400" i="1" dirty="0" err="1"/>
              <a:t>k|a</a:t>
            </a:r>
            <a:r>
              <a:rPr lang="en-US" sz="2400" i="1" dirty="0"/>
              <a:t> </a:t>
            </a:r>
            <a:r>
              <a:rPr lang="en-US" sz="2400" dirty="0"/>
              <a:t>and </a:t>
            </a:r>
            <a:r>
              <a:rPr lang="en-US" sz="2400" i="1" dirty="0" err="1"/>
              <a:t>k|b</a:t>
            </a:r>
            <a:r>
              <a:rPr lang="en-US" sz="2400" dirty="0"/>
              <a:t>]</a:t>
            </a:r>
          </a:p>
          <a:p>
            <a:r>
              <a:rPr lang="en-US" sz="2400" dirty="0"/>
              <a:t>Because we require that the greatest common divisor be positive,</a:t>
            </a:r>
          </a:p>
          <a:p>
            <a:pPr marL="0" indent="0">
              <a:buNone/>
            </a:pPr>
            <a:r>
              <a:rPr lang="en-IN" sz="2400" dirty="0" err="1"/>
              <a:t>gcd</a:t>
            </a:r>
            <a:r>
              <a:rPr lang="en-IN" sz="2400" dirty="0"/>
              <a:t>(</a:t>
            </a:r>
            <a:r>
              <a:rPr lang="en-IN" sz="2400" i="1" dirty="0"/>
              <a:t>a</a:t>
            </a:r>
            <a:r>
              <a:rPr lang="en-IN" sz="2400" dirty="0"/>
              <a:t>, </a:t>
            </a:r>
            <a:r>
              <a:rPr lang="en-IN" sz="2400" i="1" dirty="0"/>
              <a:t>b</a:t>
            </a:r>
            <a:r>
              <a:rPr lang="en-IN" sz="2400" dirty="0"/>
              <a:t>) = </a:t>
            </a:r>
            <a:r>
              <a:rPr lang="en-IN" sz="2400" dirty="0" err="1"/>
              <a:t>gcd</a:t>
            </a:r>
            <a:r>
              <a:rPr lang="en-IN" sz="2400" dirty="0"/>
              <a:t>(</a:t>
            </a:r>
            <a:r>
              <a:rPr lang="en-IN" sz="2400" i="1" dirty="0"/>
              <a:t>a</a:t>
            </a:r>
            <a:r>
              <a:rPr lang="en-IN" sz="2400" dirty="0"/>
              <a:t>, -</a:t>
            </a:r>
            <a:r>
              <a:rPr lang="en-IN" sz="2400" i="1" dirty="0"/>
              <a:t>b</a:t>
            </a:r>
            <a:r>
              <a:rPr lang="en-IN" sz="2400" dirty="0"/>
              <a:t>) = </a:t>
            </a:r>
            <a:r>
              <a:rPr lang="en-IN" sz="2400" dirty="0" err="1"/>
              <a:t>gcd</a:t>
            </a:r>
            <a:r>
              <a:rPr lang="en-IN" sz="2400" dirty="0"/>
              <a:t>(-</a:t>
            </a:r>
            <a:r>
              <a:rPr lang="en-IN" sz="2400" i="1" dirty="0"/>
              <a:t>a</a:t>
            </a:r>
            <a:r>
              <a:rPr lang="en-IN" sz="2400" dirty="0"/>
              <a:t>, </a:t>
            </a:r>
            <a:r>
              <a:rPr lang="en-IN" sz="2400" i="1" dirty="0"/>
              <a:t>b</a:t>
            </a:r>
            <a:r>
              <a:rPr lang="en-IN" sz="2400" dirty="0"/>
              <a:t>) = </a:t>
            </a:r>
            <a:r>
              <a:rPr lang="en-IN" sz="2400" dirty="0" err="1"/>
              <a:t>gcd</a:t>
            </a:r>
            <a:r>
              <a:rPr lang="en-IN" sz="2400" dirty="0"/>
              <a:t>(-</a:t>
            </a:r>
            <a:r>
              <a:rPr lang="en-IN" sz="2400" i="1" dirty="0"/>
              <a:t>a</a:t>
            </a:r>
            <a:r>
              <a:rPr lang="en-IN" sz="2400" dirty="0"/>
              <a:t>, -</a:t>
            </a:r>
            <a:r>
              <a:rPr lang="en-IN" sz="2400" i="1" dirty="0"/>
              <a:t>b</a:t>
            </a:r>
            <a:r>
              <a:rPr lang="en-IN" sz="2400" dirty="0"/>
              <a:t>). In general, </a:t>
            </a:r>
            <a:r>
              <a:rPr lang="en-IN" sz="2400" dirty="0" err="1"/>
              <a:t>gcd</a:t>
            </a:r>
            <a:r>
              <a:rPr lang="en-IN" sz="2400" dirty="0"/>
              <a:t>(|</a:t>
            </a:r>
            <a:r>
              <a:rPr lang="en-IN" sz="2400" i="1" dirty="0"/>
              <a:t>a</a:t>
            </a:r>
            <a:r>
              <a:rPr lang="en-IN" sz="2400" dirty="0"/>
              <a:t>|, |</a:t>
            </a:r>
            <a:r>
              <a:rPr lang="en-IN" sz="2400" i="1" dirty="0"/>
              <a:t>b</a:t>
            </a:r>
            <a:r>
              <a:rPr lang="en-IN" sz="2400" dirty="0"/>
              <a:t>|) = </a:t>
            </a:r>
            <a:r>
              <a:rPr lang="en-IN" sz="2400" dirty="0" err="1"/>
              <a:t>gcd</a:t>
            </a:r>
            <a:r>
              <a:rPr lang="en-IN" sz="2400" dirty="0"/>
              <a:t>(  </a:t>
            </a:r>
            <a:r>
              <a:rPr lang="en-IN" sz="2400" i="1" dirty="0"/>
              <a:t>a</a:t>
            </a:r>
            <a:r>
              <a:rPr lang="en-IN" sz="2400" dirty="0"/>
              <a:t> ,  </a:t>
            </a:r>
            <a:r>
              <a:rPr lang="en-IN" sz="2400" i="1" dirty="0"/>
              <a:t>b</a:t>
            </a:r>
            <a:r>
              <a:rPr lang="en-IN" sz="2400" dirty="0"/>
              <a:t> ).</a:t>
            </a:r>
          </a:p>
          <a:p>
            <a:pPr marL="0" indent="0">
              <a:buNone/>
            </a:pPr>
            <a:r>
              <a:rPr lang="en-IN" sz="2400" dirty="0" err="1"/>
              <a:t>gcd</a:t>
            </a:r>
            <a:r>
              <a:rPr lang="en-IN" sz="2400" dirty="0"/>
              <a:t>(60, 24) = </a:t>
            </a:r>
            <a:r>
              <a:rPr lang="en-IN" sz="2400" dirty="0" err="1"/>
              <a:t>gc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d(60, -24) = 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7588EB-53E0-F6AC-056B-6B6C53A41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5526801"/>
            <a:ext cx="7360794" cy="75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537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B03B5-C290-4798-3C10-F1433A254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idea behind Euclidean Algorithm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A774EE-2A74-F670-D26D-B57712294D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4000" dirty="0"/>
                  <a:t>The GCD of two numbers does </a:t>
                </a:r>
                <a:r>
                  <a:rPr lang="en-IN" sz="4000" b="1" dirty="0"/>
                  <a:t>not change</a:t>
                </a:r>
                <a:r>
                  <a:rPr lang="en-IN" sz="4000" dirty="0"/>
                  <a:t> if we replace the larger number by the </a:t>
                </a:r>
                <a:r>
                  <a:rPr lang="en-IN" sz="4000" b="1" dirty="0"/>
                  <a:t>remainder</a:t>
                </a:r>
                <a:r>
                  <a:rPr lang="en-IN" sz="4000" dirty="0"/>
                  <a:t> when it is divided by the smaller number.</a:t>
                </a:r>
              </a:p>
              <a:p>
                <a:pPr marL="0" indent="0">
                  <a:buNone/>
                </a:pPr>
                <a:r>
                  <a:rPr lang="en-IN" sz="4000" dirty="0"/>
                  <a:t>Mathematically: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400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IN" sz="40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sepChr m:val=","/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4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ar-AE" sz="400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ar-AE" sz="40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400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IN" sz="40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sepChr m:val=","/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4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e>
                        <m:r>
                          <a:rPr lang="ar-AE" sz="40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ar-AE" sz="4000" i="1"/>
                          <m:t> </m:t>
                        </m:r>
                        <m:r>
                          <m:rPr>
                            <m:sty m:val="p"/>
                          </m:rPr>
                          <a:rPr lang="en-IN" sz="4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m:rPr>
                            <m:nor/>
                          </m:rPr>
                          <a:rPr lang="en-IN" sz="4000" i="1"/>
                          <m:t> </m:t>
                        </m:r>
                        <m:r>
                          <a:rPr lang="en-IN" sz="4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ar-AE" sz="4000" b="0" dirty="0"/>
              </a:p>
              <a:p>
                <a:endParaRPr lang="en-IN" sz="4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A774EE-2A74-F670-D26D-B57712294D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05" t="-3922" r="-10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0899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A64069-56ED-B8EC-B194-573B1E3E1B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1670" y="1072450"/>
            <a:ext cx="6096424" cy="483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393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084212-DA9B-18A2-16A2-9794A0C26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730" y="643466"/>
            <a:ext cx="332253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720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AFBA3-FCD5-7546-819E-B355353C7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Euclidean Algorithm – Example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6F5E40-FF11-CF8C-16BD-DA1BC304C1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sz="2800" b="1" dirty="0"/>
                  <a:t>Find the GCD of 198 and 168</a:t>
                </a:r>
              </a:p>
              <a:p>
                <a:r>
                  <a:rPr lang="en-US" sz="2800" b="1" dirty="0"/>
                  <a:t>Step 1: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198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168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lang="en-US" sz="2800" dirty="0"/>
              </a:p>
              <a:p>
                <a:r>
                  <a:rPr lang="en-US" sz="2800" b="1" dirty="0"/>
                  <a:t>Step 2: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168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lang="en-US" sz="2800" dirty="0"/>
              </a:p>
              <a:p>
                <a:r>
                  <a:rPr lang="en-US" sz="2800" b="1" dirty="0"/>
                  <a:t>Step 3: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18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lang="en-US" sz="2800" dirty="0"/>
              </a:p>
              <a:p>
                <a:r>
                  <a:rPr lang="en-US" sz="2800" b="1" dirty="0"/>
                  <a:t>Step 4: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18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US" sz="2800" dirty="0"/>
              </a:p>
              <a:p>
                <a:r>
                  <a:rPr lang="en-US" sz="2800" b="1" dirty="0"/>
                  <a:t>Step 5: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800" dirty="0"/>
              </a:p>
              <a:p>
                <a:r>
                  <a:rPr lang="en-US" sz="2800" b="1" dirty="0"/>
                  <a:t>Result: </a:t>
                </a:r>
                <a:r>
                  <a:rPr lang="en-US" sz="2800" dirty="0"/>
                  <a:t>Last non-zero remainder = </a:t>
                </a:r>
                <a:r>
                  <a:rPr lang="en-US" sz="2800" b="1" dirty="0"/>
                  <a:t>6</a:t>
                </a:r>
                <a:endParaRPr lang="en-US" sz="2800" dirty="0"/>
              </a:p>
              <a:p>
                <a:endParaRPr lang="en-US" sz="2800" dirty="0"/>
              </a:p>
              <a:p>
                <a:pPr marL="0" indent="0">
                  <a:buNone/>
                </a:pPr>
                <a:r>
                  <a:rPr lang="en-US" sz="2800" b="1" dirty="0" err="1"/>
                  <a:t>gcd</a:t>
                </a:r>
                <a:r>
                  <a:rPr lang="en-US" sz="2800" b="1" dirty="0"/>
                  <a:t>(198, 168) = 6</a:t>
                </a:r>
              </a:p>
              <a:p>
                <a:pPr marL="0" indent="0">
                  <a:buNone/>
                </a:pPr>
                <a:r>
                  <a:rPr lang="en-US" sz="2800" dirty="0"/>
                  <a:t>The Euclidean Algorithm stops when the remainder becomes zero.</a:t>
                </a:r>
                <a:endParaRPr lang="en-US" sz="2800" b="1" dirty="0"/>
              </a:p>
              <a:p>
                <a:endParaRPr lang="en-IN" sz="28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6F5E40-FF11-CF8C-16BD-DA1BC304C1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35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5095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4BDBB4-0B12-FF26-B528-235D62C19C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89560"/>
                <a:ext cx="7886700" cy="588740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sz="2800" b="1" dirty="0"/>
                  <a:t>Step-by-step Explanation</a:t>
                </a:r>
              </a:p>
              <a:p>
                <a:r>
                  <a:rPr lang="en-IN" sz="2800" dirty="0"/>
                  <a:t>Divide the </a:t>
                </a:r>
                <a:r>
                  <a:rPr lang="en-IN" sz="2800" b="1" dirty="0"/>
                  <a:t>larger number</a:t>
                </a:r>
                <a:r>
                  <a:rPr lang="en-IN" sz="2800" dirty="0"/>
                  <a:t> by the </a:t>
                </a:r>
                <a:r>
                  <a:rPr lang="en-IN" sz="2800" b="1" dirty="0"/>
                  <a:t>smaller number</a:t>
                </a:r>
                <a:r>
                  <a:rPr lang="en-IN" sz="2800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IN" sz="2800">
                        <a:latin typeface="Cambria Math" panose="02040503050406030204" pitchFamily="18" charset="0"/>
                      </a:rPr>
                      <m:t>198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168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lang="en-IN" sz="2800" dirty="0"/>
              </a:p>
              <a:p>
                <a:r>
                  <a:rPr lang="en-IN" sz="2800" dirty="0"/>
                  <a:t>Quotient = 1</a:t>
                </a:r>
              </a:p>
              <a:p>
                <a:r>
                  <a:rPr lang="en-IN" sz="2800" dirty="0"/>
                  <a:t>Remainder = </a:t>
                </a:r>
                <a:r>
                  <a:rPr lang="en-IN" sz="2800" b="1" dirty="0"/>
                  <a:t>30</a:t>
                </a:r>
                <a:endParaRPr lang="en-IN" sz="2800" dirty="0"/>
              </a:p>
              <a:p>
                <a:r>
                  <a:rPr lang="en-IN" sz="2800" dirty="0"/>
                  <a:t>Now forget 198. We work with </a:t>
                </a:r>
                <a:r>
                  <a:rPr lang="en-IN" sz="2800" b="1" dirty="0"/>
                  <a:t>168 and 30</a:t>
                </a:r>
                <a:r>
                  <a:rPr lang="en-IN" sz="2800" dirty="0"/>
                  <a:t>.</a:t>
                </a:r>
              </a:p>
              <a:p>
                <a:endParaRPr lang="en-IN" sz="2800" b="1" dirty="0"/>
              </a:p>
              <a:p>
                <a:r>
                  <a:rPr lang="en-IN" sz="2800" dirty="0"/>
                  <a:t>Divide 168 by 30:</a:t>
                </a:r>
              </a:p>
              <a:p>
                <a14:m>
                  <m:oMath xmlns:m="http://schemas.openxmlformats.org/officeDocument/2006/math">
                    <m:r>
                      <a:rPr lang="en-IN" sz="2800">
                        <a:latin typeface="Cambria Math" panose="02040503050406030204" pitchFamily="18" charset="0"/>
                      </a:rPr>
                      <m:t>168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lang="en-IN" sz="2800" dirty="0"/>
              </a:p>
              <a:p>
                <a:r>
                  <a:rPr lang="en-IN" sz="2800" dirty="0"/>
                  <a:t>Quotient = 5</a:t>
                </a:r>
              </a:p>
              <a:p>
                <a:r>
                  <a:rPr lang="en-IN" sz="2800" dirty="0"/>
                  <a:t>Remainder = </a:t>
                </a:r>
                <a:r>
                  <a:rPr lang="en-IN" sz="2800" b="1" dirty="0"/>
                  <a:t>18</a:t>
                </a:r>
                <a:endParaRPr lang="en-IN" sz="2800" dirty="0"/>
              </a:p>
              <a:p>
                <a:r>
                  <a:rPr lang="en-IN" sz="2800" dirty="0"/>
                  <a:t>Now work with </a:t>
                </a:r>
                <a:r>
                  <a:rPr lang="en-IN" sz="2800" b="1" dirty="0"/>
                  <a:t>30 and 18</a:t>
                </a:r>
                <a:r>
                  <a:rPr lang="en-IN" sz="2800" dirty="0"/>
                  <a:t>.</a:t>
                </a:r>
              </a:p>
              <a:p>
                <a:pPr marL="0" indent="0">
                  <a:buNone/>
                </a:pPr>
                <a:br>
                  <a:rPr lang="en-IN" sz="2800" dirty="0"/>
                </a:br>
                <a:endParaRPr lang="en-IN" sz="2800" dirty="0"/>
              </a:p>
              <a:p>
                <a:endParaRPr lang="en-IN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4BDBB4-0B12-FF26-B528-235D62C19C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89560"/>
                <a:ext cx="7886700" cy="5887403"/>
              </a:xfrm>
              <a:blipFill>
                <a:blip r:embed="rId2"/>
                <a:stretch>
                  <a:fillRect l="-1159" t="-2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3790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A0AEC0-6497-E5C9-9BA7-CA7855D3B8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335280"/>
                <a:ext cx="7886700" cy="614172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IN" sz="2400" dirty="0"/>
                  <a:t>Divide 30 by 18:</a:t>
                </a:r>
              </a:p>
              <a:p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lang="en-IN" sz="2400" dirty="0"/>
              </a:p>
              <a:p>
                <a:r>
                  <a:rPr lang="en-IN" sz="2400" dirty="0"/>
                  <a:t>Remainder = </a:t>
                </a:r>
                <a:r>
                  <a:rPr lang="en-IN" sz="2400" b="1" dirty="0"/>
                  <a:t>12</a:t>
                </a:r>
                <a:endParaRPr lang="en-IN" sz="2400" dirty="0"/>
              </a:p>
              <a:p>
                <a:pPr marL="0" indent="0">
                  <a:buNone/>
                </a:pPr>
                <a:r>
                  <a:rPr lang="en-IN" sz="2400" dirty="0"/>
                  <a:t>Now work with </a:t>
                </a:r>
                <a:r>
                  <a:rPr lang="en-IN" sz="2400" b="1" dirty="0"/>
                  <a:t>18 and 12</a:t>
                </a:r>
                <a:r>
                  <a:rPr lang="en-IN" sz="2400" dirty="0"/>
                  <a:t>.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r>
                  <a:rPr lang="en-IN" sz="2400" dirty="0"/>
                  <a:t>Divide 18 by 12:</a:t>
                </a:r>
              </a:p>
              <a:p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IN" sz="2400" dirty="0"/>
              </a:p>
              <a:p>
                <a:r>
                  <a:rPr lang="en-IN" sz="2400" dirty="0"/>
                  <a:t>Remainder = </a:t>
                </a:r>
                <a:r>
                  <a:rPr lang="en-IN" sz="2400" b="1" dirty="0"/>
                  <a:t>6</a:t>
                </a:r>
                <a:endParaRPr lang="en-IN" sz="2400" dirty="0"/>
              </a:p>
              <a:p>
                <a:pPr marL="0" indent="0">
                  <a:buNone/>
                </a:pPr>
                <a:r>
                  <a:rPr lang="en-IN" sz="2400" dirty="0"/>
                  <a:t>Now work with </a:t>
                </a:r>
                <a:r>
                  <a:rPr lang="en-IN" sz="2400" b="1" dirty="0"/>
                  <a:t>12 and 6</a:t>
                </a:r>
                <a:r>
                  <a:rPr lang="en-IN" sz="2400" dirty="0"/>
                  <a:t>.</a:t>
                </a:r>
              </a:p>
              <a:p>
                <a:endParaRPr lang="en-IN" sz="2400" dirty="0"/>
              </a:p>
              <a:p>
                <a:r>
                  <a:rPr lang="en-IN" sz="2400" dirty="0"/>
                  <a:t>Divide 12 by 6:</a:t>
                </a:r>
              </a:p>
              <a:p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IN" sz="2400" dirty="0"/>
              </a:p>
              <a:p>
                <a:pPr marL="0" indent="0">
                  <a:buNone/>
                </a:pPr>
                <a:r>
                  <a:rPr lang="en-IN" sz="2400" dirty="0"/>
                  <a:t>Remainder is </a:t>
                </a:r>
                <a:r>
                  <a:rPr lang="en-IN" sz="2400" b="1" dirty="0"/>
                  <a:t>0</a:t>
                </a:r>
                <a:r>
                  <a:rPr lang="en-IN" sz="2400" dirty="0"/>
                  <a:t>, so we </a:t>
                </a:r>
                <a:r>
                  <a:rPr lang="en-IN" sz="2400" b="1" dirty="0"/>
                  <a:t>STOP</a:t>
                </a:r>
                <a:r>
                  <a:rPr lang="en-IN" sz="2400" dirty="0"/>
                  <a:t>.</a:t>
                </a:r>
              </a:p>
              <a:p>
                <a:r>
                  <a:rPr lang="en-IN" sz="2400" b="1" dirty="0"/>
                  <a:t>Final Answer - </a:t>
                </a:r>
                <a:r>
                  <a:rPr lang="en-IN" sz="2400" dirty="0"/>
                  <a:t>The </a:t>
                </a:r>
                <a:r>
                  <a:rPr lang="en-IN" sz="2400" b="1" dirty="0"/>
                  <a:t>last non-zero remainder</a:t>
                </a:r>
                <a:r>
                  <a:rPr lang="en-IN" sz="2400" dirty="0"/>
                  <a:t>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gcd</m:t>
                          </m:r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sepChr m:val=","/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198</m:t>
                              </m:r>
                            </m:e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168</m:t>
                              </m:r>
                            </m:e>
                          </m:d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borderBox>
                    </m:oMath>
                  </m:oMathPara>
                </a14:m>
                <a:endParaRPr lang="ar-AE" sz="2400" dirty="0"/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A0AEC0-6497-E5C9-9BA7-CA7855D3B8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35280"/>
                <a:ext cx="7886700" cy="6141720"/>
              </a:xfrm>
              <a:blipFill>
                <a:blip r:embed="rId2"/>
                <a:stretch>
                  <a:fillRect l="-1159" t="-18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6537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90DDA7-F7A7-AAE7-1C16-DBAD3942A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472306"/>
            <a:ext cx="8178799" cy="391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948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AFBF-5021-FD7C-D5DF-726948DB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 to Modular Arithmetic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C7D578-63E8-8CB9-CF61-61228A696E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0914" y="1407886"/>
                <a:ext cx="8331200" cy="5084987"/>
              </a:xfrm>
            </p:spPr>
            <p:txBody>
              <a:bodyPr>
                <a:normAutofit/>
              </a:bodyPr>
              <a:lstStyle/>
              <a:p>
                <a:r>
                  <a:rPr lang="en-IN" sz="2400" dirty="0"/>
                  <a:t>Modular arithmetic deals with </a:t>
                </a:r>
                <a:r>
                  <a:rPr lang="en-IN" sz="2400" b="1" dirty="0"/>
                  <a:t>remainders obtained after division</a:t>
                </a:r>
                <a:r>
                  <a:rPr lang="en-IN" sz="2400" dirty="0"/>
                  <a:t>.</a:t>
                </a:r>
              </a:p>
              <a:p>
                <a:r>
                  <a:rPr lang="en-IN" sz="2400" dirty="0"/>
                  <a:t>It is often called </a:t>
                </a:r>
                <a:r>
                  <a:rPr lang="en-IN" sz="2400" b="1" dirty="0"/>
                  <a:t>“clock arithmetic”</a:t>
                </a:r>
                <a:r>
                  <a:rPr lang="en-IN" sz="2400" dirty="0"/>
                  <a:t>.</a:t>
                </a:r>
              </a:p>
              <a:p>
                <a:r>
                  <a:rPr lang="en-IN" sz="2400" dirty="0"/>
                  <a:t>Focuses on calculations </a:t>
                </a:r>
                <a:r>
                  <a:rPr lang="en-IN" sz="2400" b="1" dirty="0"/>
                  <a:t>modulo a given number</a:t>
                </a:r>
                <a:r>
                  <a:rPr lang="en-IN" sz="2400" dirty="0"/>
                  <a:t>.</a:t>
                </a:r>
              </a:p>
              <a:p>
                <a:r>
                  <a:rPr lang="en-IN" sz="2400" dirty="0"/>
                  <a:t>Two numbers are </a:t>
                </a:r>
                <a:r>
                  <a:rPr lang="en-IN" sz="2400" b="1" dirty="0"/>
                  <a:t>congruent modulo n</a:t>
                </a:r>
                <a:r>
                  <a:rPr lang="en-IN" sz="2400" dirty="0"/>
                  <a:t> if they differ by a multiple of </a:t>
                </a:r>
                <a:r>
                  <a:rPr lang="en-IN" sz="2400" i="1" dirty="0"/>
                  <a:t>n</a:t>
                </a:r>
                <a:r>
                  <a:rPr lang="en-IN" sz="2400" dirty="0"/>
                  <a:t>.</a:t>
                </a:r>
              </a:p>
              <a:p>
                <a:r>
                  <a:rPr lang="en-IN" sz="2400" dirty="0"/>
                  <a:t>Written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m:rPr>
                          <m:nor/>
                        </m:rPr>
                        <a:rPr lang="en-IN" sz="2400" i="1"/>
                        <m:t>  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2400" i="1"/>
                            <m:t>mod</m:t>
                          </m:r>
                          <m:r>
                            <m:rPr>
                              <m:nor/>
                            </m:rPr>
                            <a:rPr lang="en-IN" sz="2400" i="1"/>
                            <m:t> 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ar-AE" sz="2400" b="0" dirty="0"/>
              </a:p>
              <a:p>
                <a:r>
                  <a:rPr lang="en-IN" sz="2400" dirty="0"/>
                  <a:t>Simplifies computations with </a:t>
                </a:r>
                <a:r>
                  <a:rPr lang="en-IN" sz="2400" b="1" dirty="0"/>
                  <a:t>large integers</a:t>
                </a:r>
                <a:r>
                  <a:rPr lang="en-IN" sz="2400" dirty="0"/>
                  <a:t>.</a:t>
                </a:r>
              </a:p>
              <a:p>
                <a:r>
                  <a:rPr lang="en-IN" sz="2400" dirty="0"/>
                  <a:t>Forms the </a:t>
                </a:r>
                <a:r>
                  <a:rPr lang="en-IN" sz="2400" b="1" dirty="0"/>
                  <a:t>core mathematical tool in cryptography</a:t>
                </a:r>
                <a:r>
                  <a:rPr lang="en-IN" sz="2400" dirty="0"/>
                  <a:t>.</a:t>
                </a:r>
              </a:p>
              <a:p>
                <a:r>
                  <a:rPr lang="en-IN" sz="2400" dirty="0"/>
                  <a:t>Used in </a:t>
                </a:r>
                <a:r>
                  <a:rPr lang="en-IN" sz="2400" b="1" dirty="0"/>
                  <a:t>encryption, hashing, and digital signatures</a:t>
                </a:r>
                <a:r>
                  <a:rPr lang="en-IN" sz="2400" dirty="0"/>
                  <a:t>.</a:t>
                </a:r>
              </a:p>
              <a:p>
                <a:r>
                  <a:rPr lang="en-IN" sz="2400" dirty="0"/>
                  <a:t>Enables efficient arithmetic operations in </a:t>
                </a:r>
                <a:r>
                  <a:rPr lang="en-IN" sz="2400" b="1" dirty="0"/>
                  <a:t>computer algorithms</a:t>
                </a:r>
                <a:r>
                  <a:rPr lang="en-IN" sz="2400" dirty="0"/>
                  <a:t>.</a:t>
                </a:r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C7D578-63E8-8CB9-CF61-61228A696E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0914" y="1407886"/>
                <a:ext cx="8331200" cy="5084987"/>
              </a:xfrm>
              <a:blipFill>
                <a:blip r:embed="rId2"/>
                <a:stretch>
                  <a:fillRect l="-951" t="-16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816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98F23-61B1-CD7A-9340-849D70AEE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4627"/>
            <a:ext cx="7886700" cy="688974"/>
          </a:xfrm>
        </p:spPr>
        <p:txBody>
          <a:bodyPr/>
          <a:lstStyle/>
          <a:p>
            <a:r>
              <a:rPr lang="en-US" dirty="0"/>
              <a:t>Modular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4440E-9EC3-8534-1615-285B76C5B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771" y="863601"/>
            <a:ext cx="8613395" cy="5819772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b="1" dirty="0"/>
              <a:t>Modular Arithmetic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Let </a:t>
            </a:r>
            <a:r>
              <a:rPr lang="en-US" sz="3200" dirty="0" err="1"/>
              <a:t>a,b,n</a:t>
            </a:r>
            <a:r>
              <a:rPr lang="en-US" sz="3200" dirty="0"/>
              <a:t> be integer with n≠0,</a:t>
            </a:r>
          </a:p>
          <a:p>
            <a:pPr lvl="1">
              <a:lnSpc>
                <a:spcPct val="150000"/>
              </a:lnSpc>
            </a:pPr>
            <a:r>
              <a:rPr lang="en-US" sz="3200" dirty="0"/>
              <a:t>a ≡ b (mod n) –&gt; a is congruent to b mod n, if (a-b) is a multiple of n.</a:t>
            </a:r>
          </a:p>
          <a:p>
            <a:pPr lvl="1">
              <a:lnSpc>
                <a:spcPct val="150000"/>
              </a:lnSpc>
            </a:pPr>
            <a:r>
              <a:rPr lang="en-US" sz="3200" dirty="0"/>
              <a:t>a ≡ b (mod n), if ‘a’ and ‘b’ differ by a multiple of n.</a:t>
            </a:r>
          </a:p>
          <a:p>
            <a:pPr lvl="2">
              <a:lnSpc>
                <a:spcPct val="150000"/>
              </a:lnSpc>
            </a:pPr>
            <a:r>
              <a:rPr lang="en-US" sz="2800" dirty="0"/>
              <a:t>i.e., a = b + </a:t>
            </a:r>
            <a:r>
              <a:rPr lang="en-US" sz="2800" dirty="0" err="1"/>
              <a:t>nk</a:t>
            </a:r>
            <a:r>
              <a:rPr lang="en-US" sz="2800" dirty="0"/>
              <a:t> (for some positive or negative integer k)</a:t>
            </a:r>
          </a:p>
          <a:p>
            <a:pPr lvl="2">
              <a:lnSpc>
                <a:spcPct val="150000"/>
              </a:lnSpc>
            </a:pPr>
            <a:r>
              <a:rPr lang="en-US" sz="2800" dirty="0"/>
              <a:t>(a-b) = </a:t>
            </a:r>
            <a:r>
              <a:rPr lang="en-US" sz="2800" dirty="0" err="1"/>
              <a:t>nk</a:t>
            </a:r>
            <a:r>
              <a:rPr lang="en-US" sz="2800" dirty="0"/>
              <a:t>, so a = b + </a:t>
            </a:r>
            <a:r>
              <a:rPr lang="en-US" sz="2800" dirty="0" err="1"/>
              <a:t>nk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53235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EBE732-3446-60CD-E6BA-83E9AE2A0E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469557"/>
                <a:ext cx="7886700" cy="5707406"/>
              </a:xfrm>
            </p:spPr>
            <p:txBody>
              <a:bodyPr>
                <a:normAutofit/>
              </a:bodyPr>
              <a:lstStyle/>
              <a:p>
                <a:r>
                  <a:rPr lang="en-IN" sz="2400" b="1" dirty="0"/>
                  <a:t>Example 1</a:t>
                </a:r>
              </a:p>
              <a:p>
                <a:pPr marL="0" indent="0">
                  <a:buNone/>
                </a:pPr>
                <a:r>
                  <a:rPr lang="en-IN" sz="2400" dirty="0"/>
                  <a:t>Let</a:t>
                </a:r>
              </a:p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lang="en-IN" sz="2400" dirty="0"/>
              </a:p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IN" sz="2400" dirty="0"/>
              </a:p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lang="en-IN" sz="2400" dirty="0"/>
              </a:p>
              <a:p>
                <a:r>
                  <a:rPr lang="en-IN" sz="2400" b="1" dirty="0"/>
                  <a:t>Step 1: Find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IN" sz="24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>
                          <a:latin typeface="Cambria Math" panose="02040503050406030204" pitchFamily="18" charset="0"/>
                        </a:rPr>
                        <m:t>17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IN" sz="2400" dirty="0"/>
              </a:p>
              <a:p>
                <a:r>
                  <a:rPr lang="en-IN" sz="2400" b="1" dirty="0"/>
                  <a:t>Step 2: Check if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sz="2400" b="1" dirty="0"/>
                  <a:t>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IN" sz="24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400" dirty="0"/>
              </a:p>
              <a:p>
                <a:r>
                  <a:rPr lang="en-IN" sz="2400" b="1" dirty="0"/>
                  <a:t>Step 3: Write the congruence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>
                          <a:latin typeface="Cambria Math" panose="02040503050406030204" pitchFamily="18" charset="0"/>
                        </a:rPr>
                        <m:t>17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en-IN" sz="2400" i="1"/>
                        <m:t>  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2400" i="1"/>
                            <m:t>mod</m:t>
                          </m:r>
                          <m:r>
                            <m:rPr>
                              <m:nor/>
                            </m:rPr>
                            <a:rPr lang="en-IN" sz="2400" i="1"/>
                            <m:t> </m:t>
                          </m:r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</m:d>
                    </m:oMath>
                  </m:oMathPara>
                </a14:m>
                <a:endParaRPr lang="ar-AE" sz="2400" b="0" dirty="0"/>
              </a:p>
              <a:p>
                <a:r>
                  <a:rPr lang="en-IN" sz="2400" b="1" dirty="0"/>
                  <a:t>Step 4: Express in the form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𝑛𝑘</m:t>
                    </m:r>
                  </m:oMath>
                </a14:m>
                <a:endParaRPr lang="en-IN" sz="24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>
                          <a:latin typeface="Cambria Math" panose="02040503050406030204" pitchFamily="18" charset="0"/>
                        </a:rPr>
                        <m:t>17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12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pPr marL="0" indent="0">
                  <a:buNone/>
                </a:pPr>
                <a:r>
                  <a:rPr lang="ar-AE" sz="2400" dirty="0"/>
                  <a:t> </a:t>
                </a:r>
                <a:r>
                  <a:rPr lang="en-IN" sz="2400" dirty="0"/>
                  <a:t>Hence, </a:t>
                </a:r>
                <a:r>
                  <a:rPr lang="en-IN" sz="2400" b="1" dirty="0"/>
                  <a:t>17 is congruent to 5 modulo 12</a:t>
                </a:r>
                <a:endParaRPr lang="en-IN" sz="2400" dirty="0"/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EBE732-3446-60CD-E6BA-83E9AE2A0E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469557"/>
                <a:ext cx="7886700" cy="5707406"/>
              </a:xfrm>
              <a:blipFill>
                <a:blip r:embed="rId2"/>
                <a:stretch>
                  <a:fillRect l="-1236" t="-1496" b="-8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06186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D870F8-F5F1-6CA0-CE8A-EF61A4CA1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23" y="495262"/>
            <a:ext cx="8817154" cy="586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805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98F23-61B1-CD7A-9340-849D70AEE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4627"/>
            <a:ext cx="7886700" cy="688974"/>
          </a:xfrm>
        </p:spPr>
        <p:txBody>
          <a:bodyPr/>
          <a:lstStyle/>
          <a:p>
            <a:r>
              <a:rPr lang="en-US" dirty="0"/>
              <a:t>Modular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4440E-9EC3-8534-1615-285B76C5B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38228"/>
            <a:ext cx="8889167" cy="90668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b="1" u="sng" dirty="0"/>
              <a:t>Properties of congruences: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1CED5-3A1B-9F5B-EF3A-32CE4C463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505" y="2221141"/>
            <a:ext cx="8094845" cy="370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340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D8CF0-3039-6709-8712-ACF9378E1A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577396"/>
                <a:ext cx="78867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ar-AE" sz="2800" b="1" dirty="0"/>
                  <a:t>. </a:t>
                </a:r>
                <a14:m>
                  <m:oMath xmlns:m="http://schemas.openxmlformats.org/officeDocument/2006/math">
                    <m:r>
                      <a:rPr lang="ar-AE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≡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ar-AE" sz="2800" i="1"/>
                      <m:t>  </m:t>
                    </m:r>
                    <m:d>
                      <m:d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sz="2800" i="1"/>
                          <m:t>mod</m:t>
                        </m:r>
                        <m:r>
                          <m:rPr>
                            <m:nor/>
                          </m:rPr>
                          <a:rPr lang="en-IN" sz="2800" i="1"/>
                          <m:t> 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IN" sz="2800" b="1" dirty="0" err="1"/>
                  <a:t>iff</a:t>
                </a:r>
                <a:r>
                  <a:rPr lang="en-IN" sz="2800" b="1" dirty="0"/>
                  <a:t> </a:t>
                </a:r>
                <a14:m>
                  <m:oMath xmlns:m="http://schemas.openxmlformats.org/officeDocument/2006/math">
                    <m:r>
                      <a:rPr lang="en-IN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IN" sz="2800" b="1" dirty="0"/>
              </a:p>
              <a:p>
                <a:r>
                  <a:rPr lang="en-IN" sz="2800" b="1" dirty="0"/>
                  <a:t>Example:</a:t>
                </a:r>
              </a:p>
              <a:p>
                <a:pPr marL="0" indent="0">
                  <a:buNone/>
                </a:pPr>
                <a:r>
                  <a:rPr lang="en-IN" sz="2800" dirty="0"/>
                  <a:t>Let</a:t>
                </a:r>
              </a:p>
              <a:p>
                <a14:m>
                  <m:oMath xmlns:m="http://schemas.openxmlformats.org/officeDocument/2006/math">
                    <m:r>
                      <a:rPr lang="en-IN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lang="en-IN" sz="2800" dirty="0"/>
              </a:p>
              <a:p>
                <a14:m>
                  <m:oMath xmlns:m="http://schemas.openxmlformats.org/officeDocument/2006/math">
                    <m:r>
                      <a:rPr lang="en-IN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IN" sz="2800" dirty="0"/>
              </a:p>
              <a:p>
                <a14:m>
                  <m:oMath xmlns:m="http://schemas.openxmlformats.org/officeDocument/2006/math">
                    <m:r>
                      <a:rPr lang="en-IN" sz="2800"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IN" sz="2800" i="1"/>
                      <m:t>  </m:t>
                    </m:r>
                    <m:d>
                      <m:d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sz="2800" i="1"/>
                          <m:t>mod</m:t>
                        </m:r>
                        <m:r>
                          <m:rPr>
                            <m:nor/>
                          </m:rPr>
                          <a:rPr lang="en-IN" sz="2800" i="1"/>
                          <m:t> </m:t>
                        </m:r>
                        <m:r>
                          <a:rPr lang="en-IN" sz="280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endParaRPr lang="ar-AE" sz="2800" b="0" dirty="0"/>
              </a:p>
              <a:p>
                <a:pPr marL="0" indent="0">
                  <a:buNone/>
                </a:pPr>
                <a:r>
                  <a:rPr lang="en-IN" sz="2800" dirty="0"/>
                  <a:t>Because:</a:t>
                </a:r>
              </a:p>
              <a:p>
                <a14:m>
                  <m:oMath xmlns:m="http://schemas.openxmlformats.org/officeDocument/2006/math">
                    <m:r>
                      <a:rPr lang="en-IN" sz="2800"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lang="en-IN" sz="2800" dirty="0"/>
              </a:p>
              <a:p>
                <a:r>
                  <a:rPr lang="en-IN" sz="2800" dirty="0"/>
                  <a:t>✔ Hence, </a:t>
                </a:r>
                <a14:m>
                  <m:oMath xmlns:m="http://schemas.openxmlformats.org/officeDocument/2006/math">
                    <m:r>
                      <a:rPr lang="en-IN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IN" sz="2800" i="1"/>
                      <m:t>  </m:t>
                    </m:r>
                    <m:d>
                      <m:d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sz="2800" i="1"/>
                          <m:t>mod</m:t>
                        </m:r>
                        <m:r>
                          <m:rPr>
                            <m:nor/>
                          </m:rPr>
                          <a:rPr lang="en-IN" sz="2800" i="1"/>
                          <m:t> 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IN" sz="2800" dirty="0"/>
                  <a:t>if </a:t>
                </a:r>
                <a14:m>
                  <m:oMath xmlns:m="http://schemas.openxmlformats.org/officeDocument/2006/math">
                    <m:r>
                      <a:rPr lang="en-IN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/>
                  <a:t>divides </a:t>
                </a:r>
                <a14:m>
                  <m:oMath xmlns:m="http://schemas.openxmlformats.org/officeDocument/2006/math">
                    <m:r>
                      <a:rPr lang="en-IN" sz="2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IN" sz="2800" dirty="0"/>
              </a:p>
              <a:p>
                <a:endParaRPr lang="en-IN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D8CF0-3039-6709-8712-ACF9378E1A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577396"/>
                <a:ext cx="7886700" cy="4351338"/>
              </a:xfrm>
              <a:blipFill>
                <a:blip r:embed="rId2"/>
                <a:stretch>
                  <a:fillRect l="-1623" t="-2801" b="-42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17996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98F23-61B1-CD7A-9340-849D70AEE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4627"/>
            <a:ext cx="7886700" cy="688974"/>
          </a:xfrm>
        </p:spPr>
        <p:txBody>
          <a:bodyPr/>
          <a:lstStyle/>
          <a:p>
            <a:r>
              <a:rPr lang="en-US" dirty="0"/>
              <a:t>Modular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4440E-9EC3-8534-1615-285B76C5B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863601"/>
            <a:ext cx="8260517" cy="581977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u="sng" dirty="0"/>
              <a:t>Modular Arithmetic Operations: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[(a mod n) + (b mod n)] mod n = (a + b) mod n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[(a mod n) - (b mod n)] mod n = (a - b) mod n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[(a mod n) x (b mod n)] mod n = (a x b) mod 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Other Properties: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Let </a:t>
            </a:r>
            <a:r>
              <a:rPr lang="en-US" sz="2400" dirty="0" err="1"/>
              <a:t>a,b,c,d,n</a:t>
            </a:r>
            <a:r>
              <a:rPr lang="en-US" sz="2400" dirty="0"/>
              <a:t> be integers with n≠0 and suppose a ≡ b (mod n),    c ≡ d (mod n) then,</a:t>
            </a:r>
          </a:p>
          <a:p>
            <a:pPr lvl="1">
              <a:lnSpc>
                <a:spcPct val="150000"/>
              </a:lnSpc>
            </a:pPr>
            <a:r>
              <a:rPr lang="en-US" sz="2100" dirty="0"/>
              <a:t>a + c  </a:t>
            </a:r>
            <a:r>
              <a:rPr lang="en-US" sz="2000" dirty="0"/>
              <a:t>≡ b + d (mod n), </a:t>
            </a:r>
            <a:r>
              <a:rPr lang="pt-BR" sz="2000" dirty="0"/>
              <a:t>a - c  ≡ b - d (mod n), </a:t>
            </a:r>
            <a:r>
              <a:rPr lang="en-US" sz="2100" dirty="0"/>
              <a:t>ac  </a:t>
            </a:r>
            <a:r>
              <a:rPr lang="en-US" sz="2000" dirty="0"/>
              <a:t>≡ bd (mod n)</a:t>
            </a:r>
            <a:endParaRPr lang="en-US" sz="2100" dirty="0"/>
          </a:p>
          <a:p>
            <a:pPr lvl="1">
              <a:lnSpc>
                <a:spcPct val="150000"/>
              </a:lnSpc>
            </a:pPr>
            <a:endParaRPr lang="pt-BR" sz="2000" dirty="0"/>
          </a:p>
          <a:p>
            <a:pPr lvl="1">
              <a:lnSpc>
                <a:spcPct val="150000"/>
              </a:lnSpc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751222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70B39-1100-1A74-0FAA-E4F0988E0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1. Addition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4EA327-10C3-6B02-DA07-C8DF553853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nor/>
                                </m:rPr>
                                <a:rPr lang="ar-AE" sz="2800" i="1"/>
                                <m:t> 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m:rPr>
                                  <m:nor/>
                                </m:rPr>
                                <a:rPr lang="en-IN" sz="2800" i="1"/>
                                <m:t> 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nor/>
                                </m:rPr>
                                <a:rPr lang="ar-AE" sz="2800" i="1"/>
                                <m:t> 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m:rPr>
                                  <m:nor/>
                                </m:rPr>
                                <a:rPr lang="en-IN" sz="2800" i="1"/>
                                <m:t> 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m:rPr>
                          <m:nor/>
                        </m:rPr>
                        <a:rPr lang="ar-AE" sz="2800" i="1"/>
                        <m:t> </m:t>
                      </m:r>
                      <m:r>
                        <m:rPr>
                          <m:sty m:val="p"/>
                        </m:rPr>
                        <a:rPr lang="en-IN" sz="2800">
                          <a:latin typeface="Cambria Math" panose="02040503050406030204" pitchFamily="18" charset="0"/>
                        </a:rPr>
                        <m:t>mod</m:t>
                      </m:r>
                      <m:r>
                        <m:rPr>
                          <m:nor/>
                        </m:rPr>
                        <a:rPr lang="en-IN" sz="2800" i="1"/>
                        <m:t> 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m:rPr>
                          <m:nor/>
                        </m:rPr>
                        <a:rPr lang="ar-AE" sz="2800" i="1"/>
                        <m:t> </m:t>
                      </m:r>
                      <m:r>
                        <m:rPr>
                          <m:sty m:val="p"/>
                        </m:rPr>
                        <a:rPr lang="en-IN" sz="2800">
                          <a:latin typeface="Cambria Math" panose="02040503050406030204" pitchFamily="18" charset="0"/>
                        </a:rPr>
                        <m:t>mod</m:t>
                      </m:r>
                      <m:r>
                        <m:rPr>
                          <m:nor/>
                        </m:rPr>
                        <a:rPr lang="en-IN" sz="2800" i="1"/>
                        <m:t> 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IN" sz="2800" b="0" dirty="0"/>
              </a:p>
              <a:p>
                <a:r>
                  <a:rPr lang="en-IN" sz="2800" b="1" dirty="0"/>
                  <a:t>Example:</a:t>
                </a:r>
                <a:br>
                  <a:rPr lang="en-IN" sz="2800" dirty="0"/>
                </a:br>
                <a:r>
                  <a:rPr lang="en-IN" sz="2800" dirty="0"/>
                  <a:t>Let </a:t>
                </a:r>
                <a14:m>
                  <m:oMath xmlns:m="http://schemas.openxmlformats.org/officeDocument/2006/math">
                    <m:r>
                      <a:rPr lang="en-IN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sz="2800" i="1"/>
                      <m:t>  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29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sz="2800" i="1"/>
                      <m:t>  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lang="en-IN" sz="2800" dirty="0"/>
              </a:p>
              <a:p>
                <a14:m>
                  <m:oMath xmlns:m="http://schemas.openxmlformats.org/officeDocument/2006/math">
                    <m:r>
                      <a:rPr lang="en-IN" sz="2800"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m:rPr>
                        <m:sty m:val="p"/>
                      </m:rPr>
                      <a:rPr lang="en-IN" sz="28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m:rPr>
                        <m:sty m:val="p"/>
                      </m:rPr>
                      <a:rPr lang="en-IN" sz="28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IN" sz="2800" b="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80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ar-AE" sz="28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280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m:rPr>
                        <m:nor/>
                      </m:rPr>
                      <a:rPr lang="ar-AE" sz="2800" i="1"/>
                      <m:t> </m:t>
                    </m:r>
                    <m:r>
                      <m:rPr>
                        <m:sty m:val="p"/>
                      </m:rPr>
                      <a:rPr lang="en-IN" sz="28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IN" sz="2800" b="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800"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ar-AE" sz="28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2800">
                            <a:latin typeface="Cambria Math" panose="02040503050406030204" pitchFamily="18" charset="0"/>
                          </a:rPr>
                          <m:t>29</m:t>
                        </m:r>
                      </m:e>
                    </m:d>
                    <m:r>
                      <m:rPr>
                        <m:nor/>
                      </m:rPr>
                      <a:rPr lang="ar-AE" sz="2800" i="1"/>
                      <m:t> </m:t>
                    </m:r>
                    <m:r>
                      <m:rPr>
                        <m:sty m:val="p"/>
                      </m:rPr>
                      <a:rPr lang="en-IN" sz="28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46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m:rPr>
                        <m:sty m:val="p"/>
                      </m:rPr>
                      <a:rPr lang="en-IN" sz="28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IN" sz="2800" b="0" dirty="0"/>
              </a:p>
              <a:p>
                <a:pPr marL="0" indent="0">
                  <a:buNone/>
                </a:pPr>
                <a:r>
                  <a:rPr lang="en-IN" sz="2800" dirty="0"/>
                  <a:t>✔ Both sides are equal</a:t>
                </a:r>
              </a:p>
              <a:p>
                <a:endParaRPr lang="en-IN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4EA327-10C3-6B02-DA07-C8DF553853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55254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DA127-A1AA-D07F-53F9-1D982DC00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Subtraction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5C0D93-40AC-49BA-58FA-DF836D962F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nor/>
                                </m:rPr>
                                <a:rPr lang="ar-AE" sz="2800" i="1"/>
                                <m:t> 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m:rPr>
                                  <m:nor/>
                                </m:rPr>
                                <a:rPr lang="en-IN" sz="2800" i="1"/>
                                <m:t> 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nor/>
                                </m:rPr>
                                <a:rPr lang="ar-AE" sz="2800" i="1"/>
                                <m:t> 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m:rPr>
                                  <m:nor/>
                                </m:rPr>
                                <a:rPr lang="en-IN" sz="2800" i="1"/>
                                <m:t> 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m:rPr>
                          <m:nor/>
                        </m:rPr>
                        <a:rPr lang="ar-AE" sz="2800" i="1"/>
                        <m:t> </m:t>
                      </m:r>
                      <m:r>
                        <m:rPr>
                          <m:sty m:val="p"/>
                        </m:rPr>
                        <a:rPr lang="en-IN" sz="2800">
                          <a:latin typeface="Cambria Math" panose="02040503050406030204" pitchFamily="18" charset="0"/>
                        </a:rPr>
                        <m:t>mod</m:t>
                      </m:r>
                      <m:r>
                        <m:rPr>
                          <m:nor/>
                        </m:rPr>
                        <a:rPr lang="en-IN" sz="2800" i="1"/>
                        <m:t> 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m:rPr>
                          <m:nor/>
                        </m:rPr>
                        <a:rPr lang="ar-AE" sz="2800" i="1"/>
                        <m:t> </m:t>
                      </m:r>
                      <m:r>
                        <m:rPr>
                          <m:sty m:val="p"/>
                        </m:rPr>
                        <a:rPr lang="en-IN" sz="2800">
                          <a:latin typeface="Cambria Math" panose="02040503050406030204" pitchFamily="18" charset="0"/>
                        </a:rPr>
                        <m:t>mod</m:t>
                      </m:r>
                      <m:r>
                        <m:rPr>
                          <m:nor/>
                        </m:rPr>
                        <a:rPr lang="en-IN" sz="2800" i="1"/>
                        <m:t> 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IN" sz="2800" b="0" dirty="0"/>
              </a:p>
              <a:p>
                <a:r>
                  <a:rPr lang="en-IN" sz="2800" b="1" dirty="0"/>
                  <a:t>Example:</a:t>
                </a:r>
                <a:br>
                  <a:rPr lang="en-IN" sz="2800" dirty="0"/>
                </a:br>
                <a:r>
                  <a:rPr lang="en-IN" sz="2800" dirty="0"/>
                  <a:t>Let </a:t>
                </a:r>
                <a14:m>
                  <m:oMath xmlns:m="http://schemas.openxmlformats.org/officeDocument/2006/math">
                    <m:r>
                      <a:rPr lang="en-IN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35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sz="2800" i="1"/>
                      <m:t>  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19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sz="2800" i="1"/>
                      <m:t>  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IN" sz="2800" dirty="0"/>
              </a:p>
              <a:p>
                <a14:m>
                  <m:oMath xmlns:m="http://schemas.openxmlformats.org/officeDocument/2006/math">
                    <m:r>
                      <a:rPr lang="en-IN" sz="2800"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m:rPr>
                        <m:sty m:val="p"/>
                      </m:rPr>
                      <a:rPr lang="en-IN" sz="28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m:rPr>
                        <m:sty m:val="p"/>
                      </m:rPr>
                      <a:rPr lang="en-IN" sz="28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IN" sz="2800" b="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80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 sz="28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80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nor/>
                      </m:rPr>
                      <a:rPr lang="ar-AE" sz="2800" i="1"/>
                      <m:t> </m:t>
                    </m:r>
                    <m:r>
                      <m:rPr>
                        <m:sty m:val="p"/>
                      </m:rPr>
                      <a:rPr lang="en-IN" sz="28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IN" sz="2800" b="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800"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a:rPr lang="ar-AE" sz="28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800">
                            <a:latin typeface="Cambria Math" panose="02040503050406030204" pitchFamily="18" charset="0"/>
                          </a:rPr>
                          <m:t>19</m:t>
                        </m:r>
                      </m:e>
                    </m:d>
                    <m:r>
                      <m:rPr>
                        <m:nor/>
                      </m:rPr>
                      <a:rPr lang="ar-AE" sz="2800" i="1"/>
                      <m:t> </m:t>
                    </m:r>
                    <m:r>
                      <m:rPr>
                        <m:sty m:val="p"/>
                      </m:rPr>
                      <a:rPr lang="en-IN" sz="28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m:rPr>
                        <m:sty m:val="p"/>
                      </m:rPr>
                      <a:rPr lang="en-IN" sz="28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IN" sz="2800" b="0" dirty="0"/>
              </a:p>
              <a:p>
                <a:pPr marL="0" indent="0">
                  <a:buNone/>
                </a:pPr>
                <a:r>
                  <a:rPr lang="en-IN" sz="2800" dirty="0"/>
                  <a:t>✔ Verified</a:t>
                </a:r>
              </a:p>
              <a:p>
                <a:endParaRPr lang="en-IN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5C0D93-40AC-49BA-58FA-DF836D962F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3018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12410-6B24-FC97-C138-F2103772C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Multiplication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C11462-3CC5-F345-0D7A-90241B9FCE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nor/>
                                </m:rPr>
                                <a:rPr lang="ar-AE" sz="2800" i="1"/>
                                <m:t> 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m:rPr>
                                  <m:nor/>
                                </m:rPr>
                                <a:rPr lang="en-IN" sz="2800" i="1"/>
                                <m:t> 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nor/>
                                </m:rPr>
                                <a:rPr lang="ar-AE" sz="2800" i="1"/>
                                <m:t> 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m:rPr>
                                  <m:nor/>
                                </m:rPr>
                                <a:rPr lang="en-IN" sz="2800" i="1"/>
                                <m:t> 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m:rPr>
                          <m:nor/>
                        </m:rPr>
                        <a:rPr lang="ar-AE" sz="2800" i="1"/>
                        <m:t> </m:t>
                      </m:r>
                      <m:r>
                        <m:rPr>
                          <m:sty m:val="p"/>
                        </m:rPr>
                        <a:rPr lang="en-IN" sz="2800">
                          <a:latin typeface="Cambria Math" panose="02040503050406030204" pitchFamily="18" charset="0"/>
                        </a:rPr>
                        <m:t>mod</m:t>
                      </m:r>
                      <m:r>
                        <m:rPr>
                          <m:nor/>
                        </m:rPr>
                        <a:rPr lang="en-IN" sz="2800" i="1"/>
                        <m:t> 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m:rPr>
                          <m:nor/>
                        </m:rPr>
                        <a:rPr lang="ar-AE" sz="2800" i="1"/>
                        <m:t> </m:t>
                      </m:r>
                      <m:r>
                        <m:rPr>
                          <m:sty m:val="p"/>
                        </m:rPr>
                        <a:rPr lang="en-IN" sz="2800">
                          <a:latin typeface="Cambria Math" panose="02040503050406030204" pitchFamily="18" charset="0"/>
                        </a:rPr>
                        <m:t>mod</m:t>
                      </m:r>
                      <m:r>
                        <m:rPr>
                          <m:nor/>
                        </m:rPr>
                        <a:rPr lang="en-IN" sz="2800" i="1"/>
                        <m:t> 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IN" sz="2800" b="0" dirty="0"/>
              </a:p>
              <a:p>
                <a:r>
                  <a:rPr lang="en-IN" sz="2800" b="1" dirty="0"/>
                  <a:t>Example:</a:t>
                </a:r>
                <a:br>
                  <a:rPr lang="en-IN" sz="2800" dirty="0"/>
                </a:br>
                <a:r>
                  <a:rPr lang="en-IN" sz="2800" dirty="0"/>
                  <a:t>Let </a:t>
                </a:r>
                <a14:m>
                  <m:oMath xmlns:m="http://schemas.openxmlformats.org/officeDocument/2006/math">
                    <m:r>
                      <a:rPr lang="en-IN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sz="2800" i="1"/>
                      <m:t>  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sz="2800" i="1"/>
                      <m:t>  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IN" sz="2800" dirty="0"/>
              </a:p>
              <a:p>
                <a14:m>
                  <m:oMath xmlns:m="http://schemas.openxmlformats.org/officeDocument/2006/math">
                    <m:r>
                      <a:rPr lang="en-IN" sz="2800"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m:rPr>
                        <m:sty m:val="p"/>
                      </m:rPr>
                      <a:rPr lang="en-IN" sz="28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m:rPr>
                        <m:sty m:val="p"/>
                      </m:rPr>
                      <a:rPr lang="en-IN" sz="28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IN" sz="2800" b="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8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sz="28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sz="280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nor/>
                      </m:rPr>
                      <a:rPr lang="ar-AE" sz="2800" i="1"/>
                      <m:t> </m:t>
                    </m:r>
                    <m:r>
                      <m:rPr>
                        <m:sty m:val="p"/>
                      </m:rPr>
                      <a:rPr lang="en-IN" sz="28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m:rPr>
                        <m:sty m:val="p"/>
                      </m:rPr>
                      <a:rPr lang="en-IN" sz="28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IN" sz="2800" b="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800"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ar-AE" sz="28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sz="2800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r>
                      <m:rPr>
                        <m:nor/>
                      </m:rPr>
                      <a:rPr lang="ar-AE" sz="2800" i="1"/>
                      <m:t> </m:t>
                    </m:r>
                    <m:r>
                      <m:rPr>
                        <m:sty m:val="p"/>
                      </m:rPr>
                      <a:rPr lang="en-IN" sz="28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m:rPr>
                        <m:sty m:val="p"/>
                      </m:rPr>
                      <a:rPr lang="en-IN" sz="28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IN" sz="2800" b="0" dirty="0"/>
              </a:p>
              <a:p>
                <a:r>
                  <a:rPr lang="en-IN" sz="2800" dirty="0"/>
                  <a:t>✔ Correct</a:t>
                </a:r>
              </a:p>
              <a:p>
                <a:endParaRPr lang="en-IN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C11462-3CC5-F345-0D7A-90241B9FCE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91858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98F23-61B1-CD7A-9340-849D70AEE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4627"/>
            <a:ext cx="7886700" cy="688974"/>
          </a:xfrm>
        </p:spPr>
        <p:txBody>
          <a:bodyPr/>
          <a:lstStyle/>
          <a:p>
            <a:r>
              <a:rPr lang="en-US" dirty="0"/>
              <a:t>Modular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4440E-9EC3-8534-1615-285B76C5B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863601"/>
            <a:ext cx="8260517" cy="581977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Modular Arithmetic Properties: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Set of residues (or) residue class</a:t>
            </a:r>
          </a:p>
          <a:p>
            <a:pPr lvl="1">
              <a:lnSpc>
                <a:spcPct val="150000"/>
              </a:lnSpc>
            </a:pPr>
            <a:r>
              <a:rPr lang="en-IN" sz="2100" dirty="0"/>
              <a:t>Z</a:t>
            </a:r>
            <a:r>
              <a:rPr lang="en-IN" sz="2100" baseline="-25000" dirty="0"/>
              <a:t>n</a:t>
            </a:r>
            <a:r>
              <a:rPr lang="en-IN" sz="2100" dirty="0"/>
              <a:t> as the set of nonnegative integers less than n:</a:t>
            </a:r>
          </a:p>
          <a:p>
            <a:pPr marL="1371600" lvl="4" indent="0">
              <a:lnSpc>
                <a:spcPct val="150000"/>
              </a:lnSpc>
              <a:buNone/>
            </a:pPr>
            <a:r>
              <a:rPr lang="pt-BR" sz="2100" b="0" u="none" strike="noStrike" baseline="0" dirty="0">
                <a:latin typeface="Calibri "/>
              </a:rPr>
              <a:t>Z</a:t>
            </a:r>
            <a:r>
              <a:rPr lang="pt-BR" sz="2100" b="0" u="none" strike="noStrike" baseline="-25000" dirty="0">
                <a:latin typeface="Calibri "/>
              </a:rPr>
              <a:t>n</a:t>
            </a:r>
            <a:r>
              <a:rPr lang="pt-BR" sz="2100" b="0" u="none" strike="noStrike" baseline="0" dirty="0">
                <a:latin typeface="Calibri "/>
              </a:rPr>
              <a:t> = {0, 1, ...., (n - 1)}</a:t>
            </a:r>
          </a:p>
          <a:p>
            <a:pPr lvl="1">
              <a:lnSpc>
                <a:spcPct val="150000"/>
              </a:lnSpc>
            </a:pPr>
            <a:r>
              <a:rPr lang="en-IN" sz="2100" dirty="0">
                <a:latin typeface="Calibri "/>
              </a:rPr>
              <a:t>each integer in Z</a:t>
            </a:r>
            <a:r>
              <a:rPr lang="en-IN" sz="2100" baseline="-25000" dirty="0">
                <a:latin typeface="Calibri "/>
              </a:rPr>
              <a:t>n</a:t>
            </a:r>
            <a:r>
              <a:rPr lang="en-IN" sz="2100" dirty="0">
                <a:latin typeface="Calibri "/>
              </a:rPr>
              <a:t> represents a residue class</a:t>
            </a:r>
          </a:p>
          <a:p>
            <a:pPr lvl="1">
              <a:lnSpc>
                <a:spcPct val="150000"/>
              </a:lnSpc>
            </a:pPr>
            <a:r>
              <a:rPr lang="en-US" sz="2100" dirty="0">
                <a:latin typeface="Calibri "/>
              </a:rPr>
              <a:t>The residue classes (mod n) can be labeled as [0], [1], [2], …, [n - 1], where, 	</a:t>
            </a:r>
            <a:r>
              <a:rPr lang="pt-BR" sz="2100" b="1" i="0" u="none" strike="noStrike" baseline="0" dirty="0">
                <a:latin typeface="TimesTenLTStd-Roman"/>
              </a:rPr>
              <a:t>[</a:t>
            </a:r>
            <a:r>
              <a:rPr lang="pt-BR" sz="2100" b="1" i="1" u="none" strike="noStrike" baseline="0" dirty="0">
                <a:latin typeface="TimesTenLTStd-Italic"/>
              </a:rPr>
              <a:t>r</a:t>
            </a:r>
            <a:r>
              <a:rPr lang="pt-BR" sz="2100" b="1" i="0" u="none" strike="noStrike" baseline="0" dirty="0">
                <a:latin typeface="TimesTenLTStd-Roman"/>
              </a:rPr>
              <a:t>] </a:t>
            </a:r>
            <a:r>
              <a:rPr lang="pt-BR" sz="2100" b="1" i="0" u="none" strike="noStrike" baseline="0" dirty="0">
                <a:latin typeface="PearsonMATHPRO08"/>
              </a:rPr>
              <a:t>= </a:t>
            </a:r>
            <a:r>
              <a:rPr lang="pt-BR" sz="2100" b="1" i="0" u="none" strike="noStrike" baseline="0" dirty="0">
                <a:latin typeface="TimesTenLTStd-Roman"/>
              </a:rPr>
              <a:t>{</a:t>
            </a:r>
            <a:r>
              <a:rPr lang="pt-BR" sz="2100" b="1" i="1" u="none" strike="noStrike" baseline="0" dirty="0">
                <a:latin typeface="TimesTenLTStd-Italic"/>
              </a:rPr>
              <a:t>a</a:t>
            </a:r>
            <a:r>
              <a:rPr lang="pt-BR" sz="2100" b="1" i="0" u="none" strike="noStrike" baseline="0" dirty="0">
                <a:latin typeface="TimesTenLTStd-Roman"/>
              </a:rPr>
              <a:t>: </a:t>
            </a:r>
            <a:r>
              <a:rPr lang="pt-BR" sz="2100" b="1" i="1" u="none" strike="noStrike" baseline="0" dirty="0">
                <a:latin typeface="TimesTenLTStd-Italic"/>
              </a:rPr>
              <a:t>a </a:t>
            </a:r>
            <a:r>
              <a:rPr lang="pt-BR" sz="2100" b="1" i="0" u="none" strike="noStrike" baseline="0" dirty="0">
                <a:latin typeface="TimesTenLTStd-Roman"/>
              </a:rPr>
              <a:t>is an integer, </a:t>
            </a:r>
            <a:r>
              <a:rPr lang="pt-BR" sz="2100" b="1" i="1" u="none" strike="noStrike" baseline="0" dirty="0">
                <a:latin typeface="TimesTenLTStd-Italic"/>
              </a:rPr>
              <a:t>a </a:t>
            </a:r>
            <a:r>
              <a:rPr lang="en-US" sz="2100" b="1" dirty="0"/>
              <a:t>≡</a:t>
            </a:r>
            <a:r>
              <a:rPr lang="pt-BR" sz="2100" b="1" i="0" u="none" strike="noStrike" baseline="0" dirty="0">
                <a:latin typeface="PearsonMATHPRO08"/>
              </a:rPr>
              <a:t> </a:t>
            </a:r>
            <a:r>
              <a:rPr lang="pt-BR" sz="2100" b="1" i="1" u="none" strike="noStrike" baseline="0" dirty="0">
                <a:latin typeface="TimesTenLTStd-Italic"/>
              </a:rPr>
              <a:t>r </a:t>
            </a:r>
            <a:r>
              <a:rPr lang="pt-BR" sz="2100" b="1" i="0" u="none" strike="noStrike" baseline="0" dirty="0">
                <a:latin typeface="TimesTenLTStd-Roman"/>
              </a:rPr>
              <a:t>(mod </a:t>
            </a:r>
            <a:r>
              <a:rPr lang="pt-BR" sz="2100" b="1" i="1" u="none" strike="noStrike" baseline="0" dirty="0">
                <a:latin typeface="TimesTenLTStd-Italic"/>
              </a:rPr>
              <a:t>n</a:t>
            </a:r>
            <a:r>
              <a:rPr lang="pt-BR" sz="2100" b="1" i="0" u="none" strike="noStrike" baseline="0" dirty="0">
                <a:latin typeface="TimesTenLTStd-Roman"/>
              </a:rPr>
              <a:t>)}</a:t>
            </a:r>
            <a:endParaRPr lang="en-US" sz="2100" b="1" dirty="0">
              <a:latin typeface="Calibri "/>
            </a:endParaRPr>
          </a:p>
          <a:p>
            <a:pPr lvl="1">
              <a:lnSpc>
                <a:spcPct val="150000"/>
              </a:lnSpc>
            </a:pPr>
            <a:endParaRPr lang="pt-BR" sz="2000" dirty="0"/>
          </a:p>
          <a:p>
            <a:pPr lvl="1">
              <a:lnSpc>
                <a:spcPct val="150000"/>
              </a:lnSpc>
            </a:pPr>
            <a:endParaRPr lang="en-US" sz="2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52EE18-EB1A-312E-9036-1F1A9DD8F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893" y="4882549"/>
            <a:ext cx="5047418" cy="180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908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54ADF-2366-C1E0-A371-9573079A1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Residue Classes (Modulo n)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641176-8B72-2E28-C96E-C5A9BF32F1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7714" y="1567544"/>
                <a:ext cx="8297636" cy="481874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What is a residue class (mod n)?</a:t>
                </a:r>
              </a:p>
              <a:p>
                <a:r>
                  <a:rPr lang="en-US" sz="2800" dirty="0"/>
                  <a:t>When we divide any integer by a positive integer n, the remainder will always be one of: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b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b="0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All integers that give the same remainder when divided by n are grouped together.</a:t>
                </a:r>
                <a:br>
                  <a:rPr lang="en-US" sz="2800" dirty="0"/>
                </a:br>
                <a:r>
                  <a:rPr lang="en-US" sz="2800" dirty="0"/>
                  <a:t>Each such group is called a residue class modulo n.</a:t>
                </a:r>
              </a:p>
              <a:p>
                <a:r>
                  <a:rPr lang="en-US" sz="2800" dirty="0"/>
                  <a:t>These groups together form the set of residue classes modulo n, written as ℤₙ.</a:t>
                </a:r>
              </a:p>
              <a:p>
                <a:r>
                  <a:rPr lang="en-IN" sz="2800" dirty="0"/>
                  <a:t>Notation of a residue class</a:t>
                </a:r>
              </a:p>
              <a:p>
                <a:r>
                  <a:rPr lang="en-IN" sz="2800" dirty="0"/>
                  <a:t>A residue class is written as: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ar-AE" sz="2000" b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ar-AE" sz="2000" b="0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ar-AE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ar-AE" sz="2000" i="1"/>
                          <m:t> </m:t>
                        </m:r>
                        <m:r>
                          <m:rPr>
                            <m:nor/>
                          </m:rPr>
                          <a:rPr lang="en-IN" sz="2000" i="1"/>
                          <m:t>is</m:t>
                        </m:r>
                        <m:r>
                          <m:rPr>
                            <m:nor/>
                          </m:rPr>
                          <a:rPr lang="en-IN" sz="2000" i="1"/>
                          <m:t> </m:t>
                        </m:r>
                        <m:r>
                          <m:rPr>
                            <m:nor/>
                          </m:rPr>
                          <a:rPr lang="en-IN" sz="2000" i="1"/>
                          <m:t>an</m:t>
                        </m:r>
                        <m:r>
                          <m:rPr>
                            <m:nor/>
                          </m:rPr>
                          <a:rPr lang="en-IN" sz="2000" i="1"/>
                          <m:t> </m:t>
                        </m:r>
                        <m:r>
                          <m:rPr>
                            <m:nor/>
                          </m:rPr>
                          <a:rPr lang="en-IN" sz="2000" i="1"/>
                          <m:t>integer</m:t>
                        </m:r>
                        <m:r>
                          <m:rPr>
                            <m:nor/>
                          </m:rPr>
                          <a:rPr lang="en-IN" sz="2000" i="1"/>
                          <m:t> </m:t>
                        </m:r>
                        <m:r>
                          <m:rPr>
                            <m:nor/>
                          </m:rPr>
                          <a:rPr lang="en-IN" sz="2000" i="1"/>
                          <m:t>and</m:t>
                        </m:r>
                        <m:r>
                          <m:rPr>
                            <m:nor/>
                          </m:rPr>
                          <a:rPr lang="en-IN" sz="2000" i="1"/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000" b="0" smtClean="0"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nor/>
                          </m:rPr>
                          <a:rPr lang="en-IN" sz="2000" i="1"/>
                          <m:t> </m:t>
                        </m:r>
                        <m:d>
                          <m:d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IN" sz="2000" i="1"/>
                              <m:t>mod</m:t>
                            </m:r>
                            <m:r>
                              <m:rPr>
                                <m:nor/>
                              </m:rPr>
                              <a:rPr lang="en-IN" sz="2000" i="1"/>
                              <m:t> 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ar-AE" sz="2800" dirty="0"/>
              </a:p>
              <a:p>
                <a:r>
                  <a:rPr lang="en-IN" sz="2800" dirty="0"/>
                  <a:t>This means: All integers a that leave remainder r when divided by n belong to the class [r].</a:t>
                </a:r>
              </a:p>
              <a:p>
                <a:endParaRPr lang="en-US" sz="2800" dirty="0"/>
              </a:p>
              <a:p>
                <a:endParaRPr lang="en-IN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641176-8B72-2E28-C96E-C5A9BF32F1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7714" y="1567544"/>
                <a:ext cx="8297636" cy="4818742"/>
              </a:xfrm>
              <a:blipFill>
                <a:blip r:embed="rId2"/>
                <a:stretch>
                  <a:fillRect l="-1323" t="-2528" r="-367" b="-17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5539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632B7-5CDB-03B1-0008-F019D40F4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Smallest non-negative representative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F2D28-E2B2-EE9D-1D95-B1C0DF5F9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For each residue class, the </a:t>
            </a:r>
            <a:r>
              <a:rPr lang="en-US" sz="2800" b="1" dirty="0"/>
              <a:t>smallest non-negative integer</a:t>
            </a:r>
            <a:r>
              <a:rPr lang="en-US" sz="2800" dirty="0"/>
              <a:t> is chosen as its representative.</a:t>
            </a:r>
          </a:p>
          <a:p>
            <a:r>
              <a:rPr lang="en-US" sz="2800" dirty="0"/>
              <a:t>Example:</a:t>
            </a:r>
          </a:p>
          <a:p>
            <a:r>
              <a:rPr lang="en-US" sz="2800" dirty="0"/>
              <a:t>Class [−5] (mod 4) → smallest non-negative integer is </a:t>
            </a:r>
            <a:r>
              <a:rPr lang="en-US" sz="2800" b="1" dirty="0"/>
              <a:t>3</a:t>
            </a:r>
            <a:endParaRPr lang="en-US" sz="2800" dirty="0"/>
          </a:p>
          <a:p>
            <a:r>
              <a:rPr lang="en-US" sz="2800" dirty="0"/>
              <a:t>So, −5 ≡ 3 (mod 4)</a:t>
            </a:r>
          </a:p>
          <a:p>
            <a:r>
              <a:rPr lang="en-US" sz="2800" dirty="0"/>
              <a:t>This process is called </a:t>
            </a:r>
            <a:r>
              <a:rPr lang="en-US" sz="2800" b="1" dirty="0"/>
              <a:t>reducing k modulo n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467713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A7211-A215-23DF-277B-7DEDB6D54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Properties of ℤₙ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34AE3-9C59-74DA-2019-013038E73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When we perform modular arithmetic in ℤₙ:</a:t>
            </a:r>
          </a:p>
          <a:p>
            <a:r>
              <a:rPr lang="en-US" sz="2800" dirty="0"/>
              <a:t>Addition and multiplication are </a:t>
            </a:r>
            <a:r>
              <a:rPr lang="en-US" sz="2800" b="1" dirty="0"/>
              <a:t>closed</a:t>
            </a:r>
            <a:endParaRPr lang="en-US" sz="2800" dirty="0"/>
          </a:p>
          <a:p>
            <a:r>
              <a:rPr lang="en-US" sz="2800" dirty="0"/>
              <a:t>There is an </a:t>
            </a:r>
            <a:r>
              <a:rPr lang="en-US" sz="2800" b="1" dirty="0"/>
              <a:t>additive identity</a:t>
            </a:r>
            <a:r>
              <a:rPr lang="en-US" sz="2800" dirty="0"/>
              <a:t> (0)</a:t>
            </a:r>
          </a:p>
          <a:p>
            <a:r>
              <a:rPr lang="en-US" sz="2800" dirty="0"/>
              <a:t>Every element has an </a:t>
            </a:r>
            <a:r>
              <a:rPr lang="en-US" sz="2800" b="1" dirty="0"/>
              <a:t>additive inverse</a:t>
            </a:r>
            <a:endParaRPr lang="en-US" sz="2800" dirty="0"/>
          </a:p>
          <a:p>
            <a:r>
              <a:rPr lang="en-US" sz="2800" dirty="0"/>
              <a:t>Multiplication has an identity element (1)</a:t>
            </a:r>
          </a:p>
          <a:p>
            <a:r>
              <a:rPr lang="en-US" sz="2800" dirty="0"/>
              <a:t>Hence, ℤₙ forms a </a:t>
            </a:r>
            <a:r>
              <a:rPr lang="en-US" sz="2800" b="1" dirty="0"/>
              <a:t>commutative ring with identity</a:t>
            </a:r>
            <a:r>
              <a:rPr lang="en-US" sz="2800" dirty="0"/>
              <a:t>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24119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5F046-5F63-7BBD-A2B3-7BBCA25CC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property of modular arithmetic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C18051-5E77-CB8B-76C9-C98D003269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In ordinary arithmetic: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The same holds in modular arithmetic: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If</m:t>
                      </m:r>
                      <m:r>
                        <m:rPr>
                          <m:nor/>
                        </m:rPr>
                        <a:rPr lang="en-IN" b="0" i="1"/>
                        <m:t> 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m:rPr>
                          <m:nor/>
                        </m:rPr>
                        <a:rPr lang="ar-AE" i="1"/>
                        <m:t> 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i="1"/>
                            <m:t>mod</m:t>
                          </m:r>
                          <m:r>
                            <m:rPr>
                              <m:nor/>
                            </m:rPr>
                            <a:rPr lang="en-IN" i="1"/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ar-AE" i="1"/>
                        <m:t> </m:t>
                      </m:r>
                      <m:r>
                        <m:rPr>
                          <m:nor/>
                        </m:rPr>
                        <a:rPr lang="en-IN" i="1"/>
                        <m:t>then</m:t>
                      </m:r>
                      <m:r>
                        <m:rPr>
                          <m:nor/>
                        </m:rPr>
                        <a:rPr lang="en-IN" i="1"/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m:rPr>
                          <m:nor/>
                        </m:rPr>
                        <a:rPr lang="en-IN" i="1"/>
                        <m:t> 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i="1"/>
                            <m:t>mod</m:t>
                          </m:r>
                          <m:r>
                            <m:rPr>
                              <m:nor/>
                            </m:rPr>
                            <a:rPr lang="en-IN" i="1"/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IN" b="1" dirty="0"/>
                  <a:t>Example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23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m:rPr>
                        <m:nor/>
                      </m:rPr>
                      <a:rPr lang="ar-AE" i="1"/>
                      <m:t> 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1"/>
                          <m:t>mod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endParaRPr lang="ar-AE" b="0" dirty="0"/>
              </a:p>
              <a:p>
                <a:pPr marL="0" indent="0">
                  <a:buNone/>
                </a:pPr>
                <a:r>
                  <a:rPr lang="en-IN" dirty="0"/>
                  <a:t>Since:</a:t>
                </a:r>
              </a:p>
              <a:p>
                <a:r>
                  <a:rPr lang="en-IN" dirty="0"/>
                  <a:t>23 ≡ 7 (mod 8)</a:t>
                </a:r>
              </a:p>
              <a:p>
                <a:pPr marL="0" indent="0">
                  <a:buNone/>
                </a:pPr>
                <a:r>
                  <a:rPr lang="en-IN" dirty="0"/>
                  <a:t>So: </a:t>
                </a:r>
              </a:p>
              <a:p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23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nor/>
                      </m:rPr>
                      <a:rPr lang="en-IN" i="1"/>
                      <m:t> 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1"/>
                          <m:t>mod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endParaRPr lang="ar-AE" b="0" dirty="0"/>
              </a:p>
              <a:p>
                <a:pPr marL="0" indent="0">
                  <a:buNone/>
                </a:pPr>
                <a:endParaRPr lang="ar-AE" b="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C18051-5E77-CB8B-76C9-C98D003269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7" t="-15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25386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9997C-0AE5-5149-538D-D019B4C98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Additive inverse explanation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A7EA22-29A9-EAC6-73D0-DBDB25A9E2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sz="2800" dirty="0"/>
                  <a:t>Every number </a:t>
                </a:r>
                <a:r>
                  <a:rPr lang="en-IN" sz="2800" b="1" dirty="0"/>
                  <a:t>a</a:t>
                </a:r>
                <a:r>
                  <a:rPr lang="en-IN" sz="2800" dirty="0"/>
                  <a:t> has an additive inverse </a:t>
                </a:r>
                <a:r>
                  <a:rPr lang="en-IN" sz="2800" b="1" dirty="0"/>
                  <a:t>−a</a:t>
                </a:r>
                <a:r>
                  <a:rPr lang="en-IN" sz="2800" dirty="0"/>
                  <a:t>, such that: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ar-AE" sz="280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ar-AE" sz="2800" i="1"/>
                        <m:t> </m:t>
                      </m:r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2800" i="1"/>
                            <m:t>mod</m:t>
                          </m:r>
                          <m:r>
                            <m:rPr>
                              <m:nor/>
                            </m:rPr>
                            <a:rPr lang="en-IN" sz="2800" i="1"/>
                            <m:t> 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ar-AE" sz="2800" b="0" dirty="0"/>
              </a:p>
              <a:p>
                <a:r>
                  <a:rPr lang="en-IN" sz="2800" dirty="0"/>
                  <a:t>Adding </a:t>
                </a:r>
                <a:r>
                  <a:rPr lang="en-IN" sz="2800" b="1" dirty="0"/>
                  <a:t>−a</a:t>
                </a:r>
                <a:r>
                  <a:rPr lang="en-IN" sz="2800" dirty="0"/>
                  <a:t> to both sides:</a:t>
                </a:r>
              </a:p>
              <a:p>
                <a:pPr marL="0" indent="0">
                  <a:buNone/>
                </a:pPr>
                <a:endParaRPr lang="en-IN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ar-AE" sz="280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m:rPr>
                          <m:nor/>
                        </m:rPr>
                        <a:rPr lang="ar-AE" sz="2800" i="1"/>
                        <m:t> </m:t>
                      </m:r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2800" i="1"/>
                            <m:t>mod</m:t>
                          </m:r>
                          <m:r>
                            <m:rPr>
                              <m:nor/>
                            </m:rPr>
                            <a:rPr lang="en-IN" sz="2800" i="1"/>
                            <m:t> 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800" b="0" dirty="0"/>
              </a:p>
              <a:p>
                <a:pPr marL="0" indent="0">
                  <a:buNone/>
                </a:pPr>
                <a:endParaRPr lang="en-US" sz="2800" b="0" dirty="0"/>
              </a:p>
              <a:p>
                <a:r>
                  <a:rPr lang="en-US" sz="2800" dirty="0" err="1"/>
                  <a:t>b≡c</a:t>
                </a:r>
                <a:r>
                  <a:rPr lang="en-US" sz="2800" dirty="0"/>
                  <a:t> (mod n) </a:t>
                </a:r>
              </a:p>
              <a:p>
                <a:r>
                  <a:rPr lang="en-US" sz="2800" dirty="0"/>
                  <a:t>This confirms the consistency of modular arithmetic.</a:t>
                </a:r>
              </a:p>
              <a:p>
                <a:endParaRPr lang="ar-AE" sz="2800" b="0" dirty="0"/>
              </a:p>
              <a:p>
                <a:endParaRPr lang="en-IN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A7EA22-29A9-EAC6-73D0-DBDB25A9E2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3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05656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98F23-61B1-CD7A-9340-849D70AEE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4627"/>
            <a:ext cx="7886700" cy="688974"/>
          </a:xfrm>
        </p:spPr>
        <p:txBody>
          <a:bodyPr/>
          <a:lstStyle/>
          <a:p>
            <a:r>
              <a:rPr lang="en-US" dirty="0"/>
              <a:t>Modular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4440E-9EC3-8534-1615-285B76C5B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863601"/>
            <a:ext cx="8260517" cy="581977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Modular Arithmetic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b="1" dirty="0"/>
              <a:t>Properties of Modular Arithmetic for Integers in Z</a:t>
            </a:r>
            <a:r>
              <a:rPr lang="en-IN" sz="2400" b="1" baseline="-25000" dirty="0"/>
              <a:t>n</a:t>
            </a:r>
            <a:r>
              <a:rPr lang="en-US" sz="2400" b="1" dirty="0"/>
              <a:t>:</a:t>
            </a:r>
          </a:p>
          <a:p>
            <a:pPr lvl="1">
              <a:lnSpc>
                <a:spcPct val="150000"/>
              </a:lnSpc>
            </a:pPr>
            <a:endParaRPr lang="pt-BR" sz="2000" dirty="0"/>
          </a:p>
          <a:p>
            <a:pPr lvl="1">
              <a:lnSpc>
                <a:spcPct val="150000"/>
              </a:lnSpc>
            </a:pPr>
            <a:endParaRPr lang="en-US" sz="2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034DCE-F440-FD35-06F6-A7BBBC9AD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5834" y="2316262"/>
            <a:ext cx="11162359" cy="420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8160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DB4C7-727F-6F84-74D3-4C6818632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7AA46C-B9DB-48DA-2556-64949C9D7E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IN" sz="2800" dirty="0"/>
                  <a:t>Any integer a can be written as </a:t>
                </a:r>
                <a14:m>
                  <m:oMath xmlns:m="http://schemas.openxmlformats.org/officeDocument/2006/math">
                    <m:r>
                      <a:rPr lang="en-IN" sz="2800" b="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800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>
                        <a:latin typeface="Cambria Math" panose="02040503050406030204" pitchFamily="18" charset="0"/>
                      </a:rPr>
                      <m:t>𝑘𝑏</m:t>
                    </m:r>
                    <m:r>
                      <a:rPr lang="en-IN" sz="2800" b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b="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IN" sz="2800" dirty="0"/>
              </a:p>
              <a:p>
                <a:r>
                  <a:rPr lang="en-IN" sz="2800" dirty="0"/>
                  <a:t>where: </a:t>
                </a:r>
                <a14:m>
                  <m:oMath xmlns:m="http://schemas.openxmlformats.org/officeDocument/2006/math">
                    <m:r>
                      <a:rPr lang="en-IN" sz="2800" b="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/>
                  <a:t>is the quotient, </a:t>
                </a:r>
                <a14:m>
                  <m:oMath xmlns:m="http://schemas.openxmlformats.org/officeDocument/2006/math">
                    <m:r>
                      <a:rPr lang="en-IN" sz="2800" b="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IN" sz="2800" dirty="0"/>
                  <a:t>is the remainder, </a:t>
                </a:r>
                <a14:m>
                  <m:oMath xmlns:m="http://schemas.openxmlformats.org/officeDocument/2006/math">
                    <m:r>
                      <a:rPr lang="en-IN" sz="2800" b="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800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a:rPr lang="en-IN" sz="2800" b="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a:rPr lang="en-IN" sz="2800" b="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IN" sz="2800" dirty="0"/>
              </a:p>
              <a:p>
                <a:r>
                  <a:rPr lang="en-IN" sz="2800" dirty="0"/>
                  <a:t>So, </a:t>
                </a:r>
                <a14:m>
                  <m:oMath xmlns:m="http://schemas.openxmlformats.org/officeDocument/2006/math">
                    <m:r>
                      <a:rPr lang="en-IN" sz="2800" b="0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a:rPr lang="en-IN" sz="2800" b="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a:rPr lang="en-IN" sz="2800" b="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800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800" b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b="0" i="1">
                        <a:latin typeface="Cambria Math" panose="02040503050406030204" pitchFamily="18" charset="0"/>
                      </a:rPr>
                      <m:t>𝑘𝑏</m:t>
                    </m:r>
                  </m:oMath>
                </a14:m>
                <a:endParaRPr lang="en-IN" sz="2800" dirty="0"/>
              </a:p>
              <a:p>
                <a:r>
                  <a:rPr lang="en-IN" sz="2800" dirty="0"/>
                  <a:t>If a number d divides both a and b, then: it divides </a:t>
                </a:r>
                <a14:m>
                  <m:oMath xmlns:m="http://schemas.openxmlformats.org/officeDocument/2006/math">
                    <m:r>
                      <a:rPr lang="en-IN" sz="2800" b="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800" b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b="0" i="1">
                        <a:latin typeface="Cambria Math" panose="02040503050406030204" pitchFamily="18" charset="0"/>
                      </a:rPr>
                      <m:t>𝑘𝑏</m:t>
                    </m:r>
                  </m:oMath>
                </a14:m>
                <a:endParaRPr lang="en-IN" sz="2800" dirty="0"/>
              </a:p>
              <a:p>
                <a:r>
                  <a:rPr lang="en-IN" sz="2800" dirty="0"/>
                  <a:t>hence it divides </a:t>
                </a:r>
                <a14:m>
                  <m:oMath xmlns:m="http://schemas.openxmlformats.org/officeDocument/2006/math">
                    <m:r>
                      <a:rPr lang="en-IN" sz="2800" b="0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a:rPr lang="en-IN" sz="2800" b="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a:rPr lang="en-IN" sz="2800" b="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IN" sz="2800" dirty="0"/>
                  <a:t>Similarly, if d divides b and </a:t>
                </a:r>
                <a14:m>
                  <m:oMath xmlns:m="http://schemas.openxmlformats.org/officeDocument/2006/math">
                    <m:r>
                      <a:rPr lang="en-IN" sz="2800" b="0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a:rPr lang="en-IN" sz="2800" b="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m:rPr>
                        <m:nor/>
                      </m:rPr>
                      <a:rPr lang="en-IN" sz="2800" i="1"/>
                      <m:t> </m:t>
                    </m:r>
                    <m:r>
                      <a:rPr lang="en-IN" sz="2800" b="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sz="2800" dirty="0"/>
                  <a:t>, then it also divides a.</a:t>
                </a:r>
              </a:p>
              <a:p>
                <a:r>
                  <a:rPr lang="en-IN" sz="2800" dirty="0"/>
                  <a:t>Therefore, the common divisors of (a, b) and (b, a mod b) are the same, so their GCD is the same.</a:t>
                </a:r>
              </a:p>
              <a:p>
                <a:endParaRPr lang="en-IN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7AA46C-B9DB-48DA-2556-64949C9D7E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 r="-1932" b="-60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30208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C289-22BD-E297-B1C9-413DD1440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Euclidean Algorithm - Revisited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8F4F6F-BD8A-54D4-7AAF-51F3539986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400" b="1" dirty="0"/>
                  <a:t>Statement of the theorem</a:t>
                </a:r>
              </a:p>
              <a:p>
                <a:r>
                  <a:rPr lang="en-IN" sz="2400" dirty="0"/>
                  <a:t>For any integers </a:t>
                </a:r>
                <a:r>
                  <a:rPr lang="en-IN" sz="2400" b="1" dirty="0"/>
                  <a:t>a</a:t>
                </a:r>
                <a:r>
                  <a:rPr lang="en-IN" sz="2400" dirty="0"/>
                  <a:t> and </a:t>
                </a:r>
                <a:r>
                  <a:rPr lang="en-IN" sz="2400" b="1" dirty="0"/>
                  <a:t>b</a:t>
                </a:r>
                <a:r>
                  <a:rPr lang="en-IN" sz="2400" dirty="0"/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sz="2400" dirty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sepChr m:val=","/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func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sepChr m:val=","/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nor/>
                                </m:rPr>
                                <a:rPr lang="ar-AE" sz="2400" i="1"/>
                                <m:t> 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m:rPr>
                                  <m:nor/>
                                </m:rPr>
                                <a:rPr lang="en-IN" sz="2400" i="1"/>
                                <m:t> 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This means:</a:t>
                </a:r>
                <a:br>
                  <a:rPr lang="en-US" sz="2400" dirty="0"/>
                </a:br>
                <a:r>
                  <a:rPr lang="en-US" sz="2400" dirty="0"/>
                  <a:t>The </a:t>
                </a:r>
                <a:r>
                  <a:rPr lang="en-US" sz="2400" b="1" dirty="0"/>
                  <a:t>GCD of two numbers does not change</a:t>
                </a:r>
                <a:r>
                  <a:rPr lang="en-US" sz="2400" dirty="0"/>
                  <a:t> if the larger number is replaced by its remainder when divided by the smaller number.</a:t>
                </a:r>
              </a:p>
              <a:p>
                <a:r>
                  <a:rPr lang="en-IN" sz="2400" dirty="0" err="1"/>
                  <a:t>gcd</a:t>
                </a:r>
                <a:r>
                  <a:rPr lang="en-IN" sz="2400" dirty="0"/>
                  <a:t>(55,22)=</a:t>
                </a:r>
                <a:r>
                  <a:rPr lang="en-IN" sz="2400" dirty="0" err="1"/>
                  <a:t>gcd</a:t>
                </a:r>
                <a:r>
                  <a:rPr lang="en-IN" sz="2400" dirty="0"/>
                  <a:t>(22,55mod22) </a:t>
                </a:r>
              </a:p>
              <a:p>
                <a:pPr marL="0" indent="0">
                  <a:buNone/>
                </a:pPr>
                <a:r>
                  <a:rPr lang="en-IN" sz="2400" dirty="0"/>
                  <a:t>Since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nor/>
                      </m:rPr>
                      <a:rPr lang="en-IN" sz="2400" i="1"/>
                      <m:t> </m:t>
                    </m:r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400" i="1"/>
                      <m:t> 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22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endParaRPr lang="en-IN" sz="2400" b="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55</m:t>
                        </m:r>
                      </m:e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22</m:t>
                        </m:r>
                      </m:e>
                    </m:d>
                    <m:r>
                      <a:rPr lang="ar-AE" sz="24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22</m:t>
                        </m:r>
                      </m:e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>
                      <a:rPr lang="ar-AE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endParaRPr lang="ar-AE" sz="2400" dirty="0"/>
              </a:p>
              <a:p>
                <a:endParaRPr lang="ar-AE" sz="2400" b="0" dirty="0"/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8F4F6F-BD8A-54D4-7AAF-51F3539986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62370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7EDE3-F87C-91D9-D946-B2D2F78B4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3989EF-092F-7F8B-E669-2A15756FE0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sz="2800" dirty="0"/>
                  <a:t>We apply the formula repeatedly until the remainder becomes </a:t>
                </a:r>
                <a:r>
                  <a:rPr lang="en-IN" sz="2800" b="1" dirty="0"/>
                  <a:t>0</a:t>
                </a:r>
                <a:r>
                  <a:rPr lang="en-IN" sz="2800" dirty="0"/>
                  <a:t>.</a:t>
                </a:r>
              </a:p>
              <a:p>
                <a:r>
                  <a:rPr lang="en-IN" sz="2800" b="1" dirty="0"/>
                  <a:t>Example 1: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80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sepChr m:val=","/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800"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e>
                            <m:r>
                              <a:rPr lang="ar-AE" sz="2800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d>
                      </m:e>
                    </m:func>
                  </m:oMath>
                </a14:m>
                <a:endParaRPr lang="en-US" sz="28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>
                              <a:latin typeface="Cambria Math" panose="02040503050406030204" pitchFamily="18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sepChr m:val=","/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80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ar-AE" sz="2800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  <m:r>
                                <m:rPr>
                                  <m:nor/>
                                </m:rPr>
                                <a:rPr lang="ar-AE" sz="2800" i="1"/>
                                <m:t> 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m:rPr>
                                  <m:nor/>
                                </m:rPr>
                                <a:rPr lang="en-IN" sz="2800" i="1"/>
                                <m:t> </m:t>
                              </m:r>
                              <m:r>
                                <a:rPr lang="en-IN" sz="280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d>
                        </m:e>
                      </m:func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>
                              <a:latin typeface="Cambria Math" panose="02040503050406030204" pitchFamily="18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sepChr m:val=","/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80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ar-AE" sz="280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d>
                        </m:e>
                      </m:func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>
                          <a:latin typeface="Cambria Math" panose="02040503050406030204" pitchFamily="18" charset="0"/>
                        </a:rPr>
                        <m:t>gcd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sepChr m:val=","/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e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ar-AE" sz="2800" dirty="0"/>
              </a:p>
              <a:p>
                <a:pPr marL="0" indent="0">
                  <a:buNone/>
                </a:pPr>
                <a:r>
                  <a:rPr lang="en-IN" sz="2800" dirty="0"/>
                  <a:t>GCD = </a:t>
                </a:r>
                <a:r>
                  <a:rPr lang="en-IN" sz="2800" b="1" dirty="0"/>
                  <a:t>6</a:t>
                </a:r>
                <a:br>
                  <a:rPr lang="en-IN" sz="2800" dirty="0"/>
                </a:br>
                <a:r>
                  <a:rPr lang="en-IN" sz="2800" b="1" dirty="0"/>
                  <a:t>Example 2: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sepChr m:val=","/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80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e>
                        <m:r>
                          <a:rPr lang="ar-AE" sz="28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endParaRPr lang="ar-AE" sz="2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ar-AE" sz="280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80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sepChr m:val=","/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80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e>
                            <m:r>
                              <a:rPr lang="ar-AE" sz="280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fun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80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sepChr m:val=","/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80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ar-AE" sz="28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func>
                    <m:r>
                      <a:rPr lang="ar-AE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sz="2800" dirty="0"/>
                  <a:t> </a:t>
                </a:r>
                <a:r>
                  <a:rPr lang="en-IN" sz="2800" dirty="0"/>
                  <a:t>GCD = </a:t>
                </a:r>
                <a:r>
                  <a:rPr lang="en-IN" sz="2800" b="1" dirty="0"/>
                  <a:t>1</a:t>
                </a:r>
                <a:endParaRPr lang="en-IN" sz="2800" dirty="0"/>
              </a:p>
              <a:p>
                <a:endParaRPr lang="en-IN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3989EF-092F-7F8B-E669-2A15756FE0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63116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F1D17-9125-4C1C-CBEC-00842A4EE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Extended Euclidean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9EE118-4A3D-5340-8B04-8F0DB391DB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b="1" dirty="0"/>
                  <a:t>What is the Extended Euclidean Algorithm?</a:t>
                </a:r>
              </a:p>
              <a:p>
                <a:r>
                  <a:rPr lang="en-IN" dirty="0"/>
                  <a:t>The </a:t>
                </a:r>
                <a:r>
                  <a:rPr lang="en-IN" b="1" dirty="0"/>
                  <a:t>Extended Euclidean Algorithm</a:t>
                </a:r>
                <a:r>
                  <a:rPr lang="en-IN" dirty="0"/>
                  <a:t> is an extension of the normal Euclidean algorithm.</a:t>
                </a:r>
              </a:p>
              <a:p>
                <a:r>
                  <a:rPr lang="en-IN" dirty="0"/>
                  <a:t>In addition to finding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it also finds two integers </a:t>
                </a:r>
                <a:r>
                  <a:rPr lang="en-IN" b="1" dirty="0"/>
                  <a:t>x</a:t>
                </a:r>
                <a:r>
                  <a:rPr lang="en-IN" dirty="0"/>
                  <a:t> and </a:t>
                </a:r>
                <a:r>
                  <a:rPr lang="en-IN" b="1" dirty="0"/>
                  <a:t>y</a:t>
                </a:r>
                <a:r>
                  <a:rPr lang="en-IN" dirty="0"/>
                  <a:t> such that: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gcd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equation is called </a:t>
                </a:r>
                <a:r>
                  <a:rPr lang="en-US" b="1" dirty="0" err="1"/>
                  <a:t>Bézout’s</a:t>
                </a:r>
                <a:r>
                  <a:rPr lang="en-US" b="1" dirty="0"/>
                  <a:t> identity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IN" dirty="0"/>
                  <a:t>The extended Euclidean algorithm is very important in:</a:t>
                </a:r>
              </a:p>
              <a:p>
                <a:r>
                  <a:rPr lang="en-IN" b="1" dirty="0"/>
                  <a:t>Cryptography (RSA)</a:t>
                </a:r>
                <a:endParaRPr lang="en-IN" dirty="0"/>
              </a:p>
              <a:p>
                <a:r>
                  <a:rPr lang="en-IN" b="1" dirty="0"/>
                  <a:t>Finding modular inverses</a:t>
                </a:r>
                <a:endParaRPr lang="en-IN" dirty="0"/>
              </a:p>
              <a:p>
                <a:r>
                  <a:rPr lang="en-IN" b="1" dirty="0"/>
                  <a:t>Finite fields and encryption algorithms</a:t>
                </a:r>
                <a:endParaRPr lang="en-IN" dirty="0"/>
              </a:p>
              <a:p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9EE118-4A3D-5340-8B04-8F0DB391DB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7" t="-15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45647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59555-5377-E729-EF80-5B8D8F250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8C67A6-811D-A807-BF87-EB7C7C5E88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49829"/>
                <a:ext cx="7886700" cy="482713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For given integers a and b: The algorithm finds x and y</a:t>
                </a:r>
              </a:p>
              <a:p>
                <a:r>
                  <a:rPr lang="en-US" dirty="0"/>
                  <a:t>Such that the GCD of a and b can be written as a linear combination of a and b</a:t>
                </a:r>
              </a:p>
              <a:p>
                <a:r>
                  <a:rPr lang="en-US" dirty="0"/>
                  <a:t>Also: The values of x and y usually have opposite signs</a:t>
                </a:r>
              </a:p>
              <a:p>
                <a:r>
                  <a:rPr lang="en-IN" dirty="0"/>
                  <a:t>Example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𝑔𝑐𝑑</m:t>
                    </m:r>
                    <m:r>
                      <a:rPr lang="en-IN" b="0" smtClean="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42</m:t>
                        </m:r>
                      </m:e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e>
                    </m:d>
                    <m:r>
                      <a:rPr lang="ar-AE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ar-AE" dirty="0"/>
              </a:p>
              <a:p>
                <a:r>
                  <a:rPr lang="en-IN" dirty="0"/>
                  <a:t>The table in the image shows values of: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42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IN" dirty="0"/>
              </a:p>
              <a:p>
                <a:r>
                  <a:rPr lang="en-IN" dirty="0"/>
                  <a:t>All results are multiples of 6, because:</a:t>
                </a:r>
              </a:p>
              <a:p>
                <a:r>
                  <a:rPr lang="en-IN" dirty="0"/>
                  <a:t>Every linear combination of 42 and 30 is divisible by 6</a:t>
                </a:r>
              </a:p>
              <a:p>
                <a:r>
                  <a:rPr lang="en-IN" dirty="0"/>
                  <a:t>The smallest positive value obtained is the GCD</a:t>
                </a:r>
              </a:p>
              <a:p>
                <a:r>
                  <a:rPr lang="en-IN" dirty="0"/>
                  <a:t>Example solution: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42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b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30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b="0" i="1" smtClean="0">
                        <a:latin typeface="Cambria Math" panose="02040503050406030204" pitchFamily="18" charset="0"/>
                      </a:rPr>
                      <m:t>42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 b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30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ar-AE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ar-AE" dirty="0"/>
              </a:p>
              <a:p>
                <a:r>
                  <a:rPr lang="en-IN" dirty="0"/>
                  <a:t>So,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b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i="1"/>
                      <m:t>  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8C67A6-811D-A807-BF87-EB7C7C5E88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49829"/>
                <a:ext cx="7886700" cy="4827134"/>
              </a:xfrm>
              <a:blipFill>
                <a:blip r:embed="rId2"/>
                <a:stretch>
                  <a:fillRect l="-773" t="-13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49912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6B9A2-E507-0ED0-AC91-DE4EED230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the algorithm works (step-by-step idea)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309F1F-E834-28CD-F4FF-C18B705E61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sz="2800" dirty="0"/>
                  <a:t>We start with the normal Euclidean algorithm: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40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IN" sz="4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ar-AE" sz="40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40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ar-AE" sz="40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ar-AE" sz="40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ar-AE" sz="4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40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ar-AE" sz="4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ar-AE" sz="40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ar-AE" sz="40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40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ar-AE" sz="40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sz="4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ar-AE" sz="40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4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ar-AE" sz="400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ar-AE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ar-AE" sz="40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40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ar-AE" sz="400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ar-AE" sz="4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4000">
                          <a:latin typeface="Cambria Math" panose="02040503050406030204" pitchFamily="18" charset="0"/>
                        </a:rPr>
                        <m:t>⋮</m:t>
                      </m:r>
                      <m:phant>
                        <m:phantPr>
                          <m:zeroAsc m:val="on"/>
                          <m:ctrlPr>
                            <a:rPr lang="ar-AE" sz="4000" i="1">
                              <a:latin typeface="Cambria Math" panose="02040503050406030204" pitchFamily="18" charset="0"/>
                            </a:rPr>
                          </m:ctrlPr>
                        </m:phantPr>
                        <m:e>
                          <m:r>
                            <a:rPr lang="ar-AE" sz="400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phant>
                    </m:oMath>
                  </m:oMathPara>
                </a14:m>
                <a:endParaRPr lang="ar-AE" sz="4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sz="4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40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4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sz="40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40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ar-AE" sz="4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400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4000" dirty="0"/>
              </a:p>
              <a:p>
                <a:r>
                  <a:rPr lang="en-IN" sz="2800" dirty="0"/>
                  <a:t>The </a:t>
                </a:r>
                <a:r>
                  <a:rPr lang="en-IN" sz="2800" b="1" dirty="0"/>
                  <a:t>last non-zero remainder</a:t>
                </a:r>
                <a:r>
                  <a:rPr lang="en-IN" sz="2800" dirty="0"/>
                  <a:t> is the </a:t>
                </a:r>
                <a:r>
                  <a:rPr lang="en-IN" sz="2800" b="1" dirty="0"/>
                  <a:t>GCD</a:t>
                </a:r>
                <a:r>
                  <a:rPr lang="en-IN" sz="2800" dirty="0"/>
                  <a:t>.</a:t>
                </a:r>
              </a:p>
              <a:p>
                <a:endParaRPr lang="en-IN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309F1F-E834-28CD-F4FF-C18B705E61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18604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7BFB3-DA22-5893-E225-400A86C8E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Extension idea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2C3493-5771-74FE-EB38-3D490DA132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782083"/>
                <a:ext cx="8297636" cy="4351338"/>
              </a:xfrm>
            </p:spPr>
            <p:txBody>
              <a:bodyPr>
                <a:normAutofit/>
              </a:bodyPr>
              <a:lstStyle/>
              <a:p>
                <a:r>
                  <a:rPr lang="en-IN" sz="3200" dirty="0"/>
                  <a:t>At each step, we express the remainder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ar-AE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3200" b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2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3200" b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3200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AE" sz="3200" dirty="0"/>
              </a:p>
              <a:p>
                <a:r>
                  <a:rPr lang="en-IN" sz="3200" dirty="0"/>
                  <a:t>By repeatedly substituting backward, we finally get: </a:t>
                </a:r>
                <a14:m>
                  <m:oMath xmlns:m="http://schemas.openxmlformats.org/officeDocument/2006/math">
                    <m:r>
                      <a:rPr lang="en-IN" sz="3200" b="0" i="1" smtClean="0">
                        <a:latin typeface="Cambria Math" panose="02040503050406030204" pitchFamily="18" charset="0"/>
                      </a:rPr>
                      <m:t>𝑔𝑐𝑑</m:t>
                    </m:r>
                    <m:r>
                      <a:rPr lang="en-IN" sz="3200" b="0" smtClean="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sepChr m:val=","/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ar-AE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ar-AE" sz="3200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32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ar-AE" sz="3200" b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3200" b="0" i="1" smtClean="0">
                        <a:latin typeface="Cambria Math" panose="02040503050406030204" pitchFamily="18" charset="0"/>
                      </a:rPr>
                      <m:t>𝑏𝑦</m:t>
                    </m:r>
                  </m:oMath>
                </a14:m>
                <a:endParaRPr lang="ar-AE" sz="3200" dirty="0"/>
              </a:p>
              <a:p>
                <a:r>
                  <a:rPr lang="en-IN" sz="3200" dirty="0"/>
                  <a:t>This gives the required values of x and y.</a:t>
                </a:r>
              </a:p>
              <a:p>
                <a:r>
                  <a:rPr lang="en-IN" sz="3200" dirty="0"/>
                  <a:t>Final result: The extended Euclidean algorithm gives: </a:t>
                </a:r>
                <a:r>
                  <a:rPr lang="en-IN" sz="3200" dirty="0" err="1"/>
                  <a:t>gcd</a:t>
                </a:r>
                <a:r>
                  <a:rPr lang="en-IN" sz="3200" dirty="0"/>
                  <a:t>(a, b)</a:t>
                </a:r>
              </a:p>
              <a:p>
                <a:r>
                  <a:rPr lang="en-IN" sz="3200" dirty="0"/>
                  <a:t>x and y such that: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IN" b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IN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𝑔𝑐𝑑</m:t>
                    </m:r>
                    <m:r>
                      <a:rPr lang="en-IN" b="0" smtClean="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ar-AE" sz="3200" dirty="0"/>
              </a:p>
              <a:p>
                <a:endParaRPr lang="en-IN" sz="3200" dirty="0"/>
              </a:p>
              <a:p>
                <a:endParaRPr lang="en-IN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2C3493-5771-74FE-EB38-3D490DA132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782083"/>
                <a:ext cx="8297636" cy="4351338"/>
              </a:xfrm>
              <a:blipFill>
                <a:blip r:embed="rId2"/>
                <a:stretch>
                  <a:fillRect l="-1690" t="-2941" r="-9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62925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6344F-A47A-D091-E51A-5CA8176BD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Prime Numbers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92E94-DE4E-7549-C63A-82BE702B4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971" y="1291771"/>
            <a:ext cx="8665029" cy="520110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An integer </a:t>
            </a:r>
            <a:r>
              <a:rPr lang="en-US" sz="2400" b="1" dirty="0"/>
              <a:t>p &gt; 1</a:t>
            </a:r>
            <a:r>
              <a:rPr lang="en-US" sz="2400" dirty="0"/>
              <a:t> is called a </a:t>
            </a:r>
            <a:r>
              <a:rPr lang="en-US" sz="2400" b="1" dirty="0"/>
              <a:t>prime number</a:t>
            </a:r>
            <a:r>
              <a:rPr lang="en-US" sz="2400" dirty="0"/>
              <a:t> if its </a:t>
            </a:r>
            <a:r>
              <a:rPr lang="en-US" sz="2400" b="1" dirty="0"/>
              <a:t>only divisors</a:t>
            </a:r>
            <a:r>
              <a:rPr lang="en-US" sz="2400" dirty="0"/>
              <a:t> are </a:t>
            </a:r>
            <a:r>
              <a:rPr lang="en-US" sz="2400" b="1" dirty="0"/>
              <a:t>±1 and ±p</a:t>
            </a:r>
            <a:r>
              <a:rPr lang="en-US" sz="2400" dirty="0"/>
              <a:t>.</a:t>
            </a:r>
          </a:p>
          <a:p>
            <a:r>
              <a:rPr lang="en-US" sz="2400" dirty="0"/>
              <a:t>Examples of prime numbers:</a:t>
            </a:r>
            <a:br>
              <a:rPr lang="en-US" sz="2400" dirty="0"/>
            </a:br>
            <a:r>
              <a:rPr lang="en-US" sz="2400" dirty="0"/>
              <a:t>2, 3, 5, 7, 11, 13, 17, …</a:t>
            </a:r>
          </a:p>
          <a:p>
            <a:r>
              <a:rPr lang="en-US" sz="2400" dirty="0"/>
              <a:t>Numbers that are </a:t>
            </a:r>
            <a:r>
              <a:rPr lang="en-US" sz="2400" b="1" dirty="0"/>
              <a:t>not prime</a:t>
            </a:r>
            <a:r>
              <a:rPr lang="en-US" sz="2400" dirty="0"/>
              <a:t> are called </a:t>
            </a:r>
            <a:r>
              <a:rPr lang="en-US" sz="2400" b="1" dirty="0"/>
              <a:t>composite numbers</a:t>
            </a:r>
            <a:r>
              <a:rPr lang="en-US" sz="2400" dirty="0"/>
              <a:t>.</a:t>
            </a:r>
          </a:p>
          <a:p>
            <a:r>
              <a:rPr lang="en-US" sz="2400" dirty="0"/>
              <a:t>A composite number is the </a:t>
            </a:r>
            <a:r>
              <a:rPr lang="en-US" sz="2400" b="1" dirty="0"/>
              <a:t>product of two or more prime numbers</a:t>
            </a:r>
            <a:r>
              <a:rPr lang="en-US" sz="2400" dirty="0"/>
              <a:t>.</a:t>
            </a:r>
          </a:p>
          <a:p>
            <a:r>
              <a:rPr lang="en-US" sz="2400" dirty="0"/>
              <a:t>Example:</a:t>
            </a:r>
            <a:br>
              <a:rPr lang="en-US" sz="2400" dirty="0"/>
            </a:br>
            <a:r>
              <a:rPr lang="en-US" sz="2400" dirty="0"/>
              <a:t>6 = 2 × 3</a:t>
            </a:r>
            <a:br>
              <a:rPr lang="en-US" sz="2400" dirty="0"/>
            </a:br>
            <a:r>
              <a:rPr lang="en-US" sz="2400" dirty="0"/>
              <a:t>12 = 2 × 2 × 3</a:t>
            </a:r>
          </a:p>
          <a:p>
            <a:r>
              <a:rPr lang="en-US" sz="2400" b="1" dirty="0"/>
              <a:t>Importance of prime numbers</a:t>
            </a:r>
          </a:p>
          <a:p>
            <a:r>
              <a:rPr lang="en-US" sz="2400" dirty="0"/>
              <a:t>Prime numbers are the </a:t>
            </a:r>
            <a:r>
              <a:rPr lang="en-US" sz="2400" b="1" dirty="0"/>
              <a:t>building blocks of number theory</a:t>
            </a:r>
            <a:r>
              <a:rPr lang="en-US" sz="2400" dirty="0"/>
              <a:t>.</a:t>
            </a:r>
          </a:p>
          <a:p>
            <a:r>
              <a:rPr lang="en-US" sz="2400" dirty="0"/>
              <a:t>Many cryptographic techniques depend on the </a:t>
            </a:r>
            <a:r>
              <a:rPr lang="en-US" sz="2400" b="1" dirty="0"/>
              <a:t>properties of primes</a:t>
            </a:r>
            <a:r>
              <a:rPr lang="en-US" sz="2400" dirty="0"/>
              <a:t>.</a:t>
            </a:r>
          </a:p>
          <a:p>
            <a:r>
              <a:rPr lang="en-US" sz="2400" dirty="0"/>
              <a:t>Primes appear frequently in number theory and encryption algorithms.</a:t>
            </a:r>
          </a:p>
          <a:p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814844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E8D9C-5F55-A5BA-F182-96E9D9A25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Unique factorization of integers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2728CD-54C7-6DD5-6466-656856FDA3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400" dirty="0"/>
                  <a:t>Every integer </a:t>
                </a:r>
                <a:r>
                  <a:rPr lang="en-IN" sz="2400" b="1" dirty="0"/>
                  <a:t>a &gt; 1</a:t>
                </a:r>
                <a:r>
                  <a:rPr lang="en-IN" sz="2400" dirty="0"/>
                  <a:t> can be factored in a </a:t>
                </a:r>
                <a:r>
                  <a:rPr lang="en-IN" sz="2400" b="1" dirty="0"/>
                  <a:t>unique way</a:t>
                </a:r>
                <a:r>
                  <a:rPr lang="en-IN" sz="2400" dirty="0"/>
                  <a:t> as a product of prime numbers: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r>
                      <a:rPr lang="ar-AE" sz="2400">
                        <a:latin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a:rPr lang="ar-AE" sz="2400">
                        <a:latin typeface="Cambria Math" panose="02040503050406030204" pitchFamily="18" charset="0"/>
                      </a:rPr>
                      <m:t>×⋯×</m:t>
                    </m:r>
                    <m:sSubSup>
                      <m:sSub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bSup>
                  </m:oMath>
                </a14:m>
                <a:endParaRPr lang="ar-AE" sz="2400" dirty="0"/>
              </a:p>
              <a:p>
                <a:r>
                  <a:rPr lang="en-IN" sz="2400" dirty="0"/>
                  <a:t>where: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400">
                        <a:latin typeface="Cambria Math" panose="02040503050406030204" pitchFamily="18" charset="0"/>
                      </a:rPr>
                      <m:t>&lt;⋯&lt;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sz="2400" dirty="0"/>
                  <a:t>are </a:t>
                </a:r>
                <a:r>
                  <a:rPr lang="en-IN" sz="2400" b="1" dirty="0"/>
                  <a:t>prime numbers</a:t>
                </a:r>
                <a:endParaRPr lang="en-IN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400" dirty="0"/>
                  <a:t>are </a:t>
                </a:r>
                <a:r>
                  <a:rPr lang="en-IN" sz="2400" b="1" dirty="0"/>
                  <a:t>positive integers</a:t>
                </a:r>
                <a:endParaRPr lang="en-IN" sz="2400" dirty="0"/>
              </a:p>
              <a:p>
                <a:r>
                  <a:rPr lang="en-IN" sz="2400" dirty="0"/>
                  <a:t>This is called the </a:t>
                </a:r>
                <a:r>
                  <a:rPr lang="en-IN" sz="2400" b="1" dirty="0"/>
                  <a:t>Fundamental Theorem of Arithmetic</a:t>
                </a:r>
                <a:r>
                  <a:rPr lang="en-IN" sz="2400" dirty="0"/>
                  <a:t>.</a:t>
                </a:r>
              </a:p>
              <a:p>
                <a:endParaRPr lang="en-IN" sz="2400" dirty="0"/>
              </a:p>
              <a:p>
                <a:r>
                  <a:rPr lang="en-IN" sz="2400" b="1" dirty="0"/>
                  <a:t>Examples</a:t>
                </a:r>
              </a:p>
              <a:p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91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lang="en-IN" sz="2400" dirty="0"/>
              </a:p>
              <a:p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3600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sz="2400" dirty="0"/>
              </a:p>
              <a:p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11011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7</m:t>
                    </m:r>
                    <m:r>
                      <a:rPr lang="ar-AE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lang="ar-AE" sz="2400" dirty="0"/>
              </a:p>
              <a:p>
                <a:endParaRPr lang="en-IN" sz="2400" dirty="0"/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2728CD-54C7-6DD5-6466-656856FDA3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31419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98F23-61B1-CD7A-9340-849D70AEE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4627"/>
            <a:ext cx="7886700" cy="68897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/>
              <a:t>Fermat’s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C4440E-9EC3-8534-1615-285B76C5B9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1741" y="899887"/>
                <a:ext cx="8702259" cy="5631541"/>
              </a:xfrm>
            </p:spPr>
            <p:txBody>
              <a:bodyPr>
                <a:normAutofit/>
              </a:bodyPr>
              <a:lstStyle/>
              <a:p>
                <a:pPr marL="342900" lvl="1" indent="0">
                  <a:lnSpc>
                    <a:spcPct val="150000"/>
                  </a:lnSpc>
                  <a:buNone/>
                </a:pPr>
                <a:r>
                  <a:rPr lang="en-US" sz="2800" dirty="0"/>
                  <a:t>Tells us what happens when we take </a:t>
                </a:r>
                <a:r>
                  <a:rPr lang="en-US" sz="2800" b="1" dirty="0"/>
                  <a:t>powers of a number modulo a prime</a:t>
                </a:r>
                <a:r>
                  <a:rPr lang="en-US" sz="2800" dirty="0"/>
                  <a:t>.</a:t>
                </a:r>
                <a:endParaRPr lang="en-IN" sz="2800" dirty="0"/>
              </a:p>
              <a:p>
                <a:pPr lvl="1">
                  <a:lnSpc>
                    <a:spcPct val="150000"/>
                  </a:lnSpc>
                </a:pPr>
                <a:r>
                  <a:rPr lang="en-IN" sz="2800" dirty="0"/>
                  <a:t>If ‘p’ is prime and ‘a’ is a positive integer not divisible by ‘p’, then: </a:t>
                </a:r>
                <a:r>
                  <a:rPr lang="da-DK" sz="2800" b="0" i="1" u="none" strike="noStrike" baseline="0" dirty="0"/>
                  <a:t>a</a:t>
                </a:r>
                <a:r>
                  <a:rPr lang="da-DK" sz="2800" b="0" i="1" u="none" strike="noStrike" baseline="30000" dirty="0"/>
                  <a:t>p</a:t>
                </a:r>
                <a:r>
                  <a:rPr lang="da-DK" sz="2800" b="0" i="0" u="none" strike="noStrike" baseline="30000" dirty="0"/>
                  <a:t>-1</a:t>
                </a:r>
                <a:r>
                  <a:rPr lang="da-DK" sz="2800" b="0" i="0" u="none" strike="noStrike" baseline="0" dirty="0"/>
                  <a:t> </a:t>
                </a:r>
                <a:r>
                  <a:rPr lang="en-US" sz="2800" b="1" dirty="0"/>
                  <a:t>≡</a:t>
                </a:r>
                <a:r>
                  <a:rPr lang="da-DK" sz="2800" b="0" i="0" u="none" strike="noStrike" baseline="0" dirty="0"/>
                  <a:t> 1 (mod </a:t>
                </a:r>
                <a:r>
                  <a:rPr lang="da-DK" sz="2800" b="0" i="1" u="none" strike="noStrike" baseline="0" dirty="0"/>
                  <a:t>p</a:t>
                </a:r>
                <a:r>
                  <a:rPr lang="da-DK" sz="2800" b="0" i="0" u="none" strike="noStrike" baseline="0" dirty="0"/>
                  <a:t>)</a:t>
                </a:r>
              </a:p>
              <a:p>
                <a:pPr lvl="1"/>
                <a:r>
                  <a:rPr lang="en-IN" sz="2400" dirty="0">
                    <a:solidFill>
                      <a:srgbClr val="0070C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IN" sz="2400" dirty="0">
                    <a:solidFill>
                      <a:srgbClr val="0070C0"/>
                    </a:solidFill>
                  </a:rPr>
                  <a:t>(prime),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IN" sz="2400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en-IN" sz="2400" dirty="0">
                    <a:solidFill>
                      <a:srgbClr val="0070C0"/>
                    </a:solidFill>
                  </a:rPr>
                  <a:t>Check: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ar-AE" sz="24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ar-AE" sz="24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729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ar-AE" sz="24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729</m:t>
                    </m:r>
                    <m:r>
                      <m:rPr>
                        <m:nor/>
                      </m:rPr>
                      <a:rPr lang="ar-AE" sz="2400" i="1">
                        <a:solidFill>
                          <a:srgbClr val="0070C0"/>
                        </a:solidFill>
                      </a:rPr>
                      <m:t>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0070C0"/>
                        </a:solidFill>
                      </a:rPr>
                      <m:t> </m:t>
                    </m:r>
                    <m:r>
                      <a:rPr lang="en-IN" sz="24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sz="2400" b="0" dirty="0">
                  <a:solidFill>
                    <a:srgbClr val="0070C0"/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IN" sz="2800" dirty="0"/>
                  <a:t>If ‘p’ is prime and ‘a’ is a positive integer, then: </a:t>
                </a:r>
                <a:r>
                  <a:rPr lang="da-DK" sz="2800" b="0" i="1" u="none" strike="noStrike" baseline="0" dirty="0"/>
                  <a:t>a</a:t>
                </a:r>
                <a:r>
                  <a:rPr lang="da-DK" sz="2800" b="0" i="1" u="none" strike="noStrike" baseline="30000" dirty="0"/>
                  <a:t>p</a:t>
                </a:r>
                <a:r>
                  <a:rPr lang="da-DK" sz="2800" b="0" i="0" u="none" strike="noStrike" baseline="0" dirty="0"/>
                  <a:t> </a:t>
                </a:r>
                <a:r>
                  <a:rPr lang="en-US" sz="2800" b="1" dirty="0"/>
                  <a:t>≡</a:t>
                </a:r>
                <a:r>
                  <a:rPr lang="da-DK" sz="2800" b="0" i="0" u="none" strike="noStrike" baseline="0" dirty="0"/>
                  <a:t> a (mod </a:t>
                </a:r>
                <a:r>
                  <a:rPr lang="da-DK" sz="2800" b="0" i="1" u="none" strike="noStrike" baseline="0" dirty="0"/>
                  <a:t>p</a:t>
                </a:r>
                <a:r>
                  <a:rPr lang="da-DK" sz="2800" b="0" i="0" u="none" strike="noStrike" baseline="0" dirty="0"/>
                  <a:t>)</a:t>
                </a:r>
              </a:p>
              <a:p>
                <a:pPr marL="1028700" lvl="3" indent="0">
                  <a:lnSpc>
                    <a:spcPct val="150000"/>
                  </a:lnSpc>
                  <a:buNone/>
                </a:pPr>
                <a:endParaRPr lang="da-DK" sz="2800" b="0" i="0" u="none" strike="noStrike" baseline="0" dirty="0"/>
              </a:p>
              <a:p>
                <a:pPr lvl="3">
                  <a:lnSpc>
                    <a:spcPct val="150000"/>
                  </a:lnSpc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C4440E-9EC3-8534-1615-285B76C5B9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1741" y="899887"/>
                <a:ext cx="8702259" cy="563154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6827CC0-94F4-140E-5A63-B5230DC1B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81" y="5673138"/>
            <a:ext cx="8598178" cy="118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7978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58E4EF-9436-E31E-F1DE-87DB0E43B0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1276" y="345990"/>
                <a:ext cx="8822724" cy="651201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3200" dirty="0"/>
                  <a:t>Prove  23 is a prime</a:t>
                </a:r>
              </a:p>
              <a:p>
                <a:r>
                  <a:rPr lang="en-IN" sz="3200" dirty="0"/>
                  <a:t>a</a:t>
                </a:r>
                <a:r>
                  <a:rPr lang="en-IN" sz="3200" baseline="30000" dirty="0"/>
                  <a:t>p−1</a:t>
                </a:r>
                <a:r>
                  <a:rPr lang="en-IN" sz="3200" dirty="0"/>
                  <a:t>≡1(</a:t>
                </a:r>
                <a:r>
                  <a:rPr lang="en-IN" sz="3200" dirty="0" err="1"/>
                  <a:t>modp</a:t>
                </a:r>
                <a:r>
                  <a:rPr lang="en-IN" sz="3200" dirty="0"/>
                  <a:t>), </a:t>
                </a:r>
                <a:r>
                  <a:rPr lang="en-US" sz="3200" dirty="0"/>
                  <a:t>So to test whether </a:t>
                </a:r>
                <a:r>
                  <a:rPr lang="en-US" sz="3200" b="1" dirty="0"/>
                  <a:t>23 behaves like a prime</a:t>
                </a:r>
                <a:r>
                  <a:rPr lang="en-US" sz="3200" dirty="0"/>
                  <a:t>, we choose a small base </a:t>
                </a:r>
                <a14:m>
                  <m:oMath xmlns:m="http://schemas.openxmlformats.org/officeDocument/2006/math">
                    <m:r>
                      <a:rPr lang="en-US" i="1"/>
                      <m:t>𝑎</m:t>
                    </m:r>
                  </m:oMath>
                </a14:m>
                <a:r>
                  <a:rPr lang="en-US" sz="3200" dirty="0"/>
                  <a:t>coprime to 23 (say </a:t>
                </a:r>
                <a14:m>
                  <m:oMath xmlns:m="http://schemas.openxmlformats.org/officeDocument/2006/math">
                    <m:r>
                      <a:rPr lang="en-US" i="1"/>
                      <m:t>𝑎</m:t>
                    </m:r>
                    <m:r>
                      <a:rPr lang="en-US"/>
                      <m:t>=</m:t>
                    </m:r>
                    <m:r>
                      <a:rPr lang="en-US"/>
                      <m:t>2</m:t>
                    </m:r>
                  </m:oMath>
                </a14:m>
                <a:r>
                  <a:rPr lang="en-US" sz="3200" dirty="0"/>
                  <a:t>).</a:t>
                </a:r>
              </a:p>
              <a:p>
                <a:r>
                  <a:rPr lang="en-IN" sz="3200" dirty="0"/>
                  <a:t>2</a:t>
                </a:r>
                <a:r>
                  <a:rPr lang="en-IN" sz="3200" baseline="30000" dirty="0"/>
                  <a:t>22</a:t>
                </a:r>
                <a:r>
                  <a:rPr lang="en-IN" sz="3200" dirty="0"/>
                  <a:t>≡1(mod23)</a:t>
                </a:r>
              </a:p>
              <a:p>
                <a:r>
                  <a:rPr lang="en-IN" sz="3200" dirty="0"/>
                  <a:t>Compute powers modulo 23: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/>
                          <m:t>2</m:t>
                        </m:r>
                      </m:e>
                      <m:sup>
                        <m:r>
                          <a:rPr lang="ar-AE"/>
                          <m:t>5</m:t>
                        </m:r>
                      </m:sup>
                    </m:sSup>
                    <m:r>
                      <a:rPr lang="ar-AE"/>
                      <m:t>=</m:t>
                    </m:r>
                    <m:r>
                      <a:rPr lang="ar-AE"/>
                      <m:t>32</m:t>
                    </m:r>
                    <m:r>
                      <a:rPr lang="ar-AE"/>
                      <m:t>≡</m:t>
                    </m:r>
                    <m:r>
                      <a:rPr lang="ar-AE"/>
                      <m:t>9</m:t>
                    </m:r>
                    <m:r>
                      <a:rPr lang="ar-AE"/>
                      <m:t>  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/>
                          <m:t>mod</m:t>
                        </m:r>
                        <m:r>
                          <a:rPr lang="en-IN"/>
                          <m:t> </m:t>
                        </m:r>
                        <m:r>
                          <a:rPr lang="en-IN"/>
                          <m:t>23</m:t>
                        </m:r>
                      </m:e>
                    </m:d>
                  </m:oMath>
                </a14:m>
                <a:endParaRPr lang="ar-AE" sz="32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/>
                          <m:t>2</m:t>
                        </m:r>
                      </m:e>
                      <m:sup>
                        <m:r>
                          <a:rPr lang="ar-AE"/>
                          <m:t>10</m:t>
                        </m:r>
                      </m:sup>
                    </m:sSup>
                    <m:r>
                      <a:rPr lang="ar-AE"/>
                      <m:t>=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/>
                          <m:t>9</m:t>
                        </m:r>
                      </m:e>
                      <m:sup>
                        <m:r>
                          <a:rPr lang="ar-AE"/>
                          <m:t>2</m:t>
                        </m:r>
                      </m:sup>
                    </m:sSup>
                    <m:r>
                      <a:rPr lang="ar-AE"/>
                      <m:t>=</m:t>
                    </m:r>
                    <m:r>
                      <a:rPr lang="ar-AE"/>
                      <m:t>81</m:t>
                    </m:r>
                    <m:r>
                      <a:rPr lang="ar-AE"/>
                      <m:t>≡</m:t>
                    </m:r>
                    <m:r>
                      <a:rPr lang="ar-AE"/>
                      <m:t>12</m:t>
                    </m:r>
                    <m:r>
                      <a:rPr lang="ar-AE"/>
                      <m:t>  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/>
                          <m:t>mod</m:t>
                        </m:r>
                        <m:r>
                          <a:rPr lang="en-IN"/>
                          <m:t> </m:t>
                        </m:r>
                        <m:r>
                          <a:rPr lang="en-IN"/>
                          <m:t>23</m:t>
                        </m:r>
                      </m:e>
                    </m:d>
                  </m:oMath>
                </a14:m>
                <a:endParaRPr lang="ar-AE" sz="32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/>
                          <m:t>2</m:t>
                        </m:r>
                      </m:e>
                      <m:sup>
                        <m:r>
                          <a:rPr lang="ar-AE"/>
                          <m:t>11</m:t>
                        </m:r>
                      </m:sup>
                    </m:sSup>
                    <m:r>
                      <a:rPr lang="ar-AE"/>
                      <m:t>=</m:t>
                    </m:r>
                    <m:r>
                      <a:rPr lang="ar-AE"/>
                      <m:t>2</m:t>
                    </m:r>
                    <m:r>
                      <a:rPr lang="ar-AE"/>
                      <m:t>⋅</m:t>
                    </m:r>
                    <m:r>
                      <a:rPr lang="ar-AE"/>
                      <m:t>12</m:t>
                    </m:r>
                    <m:r>
                      <a:rPr lang="ar-AE"/>
                      <m:t>=</m:t>
                    </m:r>
                    <m:r>
                      <a:rPr lang="ar-AE"/>
                      <m:t>24</m:t>
                    </m:r>
                    <m:r>
                      <a:rPr lang="ar-AE"/>
                      <m:t>≡</m:t>
                    </m:r>
                    <m:r>
                      <a:rPr lang="ar-AE"/>
                      <m:t>1</m:t>
                    </m:r>
                    <m:r>
                      <a:rPr lang="ar-AE"/>
                      <m:t>  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/>
                          <m:t>mod</m:t>
                        </m:r>
                        <m:r>
                          <a:rPr lang="en-IN"/>
                          <m:t> </m:t>
                        </m:r>
                        <m:r>
                          <a:rPr lang="en-IN"/>
                          <m:t>23</m:t>
                        </m:r>
                      </m:e>
                    </m:d>
                  </m:oMath>
                </a14:m>
                <a:endParaRPr lang="ar-AE" sz="3200" dirty="0"/>
              </a:p>
              <a:p>
                <a:r>
                  <a:rPr lang="en-IN" sz="3200" dirty="0"/>
                  <a:t>Now square: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/>
                          <m:t>2</m:t>
                        </m:r>
                      </m:e>
                      <m:sup>
                        <m:r>
                          <a:rPr lang="ar-AE"/>
                          <m:t>22</m:t>
                        </m:r>
                      </m:sup>
                    </m:sSup>
                    <m:r>
                      <a:rPr lang="ar-AE"/>
                      <m:t>=</m:t>
                    </m:r>
                    <m:d>
                      <m:dPr>
                        <m:endChr m:val=""/>
                        <m:ctrlPr>
                          <a:rPr lang="ar-AE" i="1"/>
                        </m:ctrlPr>
                      </m:dPr>
                      <m:e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/>
                              <m:t>2</m:t>
                            </m:r>
                          </m:e>
                          <m:sup>
                            <m:r>
                              <a:rPr lang="ar-AE"/>
                              <m:t>11</m:t>
                            </m:r>
                          </m:sup>
                        </m:sSup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/>
                                </m:ctrlPr>
                              </m:dPr>
                              <m:e>
                                <m:r>
                                  <a:rPr lang="ar-AE"/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/>
                              <m:t>2</m:t>
                            </m:r>
                          </m:sup>
                        </m:sSup>
                        <m:r>
                          <a:rPr lang="ar-AE"/>
                          <m:t>≡</m:t>
                        </m:r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/>
                              <m:t>1</m:t>
                            </m:r>
                          </m:e>
                          <m:sup>
                            <m:r>
                              <a:rPr lang="ar-AE"/>
                              <m:t>2</m:t>
                            </m:r>
                          </m:sup>
                        </m:sSup>
                        <m:r>
                          <a:rPr lang="ar-AE"/>
                          <m:t>≡</m:t>
                        </m:r>
                        <m:r>
                          <a:rPr lang="ar-AE"/>
                          <m:t>1</m:t>
                        </m:r>
                        <m:r>
                          <a:rPr lang="ar-AE"/>
                          <m:t>  </m:t>
                        </m:r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/>
                              <m:t>mod</m:t>
                            </m:r>
                            <m:r>
                              <a:rPr lang="en-IN"/>
                              <m:t> </m:t>
                            </m:r>
                            <m:r>
                              <a:rPr lang="en-IN"/>
                              <m:t>23</m:t>
                            </m:r>
                          </m:e>
                        </m:d>
                      </m:e>
                    </m:d>
                  </m:oMath>
                </a14:m>
                <a:endParaRPr lang="ar-AE" sz="3200" dirty="0"/>
              </a:p>
              <a:p>
                <a:r>
                  <a:rPr lang="en-IN" sz="3200" dirty="0"/>
                  <a:t>Since,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/>
                          <m:t>2</m:t>
                        </m:r>
                      </m:e>
                      <m:sup>
                        <m:r>
                          <a:rPr lang="ar-AE"/>
                          <m:t>22</m:t>
                        </m:r>
                      </m:sup>
                    </m:sSup>
                    <m:r>
                      <a:rPr lang="ar-AE"/>
                      <m:t>≡</m:t>
                    </m:r>
                    <m:r>
                      <a:rPr lang="ar-AE"/>
                      <m:t>1</m:t>
                    </m:r>
                    <m:r>
                      <a:rPr lang="ar-AE"/>
                      <m:t>  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/>
                          <m:t>mod</m:t>
                        </m:r>
                        <m:r>
                          <a:rPr lang="en-IN"/>
                          <m:t> </m:t>
                        </m:r>
                        <m:r>
                          <a:rPr lang="en-IN"/>
                          <m:t>23</m:t>
                        </m:r>
                      </m:e>
                    </m:d>
                    <m:r>
                      <a:rPr lang="ar-AE"/>
                      <m:t>,</m:t>
                    </m:r>
                  </m:oMath>
                </a14:m>
                <a:endParaRPr lang="ar-AE" sz="3200" dirty="0"/>
              </a:p>
              <a:p>
                <a:r>
                  <a:rPr lang="ar-AE" sz="3200" dirty="0"/>
                  <a:t>23</a:t>
                </a:r>
                <a:r>
                  <a:rPr lang="en-US" sz="3200" dirty="0"/>
                  <a:t> </a:t>
                </a:r>
                <a:r>
                  <a:rPr lang="ar-AE" sz="3200" dirty="0"/>
                  <a:t> </a:t>
                </a:r>
                <a:r>
                  <a:rPr lang="en-IN" sz="3200" b="1" dirty="0"/>
                  <a:t>passes Fermat’s primality test</a:t>
                </a:r>
                <a:r>
                  <a:rPr lang="en-IN" sz="3200" dirty="0"/>
                  <a:t> for base 2.</a:t>
                </a:r>
              </a:p>
              <a:p>
                <a:r>
                  <a:rPr lang="en-IN" sz="3200" dirty="0"/>
                  <a:t>Because 23 has no smaller divisors (2, 3, 5 do not divide it), this confirms:</a:t>
                </a:r>
              </a:p>
              <a:p>
                <a:pPr marL="0" indent="0">
                  <a:buNone/>
                </a:pPr>
                <a:r>
                  <a:rPr lang="en-IN" sz="3200"/>
                  <a:t> </a:t>
                </a:r>
                <a:r>
                  <a:rPr lang="en-IN" sz="3200" b="1" dirty="0"/>
                  <a:t>23 is a prime number.</a:t>
                </a:r>
                <a:endParaRPr lang="en-IN" sz="3200" dirty="0"/>
              </a:p>
              <a:p>
                <a:endParaRPr lang="en-IN" sz="3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58E4EF-9436-E31E-F1DE-87DB0E43B0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1276" y="345990"/>
                <a:ext cx="8822724" cy="6512010"/>
              </a:xfrm>
              <a:blipFill>
                <a:blip r:embed="rId2"/>
                <a:stretch>
                  <a:fillRect l="-1451" t="-29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70266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CE01E-3ECC-2BB0-4A6E-2B8D98DAE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Totient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FE1269-7324-2385-FE4F-21471FAD40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Euler’s Totient Function, written as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ar-AE" dirty="0"/>
                  <a:t>,</a:t>
                </a:r>
              </a:p>
              <a:p>
                <a:r>
                  <a:rPr lang="en-IN" dirty="0"/>
                  <a:t>Counts how many </a:t>
                </a:r>
                <a:r>
                  <a:rPr lang="en-IN" b="1" dirty="0"/>
                  <a:t>positive integers less than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dirty="0"/>
                  <a:t>are </a:t>
                </a:r>
                <a:r>
                  <a:rPr lang="en-IN" b="1" dirty="0"/>
                  <a:t>coprime (relatively prime)</a:t>
                </a:r>
                <a:r>
                  <a:rPr lang="en-IN" dirty="0"/>
                  <a:t> to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dirty="0"/>
                  <a:t>.</a:t>
                </a:r>
              </a:p>
              <a:p>
                <a:r>
                  <a:rPr lang="en-IN" dirty="0"/>
                  <a:t>“Relatively prime” means </a:t>
                </a:r>
                <a:r>
                  <a:rPr lang="en-IN" b="1" dirty="0"/>
                  <a:t>GCD = 1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By convention: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:r>
                  <a:rPr lang="en-IN" b="1" dirty="0"/>
                  <a:t>Example 1: Find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37</m:t>
                        </m:r>
                      </m:e>
                    </m:d>
                  </m:oMath>
                </a14:m>
                <a:endParaRPr lang="ar-AE" b="1" dirty="0"/>
              </a:p>
              <a:p>
                <a:r>
                  <a:rPr lang="ar-AE" dirty="0"/>
                  <a:t>37 </a:t>
                </a:r>
                <a:r>
                  <a:rPr lang="en-IN" dirty="0"/>
                  <a:t>is a </a:t>
                </a:r>
                <a:r>
                  <a:rPr lang="en-IN" b="1" dirty="0"/>
                  <a:t>prime number, </a:t>
                </a:r>
                <a:r>
                  <a:rPr lang="en-IN" dirty="0"/>
                  <a:t>Numbers less than 37 are: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endParaRPr lang="en-IN" dirty="0"/>
              </a:p>
              <a:p>
                <a:r>
                  <a:rPr lang="en-IN" dirty="0"/>
                  <a:t>A prime number has </a:t>
                </a:r>
                <a:r>
                  <a:rPr lang="en-IN" b="1" dirty="0"/>
                  <a:t>no divisors other than 1 and itself</a:t>
                </a:r>
                <a:endParaRPr lang="en-IN" dirty="0"/>
              </a:p>
              <a:p>
                <a:r>
                  <a:rPr lang="en-IN" dirty="0"/>
                  <a:t>✔ So </a:t>
                </a:r>
                <a:r>
                  <a:rPr lang="en-IN" b="1" dirty="0"/>
                  <a:t>every number from 1 to 36 is coprime with 37</a:t>
                </a:r>
                <a:endParaRPr lang="en-IN" dirty="0"/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37</m:t>
                            </m:r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36</m:t>
                        </m:r>
                      </m:e>
                    </m:borderBox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FE1269-7324-2385-FE4F-21471FAD40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18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22925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6FCEC-5112-0B47-5AAF-92C81949E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Totient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209933-F3EF-19E6-B396-6C1F50EAEC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Find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35</m:t>
                        </m:r>
                      </m:e>
                    </m:d>
                  </m:oMath>
                </a14:m>
                <a:endParaRPr lang="ar-AE" b="1" dirty="0"/>
              </a:p>
              <a:p>
                <a:r>
                  <a:rPr lang="en-IN" dirty="0"/>
                  <a:t>First, note: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35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IN" dirty="0"/>
              </a:p>
              <a:p>
                <a:r>
                  <a:rPr lang="en-IN" dirty="0"/>
                  <a:t>Now list numbers </a:t>
                </a:r>
                <a:r>
                  <a:rPr lang="en-IN" b="1" dirty="0"/>
                  <a:t>less than 35</a:t>
                </a:r>
                <a:r>
                  <a:rPr lang="en-IN" dirty="0"/>
                  <a:t> that are </a:t>
                </a:r>
                <a:r>
                  <a:rPr lang="en-IN" b="1" dirty="0"/>
                  <a:t>not divisible by 5 or 7</a:t>
                </a:r>
                <a:r>
                  <a:rPr lang="en-IN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19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22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23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26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29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31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33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34</m:t>
                    </m:r>
                  </m:oMath>
                </a14:m>
                <a:endParaRPr lang="en-IN" dirty="0"/>
              </a:p>
              <a:p>
                <a:r>
                  <a:rPr lang="en-IN" dirty="0"/>
                  <a:t>✔ Total numbers = </a:t>
                </a:r>
                <a:r>
                  <a:rPr lang="en-IN" b="1" dirty="0"/>
                  <a:t>24</a:t>
                </a:r>
                <a:endParaRPr lang="en-IN" dirty="0"/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35</m:t>
                            </m:r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24</m:t>
                        </m:r>
                      </m:e>
                    </m:borderBox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209933-F3EF-19E6-B396-6C1F50EAEC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15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26668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9206-FDE1-D96D-DBC8-4BC6D0A04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Property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95E544-2057-0D6A-D072-22D7169544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312150" cy="4351338"/>
              </a:xfrm>
            </p:spPr>
            <p:txBody>
              <a:bodyPr>
                <a:normAutofit/>
              </a:bodyPr>
              <a:lstStyle/>
              <a:p>
                <a:r>
                  <a:rPr lang="en-IN" b="1" dirty="0"/>
                  <a:t>If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IN" b="1" dirty="0"/>
                  <a:t>is a prime number: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borderBox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Example: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19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Euler Totient for Product of Two Primes</a:t>
                </a:r>
              </a:p>
              <a:p>
                <a:r>
                  <a:rPr lang="en-IN" dirty="0"/>
                  <a:t>Let: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IN" dirty="0"/>
                  <a:t>and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IN" dirty="0"/>
                  <a:t> be </a:t>
                </a:r>
                <a:r>
                  <a:rPr lang="en-IN" b="1" dirty="0"/>
                  <a:t>distinct primes,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𝑝𝑞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IN" dirty="0"/>
                  <a:t>Then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𝑝𝑞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borderBox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Numbers </a:t>
                </a:r>
                <a:r>
                  <a:rPr lang="en-IN" b="1" dirty="0"/>
                  <a:t>not coprime</a:t>
                </a:r>
                <a:r>
                  <a:rPr lang="en-IN" dirty="0"/>
                  <a:t> to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𝑝𝑞</m:t>
                    </m:r>
                  </m:oMath>
                </a14:m>
                <a:r>
                  <a:rPr lang="en-IN" dirty="0"/>
                  <a:t>are multiples of: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IN" dirty="0"/>
              </a:p>
              <a:p>
                <a:r>
                  <a:rPr lang="en-IN" dirty="0"/>
                  <a:t>Multiples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IN" dirty="0"/>
                  <a:t>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dirty="0"/>
                  <a:t>numbers</a:t>
                </a:r>
              </a:p>
              <a:p>
                <a:r>
                  <a:rPr lang="en-IN" dirty="0"/>
                  <a:t>Multiples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IN" dirty="0"/>
                  <a:t>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dirty="0"/>
                  <a:t>numbers</a:t>
                </a:r>
              </a:p>
              <a:p>
                <a:r>
                  <a:rPr lang="en-IN" dirty="0"/>
                  <a:t>Remove all these from total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𝑝𝑞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dirty="0"/>
              </a:p>
              <a:p>
                <a:r>
                  <a:rPr lang="en-IN" dirty="0"/>
                  <a:t>Remaining numbers: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𝑝𝑞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ar-AE" dirty="0"/>
              </a:p>
              <a:p>
                <a:endParaRPr lang="ar-AE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95E544-2057-0D6A-D072-22D7169544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312150" cy="4351338"/>
              </a:xfrm>
              <a:blipFill>
                <a:blip r:embed="rId2"/>
                <a:stretch>
                  <a:fillRect l="-733" t="-1541" b="-12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15537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5E39C-B2C0-B952-5CD8-048646A55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B8F48D-33D0-D06D-0236-AE0635D395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sz="2800" b="1" dirty="0"/>
                  <a:t>Find </a:t>
                </a:r>
                <a14:m>
                  <m:oMath xmlns:m="http://schemas.openxmlformats.org/officeDocument/2006/math">
                    <m:r>
                      <a:rPr lang="en-IN" sz="28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800"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d>
                  </m:oMath>
                </a14:m>
                <a:endParaRPr lang="ar-AE" sz="28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800">
                          <a:latin typeface="Cambria Math" panose="02040503050406030204" pitchFamily="18" charset="0"/>
                        </a:rPr>
                        <m:t>21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endParaRPr lang="ar-AE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800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21</m:t>
                          </m:r>
                        </m:e>
                      </m:d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  <a:p>
                <a:endParaRPr lang="ar-AE" sz="2800" dirty="0"/>
              </a:p>
              <a:p>
                <a:pPr marL="0" indent="0">
                  <a:buNone/>
                </a:pPr>
                <a:r>
                  <a:rPr lang="en-IN" sz="2800" dirty="0"/>
                  <a:t>The 12 coprime numbers are:</a:t>
                </a:r>
              </a:p>
              <a:p>
                <a:endParaRPr lang="en-IN" sz="2800" dirty="0"/>
              </a:p>
              <a:p>
                <a:pPr marL="0" indent="0">
                  <a:buNone/>
                </a:pPr>
                <a:r>
                  <a:rPr lang="en-IN" sz="2800" dirty="0"/>
                  <a:t> </a:t>
                </a:r>
                <a14:m>
                  <m:oMath xmlns:m="http://schemas.openxmlformats.org/officeDocument/2006/math">
                    <m:r>
                      <a:rPr lang="en-IN" sz="28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19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lang="en-IN" sz="2800" dirty="0"/>
              </a:p>
              <a:p>
                <a:endParaRPr lang="en-IN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B8F48D-33D0-D06D-0236-AE0635D395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31283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79305-BE49-CD69-0A61-585C33DA1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Euler’s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1BF5CE-F4CA-0AFA-6150-6F1D9EF93D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21055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/>
                  <a:t>Euler’s theorem is a fundamental result in number theory and cryptography.</a:t>
                </a:r>
              </a:p>
              <a:p>
                <a:r>
                  <a:rPr lang="en-US" sz="2800" dirty="0"/>
                  <a:t>It generalizes Fermat’s Little Theorem.</a:t>
                </a:r>
              </a:p>
              <a:p>
                <a:r>
                  <a:rPr lang="en-US" sz="2800" dirty="0"/>
                  <a:t>Applicable to any integer modulus, not necessarily prime.</a:t>
                </a:r>
              </a:p>
              <a:p>
                <a:r>
                  <a:rPr lang="en-IN" sz="2800" dirty="0"/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IN" sz="2800" dirty="0"/>
                  <a:t>and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/>
                  <a:t>are </a:t>
                </a:r>
                <a:r>
                  <a:rPr lang="en-IN" sz="2800" b="1" dirty="0"/>
                  <a:t>relatively prime</a:t>
                </a:r>
                <a:r>
                  <a:rPr lang="en-IN" sz="2800" dirty="0"/>
                  <a:t>, i.e.,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ar-AE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sz="2800" dirty="0"/>
                  <a:t>,</a:t>
                </a:r>
              </a:p>
              <a:p>
                <a:r>
                  <a:rPr lang="en-IN" sz="2800" dirty="0"/>
                  <a:t>then: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sSup>
                          <m:sSup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d>
                              <m:dPr>
                                <m:ctrlPr>
                                  <a:rPr lang="ar-AE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p>
                        <m:r>
                          <a:rPr lang="ar-AE" sz="2400"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ar-AE" sz="24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ar-AE" sz="2400" i="1"/>
                          <m:t>  </m:t>
                        </m:r>
                        <m:d>
                          <m:d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IN" sz="2400" i="1"/>
                              <m:t>mod</m:t>
                            </m:r>
                            <m:r>
                              <m:rPr>
                                <m:nor/>
                              </m:rPr>
                              <a:rPr lang="en-IN" sz="2400" i="1"/>
                              <m:t> 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borderBox>
                  </m:oMath>
                </a14:m>
                <a:endParaRPr lang="ar-AE" sz="2800" b="0" dirty="0"/>
              </a:p>
              <a:p>
                <a:r>
                  <a:rPr lang="en-IN" sz="2800" dirty="0"/>
                  <a:t>where: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IN" sz="2800" dirty="0"/>
                  <a:t>is </a:t>
                </a:r>
                <a:r>
                  <a:rPr lang="en-IN" sz="2800" b="1" dirty="0"/>
                  <a:t>Euler’s Totient Function</a:t>
                </a:r>
                <a:endParaRPr lang="en-IN" sz="2800" dirty="0"/>
              </a:p>
              <a:p>
                <a:endParaRPr lang="en-US" sz="2800" dirty="0"/>
              </a:p>
              <a:p>
                <a:pPr marL="0" indent="0">
                  <a:buNone/>
                </a:pPr>
                <a:endParaRPr lang="en-IN" sz="2800" dirty="0"/>
              </a:p>
              <a:p>
                <a:endParaRPr lang="en-IN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1BF5CE-F4CA-0AFA-6150-6F1D9EF93D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210550" cy="4351338"/>
              </a:xfrm>
              <a:blipFill>
                <a:blip r:embed="rId2"/>
                <a:stretch>
                  <a:fillRect l="-1336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84863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E50AD-AE17-8F81-FA0D-6DB43F37D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Euler’s Totient Function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969B6B-C6DC-6090-8ACE-9C20D6CD4D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8167007" cy="4351338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ar-AE" sz="2400" dirty="0"/>
                  <a:t>= </a:t>
                </a:r>
                <a:r>
                  <a:rPr lang="en-IN" sz="2400" dirty="0"/>
                  <a:t>number of </a:t>
                </a:r>
                <a:r>
                  <a:rPr lang="en-IN" sz="2400" b="1" dirty="0"/>
                  <a:t>positive integers less than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/>
                  <a:t>that are </a:t>
                </a:r>
                <a:r>
                  <a:rPr lang="en-IN" sz="2400" b="1" dirty="0"/>
                  <a:t>coprime to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/>
                  <a:t>.</a:t>
                </a:r>
              </a:p>
              <a:p>
                <a:r>
                  <a:rPr lang="en-IN" sz="2400" dirty="0"/>
                  <a:t>Example: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ar-AE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ar-AE" sz="20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IN" sz="2400" b="1" dirty="0"/>
                  <a:t>Idea Behind the Proof (Intuition)</a:t>
                </a:r>
              </a:p>
              <a:p>
                <a:r>
                  <a:rPr lang="en-IN" sz="2400" dirty="0"/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d>
                              <m:dPr>
                                <m:ctrlPr>
                                  <a:rPr lang="ar-AE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en-IN" sz="2400" dirty="0"/>
                  <a:t>be the set of integers less than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/>
                  <a:t>that are coprime to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/>
                  <a:t>.</a:t>
                </a:r>
              </a:p>
              <a:p>
                <a:r>
                  <a:rPr lang="en-IN" sz="2400" dirty="0"/>
                  <a:t>Multiply each element by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IN" sz="2400" dirty="0"/>
                  <a:t>modulo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m:rPr>
                            <m:nor/>
                          </m:rPr>
                          <a:rPr lang="ar-AE" sz="2400" i="1"/>
                          <m:t> 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IN" sz="24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m:rPr>
                            <m:nor/>
                          </m:rPr>
                          <a:rPr lang="en-IN" sz="2400" i="1"/>
                          <m:t> 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ar-AE" sz="2400" i="1"/>
                          <m:t> </m:t>
                        </m:r>
                        <m:r>
                          <m:rPr>
                            <m:sty m:val="p"/>
                          </m:rPr>
                          <a:rPr lang="en-IN" sz="24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m:rPr>
                            <m:nor/>
                          </m:rPr>
                          <a:rPr lang="en-IN" sz="2400" i="1"/>
                          <m:t> 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d>
                              <m:dPr>
                                <m:ctrlPr>
                                  <a:rPr lang="ar-AE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b>
                        </m:sSub>
                        <m:r>
                          <m:rPr>
                            <m:nor/>
                          </m:rPr>
                          <a:rPr lang="ar-AE" sz="2400" i="1"/>
                          <m:t> </m:t>
                        </m:r>
                        <m:r>
                          <m:rPr>
                            <m:sty m:val="p"/>
                          </m:rPr>
                          <a:rPr lang="en-IN" sz="24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m:rPr>
                            <m:nor/>
                          </m:rPr>
                          <a:rPr lang="en-IN" sz="2400" i="1"/>
                          <m:t> 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ar-AE" sz="2400" b="0" dirty="0"/>
              </a:p>
              <a:p>
                <a:r>
                  <a:rPr lang="en-IN" sz="2400" dirty="0"/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ar-AE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sz="2400" dirty="0"/>
                  <a:t>, </a:t>
                </a:r>
                <a:r>
                  <a:rPr lang="en-IN" sz="2400" dirty="0"/>
                  <a:t>set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IN" sz="2400" dirty="0"/>
                  <a:t>is a </a:t>
                </a:r>
                <a:r>
                  <a:rPr lang="en-IN" sz="2400" b="1" dirty="0"/>
                  <a:t>permutation</a:t>
                </a:r>
                <a:r>
                  <a:rPr lang="en-IN" sz="2400" dirty="0"/>
                  <a:t> of set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IN" sz="2400" dirty="0"/>
                  <a:t>.</a:t>
                </a:r>
              </a:p>
              <a:p>
                <a:r>
                  <a:rPr lang="en-IN" sz="2400" dirty="0"/>
                  <a:t>Products of both sets are congruent modulo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/>
                  <a:t>.</a:t>
                </a:r>
              </a:p>
              <a:p>
                <a:pPr lvl="1"/>
                <a:endParaRPr lang="ar-AE" sz="2000" dirty="0"/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969B6B-C6DC-6090-8ACE-9C20D6CD4D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8167007" cy="4351338"/>
              </a:xfrm>
              <a:blipFill>
                <a:blip r:embed="rId2"/>
                <a:stretch>
                  <a:fillRect l="-1119" t="-2101" r="-1642" b="-145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6054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A22462-04C8-BFDD-1991-6EEA29704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4805"/>
            <a:ext cx="78867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Proof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E6CFE6-E723-14A7-C0D1-A066D21F2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950713"/>
            <a:ext cx="7884410" cy="423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3795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35FDC-2E51-49E7-E564-D17411011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19588D-75AC-60D7-5AED-C979B07391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sz="2400" dirty="0"/>
                  <a:t>Let: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IN" sz="2400" dirty="0"/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ar-AE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ar-AE" sz="240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ar-AE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ar-AE" sz="2400"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nor/>
                      </m:rPr>
                      <a:rPr lang="ar-AE" sz="2400" i="1"/>
                      <m:t> </m:t>
                    </m:r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400" i="1"/>
                      <m:t> 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sz="2400" b="0" dirty="0"/>
              </a:p>
              <a:p>
                <a:pPr marL="0" indent="0">
                  <a:buNone/>
                </a:pPr>
                <a:r>
                  <a:rPr lang="en-IN" sz="2400" dirty="0"/>
                  <a:t>✔ Euler’s theorem verified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r>
                  <a:rPr lang="en-IN" sz="2400" dirty="0"/>
                  <a:t>Let: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sz="2400" dirty="0"/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11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ar-AE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sz="240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ar-AE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1024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ar-AE" sz="2400">
                        <a:latin typeface="Cambria Math" panose="02040503050406030204" pitchFamily="18" charset="0"/>
                      </a:rPr>
                      <m:t>1024</m:t>
                    </m:r>
                    <m:r>
                      <m:rPr>
                        <m:nor/>
                      </m:rPr>
                      <a:rPr lang="ar-AE" sz="2400" i="1"/>
                      <m:t> </m:t>
                    </m:r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400" i="1"/>
                      <m:t> 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sz="2400" b="0" dirty="0"/>
              </a:p>
              <a:p>
                <a:pPr marL="0" indent="0">
                  <a:buNone/>
                </a:pPr>
                <a:r>
                  <a:rPr lang="en-IN" sz="2400" dirty="0"/>
                  <a:t>✔ Holds true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19588D-75AC-60D7-5AED-C979B07391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2603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32033B-4002-A8FA-5F98-9F63284F24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319314"/>
                <a:ext cx="7886700" cy="585764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b="1" dirty="0"/>
                  <a:t>Alternative Form of Euler’s Theorem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≡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nor/>
                            </m:rPr>
                            <a:rPr lang="ar-AE" i="1"/>
                            <m:t>  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IN" i="1"/>
                                <m:t>mod</m:t>
                              </m:r>
                              <m:r>
                                <m:rPr>
                                  <m:nor/>
                                </m:rPr>
                                <a:rPr lang="en-IN" i="1"/>
                                <m:t> 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borderBox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Useful when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dirty="0"/>
                  <a:t>is </a:t>
                </a:r>
                <a:r>
                  <a:rPr lang="en-IN" b="1" dirty="0"/>
                  <a:t>not prime</a:t>
                </a:r>
                <a:endParaRPr lang="en-IN" dirty="0"/>
              </a:p>
              <a:p>
                <a:r>
                  <a:rPr lang="en-IN" dirty="0"/>
                  <a:t>Requires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Fermat’s theorem is a </a:t>
                </a:r>
                <a:r>
                  <a:rPr lang="en-US" b="1" dirty="0"/>
                  <a:t>special case</a:t>
                </a:r>
                <a:r>
                  <a:rPr lang="en-US" dirty="0"/>
                  <a:t> of Euler’s theorem.</a:t>
                </a:r>
              </a:p>
              <a:p>
                <a:r>
                  <a:rPr lang="en-US" dirty="0"/>
                  <a:t>Euler’s theorem works even 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is </a:t>
                </a:r>
                <a:r>
                  <a:rPr lang="en-US" b="1" dirty="0"/>
                  <a:t>composite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Applications</a:t>
                </a:r>
              </a:p>
              <a:p>
                <a:r>
                  <a:rPr lang="en-US" dirty="0"/>
                  <a:t>RSA Cryptosystem</a:t>
                </a:r>
              </a:p>
              <a:p>
                <a:r>
                  <a:rPr lang="en-US" dirty="0"/>
                  <a:t>Modular inverses</a:t>
                </a:r>
              </a:p>
              <a:p>
                <a:r>
                  <a:rPr lang="en-US" dirty="0"/>
                  <a:t>Key generation</a:t>
                </a:r>
              </a:p>
              <a:p>
                <a:r>
                  <a:rPr lang="en-US" dirty="0"/>
                  <a:t>Secure communication systems</a:t>
                </a:r>
              </a:p>
              <a:p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32033B-4002-A8FA-5F98-9F63284F24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19314"/>
                <a:ext cx="7886700" cy="5857649"/>
              </a:xfrm>
              <a:blipFill>
                <a:blip r:embed="rId2"/>
                <a:stretch>
                  <a:fillRect l="-927" t="-11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82989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53AC8-8BE2-0429-4488-4DEBF1D8F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Testing for Primality – Introduction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FAE80-6F9A-FD84-3736-A65D98C38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20800"/>
            <a:ext cx="7886700" cy="4856163"/>
          </a:xfrm>
        </p:spPr>
        <p:txBody>
          <a:bodyPr>
            <a:normAutofit/>
          </a:bodyPr>
          <a:lstStyle/>
          <a:p>
            <a:r>
              <a:rPr lang="en-US" sz="2800" dirty="0"/>
              <a:t>Cryptographic algorithms require </a:t>
            </a:r>
            <a:r>
              <a:rPr lang="en-US" sz="2800" b="1" dirty="0"/>
              <a:t>very large prime numbers</a:t>
            </a:r>
            <a:r>
              <a:rPr lang="en-US" sz="2800" dirty="0"/>
              <a:t>.</a:t>
            </a:r>
          </a:p>
          <a:p>
            <a:r>
              <a:rPr lang="en-US" sz="2800" dirty="0"/>
              <a:t>Prime numbers are essential for:</a:t>
            </a:r>
          </a:p>
          <a:p>
            <a:pPr lvl="1"/>
            <a:r>
              <a:rPr lang="en-US" sz="2400" dirty="0"/>
              <a:t>Key generation</a:t>
            </a:r>
          </a:p>
          <a:p>
            <a:pPr lvl="1"/>
            <a:r>
              <a:rPr lang="en-US" sz="2400" dirty="0"/>
              <a:t>Encryption and decryption</a:t>
            </a:r>
          </a:p>
          <a:p>
            <a:r>
              <a:rPr lang="en-US" sz="2800" dirty="0"/>
              <a:t>Determining whether a large number is prime is a </a:t>
            </a:r>
            <a:r>
              <a:rPr lang="en-US" sz="2800" b="1" dirty="0"/>
              <a:t>non-trivial task</a:t>
            </a:r>
            <a:r>
              <a:rPr lang="en-US" sz="2800" dirty="0"/>
              <a:t>.</a:t>
            </a:r>
          </a:p>
          <a:p>
            <a:r>
              <a:rPr lang="en-US" sz="2800" dirty="0"/>
              <a:t>No simple deterministic method is efficient for very large numbers.</a:t>
            </a:r>
          </a:p>
          <a:p>
            <a:r>
              <a:rPr lang="en-US" sz="2800" dirty="0"/>
              <a:t>Hence, </a:t>
            </a:r>
            <a:r>
              <a:rPr lang="en-US" sz="2800" b="1" dirty="0"/>
              <a:t>probabilistic primality tests</a:t>
            </a:r>
            <a:r>
              <a:rPr lang="en-US" sz="2800" dirty="0"/>
              <a:t> are commonly used.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551729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B0134-7F5A-CC92-EFDA-C47BA7186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Need for Primality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D4AC1-1D6F-A945-D53B-986F3CAA8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Randomly generated numbers may </a:t>
            </a:r>
            <a:r>
              <a:rPr lang="en-US" sz="3200" b="1" dirty="0"/>
              <a:t>not always be prime</a:t>
            </a:r>
            <a:r>
              <a:rPr lang="en-US" sz="3200" dirty="0"/>
              <a:t>.</a:t>
            </a:r>
          </a:p>
          <a:p>
            <a:r>
              <a:rPr lang="en-US" sz="3200" dirty="0"/>
              <a:t>Efficient primality testing ensures:</a:t>
            </a:r>
          </a:p>
          <a:p>
            <a:r>
              <a:rPr lang="en-US" sz="3200" dirty="0"/>
              <a:t>Security of cryptographic systems</a:t>
            </a:r>
          </a:p>
          <a:p>
            <a:r>
              <a:rPr lang="en-US" sz="3200" dirty="0"/>
              <a:t>Feasible computation time</a:t>
            </a:r>
          </a:p>
          <a:p>
            <a:r>
              <a:rPr lang="en-US" sz="3200" dirty="0"/>
              <a:t>A number that passes certain tests is said to be </a:t>
            </a:r>
            <a:r>
              <a:rPr lang="en-US" sz="3200" b="1" dirty="0"/>
              <a:t>“almost certainly prime.”</a:t>
            </a:r>
            <a:endParaRPr lang="en-US" sz="3200" dirty="0"/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5563265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CB0F1-387D-6A55-8467-6E252BF74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Miller–Rabin Primality Test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76AE0-9DC1-1BCA-108F-B58C58BC4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Miller–Rabin is a </a:t>
            </a:r>
            <a:r>
              <a:rPr lang="en-US" sz="2800" b="1" dirty="0"/>
              <a:t>probabilistic algorithm</a:t>
            </a:r>
            <a:r>
              <a:rPr lang="en-US" sz="2800" dirty="0"/>
              <a:t>.</a:t>
            </a:r>
          </a:p>
          <a:p>
            <a:r>
              <a:rPr lang="en-US" sz="2800" dirty="0"/>
              <a:t>Widely used in:</a:t>
            </a:r>
          </a:p>
          <a:p>
            <a:pPr lvl="1"/>
            <a:r>
              <a:rPr lang="en-US" sz="2400" dirty="0"/>
              <a:t>Cryptographic libraries</a:t>
            </a:r>
          </a:p>
          <a:p>
            <a:pPr lvl="1"/>
            <a:r>
              <a:rPr lang="en-US" sz="2400" dirty="0"/>
              <a:t>Key generation algorithms</a:t>
            </a:r>
          </a:p>
          <a:p>
            <a:r>
              <a:rPr lang="en-US" sz="2800" dirty="0"/>
              <a:t>It can quickly identify </a:t>
            </a:r>
            <a:r>
              <a:rPr lang="en-US" sz="2800" b="1" dirty="0"/>
              <a:t>composite numbers</a:t>
            </a:r>
            <a:r>
              <a:rPr lang="en-US" sz="2800" dirty="0"/>
              <a:t>.</a:t>
            </a:r>
          </a:p>
          <a:p>
            <a:r>
              <a:rPr lang="en-US" sz="2800" dirty="0"/>
              <a:t>If a number passes multiple rounds, it is </a:t>
            </a:r>
            <a:r>
              <a:rPr lang="en-US" sz="2800" b="1" dirty="0"/>
              <a:t>very likely prime</a:t>
            </a:r>
            <a:r>
              <a:rPr lang="en-US" sz="2800" dirty="0"/>
              <a:t>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687519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09D18-6D95-7394-E9C3-68A85D68A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Preprocessing Step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90B178-07D6-F626-621D-0FF0625044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sz="2400" dirty="0"/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/>
                  <a:t>be an odd integer.</a:t>
                </a:r>
              </a:p>
              <a:p>
                <a:r>
                  <a:rPr lang="en-IN" sz="2400" dirty="0"/>
                  <a:t>Express: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ar-AE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ar-AE" sz="2400" dirty="0"/>
              </a:p>
              <a:p>
                <a:r>
                  <a:rPr lang="en-IN" sz="2400" dirty="0"/>
                  <a:t>where: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IN" sz="2400" dirty="0"/>
                  <a:t> is odd,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sz="2400" dirty="0"/>
              </a:p>
              <a:p>
                <a:r>
                  <a:rPr lang="en-US" sz="2400" b="1" dirty="0"/>
                  <a:t>Why This Decomposition?</a:t>
                </a:r>
              </a:p>
              <a:p>
                <a:r>
                  <a:rPr lang="en-US" sz="2400" dirty="0"/>
                  <a:t>Any even number can be factored into:</a:t>
                </a:r>
              </a:p>
              <a:p>
                <a:pPr lvl="1"/>
                <a:r>
                  <a:rPr lang="en-US" sz="2000" dirty="0"/>
                  <a:t>A power of 2</a:t>
                </a:r>
              </a:p>
              <a:p>
                <a:pPr lvl="1"/>
                <a:r>
                  <a:rPr lang="en-US" sz="2000" dirty="0"/>
                  <a:t>An odd number</a:t>
                </a:r>
              </a:p>
              <a:p>
                <a:r>
                  <a:rPr lang="en-US" sz="2400" dirty="0"/>
                  <a:t>Binary representation helps compute this efficiently.</a:t>
                </a:r>
              </a:p>
              <a:p>
                <a:r>
                  <a:rPr lang="en-US" sz="2400" dirty="0"/>
                  <a:t>Enables repeated squaring in modular arithmetic.</a:t>
                </a:r>
              </a:p>
              <a:p>
                <a:endParaRPr lang="en-IN" sz="2400" dirty="0"/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90B178-07D6-F626-621D-0FF0625044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85354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EABDA-0EDC-4423-CF55-8495A5045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56BA2-59D5-42F3-EB50-C01DAD482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Properties of Prime Numbers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837C5D-6BF8-CAC1-2736-CF7BBFA1ED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3829" y="1825624"/>
                <a:ext cx="8181521" cy="4667249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Property 1</a:t>
                </a:r>
              </a:p>
              <a:p>
                <a:pPr marL="0" indent="0">
                  <a:buNone/>
                </a:pPr>
                <a:r>
                  <a:rPr lang="en-IN" dirty="0"/>
                  <a:t>If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IN" dirty="0"/>
                  <a:t>is prime and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IN" dirty="0"/>
                  <a:t>is not divisible by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IN" dirty="0"/>
                  <a:t>, then: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≡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ar-AE" i="1"/>
                      <m:t>  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1"/>
                          <m:t>mod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b="0" dirty="0"/>
                  <a:t> </a:t>
                </a:r>
                <a:r>
                  <a:rPr lang="en-IN" dirty="0"/>
                  <a:t>or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≡−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ar-AE" i="1"/>
                      <m:t>  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1"/>
                          <m:t>mod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IN" b="1" dirty="0"/>
                  <a:t>Property 2</a:t>
                </a:r>
              </a:p>
              <a:p>
                <a:r>
                  <a:rPr lang="en-IN" dirty="0"/>
                  <a:t>Let: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ar-AE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ar-AE" dirty="0"/>
              </a:p>
              <a:p>
                <a:r>
                  <a:rPr lang="en-IN" dirty="0"/>
                  <a:t>Then for any integer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IN" dirty="0"/>
                  <a:t>such that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IN" dirty="0"/>
                  <a:t>, </a:t>
                </a:r>
                <a:r>
                  <a:rPr lang="en-IN" b="1" dirty="0"/>
                  <a:t>one of the following must hold</a:t>
                </a:r>
                <a:r>
                  <a:rPr lang="en-IN" dirty="0"/>
                  <a:t>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≡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ar-AE" i="1"/>
                      <m:t>  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1"/>
                          <m:t>mod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IN" dirty="0"/>
                  <a:t>OR</a:t>
                </a:r>
              </a:p>
              <a:p>
                <a:r>
                  <a:rPr lang="en-IN" dirty="0"/>
                  <a:t>There exists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dirty="0"/>
                  <a:t>such that: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ar-AE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≡−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ar-AE" i="1"/>
                      <m:t>  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1"/>
                          <m:t>mod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ar-AE">
                        <a:latin typeface="Cambria Math" panose="02040503050406030204" pitchFamily="18" charset="0"/>
                      </a:rPr>
                      <m:t>&lt;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b="0" dirty="0"/>
              </a:p>
              <a:p>
                <a:r>
                  <a:rPr lang="en-IN" b="1" dirty="0"/>
                  <a:t>Sequence Used in Miller–Rabin Test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m:rPr>
                        <m:nor/>
                      </m:rPr>
                      <a:rPr lang="ar-AE" i="1"/>
                      <m:t> 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i="1"/>
                      <m:t> 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i="1"/>
                      <m:t>  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m:rPr>
                        <m:nor/>
                      </m:rPr>
                      <a:rPr lang="ar-AE" i="1"/>
                      <m:t> 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i="1"/>
                      <m:t> 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i="1"/>
                      <m:t>  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m:rPr>
                        <m:nor/>
                      </m:rPr>
                      <a:rPr lang="ar-AE" i="1"/>
                      <m:t> 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i="1"/>
                      <m:t> 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i="1"/>
                      <m:t>  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…,</m:t>
                    </m:r>
                    <m:r>
                      <m:rPr>
                        <m:nor/>
                      </m:rPr>
                      <a:rPr lang="en-IN" i="1"/>
                      <m:t>  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ar-AE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m:rPr>
                        <m:nor/>
                      </m:rPr>
                      <a:rPr lang="ar-AE" i="1"/>
                      <m:t> 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i="1"/>
                      <m:t> 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IN" b="0" dirty="0"/>
              </a:p>
              <a:p>
                <a:r>
                  <a:rPr lang="en-IN" dirty="0"/>
                  <a:t>If none of these results equals </a:t>
                </a:r>
                <a:r>
                  <a:rPr lang="en-IN" b="1" dirty="0"/>
                  <a:t>1 or −1</a:t>
                </a:r>
                <a:r>
                  <a:rPr lang="en-IN" dirty="0"/>
                  <a:t>, then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dirty="0"/>
                  <a:t>is </a:t>
                </a:r>
                <a:r>
                  <a:rPr lang="en-IN" b="1" dirty="0"/>
                  <a:t>composite</a:t>
                </a:r>
                <a:r>
                  <a:rPr lang="en-IN" dirty="0"/>
                  <a:t>.</a:t>
                </a:r>
                <a:endParaRPr lang="ar-AE" b="0" dirty="0"/>
              </a:p>
              <a:p>
                <a:endParaRPr lang="ar-AE" b="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837C5D-6BF8-CAC1-2736-CF7BBFA1ED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3829" y="1825624"/>
                <a:ext cx="8181521" cy="4667249"/>
              </a:xfrm>
              <a:blipFill>
                <a:blip r:embed="rId2"/>
                <a:stretch>
                  <a:fillRect l="-745" t="-13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04754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ABAE8-366E-C842-2116-F69E353E9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43C29-D305-21CA-7451-8AD5F9531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Idea of Miller–Rabin Test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517BE7-ADF6-CB5D-A262-30E8994DE9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Choose a random base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Check the above conditions.</a:t>
                </a:r>
              </a:p>
              <a:p>
                <a:r>
                  <a:rPr lang="en-US" dirty="0"/>
                  <a:t>If conditions fail → </a:t>
                </a:r>
                <a:r>
                  <a:rPr lang="en-US" b="1" dirty="0"/>
                  <a:t>composite</a:t>
                </a:r>
                <a:endParaRPr lang="en-US" dirty="0"/>
              </a:p>
              <a:p>
                <a:r>
                  <a:rPr lang="en-US" dirty="0"/>
                  <a:t>If conditions pass → </a:t>
                </a:r>
                <a:r>
                  <a:rPr lang="en-US" b="1" dirty="0"/>
                  <a:t>probably prime</a:t>
                </a:r>
                <a:endParaRPr lang="en-US" dirty="0"/>
              </a:p>
              <a:p>
                <a:r>
                  <a:rPr lang="en-US" dirty="0"/>
                  <a:t>Repeat test with different values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for higher confidence.</a:t>
                </a:r>
              </a:p>
              <a:p>
                <a:pPr marL="0" indent="0">
                  <a:buNone/>
                </a:pPr>
                <a:r>
                  <a:rPr lang="en-US" b="1" dirty="0"/>
                  <a:t>Advantages of Miller–Rabin</a:t>
                </a:r>
              </a:p>
              <a:p>
                <a:r>
                  <a:rPr lang="en-US" dirty="0"/>
                  <a:t>Very fast for large numbers</a:t>
                </a:r>
              </a:p>
              <a:p>
                <a:r>
                  <a:rPr lang="en-US" dirty="0"/>
                  <a:t>Efficient for cryptographic use</a:t>
                </a:r>
              </a:p>
              <a:p>
                <a:r>
                  <a:rPr lang="en-US" dirty="0"/>
                  <a:t>Error probability decreases exponentially with each round</a:t>
                </a:r>
              </a:p>
              <a:p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517BE7-ADF6-CB5D-A262-30E8994DE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7" t="-15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68544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97B33-AE1D-BCA2-0C71-D52605289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A9DCA-99DB-9DD8-954B-9C1F99000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Miller–Rabin Primality Test – Prime Example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341D66-0B4C-FBE1-AA8F-AE175F6D6E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b="1" dirty="0"/>
                  <a:t>Problem</a:t>
                </a:r>
              </a:p>
              <a:p>
                <a:r>
                  <a:rPr lang="en-US" sz="2400" dirty="0"/>
                  <a:t>Test whether n = 23 is prime using the </a:t>
                </a:r>
                <a:r>
                  <a:rPr lang="en-US" sz="2400" b="1" dirty="0"/>
                  <a:t>Miller–Rabin test</a:t>
                </a:r>
                <a:r>
                  <a:rPr lang="en-US" sz="2400" dirty="0"/>
                  <a:t>.</a:t>
                </a:r>
              </a:p>
              <a:p>
                <a:r>
                  <a:rPr lang="en-US" sz="2400" b="1" dirty="0"/>
                  <a:t>Step 1: Check Basic Conditions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400" dirty="0"/>
                  <a:t>and </a:t>
                </a:r>
                <a:r>
                  <a:rPr lang="en-US" sz="2400" b="1" dirty="0"/>
                  <a:t>odd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✔ Eligible for Miller–Rabin test</a:t>
                </a:r>
              </a:p>
              <a:p>
                <a:r>
                  <a:rPr lang="en-IN" sz="2400" b="1" dirty="0"/>
                  <a:t>Step 2: Express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sz="2400" b="1" dirty="0"/>
                  <a:t>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ar-AE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ar-AE" sz="2400" b="1" dirty="0"/>
              </a:p>
              <a:p>
                <a14:m>
                  <m:oMath xmlns:m="http://schemas.openxmlformats.org/officeDocument/2006/math">
                    <m:r>
                      <a:rPr lang="ar-AE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endParaRPr lang="ar-AE" sz="2400" dirty="0"/>
              </a:p>
              <a:p>
                <a:r>
                  <a:rPr lang="en-IN" sz="2400" dirty="0"/>
                  <a:t>Factor: 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22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sz="240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ar-AE" sz="240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endParaRPr lang="ar-AE" sz="2400" dirty="0"/>
              </a:p>
              <a:p>
                <a:r>
                  <a:rPr lang="en-IN" sz="2400" dirty="0"/>
                  <a:t>So: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sz="2400" dirty="0"/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br>
                  <a:rPr lang="en-US" sz="2400" dirty="0"/>
                </a:br>
                <a:endParaRPr lang="en-US" sz="2400" dirty="0"/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341D66-0B4C-FBE1-AA8F-AE175F6D6E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76138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739583-CF6C-ABE8-1843-8061046111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86" y="435430"/>
                <a:ext cx="8123464" cy="6057444"/>
              </a:xfrm>
            </p:spPr>
            <p:txBody>
              <a:bodyPr>
                <a:normAutofit/>
              </a:bodyPr>
              <a:lstStyle/>
              <a:p>
                <a:r>
                  <a:rPr lang="en-IN" sz="2400" b="1" dirty="0"/>
                  <a:t>Step 3: Choose a Random Base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IN" sz="2400" b="1" dirty="0"/>
              </a:p>
              <a:p>
                <a:r>
                  <a:rPr lang="en-IN" sz="2400" dirty="0"/>
                  <a:t>Choose: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sz="2400" dirty="0"/>
                  <a:t> (where 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sz="2400" dirty="0"/>
                  <a:t>)</a:t>
                </a:r>
              </a:p>
              <a:p>
                <a:r>
                  <a:rPr lang="en-IN" sz="2400" b="1" dirty="0"/>
                  <a:t>Step 4: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m:rPr>
                        <m:nor/>
                      </m:rPr>
                      <a:rPr lang="ar-AE" sz="2400" i="1"/>
                      <m:t> </m:t>
                    </m:r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400" i="1"/>
                      <m:t> 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IN" sz="2400" b="1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sz="2400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nor/>
                      </m:rPr>
                      <a:rPr lang="ar-AE" sz="2400" i="1"/>
                      <m:t> </m:t>
                    </m:r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400" i="1"/>
                      <m:t> 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lang="en-IN" sz="2400" b="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sz="2400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a:rPr lang="ar-AE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2048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2048</m:t>
                    </m:r>
                    <m:r>
                      <m:rPr>
                        <m:nor/>
                      </m:rPr>
                      <a:rPr lang="ar-AE" sz="2400" i="1"/>
                      <m:t> </m:t>
                    </m:r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400" i="1"/>
                      <m:t> 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23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sz="2400" b="0" dirty="0"/>
              </a:p>
              <a:p>
                <a:pPr marL="0" indent="0">
                  <a:buNone/>
                </a:pPr>
                <a:r>
                  <a:rPr lang="en-IN" sz="2400" dirty="0"/>
                  <a:t>✔ Condition satisfied</a:t>
                </a:r>
              </a:p>
              <a:p>
                <a:r>
                  <a:rPr lang="en-IN" sz="2400" b="1" dirty="0"/>
                  <a:t>Decision - True</a:t>
                </a:r>
              </a:p>
              <a:p>
                <a:r>
                  <a:rPr lang="en-IN" sz="2400" dirty="0"/>
                  <a:t>Since: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ar-AE" sz="2400">
                        <a:latin typeface="Cambria Math" panose="02040503050406030204" pitchFamily="18" charset="0"/>
                      </a:rPr>
                      <m:t>≡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ar-AE" sz="2400" i="1"/>
                      <m:t>  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sz="2400" i="1"/>
                          <m:t>mod</m:t>
                        </m:r>
                        <m:r>
                          <m:rPr>
                            <m:nor/>
                          </m:rPr>
                          <a:rPr lang="en-IN" sz="2400" i="1"/>
                          <m:t> 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ar-AE" sz="2400" b="0" dirty="0"/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m:rPr>
                            <m:nor/>
                          </m:rPr>
                          <a:rPr lang="ar-AE" sz="2400" i="1"/>
                          <m:t> </m:t>
                        </m:r>
                        <m:r>
                          <m:rPr>
                            <m:nor/>
                          </m:rPr>
                          <a:rPr lang="en-IN" sz="2400" i="1"/>
                          <m:t>is</m:t>
                        </m:r>
                        <m:r>
                          <m:rPr>
                            <m:nor/>
                          </m:rPr>
                          <a:rPr lang="en-IN" sz="2400" i="1"/>
                          <m:t> </m:t>
                        </m:r>
                        <m:r>
                          <m:rPr>
                            <m:nor/>
                          </m:rPr>
                          <a:rPr lang="en-IN" sz="2400" i="1"/>
                          <m:t>PROBABLY</m:t>
                        </m:r>
                        <m:r>
                          <m:rPr>
                            <m:nor/>
                          </m:rPr>
                          <a:rPr lang="en-IN" sz="2400" i="1"/>
                          <m:t> </m:t>
                        </m:r>
                        <m:r>
                          <m:rPr>
                            <m:nor/>
                          </m:rPr>
                          <a:rPr lang="en-IN" sz="2400" i="1"/>
                          <m:t>PRIME</m:t>
                        </m:r>
                      </m:e>
                    </m:borderBox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IN" sz="2400" dirty="0"/>
                  <a:t>For a prime number, this condition </a:t>
                </a:r>
                <a:r>
                  <a:rPr lang="en-IN" sz="2400" b="1" dirty="0"/>
                  <a:t>always holds</a:t>
                </a:r>
                <a:r>
                  <a:rPr lang="en-IN" sz="2400" dirty="0"/>
                  <a:t>.</a:t>
                </a:r>
              </a:p>
              <a:p>
                <a:pPr marL="0" indent="0">
                  <a:buNone/>
                </a:pPr>
                <a:r>
                  <a:rPr lang="en-IN" sz="2400" b="1" dirty="0"/>
                  <a:t>Multiple Bases for Confidence</a:t>
                </a:r>
              </a:p>
              <a:p>
                <a:r>
                  <a:rPr lang="en-IN" sz="2400" dirty="0"/>
                  <a:t>Choose another base: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IN" sz="2400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ar-AE" sz="2400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nor/>
                      </m:rPr>
                      <a:rPr lang="ar-AE" sz="2400" i="1"/>
                      <m:t> </m:t>
                    </m:r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400" i="1"/>
                      <m:t> 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23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sz="2400" dirty="0"/>
              </a:p>
              <a:p>
                <a:pPr marL="0" indent="0">
                  <a:buNone/>
                </a:pPr>
                <a:r>
                  <a:rPr lang="en-IN" sz="2400" dirty="0"/>
                  <a:t>Again satisfied → confidence increases</a:t>
                </a:r>
              </a:p>
              <a:p>
                <a:endParaRPr lang="en-IN" sz="2400" dirty="0"/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739583-CF6C-ABE8-1843-8061046111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86" y="435430"/>
                <a:ext cx="8123464" cy="6057444"/>
              </a:xfrm>
              <a:blipFill>
                <a:blip r:embed="rId2"/>
                <a:stretch>
                  <a:fillRect l="-1125" t="-14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73257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1E85-E80E-77FC-FC56-8BD834C34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Miller–Rabin Primality Test – Example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FED995-67B2-45D1-FF1B-6FAD7EBED4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/>
                  <a:t>Test whether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113</m:t>
                    </m:r>
                  </m:oMath>
                </a14:m>
                <a:r>
                  <a:rPr lang="en-US" sz="2800" dirty="0"/>
                  <a:t> is prime using the </a:t>
                </a:r>
                <a:r>
                  <a:rPr lang="en-US" sz="2800" b="1" dirty="0"/>
                  <a:t>Miller–Rabin test</a:t>
                </a:r>
                <a:r>
                  <a:rPr lang="en-US" sz="2800" dirty="0"/>
                  <a:t>.</a:t>
                </a:r>
              </a:p>
              <a:p>
                <a:endParaRPr lang="en-IN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FED995-67B2-45D1-FF1B-6FAD7EBED4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08492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9465C4-1102-C9D1-1878-544602D5C8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493486"/>
                <a:ext cx="7886700" cy="5683477"/>
              </a:xfrm>
            </p:spPr>
            <p:txBody>
              <a:bodyPr>
                <a:normAutofit/>
              </a:bodyPr>
              <a:lstStyle/>
              <a:p>
                <a:r>
                  <a:rPr lang="en-US" sz="2400" b="1" dirty="0"/>
                  <a:t>Step 1: Basic Check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113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400" dirty="0"/>
                  <a:t>and </a:t>
                </a:r>
                <a:r>
                  <a:rPr lang="en-US" sz="2400" b="1" dirty="0"/>
                  <a:t>odd </a:t>
                </a:r>
                <a:r>
                  <a:rPr lang="en-US" sz="2400" dirty="0"/>
                  <a:t>So Eligible for Miller–Rabin test</a:t>
                </a:r>
              </a:p>
              <a:p>
                <a:r>
                  <a:rPr lang="en-IN" sz="2400" b="1" dirty="0"/>
                  <a:t>Step 2: Write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sz="2400" b="1" dirty="0"/>
                  <a:t>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ar-AE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ar-AE" sz="2400" b="1" dirty="0"/>
              </a:p>
              <a:p>
                <a14:m>
                  <m:oMath xmlns:m="http://schemas.openxmlformats.org/officeDocument/2006/math">
                    <m:r>
                      <a:rPr lang="ar-AE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112</m:t>
                    </m:r>
                  </m:oMath>
                </a14:m>
                <a:endParaRPr lang="ar-AE" sz="2400" dirty="0"/>
              </a:p>
              <a:p>
                <a:r>
                  <a:rPr lang="en-IN" sz="2400" dirty="0"/>
                  <a:t>Factor: 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112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sz="240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ar-AE" sz="240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2400" dirty="0"/>
                  <a:t>, </a:t>
                </a:r>
                <a:r>
                  <a:rPr lang="en-IN" sz="2400" dirty="0"/>
                  <a:t>So: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IN" sz="2400" dirty="0"/>
              </a:p>
              <a:p>
                <a:r>
                  <a:rPr lang="en-IN" sz="2400" b="1" dirty="0"/>
                  <a:t>Step 3: Choose a Random Base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IN" sz="2400" b="1" dirty="0"/>
              </a:p>
              <a:p>
                <a:r>
                  <a:rPr lang="en-IN" sz="2400" dirty="0"/>
                  <a:t>Choose: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sz="2400" dirty="0"/>
                  <a:t> (where 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sz="2400" dirty="0"/>
                  <a:t>)</a:t>
                </a:r>
              </a:p>
              <a:p>
                <a:r>
                  <a:rPr lang="en-IN" sz="2400" b="1" dirty="0"/>
                  <a:t>Step 4: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m:rPr>
                        <m:nor/>
                      </m:rPr>
                      <a:rPr lang="ar-AE" sz="2400" i="1"/>
                      <m:t> </m:t>
                    </m:r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400" i="1"/>
                      <m:t> 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IN" sz="2400" b="1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sz="240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nor/>
                      </m:rPr>
                      <a:rPr lang="ar-AE" sz="2400" i="1"/>
                      <m:t> </m:t>
                    </m:r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400" i="1"/>
                      <m:t> 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113</m:t>
                    </m:r>
                  </m:oMath>
                </a14:m>
                <a:r>
                  <a:rPr lang="en-IN" sz="2400" b="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sz="240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ar-AE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endParaRPr lang="ar-AE" sz="2400" dirty="0"/>
              </a:p>
              <a:p>
                <a14:m>
                  <m:oMath xmlns:m="http://schemas.openxmlformats.org/officeDocument/2006/math">
                    <m:r>
                      <a:rPr lang="ar-AE" sz="2400"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nor/>
                      </m:rPr>
                      <a:rPr lang="ar-AE" sz="2400" i="1"/>
                      <m:t> </m:t>
                    </m:r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2400" i="1"/>
                      <m:t> 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113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lang="en-IN" sz="2400" b="0" dirty="0"/>
              </a:p>
              <a:p>
                <a:r>
                  <a:rPr lang="en-IN" sz="2400" dirty="0"/>
                  <a:t>Result ≠ 1 and ≠ 112</a:t>
                </a:r>
                <a:br>
                  <a:rPr lang="en-IN" sz="2400" dirty="0"/>
                </a:br>
                <a:r>
                  <a:rPr lang="en-IN" sz="2400" dirty="0"/>
                  <a:t>✔ Continue testing</a:t>
                </a:r>
              </a:p>
              <a:p>
                <a:endParaRPr lang="en-IN" sz="2400" dirty="0"/>
              </a:p>
              <a:p>
                <a:endParaRPr lang="en-IN" sz="2400" dirty="0"/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9465C4-1102-C9D1-1878-544602D5C8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493486"/>
                <a:ext cx="7886700" cy="5683477"/>
              </a:xfrm>
              <a:blipFill>
                <a:blip r:embed="rId2"/>
                <a:stretch>
                  <a:fillRect l="-1005" t="-15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089328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DD553-9B12-6451-9A85-DF0C064CF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7B2A9A-A4E7-F45F-2707-5439FFB676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Square the Result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ar-AE" i="1"/>
                      <m:t> 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i="1"/>
                      <m:t> 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113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225</m:t>
                    </m:r>
                    <m:r>
                      <m:rPr>
                        <m:nor/>
                      </m:rPr>
                      <a:rPr lang="en-IN" i="1"/>
                      <m:t> 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i="1"/>
                      <m:t> 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113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112</m:t>
                    </m:r>
                  </m:oMath>
                </a14:m>
                <a:endParaRPr lang="en-IN" b="0" dirty="0"/>
              </a:p>
              <a:p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112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≡−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IN" i="1"/>
                      <m:t>  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1"/>
                          <m:t>mod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113</m:t>
                        </m:r>
                      </m:e>
                    </m:d>
                  </m:oMath>
                </a14:m>
                <a:endParaRPr lang="ar-AE" b="0" dirty="0"/>
              </a:p>
              <a:p>
                <a:r>
                  <a:rPr lang="ar-AE" dirty="0"/>
                  <a:t>✔ </a:t>
                </a:r>
                <a:r>
                  <a:rPr lang="en-IN" dirty="0"/>
                  <a:t>Condition satisfied</a:t>
                </a:r>
              </a:p>
              <a:p>
                <a:r>
                  <a:rPr lang="en-IN" b="1" dirty="0"/>
                  <a:t>Decision</a:t>
                </a:r>
              </a:p>
              <a:p>
                <a:r>
                  <a:rPr lang="en-IN" dirty="0"/>
                  <a:t>Since one of the values in the sequence equals </a:t>
                </a:r>
                <a:r>
                  <a:rPr lang="en-IN" b="1" dirty="0"/>
                  <a:t>−1 mod n</a:t>
                </a:r>
                <a:r>
                  <a:rPr lang="en-IN" dirty="0"/>
                  <a:t>,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113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is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PROBABLY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PRIME</m:t>
                        </m:r>
                      </m:e>
                    </m:borderBox>
                  </m:oMath>
                </a14:m>
                <a:endParaRPr lang="ar-AE" b="0" dirty="0"/>
              </a:p>
              <a:p>
                <a:r>
                  <a:rPr lang="en-IN" dirty="0"/>
                  <a:t>a=3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nor/>
                      </m:rPr>
                      <a:rPr lang="ar-AE" i="1"/>
                      <m:t> 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i="1"/>
                      <m:t> 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113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2187</m:t>
                    </m:r>
                    <m:r>
                      <m:rPr>
                        <m:nor/>
                      </m:rPr>
                      <a:rPr lang="en-IN" i="1"/>
                      <m:t> 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i="1"/>
                      <m:t> 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113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b="0" dirty="0"/>
              </a:p>
              <a:p>
                <a:r>
                  <a:rPr lang="en-IN" dirty="0"/>
                  <a:t>✔ Passes again → confidence increases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7B2A9A-A4E7-F45F-2707-5439FFB676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15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2862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10340</TotalTime>
  <Words>3864</Words>
  <Application>Microsoft Office PowerPoint</Application>
  <PresentationFormat>On-screen Show (4:3)</PresentationFormat>
  <Paragraphs>513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6" baseType="lpstr">
      <vt:lpstr>Arial</vt:lpstr>
      <vt:lpstr>Calibri</vt:lpstr>
      <vt:lpstr>Calibri </vt:lpstr>
      <vt:lpstr>Calibri Light</vt:lpstr>
      <vt:lpstr>Cambria Math</vt:lpstr>
      <vt:lpstr>PearsonMATHPRO08</vt:lpstr>
      <vt:lpstr>TimesTenLTStd-Italic</vt:lpstr>
      <vt:lpstr>TimesTenLTStd-Roman</vt:lpstr>
      <vt:lpstr>Office Theme</vt:lpstr>
      <vt:lpstr>Number Theory</vt:lpstr>
      <vt:lpstr>Introduction to Number Theory</vt:lpstr>
      <vt:lpstr>Divisibility &amp; Division Algorithm</vt:lpstr>
      <vt:lpstr>Properties of Divisibility</vt:lpstr>
      <vt:lpstr>PowerPoint Presentation</vt:lpstr>
      <vt:lpstr>The Division Algorithm</vt:lpstr>
      <vt:lpstr>PowerPoint Presentation</vt:lpstr>
      <vt:lpstr>Applications</vt:lpstr>
      <vt:lpstr>The Euclidean Algorithm</vt:lpstr>
      <vt:lpstr>Greatest Common Divisor (GCD)</vt:lpstr>
      <vt:lpstr>Finding the Greatest Common Divisor</vt:lpstr>
      <vt:lpstr>PowerPoint Presentation</vt:lpstr>
      <vt:lpstr>Key idea behind Euclidean Algorithm</vt:lpstr>
      <vt:lpstr>PowerPoint Presentation</vt:lpstr>
      <vt:lpstr>PowerPoint Presentation</vt:lpstr>
      <vt:lpstr>Euclidean Algorithm – Example</vt:lpstr>
      <vt:lpstr>PowerPoint Presentation</vt:lpstr>
      <vt:lpstr>PowerPoint Presentation</vt:lpstr>
      <vt:lpstr>PowerPoint Presentation</vt:lpstr>
      <vt:lpstr>Introduction to Modular Arithmetic</vt:lpstr>
      <vt:lpstr>Modular Arithmetic</vt:lpstr>
      <vt:lpstr>PowerPoint Presentation</vt:lpstr>
      <vt:lpstr>PowerPoint Presentation</vt:lpstr>
      <vt:lpstr>Modular Arithmetic</vt:lpstr>
      <vt:lpstr>PowerPoint Presentation</vt:lpstr>
      <vt:lpstr>Modular Arithmetic</vt:lpstr>
      <vt:lpstr>1. Addition</vt:lpstr>
      <vt:lpstr>Subtraction</vt:lpstr>
      <vt:lpstr>Multiplication </vt:lpstr>
      <vt:lpstr>Modular Arithmetic</vt:lpstr>
      <vt:lpstr>Residue Classes (Modulo n)</vt:lpstr>
      <vt:lpstr>Smallest non-negative representative</vt:lpstr>
      <vt:lpstr>Properties of ℤₙ</vt:lpstr>
      <vt:lpstr>Special property of modular arithmetic</vt:lpstr>
      <vt:lpstr>Additive inverse explanation </vt:lpstr>
      <vt:lpstr>Modular Arithmetic</vt:lpstr>
      <vt:lpstr>How it works?</vt:lpstr>
      <vt:lpstr>Euclidean Algorithm - Revisited</vt:lpstr>
      <vt:lpstr>Examples</vt:lpstr>
      <vt:lpstr>Extended Euclidean Algorithm</vt:lpstr>
      <vt:lpstr>Key idea</vt:lpstr>
      <vt:lpstr>How the algorithm works (step-by-step idea) </vt:lpstr>
      <vt:lpstr>Extension idea</vt:lpstr>
      <vt:lpstr>Prime Numbers</vt:lpstr>
      <vt:lpstr>Unique factorization of integers</vt:lpstr>
      <vt:lpstr>Fermat’s Theorem</vt:lpstr>
      <vt:lpstr>PowerPoint Presentation</vt:lpstr>
      <vt:lpstr>Euler’s Totient Function</vt:lpstr>
      <vt:lpstr>Euler’s Totient Function</vt:lpstr>
      <vt:lpstr>Important Property </vt:lpstr>
      <vt:lpstr>PowerPoint Presentation</vt:lpstr>
      <vt:lpstr>Euler’s Theorem</vt:lpstr>
      <vt:lpstr>Euler’s Totient Function</vt:lpstr>
      <vt:lpstr>Proof</vt:lpstr>
      <vt:lpstr>Example</vt:lpstr>
      <vt:lpstr>PowerPoint Presentation</vt:lpstr>
      <vt:lpstr>Testing for Primality – Introduction </vt:lpstr>
      <vt:lpstr>Need for Primality Testing</vt:lpstr>
      <vt:lpstr>Miller–Rabin Primality Test</vt:lpstr>
      <vt:lpstr>Preprocessing Step</vt:lpstr>
      <vt:lpstr>Two Properties of Prime Numbers</vt:lpstr>
      <vt:lpstr>Key Idea of Miller–Rabin Test</vt:lpstr>
      <vt:lpstr>Miller–Rabin Primality Test – Prime Example</vt:lpstr>
      <vt:lpstr>PowerPoint Presentation</vt:lpstr>
      <vt:lpstr>Miller–Rabin Primality Test – Example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Theory</dc:title>
  <dc:creator>Selvakumar B</dc:creator>
  <cp:lastModifiedBy>Manonmani T</cp:lastModifiedBy>
  <cp:revision>88</cp:revision>
  <dcterms:created xsi:type="dcterms:W3CDTF">2022-07-11T07:02:39Z</dcterms:created>
  <dcterms:modified xsi:type="dcterms:W3CDTF">2026-02-06T08:01:43Z</dcterms:modified>
</cp:coreProperties>
</file>